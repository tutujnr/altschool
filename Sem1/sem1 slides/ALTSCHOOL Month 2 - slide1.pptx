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61"/>
  </p:notesMasterIdLst>
  <p:sldIdLst>
    <p:sldId id="257" r:id="rId5"/>
    <p:sldId id="359" r:id="rId6"/>
    <p:sldId id="260" r:id="rId7"/>
    <p:sldId id="302" r:id="rId8"/>
    <p:sldId id="285" r:id="rId9"/>
    <p:sldId id="438" r:id="rId10"/>
    <p:sldId id="437" r:id="rId11"/>
    <p:sldId id="362" r:id="rId12"/>
    <p:sldId id="439" r:id="rId13"/>
    <p:sldId id="440" r:id="rId14"/>
    <p:sldId id="443" r:id="rId15"/>
    <p:sldId id="444" r:id="rId16"/>
    <p:sldId id="441" r:id="rId17"/>
    <p:sldId id="446" r:id="rId18"/>
    <p:sldId id="442" r:id="rId19"/>
    <p:sldId id="447" r:id="rId20"/>
    <p:sldId id="449" r:id="rId21"/>
    <p:sldId id="448" r:id="rId22"/>
    <p:sldId id="460" r:id="rId23"/>
    <p:sldId id="451" r:id="rId24"/>
    <p:sldId id="452" r:id="rId25"/>
    <p:sldId id="453" r:id="rId26"/>
    <p:sldId id="454" r:id="rId27"/>
    <p:sldId id="455" r:id="rId28"/>
    <p:sldId id="456" r:id="rId29"/>
    <p:sldId id="457" r:id="rId30"/>
    <p:sldId id="458" r:id="rId31"/>
    <p:sldId id="459" r:id="rId32"/>
    <p:sldId id="450" r:id="rId33"/>
    <p:sldId id="461" r:id="rId34"/>
    <p:sldId id="463" r:id="rId35"/>
    <p:sldId id="462" r:id="rId36"/>
    <p:sldId id="464" r:id="rId37"/>
    <p:sldId id="465" r:id="rId38"/>
    <p:sldId id="466" r:id="rId39"/>
    <p:sldId id="467" r:id="rId40"/>
    <p:sldId id="468" r:id="rId41"/>
    <p:sldId id="469" r:id="rId42"/>
    <p:sldId id="470" r:id="rId43"/>
    <p:sldId id="471" r:id="rId44"/>
    <p:sldId id="472" r:id="rId45"/>
    <p:sldId id="475" r:id="rId46"/>
    <p:sldId id="476" r:id="rId47"/>
    <p:sldId id="477" r:id="rId48"/>
    <p:sldId id="478" r:id="rId49"/>
    <p:sldId id="479" r:id="rId50"/>
    <p:sldId id="480" r:id="rId51"/>
    <p:sldId id="481" r:id="rId52"/>
    <p:sldId id="483" r:id="rId53"/>
    <p:sldId id="484" r:id="rId54"/>
    <p:sldId id="485" r:id="rId55"/>
    <p:sldId id="486" r:id="rId56"/>
    <p:sldId id="492" r:id="rId57"/>
    <p:sldId id="487" r:id="rId58"/>
    <p:sldId id="489" r:id="rId59"/>
    <p:sldId id="491"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luwafemi Adebiyi" initials="OA" lastIdx="2" clrIdx="0">
    <p:extLst>
      <p:ext uri="{19B8F6BF-5375-455C-9EA6-DF929625EA0E}">
        <p15:presenceInfo xmlns="" xmlns:p15="http://schemas.microsoft.com/office/powerpoint/2012/main" userId="f65f69e90005f56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6" autoAdjust="0"/>
    <p:restoredTop sz="94619" autoAdjust="0"/>
  </p:normalViewPr>
  <p:slideViewPr>
    <p:cSldViewPr snapToGrid="0">
      <p:cViewPr varScale="1">
        <p:scale>
          <a:sx n="74" d="100"/>
          <a:sy n="74" d="100"/>
        </p:scale>
        <p:origin x="-246"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0A6AAE-D760-4905-BBB9-3B016A7B6822}" type="datetimeFigureOut">
              <a:rPr lang="x-none" smtClean="0"/>
              <a:t>7/7/2025</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44F6D5-FFE7-49F7-9D51-00EE85B0B2CE}" type="slidenum">
              <a:rPr lang="x-none" smtClean="0"/>
              <a:t>‹#›</a:t>
            </a:fld>
            <a:endParaRPr lang="x-none"/>
          </a:p>
        </p:txBody>
      </p:sp>
    </p:spTree>
    <p:extLst>
      <p:ext uri="{BB962C8B-B14F-4D97-AF65-F5344CB8AC3E}">
        <p14:creationId xmlns:p14="http://schemas.microsoft.com/office/powerpoint/2010/main" val="2961241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A544F6D5-FFE7-49F7-9D51-00EE85B0B2CE}" type="slidenum">
              <a:rPr lang="x-none" smtClean="0"/>
              <a:t>27</a:t>
            </a:fld>
            <a:endParaRPr lang="x-none"/>
          </a:p>
        </p:txBody>
      </p:sp>
    </p:spTree>
    <p:extLst>
      <p:ext uri="{BB962C8B-B14F-4D97-AF65-F5344CB8AC3E}">
        <p14:creationId xmlns:p14="http://schemas.microsoft.com/office/powerpoint/2010/main" val="2038581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7F835AD-E344-F27A-4843-60D7B81C8D03}"/>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2FFD5E3E-8259-6016-A42A-2AD216697D6C}"/>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6A1281FF-236B-32FD-A03D-583401326D70}"/>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67F3D287-D1F6-BF32-55EF-02B911463261}"/>
              </a:ext>
            </a:extLst>
          </p:cNvPr>
          <p:cNvSpPr>
            <a:spLocks noGrp="1"/>
          </p:cNvSpPr>
          <p:nvPr>
            <p:ph type="sldNum" sz="quarter" idx="5"/>
          </p:nvPr>
        </p:nvSpPr>
        <p:spPr/>
        <p:txBody>
          <a:bodyPr/>
          <a:lstStyle/>
          <a:p>
            <a:fld id="{A544F6D5-FFE7-49F7-9D51-00EE85B0B2CE}" type="slidenum">
              <a:rPr lang="x-none" smtClean="0"/>
              <a:t>30</a:t>
            </a:fld>
            <a:endParaRPr lang="x-none"/>
          </a:p>
        </p:txBody>
      </p:sp>
    </p:spTree>
    <p:extLst>
      <p:ext uri="{BB962C8B-B14F-4D97-AF65-F5344CB8AC3E}">
        <p14:creationId xmlns:p14="http://schemas.microsoft.com/office/powerpoint/2010/main" val="36235601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E44ED51-7FE0-97B3-316D-61D63918D737}"/>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EF8259A7-2E21-DDD8-6DF5-C5D66035556C}"/>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4B704A8C-2A3C-2E99-B1C4-D893AA34B4E2}"/>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FF1DFD51-F674-6B0A-F0DF-39692EB37685}"/>
              </a:ext>
            </a:extLst>
          </p:cNvPr>
          <p:cNvSpPr>
            <a:spLocks noGrp="1"/>
          </p:cNvSpPr>
          <p:nvPr>
            <p:ph type="sldNum" sz="quarter" idx="5"/>
          </p:nvPr>
        </p:nvSpPr>
        <p:spPr/>
        <p:txBody>
          <a:bodyPr/>
          <a:lstStyle/>
          <a:p>
            <a:fld id="{A544F6D5-FFE7-49F7-9D51-00EE85B0B2CE}" type="slidenum">
              <a:rPr lang="x-none" smtClean="0"/>
              <a:t>31</a:t>
            </a:fld>
            <a:endParaRPr lang="x-none"/>
          </a:p>
        </p:txBody>
      </p:sp>
    </p:spTree>
    <p:extLst>
      <p:ext uri="{BB962C8B-B14F-4D97-AF65-F5344CB8AC3E}">
        <p14:creationId xmlns:p14="http://schemas.microsoft.com/office/powerpoint/2010/main" val="2153830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E743D79-AEE8-8C51-07C9-681E8A4BFE40}"/>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FC491595-6696-ACAF-7AF5-0A9861C0716E}"/>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B107B2BB-E626-590C-86F1-DDE068A8057F}"/>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48D6FA6B-5752-69C7-55ED-671D0E0E0C65}"/>
              </a:ext>
            </a:extLst>
          </p:cNvPr>
          <p:cNvSpPr>
            <a:spLocks noGrp="1"/>
          </p:cNvSpPr>
          <p:nvPr>
            <p:ph type="sldNum" sz="quarter" idx="5"/>
          </p:nvPr>
        </p:nvSpPr>
        <p:spPr/>
        <p:txBody>
          <a:bodyPr/>
          <a:lstStyle/>
          <a:p>
            <a:fld id="{A544F6D5-FFE7-49F7-9D51-00EE85B0B2CE}" type="slidenum">
              <a:rPr lang="x-none" smtClean="0"/>
              <a:t>32</a:t>
            </a:fld>
            <a:endParaRPr lang="x-none"/>
          </a:p>
        </p:txBody>
      </p:sp>
    </p:spTree>
    <p:extLst>
      <p:ext uri="{BB962C8B-B14F-4D97-AF65-F5344CB8AC3E}">
        <p14:creationId xmlns:p14="http://schemas.microsoft.com/office/powerpoint/2010/main" val="2670332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33DADB0-7A64-85E7-DCCA-1D0C91701885}"/>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DD3B9F05-7CF3-D23F-AC22-75A9143B1DCC}"/>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DEEE26E0-E0DA-281B-FC6B-59F437DA98B8}"/>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31262048-B0CC-1847-0D16-0F60812D49F2}"/>
              </a:ext>
            </a:extLst>
          </p:cNvPr>
          <p:cNvSpPr>
            <a:spLocks noGrp="1"/>
          </p:cNvSpPr>
          <p:nvPr>
            <p:ph type="sldNum" sz="quarter" idx="5"/>
          </p:nvPr>
        </p:nvSpPr>
        <p:spPr/>
        <p:txBody>
          <a:bodyPr/>
          <a:lstStyle/>
          <a:p>
            <a:fld id="{A544F6D5-FFE7-49F7-9D51-00EE85B0B2CE}" type="slidenum">
              <a:rPr lang="x-none" smtClean="0"/>
              <a:t>33</a:t>
            </a:fld>
            <a:endParaRPr lang="x-none"/>
          </a:p>
        </p:txBody>
      </p:sp>
    </p:spTree>
    <p:extLst>
      <p:ext uri="{BB962C8B-B14F-4D97-AF65-F5344CB8AC3E}">
        <p14:creationId xmlns:p14="http://schemas.microsoft.com/office/powerpoint/2010/main" val="642104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57DBFD9-77AD-B357-07E7-464C83244B4E}"/>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D4EB5B5E-AA7A-D8F3-1477-A502B4CC066A}"/>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42B640AD-4CDC-30D3-2B84-7CEE05560859}"/>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56723336-F1ED-0B5B-F975-FFE9CE6636EC}"/>
              </a:ext>
            </a:extLst>
          </p:cNvPr>
          <p:cNvSpPr>
            <a:spLocks noGrp="1"/>
          </p:cNvSpPr>
          <p:nvPr>
            <p:ph type="sldNum" sz="quarter" idx="5"/>
          </p:nvPr>
        </p:nvSpPr>
        <p:spPr/>
        <p:txBody>
          <a:bodyPr/>
          <a:lstStyle/>
          <a:p>
            <a:fld id="{A544F6D5-FFE7-49F7-9D51-00EE85B0B2CE}" type="slidenum">
              <a:rPr lang="x-none" smtClean="0"/>
              <a:t>34</a:t>
            </a:fld>
            <a:endParaRPr lang="x-none"/>
          </a:p>
        </p:txBody>
      </p:sp>
    </p:spTree>
    <p:extLst>
      <p:ext uri="{BB962C8B-B14F-4D97-AF65-F5344CB8AC3E}">
        <p14:creationId xmlns:p14="http://schemas.microsoft.com/office/powerpoint/2010/main" val="4142585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31169E5-41AC-5950-2341-A2A6626C8727}"/>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B258C8EA-29C3-6166-A65E-F3BEC3351720}"/>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CA532791-766E-D01F-9513-D22558E21119}"/>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52C094E9-5373-4C61-81EF-BEF2F94EC670}"/>
              </a:ext>
            </a:extLst>
          </p:cNvPr>
          <p:cNvSpPr>
            <a:spLocks noGrp="1"/>
          </p:cNvSpPr>
          <p:nvPr>
            <p:ph type="sldNum" sz="quarter" idx="5"/>
          </p:nvPr>
        </p:nvSpPr>
        <p:spPr/>
        <p:txBody>
          <a:bodyPr/>
          <a:lstStyle/>
          <a:p>
            <a:fld id="{A544F6D5-FFE7-49F7-9D51-00EE85B0B2CE}" type="slidenum">
              <a:rPr lang="x-none" smtClean="0"/>
              <a:t>35</a:t>
            </a:fld>
            <a:endParaRPr lang="x-none"/>
          </a:p>
        </p:txBody>
      </p:sp>
    </p:spTree>
    <p:extLst>
      <p:ext uri="{BB962C8B-B14F-4D97-AF65-F5344CB8AC3E}">
        <p14:creationId xmlns:p14="http://schemas.microsoft.com/office/powerpoint/2010/main" val="35501536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35A1E68-8A88-B393-D712-553B894CD01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32B3E1A-BDD4-CA76-12D4-AE6225273B9F}"/>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CE1B0E18-75BC-EC21-B234-B10C30CA8811}"/>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4BBF8459-F938-15C0-BC30-2E8EF657C488}"/>
              </a:ext>
            </a:extLst>
          </p:cNvPr>
          <p:cNvSpPr>
            <a:spLocks noGrp="1"/>
          </p:cNvSpPr>
          <p:nvPr>
            <p:ph type="sldNum" sz="quarter" idx="5"/>
          </p:nvPr>
        </p:nvSpPr>
        <p:spPr/>
        <p:txBody>
          <a:bodyPr/>
          <a:lstStyle/>
          <a:p>
            <a:fld id="{A544F6D5-FFE7-49F7-9D51-00EE85B0B2CE}" type="slidenum">
              <a:rPr lang="x-none" smtClean="0"/>
              <a:t>36</a:t>
            </a:fld>
            <a:endParaRPr lang="x-none"/>
          </a:p>
        </p:txBody>
      </p:sp>
    </p:spTree>
    <p:extLst>
      <p:ext uri="{BB962C8B-B14F-4D97-AF65-F5344CB8AC3E}">
        <p14:creationId xmlns:p14="http://schemas.microsoft.com/office/powerpoint/2010/main" val="2620483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4EA406B-A13C-6A86-936E-37F88CF57B82}"/>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C3D99956-AD70-F1EE-E76F-083EA8A2C971}"/>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6C3F6EE7-6E35-E40B-7BFE-D068EC3EB947}"/>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21E8FBA2-C74B-702A-1FCE-2FA310272C86}"/>
              </a:ext>
            </a:extLst>
          </p:cNvPr>
          <p:cNvSpPr>
            <a:spLocks noGrp="1"/>
          </p:cNvSpPr>
          <p:nvPr>
            <p:ph type="sldNum" sz="quarter" idx="5"/>
          </p:nvPr>
        </p:nvSpPr>
        <p:spPr/>
        <p:txBody>
          <a:bodyPr/>
          <a:lstStyle/>
          <a:p>
            <a:fld id="{A544F6D5-FFE7-49F7-9D51-00EE85B0B2CE}" type="slidenum">
              <a:rPr lang="x-none" smtClean="0"/>
              <a:t>37</a:t>
            </a:fld>
            <a:endParaRPr lang="x-none"/>
          </a:p>
        </p:txBody>
      </p:sp>
    </p:spTree>
    <p:extLst>
      <p:ext uri="{BB962C8B-B14F-4D97-AF65-F5344CB8AC3E}">
        <p14:creationId xmlns:p14="http://schemas.microsoft.com/office/powerpoint/2010/main" val="957942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758E773-4FFA-AB60-D5CA-A4219EC86833}"/>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1127DCB7-9B64-20B4-A2B6-87B678CB54AB}"/>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638D89A1-FC0C-A7A8-5315-DB00C53047B8}"/>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9C629C4F-20C2-007C-DC73-B822DB684221}"/>
              </a:ext>
            </a:extLst>
          </p:cNvPr>
          <p:cNvSpPr>
            <a:spLocks noGrp="1"/>
          </p:cNvSpPr>
          <p:nvPr>
            <p:ph type="sldNum" sz="quarter" idx="5"/>
          </p:nvPr>
        </p:nvSpPr>
        <p:spPr/>
        <p:txBody>
          <a:bodyPr/>
          <a:lstStyle/>
          <a:p>
            <a:fld id="{A544F6D5-FFE7-49F7-9D51-00EE85B0B2CE}" type="slidenum">
              <a:rPr lang="x-none" smtClean="0"/>
              <a:t>39</a:t>
            </a:fld>
            <a:endParaRPr lang="x-none"/>
          </a:p>
        </p:txBody>
      </p:sp>
    </p:spTree>
    <p:extLst>
      <p:ext uri="{BB962C8B-B14F-4D97-AF65-F5344CB8AC3E}">
        <p14:creationId xmlns:p14="http://schemas.microsoft.com/office/powerpoint/2010/main" val="1868054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9269220-B241-FA53-C4F1-185DF01AB66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4AB043F3-DEFB-3448-6CB7-B29825E7FBB5}"/>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99BE275-54FF-887D-FF3E-16E590D1BA1C}"/>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D578F3FE-52CC-08CA-1CB7-8C3DB2BC15B9}"/>
              </a:ext>
            </a:extLst>
          </p:cNvPr>
          <p:cNvSpPr>
            <a:spLocks noGrp="1"/>
          </p:cNvSpPr>
          <p:nvPr>
            <p:ph type="sldNum" sz="quarter" idx="5"/>
          </p:nvPr>
        </p:nvSpPr>
        <p:spPr/>
        <p:txBody>
          <a:bodyPr/>
          <a:lstStyle/>
          <a:p>
            <a:fld id="{A544F6D5-FFE7-49F7-9D51-00EE85B0B2CE}" type="slidenum">
              <a:rPr lang="x-none" smtClean="0"/>
              <a:t>40</a:t>
            </a:fld>
            <a:endParaRPr lang="x-none"/>
          </a:p>
        </p:txBody>
      </p:sp>
    </p:spTree>
    <p:extLst>
      <p:ext uri="{BB962C8B-B14F-4D97-AF65-F5344CB8AC3E}">
        <p14:creationId xmlns:p14="http://schemas.microsoft.com/office/powerpoint/2010/main" val="42890617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E61E6F7-1C00-76DC-3DA6-FAEBCA1B57F8}"/>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EE3C4169-FEAD-2422-EA48-EB3271396436}"/>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A5F09293-92D4-DE7A-C95A-40589C099AF2}"/>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4CC3315D-099F-C663-9DEA-0CFA7EFA12D8}"/>
              </a:ext>
            </a:extLst>
          </p:cNvPr>
          <p:cNvSpPr>
            <a:spLocks noGrp="1"/>
          </p:cNvSpPr>
          <p:nvPr>
            <p:ph type="sldNum" sz="quarter" idx="5"/>
          </p:nvPr>
        </p:nvSpPr>
        <p:spPr/>
        <p:txBody>
          <a:bodyPr/>
          <a:lstStyle/>
          <a:p>
            <a:fld id="{A544F6D5-FFE7-49F7-9D51-00EE85B0B2CE}" type="slidenum">
              <a:rPr lang="x-none" smtClean="0"/>
              <a:t>41</a:t>
            </a:fld>
            <a:endParaRPr lang="x-none"/>
          </a:p>
        </p:txBody>
      </p:sp>
    </p:spTree>
    <p:extLst>
      <p:ext uri="{BB962C8B-B14F-4D97-AF65-F5344CB8AC3E}">
        <p14:creationId xmlns:p14="http://schemas.microsoft.com/office/powerpoint/2010/main" val="33301937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7B163F0-4907-EDD6-214F-13F96F85278D}"/>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4E09D8F6-15E5-8E76-5000-A65D8851B999}"/>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11220792-F2BD-4334-FA1E-5CBF7017FDCD}"/>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328B51EE-E229-C000-6CBF-18D8121ACB0D}"/>
              </a:ext>
            </a:extLst>
          </p:cNvPr>
          <p:cNvSpPr>
            <a:spLocks noGrp="1"/>
          </p:cNvSpPr>
          <p:nvPr>
            <p:ph type="sldNum" sz="quarter" idx="5"/>
          </p:nvPr>
        </p:nvSpPr>
        <p:spPr/>
        <p:txBody>
          <a:bodyPr/>
          <a:lstStyle/>
          <a:p>
            <a:fld id="{A544F6D5-FFE7-49F7-9D51-00EE85B0B2CE}" type="slidenum">
              <a:rPr lang="x-none" smtClean="0"/>
              <a:t>42</a:t>
            </a:fld>
            <a:endParaRPr lang="x-none"/>
          </a:p>
        </p:txBody>
      </p:sp>
    </p:spTree>
    <p:extLst>
      <p:ext uri="{BB962C8B-B14F-4D97-AF65-F5344CB8AC3E}">
        <p14:creationId xmlns:p14="http://schemas.microsoft.com/office/powerpoint/2010/main" val="34679063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D393D95-6A5D-23C5-8E9B-59358ED92448}"/>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C4C11D9B-1BED-CF4E-FA7A-ACC61A21E18C}"/>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57539789-6F46-2FBA-B3FF-38475248132C}"/>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1B038C7D-414D-608C-DDFA-50FD52A121CC}"/>
              </a:ext>
            </a:extLst>
          </p:cNvPr>
          <p:cNvSpPr>
            <a:spLocks noGrp="1"/>
          </p:cNvSpPr>
          <p:nvPr>
            <p:ph type="sldNum" sz="quarter" idx="5"/>
          </p:nvPr>
        </p:nvSpPr>
        <p:spPr/>
        <p:txBody>
          <a:bodyPr/>
          <a:lstStyle/>
          <a:p>
            <a:fld id="{A544F6D5-FFE7-49F7-9D51-00EE85B0B2CE}" type="slidenum">
              <a:rPr lang="x-none" smtClean="0"/>
              <a:t>43</a:t>
            </a:fld>
            <a:endParaRPr lang="x-none"/>
          </a:p>
        </p:txBody>
      </p:sp>
    </p:spTree>
    <p:extLst>
      <p:ext uri="{BB962C8B-B14F-4D97-AF65-F5344CB8AC3E}">
        <p14:creationId xmlns:p14="http://schemas.microsoft.com/office/powerpoint/2010/main" val="41120232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7296F9F-955A-C71A-AF41-284972399E44}"/>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B3E53876-6025-6990-16AE-16F37B9E2734}"/>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D30EE64D-D6E7-802A-97C9-8618CA0EC3F9}"/>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CB037F31-4E12-C32F-D9B7-D8EAB90BF388}"/>
              </a:ext>
            </a:extLst>
          </p:cNvPr>
          <p:cNvSpPr>
            <a:spLocks noGrp="1"/>
          </p:cNvSpPr>
          <p:nvPr>
            <p:ph type="sldNum" sz="quarter" idx="5"/>
          </p:nvPr>
        </p:nvSpPr>
        <p:spPr/>
        <p:txBody>
          <a:bodyPr/>
          <a:lstStyle/>
          <a:p>
            <a:fld id="{A544F6D5-FFE7-49F7-9D51-00EE85B0B2CE}" type="slidenum">
              <a:rPr lang="x-none" smtClean="0"/>
              <a:t>44</a:t>
            </a:fld>
            <a:endParaRPr lang="x-none"/>
          </a:p>
        </p:txBody>
      </p:sp>
    </p:spTree>
    <p:extLst>
      <p:ext uri="{BB962C8B-B14F-4D97-AF65-F5344CB8AC3E}">
        <p14:creationId xmlns:p14="http://schemas.microsoft.com/office/powerpoint/2010/main" val="14723196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40EB1C9-FC93-2831-FB23-8320BF94C85B}"/>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12A940CC-4C9B-EFA4-EA4A-B653096EFEC2}"/>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5EDF16E3-8154-0574-1F21-1FB22354205D}"/>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412336A0-C3DE-6574-9F03-FDCADF9CA823}"/>
              </a:ext>
            </a:extLst>
          </p:cNvPr>
          <p:cNvSpPr>
            <a:spLocks noGrp="1"/>
          </p:cNvSpPr>
          <p:nvPr>
            <p:ph type="sldNum" sz="quarter" idx="5"/>
          </p:nvPr>
        </p:nvSpPr>
        <p:spPr/>
        <p:txBody>
          <a:bodyPr/>
          <a:lstStyle/>
          <a:p>
            <a:fld id="{A544F6D5-FFE7-49F7-9D51-00EE85B0B2CE}" type="slidenum">
              <a:rPr lang="x-none" smtClean="0"/>
              <a:t>45</a:t>
            </a:fld>
            <a:endParaRPr lang="x-none"/>
          </a:p>
        </p:txBody>
      </p:sp>
    </p:spTree>
    <p:extLst>
      <p:ext uri="{BB962C8B-B14F-4D97-AF65-F5344CB8AC3E}">
        <p14:creationId xmlns:p14="http://schemas.microsoft.com/office/powerpoint/2010/main" val="30943733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CE5892B-7CB5-C9E1-7EF4-566B2A136A72}"/>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D23E6F80-94D9-32DC-1F1B-DFC372C66D31}"/>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D5AF0075-D938-D448-117B-5AF61E284D4F}"/>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817BAF3C-5E5E-DFB9-A492-6DDEB30B1F50}"/>
              </a:ext>
            </a:extLst>
          </p:cNvPr>
          <p:cNvSpPr>
            <a:spLocks noGrp="1"/>
          </p:cNvSpPr>
          <p:nvPr>
            <p:ph type="sldNum" sz="quarter" idx="5"/>
          </p:nvPr>
        </p:nvSpPr>
        <p:spPr/>
        <p:txBody>
          <a:bodyPr/>
          <a:lstStyle/>
          <a:p>
            <a:fld id="{A544F6D5-FFE7-49F7-9D51-00EE85B0B2CE}" type="slidenum">
              <a:rPr lang="x-none" smtClean="0"/>
              <a:t>46</a:t>
            </a:fld>
            <a:endParaRPr lang="x-none"/>
          </a:p>
        </p:txBody>
      </p:sp>
    </p:spTree>
    <p:extLst>
      <p:ext uri="{BB962C8B-B14F-4D97-AF65-F5344CB8AC3E}">
        <p14:creationId xmlns:p14="http://schemas.microsoft.com/office/powerpoint/2010/main" val="23624494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078C8A2-7E2B-2DEB-1686-AFFFEEC71C20}"/>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F9043B11-FABF-98B8-ED4F-99C51C16DB30}"/>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9DFC5CAE-DCFA-3B08-9225-789171E33756}"/>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011A0B73-012D-6EB6-94CF-B9FE6E8350B5}"/>
              </a:ext>
            </a:extLst>
          </p:cNvPr>
          <p:cNvSpPr>
            <a:spLocks noGrp="1"/>
          </p:cNvSpPr>
          <p:nvPr>
            <p:ph type="sldNum" sz="quarter" idx="5"/>
          </p:nvPr>
        </p:nvSpPr>
        <p:spPr/>
        <p:txBody>
          <a:bodyPr/>
          <a:lstStyle/>
          <a:p>
            <a:fld id="{A544F6D5-FFE7-49F7-9D51-00EE85B0B2CE}" type="slidenum">
              <a:rPr lang="x-none" smtClean="0"/>
              <a:t>47</a:t>
            </a:fld>
            <a:endParaRPr lang="x-none"/>
          </a:p>
        </p:txBody>
      </p:sp>
    </p:spTree>
    <p:extLst>
      <p:ext uri="{BB962C8B-B14F-4D97-AF65-F5344CB8AC3E}">
        <p14:creationId xmlns:p14="http://schemas.microsoft.com/office/powerpoint/2010/main" val="1503951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08CACB9-8C50-B284-5D88-76E7E186E1E6}"/>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11B13346-4C87-0C76-70AB-A32966B0E2E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E2874415-7BA5-3C9E-C892-F04F89B02B3A}"/>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4636D4E5-B71F-39F9-CFE3-FF3D07E27998}"/>
              </a:ext>
            </a:extLst>
          </p:cNvPr>
          <p:cNvSpPr>
            <a:spLocks noGrp="1"/>
          </p:cNvSpPr>
          <p:nvPr>
            <p:ph type="sldNum" sz="quarter" idx="5"/>
          </p:nvPr>
        </p:nvSpPr>
        <p:spPr/>
        <p:txBody>
          <a:bodyPr/>
          <a:lstStyle/>
          <a:p>
            <a:fld id="{A544F6D5-FFE7-49F7-9D51-00EE85B0B2CE}" type="slidenum">
              <a:rPr lang="x-none" smtClean="0"/>
              <a:t>48</a:t>
            </a:fld>
            <a:endParaRPr lang="x-none"/>
          </a:p>
        </p:txBody>
      </p:sp>
    </p:spTree>
    <p:extLst>
      <p:ext uri="{BB962C8B-B14F-4D97-AF65-F5344CB8AC3E}">
        <p14:creationId xmlns:p14="http://schemas.microsoft.com/office/powerpoint/2010/main" val="22720858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2341C0B-EC75-A410-FFBD-9326D78C0B7B}"/>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9DF61DE-8E1D-BB76-234E-91136FAA5222}"/>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7D8BC790-9B1E-F387-52E9-CF05B4702611}"/>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D2195D6E-ADE8-F1E9-5342-AD789AAB70D6}"/>
              </a:ext>
            </a:extLst>
          </p:cNvPr>
          <p:cNvSpPr>
            <a:spLocks noGrp="1"/>
          </p:cNvSpPr>
          <p:nvPr>
            <p:ph type="sldNum" sz="quarter" idx="5"/>
          </p:nvPr>
        </p:nvSpPr>
        <p:spPr/>
        <p:txBody>
          <a:bodyPr/>
          <a:lstStyle/>
          <a:p>
            <a:fld id="{A544F6D5-FFE7-49F7-9D51-00EE85B0B2CE}" type="slidenum">
              <a:rPr lang="x-none" smtClean="0"/>
              <a:t>50</a:t>
            </a:fld>
            <a:endParaRPr lang="x-none"/>
          </a:p>
        </p:txBody>
      </p:sp>
    </p:spTree>
    <p:extLst>
      <p:ext uri="{BB962C8B-B14F-4D97-AF65-F5344CB8AC3E}">
        <p14:creationId xmlns:p14="http://schemas.microsoft.com/office/powerpoint/2010/main" val="12493063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39ACFE9-95C0-9110-7172-29263F17AD8F}"/>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19768180-CF2C-353A-5294-7B7E63F6C3D5}"/>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094D8B0A-EA9F-9192-6C2F-D61EB930BDCC}"/>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B78D25C2-421A-C1A4-8513-F7322403B93E}"/>
              </a:ext>
            </a:extLst>
          </p:cNvPr>
          <p:cNvSpPr>
            <a:spLocks noGrp="1"/>
          </p:cNvSpPr>
          <p:nvPr>
            <p:ph type="sldNum" sz="quarter" idx="5"/>
          </p:nvPr>
        </p:nvSpPr>
        <p:spPr/>
        <p:txBody>
          <a:bodyPr/>
          <a:lstStyle/>
          <a:p>
            <a:fld id="{A544F6D5-FFE7-49F7-9D51-00EE85B0B2CE}" type="slidenum">
              <a:rPr lang="x-none" smtClean="0"/>
              <a:t>51</a:t>
            </a:fld>
            <a:endParaRPr lang="x-none"/>
          </a:p>
        </p:txBody>
      </p:sp>
    </p:spTree>
    <p:extLst>
      <p:ext uri="{BB962C8B-B14F-4D97-AF65-F5344CB8AC3E}">
        <p14:creationId xmlns:p14="http://schemas.microsoft.com/office/powerpoint/2010/main" val="36003966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A67D04C-9016-462F-9996-2912B0F91D2D}"/>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DC5EB6C7-5875-3D05-E25E-EE2399F8E34A}"/>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AC05F625-1B95-97C3-BFAF-99443AADC2CB}"/>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C36E6F96-53DD-7B53-757B-5C4EE3E5EB3A}"/>
              </a:ext>
            </a:extLst>
          </p:cNvPr>
          <p:cNvSpPr>
            <a:spLocks noGrp="1"/>
          </p:cNvSpPr>
          <p:nvPr>
            <p:ph type="sldNum" sz="quarter" idx="5"/>
          </p:nvPr>
        </p:nvSpPr>
        <p:spPr/>
        <p:txBody>
          <a:bodyPr/>
          <a:lstStyle/>
          <a:p>
            <a:fld id="{A544F6D5-FFE7-49F7-9D51-00EE85B0B2CE}" type="slidenum">
              <a:rPr lang="x-none" smtClean="0"/>
              <a:t>52</a:t>
            </a:fld>
            <a:endParaRPr lang="x-none"/>
          </a:p>
        </p:txBody>
      </p:sp>
    </p:spTree>
    <p:extLst>
      <p:ext uri="{BB962C8B-B14F-4D97-AF65-F5344CB8AC3E}">
        <p14:creationId xmlns:p14="http://schemas.microsoft.com/office/powerpoint/2010/main" val="26876575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9CE4BC0-1E42-276E-AAB5-D0E0385379FE}"/>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7A53F221-A51E-F9E5-2379-27276BD9E0C0}"/>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10E8B68A-9197-76FD-5DF4-928FB6A4A0BD}"/>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8ED81EA9-7F63-1C00-6678-F1EFFF4D32D3}"/>
              </a:ext>
            </a:extLst>
          </p:cNvPr>
          <p:cNvSpPr>
            <a:spLocks noGrp="1"/>
          </p:cNvSpPr>
          <p:nvPr>
            <p:ph type="sldNum" sz="quarter" idx="5"/>
          </p:nvPr>
        </p:nvSpPr>
        <p:spPr/>
        <p:txBody>
          <a:bodyPr/>
          <a:lstStyle/>
          <a:p>
            <a:fld id="{A544F6D5-FFE7-49F7-9D51-00EE85B0B2CE}" type="slidenum">
              <a:rPr lang="x-none" smtClean="0"/>
              <a:t>53</a:t>
            </a:fld>
            <a:endParaRPr lang="x-none"/>
          </a:p>
        </p:txBody>
      </p:sp>
    </p:spTree>
    <p:extLst>
      <p:ext uri="{BB962C8B-B14F-4D97-AF65-F5344CB8AC3E}">
        <p14:creationId xmlns:p14="http://schemas.microsoft.com/office/powerpoint/2010/main" val="21650955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7FC6690-845A-1A85-33C3-78A27643C1DD}"/>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B483B8BC-7A8F-5468-D85C-9F7741C91127}"/>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B0C8976-13BC-9305-001F-3CF597EF19A6}"/>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89260F0D-BAFA-CA7B-A92C-EF719A13AE28}"/>
              </a:ext>
            </a:extLst>
          </p:cNvPr>
          <p:cNvSpPr>
            <a:spLocks noGrp="1"/>
          </p:cNvSpPr>
          <p:nvPr>
            <p:ph type="sldNum" sz="quarter" idx="5"/>
          </p:nvPr>
        </p:nvSpPr>
        <p:spPr/>
        <p:txBody>
          <a:bodyPr/>
          <a:lstStyle/>
          <a:p>
            <a:fld id="{A544F6D5-FFE7-49F7-9D51-00EE85B0B2CE}" type="slidenum">
              <a:rPr lang="x-none" smtClean="0"/>
              <a:t>54</a:t>
            </a:fld>
            <a:endParaRPr lang="x-none"/>
          </a:p>
        </p:txBody>
      </p:sp>
    </p:spTree>
    <p:extLst>
      <p:ext uri="{BB962C8B-B14F-4D97-AF65-F5344CB8AC3E}">
        <p14:creationId xmlns:p14="http://schemas.microsoft.com/office/powerpoint/2010/main" val="6186014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6402523-1645-3CE5-355A-65E08E79517D}"/>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9CD99DCB-71F6-FC98-2ACA-83742940B47A}"/>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49B6761-7969-4553-C39B-31BAC8A7A528}"/>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4A1257DE-F2ED-2D48-171D-CA4DA9B64756}"/>
              </a:ext>
            </a:extLst>
          </p:cNvPr>
          <p:cNvSpPr>
            <a:spLocks noGrp="1"/>
          </p:cNvSpPr>
          <p:nvPr>
            <p:ph type="sldNum" sz="quarter" idx="5"/>
          </p:nvPr>
        </p:nvSpPr>
        <p:spPr/>
        <p:txBody>
          <a:bodyPr/>
          <a:lstStyle/>
          <a:p>
            <a:fld id="{A544F6D5-FFE7-49F7-9D51-00EE85B0B2CE}" type="slidenum">
              <a:rPr lang="x-none" smtClean="0"/>
              <a:t>55</a:t>
            </a:fld>
            <a:endParaRPr lang="x-none"/>
          </a:p>
        </p:txBody>
      </p:sp>
    </p:spTree>
    <p:extLst>
      <p:ext uri="{BB962C8B-B14F-4D97-AF65-F5344CB8AC3E}">
        <p14:creationId xmlns:p14="http://schemas.microsoft.com/office/powerpoint/2010/main" val="3298133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AAC56B1-6A59-ACDA-8C89-69DC11419147}"/>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C5CD88E-598B-0C5B-9A60-20D0C1F9990B}"/>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CF6CD8D6-42B2-D052-4AB4-EFF9C3583AE3}"/>
              </a:ext>
            </a:extLst>
          </p:cNvPr>
          <p:cNvSpPr>
            <a:spLocks noGrp="1"/>
          </p:cNvSpPr>
          <p:nvPr>
            <p:ph type="body" idx="1"/>
          </p:nvPr>
        </p:nvSpPr>
        <p:spPr/>
        <p:txBody>
          <a:bodyPr/>
          <a:lstStyle/>
          <a:p>
            <a:endParaRPr lang="x-none" dirty="0"/>
          </a:p>
        </p:txBody>
      </p:sp>
      <p:sp>
        <p:nvSpPr>
          <p:cNvPr id="4" name="Slide Number Placeholder 3">
            <a:extLst>
              <a:ext uri="{FF2B5EF4-FFF2-40B4-BE49-F238E27FC236}">
                <a16:creationId xmlns="" xmlns:a16="http://schemas.microsoft.com/office/drawing/2014/main" id="{20ECF008-EC0A-73F6-DB5B-CCC4976EBB80}"/>
              </a:ext>
            </a:extLst>
          </p:cNvPr>
          <p:cNvSpPr>
            <a:spLocks noGrp="1"/>
          </p:cNvSpPr>
          <p:nvPr>
            <p:ph type="sldNum" sz="quarter" idx="5"/>
          </p:nvPr>
        </p:nvSpPr>
        <p:spPr/>
        <p:txBody>
          <a:bodyPr/>
          <a:lstStyle/>
          <a:p>
            <a:fld id="{A544F6D5-FFE7-49F7-9D51-00EE85B0B2CE}" type="slidenum">
              <a:rPr lang="x-none" smtClean="0"/>
              <a:t>56</a:t>
            </a:fld>
            <a:endParaRPr lang="x-none"/>
          </a:p>
        </p:txBody>
      </p:sp>
    </p:spTree>
    <p:extLst>
      <p:ext uri="{BB962C8B-B14F-4D97-AF65-F5344CB8AC3E}">
        <p14:creationId xmlns:p14="http://schemas.microsoft.com/office/powerpoint/2010/main" val="24319605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7/7/2025</a:t>
            </a:fld>
            <a:endParaRPr lang="en-US" dirty="0"/>
          </a:p>
        </p:txBody>
      </p:sp>
      <p:sp>
        <p:nvSpPr>
          <p:cNvPr id="9" name="Footer Placeholder 8">
            <a:extLst>
              <a:ext uri="{FF2B5EF4-FFF2-40B4-BE49-F238E27FC236}">
                <a16:creationId xmlns=""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pic>
        <p:nvPicPr>
          <p:cNvPr id="11" name="Picture 10">
            <a:extLst>
              <a:ext uri="{FF2B5EF4-FFF2-40B4-BE49-F238E27FC236}">
                <a16:creationId xmlns="" xmlns:a16="http://schemas.microsoft.com/office/drawing/2014/main" id="{0F384564-48B7-3DF6-C1B7-7858DDE3FC6B}"/>
              </a:ext>
            </a:extLst>
          </p:cNvPr>
          <p:cNvPicPr>
            <a:picLocks noChangeAspect="1"/>
          </p:cNvPicPr>
          <p:nvPr userDrawn="1"/>
        </p:nvPicPr>
        <p:blipFill>
          <a:blip r:embed="rId2"/>
          <a:stretch>
            <a:fillRect/>
          </a:stretch>
        </p:blipFill>
        <p:spPr>
          <a:xfrm>
            <a:off x="11029474" y="598099"/>
            <a:ext cx="715992" cy="715992"/>
          </a:xfrm>
          <a:prstGeom prst="rect">
            <a:avLst/>
          </a:prstGeom>
        </p:spPr>
      </p:pic>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7/7/2025</a:t>
            </a:fld>
            <a:endParaRPr lang="en-US" dirty="0"/>
          </a:p>
        </p:txBody>
      </p:sp>
      <p:sp>
        <p:nvSpPr>
          <p:cNvPr id="9" name="Footer Placeholder 8">
            <a:extLst>
              <a:ext uri="{FF2B5EF4-FFF2-40B4-BE49-F238E27FC236}">
                <a16:creationId xmlns=""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pic>
        <p:nvPicPr>
          <p:cNvPr id="7" name="Picture 6">
            <a:extLst>
              <a:ext uri="{FF2B5EF4-FFF2-40B4-BE49-F238E27FC236}">
                <a16:creationId xmlns="" xmlns:a16="http://schemas.microsoft.com/office/drawing/2014/main" id="{1437CCE9-8823-992F-B1CF-23DB1FE90D61}"/>
              </a:ext>
            </a:extLst>
          </p:cNvPr>
          <p:cNvPicPr>
            <a:picLocks noChangeAspect="1"/>
          </p:cNvPicPr>
          <p:nvPr userDrawn="1"/>
        </p:nvPicPr>
        <p:blipFill>
          <a:blip r:embed="rId2"/>
          <a:stretch>
            <a:fillRect/>
          </a:stretch>
        </p:blipFill>
        <p:spPr>
          <a:xfrm>
            <a:off x="11007305" y="689156"/>
            <a:ext cx="668547" cy="668547"/>
          </a:xfrm>
          <a:prstGeom prst="rect">
            <a:avLst/>
          </a:prstGeom>
        </p:spPr>
      </p:pic>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7/7/2025</a:t>
            </a:fld>
            <a:endParaRPr lang="en-US" dirty="0"/>
          </a:p>
        </p:txBody>
      </p:sp>
      <p:sp>
        <p:nvSpPr>
          <p:cNvPr id="9" name="Footer Placeholder 8">
            <a:extLst>
              <a:ext uri="{FF2B5EF4-FFF2-40B4-BE49-F238E27FC236}">
                <a16:creationId xmlns=""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7/7/2025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7/7/2025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7/7/2025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7/7/2025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7/7/2025</a:t>
            </a:fld>
            <a:endParaRPr lang="en-US" dirty="0"/>
          </a:p>
        </p:txBody>
      </p:sp>
      <p:sp>
        <p:nvSpPr>
          <p:cNvPr id="10" name="Footer Placeholder 9">
            <a:extLst>
              <a:ext uri="{FF2B5EF4-FFF2-40B4-BE49-F238E27FC236}">
                <a16:creationId xmlns=""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7/7/2025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7/7/2025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7/7/2025</a:t>
            </a:fld>
            <a:endParaRPr lang="en-US" dirty="0"/>
          </a:p>
        </p:txBody>
      </p:sp>
      <p:sp>
        <p:nvSpPr>
          <p:cNvPr id="12" name="Footer Placeholder 11">
            <a:extLst>
              <a:ext uri="{FF2B5EF4-FFF2-40B4-BE49-F238E27FC236}">
                <a16:creationId xmlns=""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7/7/2025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 xmlns:a16="http://schemas.microsoft.com/office/drawing/2014/main" id="{D6D7A0BC-0046-4CAA-8E7F-DCAFE511EA0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1C21E816-31F5-48BB-BD02-D15F2F18B48A}"/>
              </a:ext>
            </a:extLst>
          </p:cNvPr>
          <p:cNvSpPr>
            <a:spLocks noGrp="1"/>
          </p:cNvSpPr>
          <p:nvPr>
            <p:ph type="ctrTitle"/>
          </p:nvPr>
        </p:nvSpPr>
        <p:spPr>
          <a:xfrm>
            <a:off x="581191" y="1020431"/>
            <a:ext cx="10993549" cy="1475013"/>
          </a:xfrm>
        </p:spPr>
        <p:txBody>
          <a:bodyPr>
            <a:normAutofit/>
          </a:bodyPr>
          <a:lstStyle/>
          <a:p>
            <a:r>
              <a:rPr lang="en-US" dirty="0"/>
              <a:t>ALTSCHOOL OF Cybersecurity (BARAKA 2025)</a:t>
            </a:r>
          </a:p>
        </p:txBody>
      </p:sp>
      <p:sp>
        <p:nvSpPr>
          <p:cNvPr id="3" name="Subtitle 2">
            <a:extLst>
              <a:ext uri="{FF2B5EF4-FFF2-40B4-BE49-F238E27FC236}">
                <a16:creationId xmlns="" xmlns:a16="http://schemas.microsoft.com/office/drawing/2014/main" id="{835D6E6B-3353-491C-A3C6-F278D6CED8B3}"/>
              </a:ext>
            </a:extLst>
          </p:cNvPr>
          <p:cNvSpPr>
            <a:spLocks noGrp="1"/>
          </p:cNvSpPr>
          <p:nvPr>
            <p:ph type="subTitle" idx="1"/>
          </p:nvPr>
        </p:nvSpPr>
        <p:spPr>
          <a:xfrm>
            <a:off x="581194" y="2495445"/>
            <a:ext cx="10993546" cy="468233"/>
          </a:xfrm>
        </p:spPr>
        <p:txBody>
          <a:bodyPr>
            <a:normAutofit/>
          </a:bodyPr>
          <a:lstStyle/>
          <a:p>
            <a:r>
              <a:rPr lang="en-US" b="1" dirty="0">
                <a:solidFill>
                  <a:schemeClr val="tx1"/>
                </a:solidFill>
              </a:rPr>
              <a:t>MONTH 2 – WEEK 2</a:t>
            </a:r>
          </a:p>
        </p:txBody>
      </p:sp>
      <p:sp>
        <p:nvSpPr>
          <p:cNvPr id="20" name="Rectangle 19">
            <a:extLst>
              <a:ext uri="{FF2B5EF4-FFF2-40B4-BE49-F238E27FC236}">
                <a16:creationId xmlns="" xmlns:a16="http://schemas.microsoft.com/office/drawing/2014/main" id="{E7C6334F-6411-41EC-AD7D-179EDD8B58C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 xmlns:a16="http://schemas.microsoft.com/office/drawing/2014/main" id="{E6B02CEE-3AF8-4349-9B3E-8970E6DF62B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 xmlns:a16="http://schemas.microsoft.com/office/drawing/2014/main" id="{AAA01CF0-3FB5-44EB-B7DE-F2E86374C2F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pic>
        <p:nvPicPr>
          <p:cNvPr id="5" name="Picture 4">
            <a:extLst>
              <a:ext uri="{FF2B5EF4-FFF2-40B4-BE49-F238E27FC236}">
                <a16:creationId xmlns="" xmlns:a16="http://schemas.microsoft.com/office/drawing/2014/main" id="{6D88CAB6-26D2-B72B-9B46-D93B44FBD551}"/>
              </a:ext>
            </a:extLst>
          </p:cNvPr>
          <p:cNvPicPr>
            <a:picLocks noChangeAspect="1"/>
          </p:cNvPicPr>
          <p:nvPr/>
        </p:nvPicPr>
        <p:blipFill>
          <a:blip r:embed="rId3"/>
          <a:stretch>
            <a:fillRect/>
          </a:stretch>
        </p:blipFill>
        <p:spPr>
          <a:xfrm>
            <a:off x="10887519" y="616528"/>
            <a:ext cx="723290" cy="723290"/>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F4089BF-CABF-F169-6BD1-FB7399D70A45}"/>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BAAA0DC-C434-B3B4-0363-3B35ABFDD03A}"/>
              </a:ext>
            </a:extLst>
          </p:cNvPr>
          <p:cNvSpPr>
            <a:spLocks noGrp="1"/>
          </p:cNvSpPr>
          <p:nvPr>
            <p:ph type="title"/>
          </p:nvPr>
        </p:nvSpPr>
        <p:spPr/>
        <p:txBody>
          <a:bodyPr/>
          <a:lstStyle/>
          <a:p>
            <a:r>
              <a:rPr lang="en-US" dirty="0"/>
              <a:t>Refresher-  Last week</a:t>
            </a:r>
            <a:endParaRPr lang="x-none" dirty="0"/>
          </a:p>
        </p:txBody>
      </p:sp>
      <p:sp>
        <p:nvSpPr>
          <p:cNvPr id="4" name="Content Placeholder 2">
            <a:extLst>
              <a:ext uri="{FF2B5EF4-FFF2-40B4-BE49-F238E27FC236}">
                <a16:creationId xmlns="" xmlns:a16="http://schemas.microsoft.com/office/drawing/2014/main" id="{9900875B-7EFA-237A-A995-A93013DF59DC}"/>
              </a:ext>
            </a:extLst>
          </p:cNvPr>
          <p:cNvSpPr>
            <a:spLocks noGrp="1"/>
          </p:cNvSpPr>
          <p:nvPr>
            <p:ph idx="1"/>
          </p:nvPr>
        </p:nvSpPr>
        <p:spPr>
          <a:xfrm>
            <a:off x="623498" y="2668929"/>
            <a:ext cx="11029950" cy="3633787"/>
          </a:xfrm>
        </p:spPr>
        <p:txBody>
          <a:bodyPr>
            <a:normAutofit fontScale="85000" lnSpcReduction="20000"/>
          </a:bodyPr>
          <a:lstStyle/>
          <a:p>
            <a:r>
              <a:rPr lang="en-US" dirty="0"/>
              <a:t>Risk Management</a:t>
            </a:r>
          </a:p>
          <a:p>
            <a:pPr lvl="1"/>
            <a:r>
              <a:rPr lang="en-US" dirty="0"/>
              <a:t>Overview of Identifying Risk and Type of Risk</a:t>
            </a:r>
          </a:p>
          <a:p>
            <a:pPr lvl="1"/>
            <a:r>
              <a:rPr lang="en-US" dirty="0"/>
              <a:t>Risk Identification Techniques</a:t>
            </a:r>
          </a:p>
          <a:p>
            <a:pPr lvl="1"/>
            <a:r>
              <a:rPr lang="en-US" dirty="0"/>
              <a:t>Accessing Risk and Prioritizing Risk</a:t>
            </a:r>
          </a:p>
          <a:p>
            <a:pPr lvl="1"/>
            <a:r>
              <a:rPr lang="en-US" dirty="0"/>
              <a:t>Mitigating Risk Monitoring and Communicating in Risk Management</a:t>
            </a:r>
          </a:p>
          <a:p>
            <a:pPr lvl="1"/>
            <a:r>
              <a:rPr lang="en-US" dirty="0"/>
              <a:t>Risk Management Frameworks – Overview</a:t>
            </a:r>
          </a:p>
          <a:p>
            <a:pPr lvl="1"/>
            <a:r>
              <a:rPr lang="en-US" dirty="0"/>
              <a:t>Importance of Risk Management Frameworks and Primary Components of RMFs</a:t>
            </a:r>
          </a:p>
          <a:p>
            <a:pPr lvl="1"/>
            <a:r>
              <a:rPr lang="en-US" dirty="0"/>
              <a:t>Top Risk Management Frameworks Today.</a:t>
            </a:r>
          </a:p>
          <a:p>
            <a:pPr lvl="1"/>
            <a:r>
              <a:rPr lang="en-US" dirty="0"/>
              <a:t>Benefits of Risk Management Frameworks and Framing your Risks</a:t>
            </a:r>
          </a:p>
          <a:p>
            <a:r>
              <a:rPr lang="en-US" dirty="0"/>
              <a:t>Introducing Key Legislations and Regulations, Compliance Requirements and Standards</a:t>
            </a:r>
          </a:p>
          <a:p>
            <a:pPr lvl="1"/>
            <a:r>
              <a:rPr lang="en-US" dirty="0"/>
              <a:t>Introduction to Key legislations and Regulations (GDPR, HIPAA, NDPA, CCPA, </a:t>
            </a:r>
            <a:r>
              <a:rPr lang="en-US" dirty="0" err="1"/>
              <a:t>etc</a:t>
            </a:r>
            <a:r>
              <a:rPr lang="en-US" dirty="0"/>
              <a:t>)</a:t>
            </a:r>
          </a:p>
          <a:p>
            <a:pPr lvl="1"/>
            <a:r>
              <a:rPr lang="en-US" dirty="0"/>
              <a:t>Compliance Requirements and Standards</a:t>
            </a:r>
          </a:p>
          <a:p>
            <a:pPr lvl="1"/>
            <a:r>
              <a:rPr lang="en-US" dirty="0"/>
              <a:t>Examples of Cybersecurity Standards (ISO 27001, PCIDSS, NIST)</a:t>
            </a:r>
          </a:p>
          <a:p>
            <a:pPr marL="324000" lvl="1" indent="0">
              <a:buNone/>
            </a:pPr>
            <a:endParaRPr lang="en-US" dirty="0"/>
          </a:p>
          <a:p>
            <a:pPr lvl="2"/>
            <a:endParaRPr lang="en-US" dirty="0"/>
          </a:p>
          <a:p>
            <a:endParaRPr lang="x-none" dirty="0"/>
          </a:p>
        </p:txBody>
      </p:sp>
    </p:spTree>
    <p:extLst>
      <p:ext uri="{BB962C8B-B14F-4D97-AF65-F5344CB8AC3E}">
        <p14:creationId xmlns:p14="http://schemas.microsoft.com/office/powerpoint/2010/main" val="84187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0AE03CE-9B7A-7575-D1AE-EC88DB4F542E}"/>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363A1CB3-A7D8-CE49-50E3-8E39ABBBF34A}"/>
              </a:ext>
            </a:extLst>
          </p:cNvPr>
          <p:cNvSpPr>
            <a:spLocks noGrp="1"/>
          </p:cNvSpPr>
          <p:nvPr>
            <p:ph type="title"/>
          </p:nvPr>
        </p:nvSpPr>
        <p:spPr/>
        <p:txBody>
          <a:bodyPr/>
          <a:lstStyle/>
          <a:p>
            <a:r>
              <a:rPr lang="en-US" dirty="0"/>
              <a:t>MONTH 2 -  WEEK 2</a:t>
            </a:r>
            <a:endParaRPr lang="x-none" dirty="0"/>
          </a:p>
        </p:txBody>
      </p:sp>
      <p:sp>
        <p:nvSpPr>
          <p:cNvPr id="4" name="Content Placeholder 2">
            <a:extLst>
              <a:ext uri="{FF2B5EF4-FFF2-40B4-BE49-F238E27FC236}">
                <a16:creationId xmlns="" xmlns:a16="http://schemas.microsoft.com/office/drawing/2014/main" id="{0D3DFEA1-A9A8-6C33-EC12-92C625EFB1B5}"/>
              </a:ext>
            </a:extLst>
          </p:cNvPr>
          <p:cNvSpPr>
            <a:spLocks noGrp="1"/>
          </p:cNvSpPr>
          <p:nvPr>
            <p:ph idx="1"/>
          </p:nvPr>
        </p:nvSpPr>
        <p:spPr>
          <a:xfrm>
            <a:off x="623498" y="2668929"/>
            <a:ext cx="11029950" cy="3633787"/>
          </a:xfrm>
        </p:spPr>
        <p:txBody>
          <a:bodyPr>
            <a:normAutofit/>
          </a:bodyPr>
          <a:lstStyle/>
          <a:p>
            <a:r>
              <a:rPr lang="en-US" dirty="0"/>
              <a:t>Introduction to Networks and Network Models</a:t>
            </a:r>
          </a:p>
          <a:p>
            <a:pPr lvl="1"/>
            <a:r>
              <a:rPr lang="en-US" dirty="0"/>
              <a:t>Introduction to Networks and Networking Models (OSI, TCP/IP)</a:t>
            </a:r>
          </a:p>
          <a:p>
            <a:pPr lvl="1"/>
            <a:r>
              <a:rPr lang="en-US" dirty="0"/>
              <a:t>Importance and Components of Networks</a:t>
            </a:r>
          </a:p>
          <a:p>
            <a:pPr lvl="1"/>
            <a:r>
              <a:rPr lang="en-US" dirty="0"/>
              <a:t>Types of Networks</a:t>
            </a:r>
          </a:p>
          <a:p>
            <a:pPr lvl="1"/>
            <a:r>
              <a:rPr lang="en-US" dirty="0"/>
              <a:t>A Day in the Life –Learning Networks</a:t>
            </a:r>
          </a:p>
          <a:p>
            <a:pPr lvl="1"/>
            <a:r>
              <a:rPr lang="en-US" dirty="0"/>
              <a:t>Network Models –OSI and TCP/IP</a:t>
            </a:r>
          </a:p>
          <a:p>
            <a:r>
              <a:rPr lang="en-US" dirty="0"/>
              <a:t>Network Topologies and Network Devices</a:t>
            </a:r>
          </a:p>
          <a:p>
            <a:pPr lvl="1"/>
            <a:r>
              <a:rPr lang="en-US" dirty="0"/>
              <a:t>Network Topologies (Bus, Star, Ring, Mesh, Hybrid)</a:t>
            </a:r>
          </a:p>
          <a:p>
            <a:pPr lvl="1"/>
            <a:r>
              <a:rPr lang="en-US" dirty="0"/>
              <a:t>Networking Devices – Routers, Switches, Hubs</a:t>
            </a:r>
          </a:p>
          <a:p>
            <a:pPr marL="324000" lvl="1" indent="0">
              <a:buNone/>
            </a:pPr>
            <a:endParaRPr lang="en-US" dirty="0"/>
          </a:p>
          <a:p>
            <a:pPr lvl="2"/>
            <a:endParaRPr lang="en-US" dirty="0"/>
          </a:p>
          <a:p>
            <a:endParaRPr lang="x-none" dirty="0"/>
          </a:p>
        </p:txBody>
      </p:sp>
    </p:spTree>
    <p:extLst>
      <p:ext uri="{BB962C8B-B14F-4D97-AF65-F5344CB8AC3E}">
        <p14:creationId xmlns:p14="http://schemas.microsoft.com/office/powerpoint/2010/main" val="3025113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244FD3-15E9-5865-B87C-64743D0622C4}"/>
              </a:ext>
            </a:extLst>
          </p:cNvPr>
          <p:cNvSpPr>
            <a:spLocks noGrp="1"/>
          </p:cNvSpPr>
          <p:nvPr>
            <p:ph type="title"/>
          </p:nvPr>
        </p:nvSpPr>
        <p:spPr/>
        <p:txBody>
          <a:bodyPr/>
          <a:lstStyle/>
          <a:p>
            <a:r>
              <a:rPr lang="en-US" dirty="0"/>
              <a:t>Introduction to Networks and Network Models</a:t>
            </a:r>
          </a:p>
        </p:txBody>
      </p:sp>
      <p:sp>
        <p:nvSpPr>
          <p:cNvPr id="3" name="Text Placeholder 2">
            <a:extLst>
              <a:ext uri="{FF2B5EF4-FFF2-40B4-BE49-F238E27FC236}">
                <a16:creationId xmlns="" xmlns:a16="http://schemas.microsoft.com/office/drawing/2014/main" id="{97FBB6EF-E130-3B34-984F-FA630B728165}"/>
              </a:ext>
            </a:extLst>
          </p:cNvPr>
          <p:cNvSpPr>
            <a:spLocks noGrp="1"/>
          </p:cNvSpPr>
          <p:nvPr>
            <p:ph type="body" idx="1"/>
          </p:nvPr>
        </p:nvSpPr>
        <p:spPr>
          <a:xfrm>
            <a:off x="653763" y="4541417"/>
            <a:ext cx="11029615" cy="600556"/>
          </a:xfrm>
        </p:spPr>
        <p:txBody>
          <a:bodyPr/>
          <a:lstStyle/>
          <a:p>
            <a:r>
              <a:rPr lang="en-US" dirty="0"/>
              <a:t>Day 1</a:t>
            </a:r>
            <a:endParaRPr lang="x-none" dirty="0"/>
          </a:p>
        </p:txBody>
      </p:sp>
    </p:spTree>
    <p:extLst>
      <p:ext uri="{BB962C8B-B14F-4D97-AF65-F5344CB8AC3E}">
        <p14:creationId xmlns:p14="http://schemas.microsoft.com/office/powerpoint/2010/main" val="2971973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41BA21D-8631-283B-8B42-2104876966E4}"/>
              </a:ext>
            </a:extLst>
          </p:cNvPr>
          <p:cNvSpPr>
            <a:spLocks noGrp="1"/>
          </p:cNvSpPr>
          <p:nvPr>
            <p:ph type="title"/>
          </p:nvPr>
        </p:nvSpPr>
        <p:spPr>
          <a:xfrm>
            <a:off x="399143" y="687641"/>
            <a:ext cx="11029616" cy="1000123"/>
          </a:xfrm>
        </p:spPr>
        <p:txBody>
          <a:bodyPr/>
          <a:lstStyle/>
          <a:p>
            <a:r>
              <a:rPr lang="en-US" dirty="0"/>
              <a:t>NETWORKS - INTRODUCTION</a:t>
            </a:r>
            <a:endParaRPr lang="x-none" dirty="0"/>
          </a:p>
        </p:txBody>
      </p:sp>
      <p:sp>
        <p:nvSpPr>
          <p:cNvPr id="3" name="Content Placeholder 2">
            <a:extLst>
              <a:ext uri="{FF2B5EF4-FFF2-40B4-BE49-F238E27FC236}">
                <a16:creationId xmlns="" xmlns:a16="http://schemas.microsoft.com/office/drawing/2014/main" id="{37AB3EED-2183-FAC7-C646-2CA488D91A79}"/>
              </a:ext>
            </a:extLst>
          </p:cNvPr>
          <p:cNvSpPr>
            <a:spLocks noGrp="1"/>
          </p:cNvSpPr>
          <p:nvPr>
            <p:ph idx="1"/>
          </p:nvPr>
        </p:nvSpPr>
        <p:spPr>
          <a:xfrm>
            <a:off x="399143" y="1995715"/>
            <a:ext cx="7815943" cy="4601028"/>
          </a:xfrm>
        </p:spPr>
        <p:txBody>
          <a:bodyPr>
            <a:normAutofit/>
          </a:bodyPr>
          <a:lstStyle/>
          <a:p>
            <a:r>
              <a:rPr lang="en-US" dirty="0"/>
              <a:t>Networks are all around us. They provide us with a way to communicate and share information and resources with individuals in the same location or around the world. Networks require an extensive array of technologies and procedures that can readily adapt to varying conditions and requirements. </a:t>
            </a:r>
          </a:p>
          <a:p>
            <a:endParaRPr lang="en-US" dirty="0"/>
          </a:p>
          <a:p>
            <a:endParaRPr lang="x-none" dirty="0"/>
          </a:p>
        </p:txBody>
      </p:sp>
      <p:pic>
        <p:nvPicPr>
          <p:cNvPr id="1026" name="Picture 2" descr="How to Build Your Network (When You Don ...">
            <a:extLst>
              <a:ext uri="{FF2B5EF4-FFF2-40B4-BE49-F238E27FC236}">
                <a16:creationId xmlns="" xmlns:a16="http://schemas.microsoft.com/office/drawing/2014/main" id="{CDB61580-5626-25B3-EDCF-8D601D4561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5086" y="2547257"/>
            <a:ext cx="3428675" cy="2374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1330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3EC9996-AF45-456E-8DD0-3C31C19E07A7}"/>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116F961C-4A40-C4FF-AC7E-BF3DCE952F38}"/>
              </a:ext>
            </a:extLst>
          </p:cNvPr>
          <p:cNvSpPr>
            <a:spLocks noGrp="1"/>
          </p:cNvSpPr>
          <p:nvPr>
            <p:ph type="title"/>
          </p:nvPr>
        </p:nvSpPr>
        <p:spPr>
          <a:xfrm>
            <a:off x="581192" y="702156"/>
            <a:ext cx="11029616" cy="1000123"/>
          </a:xfrm>
        </p:spPr>
        <p:txBody>
          <a:bodyPr/>
          <a:lstStyle/>
          <a:p>
            <a:r>
              <a:rPr lang="en-US" dirty="0"/>
              <a:t>NETWORK AFFECTS OUR LIVES</a:t>
            </a:r>
            <a:endParaRPr lang="x-none" dirty="0"/>
          </a:p>
        </p:txBody>
      </p:sp>
      <p:sp>
        <p:nvSpPr>
          <p:cNvPr id="3" name="Content Placeholder 2">
            <a:extLst>
              <a:ext uri="{FF2B5EF4-FFF2-40B4-BE49-F238E27FC236}">
                <a16:creationId xmlns="" xmlns:a16="http://schemas.microsoft.com/office/drawing/2014/main" id="{B23B65CD-6863-EC77-8117-C543ACFDDBA7}"/>
              </a:ext>
            </a:extLst>
          </p:cNvPr>
          <p:cNvSpPr>
            <a:spLocks noGrp="1"/>
          </p:cNvSpPr>
          <p:nvPr>
            <p:ph idx="1"/>
          </p:nvPr>
        </p:nvSpPr>
        <p:spPr>
          <a:xfrm>
            <a:off x="399143" y="1995715"/>
            <a:ext cx="7815943" cy="4601028"/>
          </a:xfrm>
        </p:spPr>
        <p:txBody>
          <a:bodyPr>
            <a:normAutofit/>
          </a:bodyPr>
          <a:lstStyle/>
          <a:p>
            <a:r>
              <a:rPr lang="en-US" dirty="0"/>
              <a:t>Among all of the essentials for human existence, the need to interact with others ranks just below our need to sustain life. Communication is almost as important to us as our reliance on air, water, food, and shelter.</a:t>
            </a:r>
          </a:p>
          <a:p>
            <a:r>
              <a:rPr lang="en-US" dirty="0"/>
              <a:t>In today’s world, through the use of networks, we are connected as never before. People with ideas can communicate instantly with others to make those ideas reality. News events and discoveries are known worldwide in seconds. Individuals can even connect and play games with friends physically separated by oceans and continents. </a:t>
            </a:r>
          </a:p>
          <a:p>
            <a:endParaRPr lang="x-none" dirty="0"/>
          </a:p>
        </p:txBody>
      </p:sp>
      <p:pic>
        <p:nvPicPr>
          <p:cNvPr id="3074" name="Picture 2" descr="5 Benefits Of Being Part Of A Network ...">
            <a:extLst>
              <a:ext uri="{FF2B5EF4-FFF2-40B4-BE49-F238E27FC236}">
                <a16:creationId xmlns="" xmlns:a16="http://schemas.microsoft.com/office/drawing/2014/main" id="{A2475748-7339-4D23-5C9A-9A9F12CACD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7575" y="2702847"/>
            <a:ext cx="3538060" cy="2253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1682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CF2DCF8-5758-86F7-6546-B34D563C8C0C}"/>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E9F915FF-323F-2C5C-BB55-13F413A89B67}"/>
              </a:ext>
            </a:extLst>
          </p:cNvPr>
          <p:cNvSpPr>
            <a:spLocks noGrp="1"/>
          </p:cNvSpPr>
          <p:nvPr>
            <p:ph type="title"/>
          </p:nvPr>
        </p:nvSpPr>
        <p:spPr>
          <a:xfrm>
            <a:off x="581192" y="702156"/>
            <a:ext cx="11029616" cy="1000123"/>
          </a:xfrm>
        </p:spPr>
        <p:txBody>
          <a:bodyPr/>
          <a:lstStyle/>
          <a:p>
            <a:r>
              <a:rPr lang="en-US" dirty="0"/>
              <a:t>NETWORK - DEFINITION</a:t>
            </a:r>
            <a:endParaRPr lang="x-none" dirty="0"/>
          </a:p>
        </p:txBody>
      </p:sp>
      <p:sp>
        <p:nvSpPr>
          <p:cNvPr id="3" name="Content Placeholder 2">
            <a:extLst>
              <a:ext uri="{FF2B5EF4-FFF2-40B4-BE49-F238E27FC236}">
                <a16:creationId xmlns="" xmlns:a16="http://schemas.microsoft.com/office/drawing/2014/main" id="{531CD8B1-9661-845C-B43F-86B5120E4072}"/>
              </a:ext>
            </a:extLst>
          </p:cNvPr>
          <p:cNvSpPr>
            <a:spLocks noGrp="1"/>
          </p:cNvSpPr>
          <p:nvPr>
            <p:ph idx="1"/>
          </p:nvPr>
        </p:nvSpPr>
        <p:spPr>
          <a:xfrm>
            <a:off x="399143" y="1995715"/>
            <a:ext cx="7815943" cy="4601028"/>
          </a:xfrm>
        </p:spPr>
        <p:txBody>
          <a:bodyPr>
            <a:normAutofit/>
          </a:bodyPr>
          <a:lstStyle/>
          <a:p>
            <a:r>
              <a:rPr lang="en-US" dirty="0"/>
              <a:t>A network is a collection of interconnected devices (such as computers, servers, switches, routers, and other hardware) that communicate with each other to share resources, exchange data, and enable digital communication using standardized protocols over wired or wireless connections.</a:t>
            </a:r>
          </a:p>
          <a:p>
            <a:endParaRPr lang="x-none" dirty="0"/>
          </a:p>
        </p:txBody>
      </p:sp>
      <p:pic>
        <p:nvPicPr>
          <p:cNvPr id="2050" name="Picture 2" descr="What is a LAN? Local Area Network - Cisco">
            <a:extLst>
              <a:ext uri="{FF2B5EF4-FFF2-40B4-BE49-F238E27FC236}">
                <a16:creationId xmlns="" xmlns:a16="http://schemas.microsoft.com/office/drawing/2014/main" id="{2DCDCA96-0D85-4FF1-6CD5-25546F98B8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5086" y="3033487"/>
            <a:ext cx="3724950" cy="2085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6968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A2765C8-8505-4FE5-B370-FF8BD353A38E}"/>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B3A5F82B-2EEC-7C97-A6B4-CE91CBA6D3CD}"/>
              </a:ext>
            </a:extLst>
          </p:cNvPr>
          <p:cNvSpPr>
            <a:spLocks noGrp="1"/>
          </p:cNvSpPr>
          <p:nvPr>
            <p:ph type="title"/>
          </p:nvPr>
        </p:nvSpPr>
        <p:spPr>
          <a:xfrm>
            <a:off x="581192" y="702156"/>
            <a:ext cx="11029616" cy="1000123"/>
          </a:xfrm>
        </p:spPr>
        <p:txBody>
          <a:bodyPr/>
          <a:lstStyle/>
          <a:p>
            <a:r>
              <a:rPr lang="en-US" dirty="0"/>
              <a:t>NETWORK COMPONENTS</a:t>
            </a:r>
            <a:endParaRPr lang="x-none" dirty="0"/>
          </a:p>
        </p:txBody>
      </p:sp>
      <p:sp>
        <p:nvSpPr>
          <p:cNvPr id="3" name="Content Placeholder 2">
            <a:extLst>
              <a:ext uri="{FF2B5EF4-FFF2-40B4-BE49-F238E27FC236}">
                <a16:creationId xmlns="" xmlns:a16="http://schemas.microsoft.com/office/drawing/2014/main" id="{1644AC08-D490-E05F-3BD7-E8D441C10D0F}"/>
              </a:ext>
            </a:extLst>
          </p:cNvPr>
          <p:cNvSpPr>
            <a:spLocks noGrp="1"/>
          </p:cNvSpPr>
          <p:nvPr>
            <p:ph idx="1"/>
          </p:nvPr>
        </p:nvSpPr>
        <p:spPr>
          <a:xfrm>
            <a:off x="581192" y="2918293"/>
            <a:ext cx="7464378" cy="3237551"/>
          </a:xfrm>
        </p:spPr>
        <p:txBody>
          <a:bodyPr>
            <a:normAutofit/>
          </a:bodyPr>
          <a:lstStyle/>
          <a:p>
            <a:r>
              <a:rPr lang="en-US" dirty="0"/>
              <a:t>Many different components are required to enable a network to provide services and resources. These various components work together to ensure that resources are delivered in an efficient manner to those requiring the services.</a:t>
            </a:r>
          </a:p>
          <a:p>
            <a:endParaRPr lang="en-US" dirty="0"/>
          </a:p>
          <a:p>
            <a:endParaRPr lang="x-none" dirty="0"/>
          </a:p>
        </p:txBody>
      </p:sp>
      <p:pic>
        <p:nvPicPr>
          <p:cNvPr id="4100" name="Picture 4" descr="Computer Networks">
            <a:extLst>
              <a:ext uri="{FF2B5EF4-FFF2-40B4-BE49-F238E27FC236}">
                <a16:creationId xmlns="" xmlns:a16="http://schemas.microsoft.com/office/drawing/2014/main" id="{043AF443-F766-816F-3B82-9ED40EA413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0718" y="2960524"/>
            <a:ext cx="2847975" cy="160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55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8D1AC51-5855-21B3-B700-566F0B144733}"/>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5C0811B0-8C60-340C-3FA5-96F9296C968B}"/>
              </a:ext>
            </a:extLst>
          </p:cNvPr>
          <p:cNvSpPr>
            <a:spLocks noGrp="1"/>
          </p:cNvSpPr>
          <p:nvPr>
            <p:ph type="title"/>
          </p:nvPr>
        </p:nvSpPr>
        <p:spPr>
          <a:xfrm>
            <a:off x="581192" y="702156"/>
            <a:ext cx="11029616" cy="1000123"/>
          </a:xfrm>
        </p:spPr>
        <p:txBody>
          <a:bodyPr/>
          <a:lstStyle/>
          <a:p>
            <a:r>
              <a:rPr lang="en-US" dirty="0"/>
              <a:t>NETWORK COMPONENTS</a:t>
            </a:r>
            <a:endParaRPr lang="x-none" dirty="0"/>
          </a:p>
        </p:txBody>
      </p:sp>
      <p:sp>
        <p:nvSpPr>
          <p:cNvPr id="3" name="Content Placeholder 2">
            <a:extLst>
              <a:ext uri="{FF2B5EF4-FFF2-40B4-BE49-F238E27FC236}">
                <a16:creationId xmlns="" xmlns:a16="http://schemas.microsoft.com/office/drawing/2014/main" id="{9F54D85F-278A-D019-FFB3-58CCBDD9F845}"/>
              </a:ext>
            </a:extLst>
          </p:cNvPr>
          <p:cNvSpPr>
            <a:spLocks noGrp="1"/>
          </p:cNvSpPr>
          <p:nvPr>
            <p:ph idx="1"/>
          </p:nvPr>
        </p:nvSpPr>
        <p:spPr>
          <a:xfrm>
            <a:off x="623832" y="2453987"/>
            <a:ext cx="7464378" cy="3237551"/>
          </a:xfrm>
        </p:spPr>
        <p:txBody>
          <a:bodyPr>
            <a:normAutofit/>
          </a:bodyPr>
          <a:lstStyle/>
          <a:p>
            <a:r>
              <a:rPr lang="en-US" b="1" dirty="0"/>
              <a:t>Host Roles</a:t>
            </a:r>
          </a:p>
          <a:p>
            <a:pPr lvl="1"/>
            <a:r>
              <a:rPr lang="en-US" dirty="0"/>
              <a:t>If you want to be part of a global online community, your computer, tablet, or smartphone must first be connected to a network. That network must be connected to the internet.</a:t>
            </a:r>
          </a:p>
          <a:p>
            <a:pPr lvl="1"/>
            <a:r>
              <a:rPr lang="en-US" dirty="0"/>
              <a:t>Any computer that is connected to a network and that participates directly in network communication is classified as a </a:t>
            </a:r>
            <a:r>
              <a:rPr lang="en-US" b="1" dirty="0"/>
              <a:t>host</a:t>
            </a:r>
            <a:r>
              <a:rPr lang="en-US" dirty="0"/>
              <a:t>. Hosts can be called end devices. Some hosts are also called </a:t>
            </a:r>
            <a:r>
              <a:rPr lang="en-US" b="1" dirty="0"/>
              <a:t>clients</a:t>
            </a:r>
            <a:r>
              <a:rPr lang="en-US" dirty="0"/>
              <a:t>. However, the term host specifically refers to a device on a network that is assigned a number for communication purposes. This number, which identifies the host within the particular network, is called the </a:t>
            </a:r>
            <a:r>
              <a:rPr lang="en-US" b="1" dirty="0"/>
              <a:t>Internet Protocol (IP) address.</a:t>
            </a:r>
          </a:p>
          <a:p>
            <a:pPr lvl="1"/>
            <a:r>
              <a:rPr lang="en-US" dirty="0"/>
              <a:t>An IP address identifies the host and the network to which the host is attached.</a:t>
            </a:r>
            <a:endParaRPr lang="en-US" b="1" dirty="0"/>
          </a:p>
          <a:p>
            <a:endParaRPr lang="x-none" dirty="0"/>
          </a:p>
        </p:txBody>
      </p:sp>
      <p:pic>
        <p:nvPicPr>
          <p:cNvPr id="4098" name="Picture 2" descr="Network Design and Implementation ...">
            <a:extLst>
              <a:ext uri="{FF2B5EF4-FFF2-40B4-BE49-F238E27FC236}">
                <a16:creationId xmlns="" xmlns:a16="http://schemas.microsoft.com/office/drawing/2014/main" id="{E9B7BD25-48D4-A51F-984B-C4602C498D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1513" y="2272847"/>
            <a:ext cx="3786449" cy="2836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5168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DDE9366-0582-73DA-E965-C407FE6794D2}"/>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EC365F93-9DF2-71FA-BD22-CA117502D23A}"/>
              </a:ext>
            </a:extLst>
          </p:cNvPr>
          <p:cNvSpPr>
            <a:spLocks noGrp="1"/>
          </p:cNvSpPr>
          <p:nvPr>
            <p:ph type="title"/>
          </p:nvPr>
        </p:nvSpPr>
        <p:spPr>
          <a:xfrm>
            <a:off x="581192" y="702156"/>
            <a:ext cx="11029616" cy="1000123"/>
          </a:xfrm>
        </p:spPr>
        <p:txBody>
          <a:bodyPr/>
          <a:lstStyle/>
          <a:p>
            <a:r>
              <a:rPr lang="en-US" dirty="0"/>
              <a:t>NETWORK COMPONENTS</a:t>
            </a:r>
            <a:endParaRPr lang="x-none" dirty="0"/>
          </a:p>
        </p:txBody>
      </p:sp>
      <p:sp>
        <p:nvSpPr>
          <p:cNvPr id="3" name="Content Placeholder 2">
            <a:extLst>
              <a:ext uri="{FF2B5EF4-FFF2-40B4-BE49-F238E27FC236}">
                <a16:creationId xmlns="" xmlns:a16="http://schemas.microsoft.com/office/drawing/2014/main" id="{C00B9712-FD0B-DEFA-0517-4A2A84E8C5D5}"/>
              </a:ext>
            </a:extLst>
          </p:cNvPr>
          <p:cNvSpPr>
            <a:spLocks noGrp="1"/>
          </p:cNvSpPr>
          <p:nvPr>
            <p:ph idx="1"/>
          </p:nvPr>
        </p:nvSpPr>
        <p:spPr>
          <a:xfrm>
            <a:off x="581192" y="2463462"/>
            <a:ext cx="7082351" cy="3237551"/>
          </a:xfrm>
        </p:spPr>
        <p:txBody>
          <a:bodyPr>
            <a:normAutofit/>
          </a:bodyPr>
          <a:lstStyle/>
          <a:p>
            <a:r>
              <a:rPr lang="en-US" b="1" dirty="0"/>
              <a:t>Host  </a:t>
            </a:r>
          </a:p>
          <a:p>
            <a:pPr lvl="1"/>
            <a:r>
              <a:rPr lang="en-US" dirty="0"/>
              <a:t>If you want to be part of a global online community, your computer, tablet, or smartphone must first be connected to a network. That network must be connected to the internet.</a:t>
            </a:r>
          </a:p>
          <a:p>
            <a:pPr lvl="1"/>
            <a:r>
              <a:rPr lang="en-US" dirty="0"/>
              <a:t>Any computer that is connected to a network and that participates directly in network communication is classified as a </a:t>
            </a:r>
            <a:r>
              <a:rPr lang="en-US" b="1" dirty="0"/>
              <a:t>host</a:t>
            </a:r>
            <a:r>
              <a:rPr lang="en-US" dirty="0"/>
              <a:t>. Hosts can be called end devices. Some hosts are also called </a:t>
            </a:r>
            <a:r>
              <a:rPr lang="en-US" b="1" dirty="0"/>
              <a:t>clients</a:t>
            </a:r>
            <a:r>
              <a:rPr lang="en-US" dirty="0"/>
              <a:t>. However, the term host specifically refers to a device on a network that is assigned a number for communication purposes. This number, which identifies the host within the particular network, is called the </a:t>
            </a:r>
            <a:r>
              <a:rPr lang="en-US" b="1" dirty="0"/>
              <a:t>Internet Protocol (IP) address.</a:t>
            </a:r>
          </a:p>
          <a:p>
            <a:pPr lvl="1"/>
            <a:r>
              <a:rPr lang="en-US" dirty="0"/>
              <a:t>An IP address identifies the host and the network to which the host is attached.</a:t>
            </a:r>
            <a:endParaRPr lang="en-US" b="1" dirty="0"/>
          </a:p>
          <a:p>
            <a:endParaRPr lang="x-none" dirty="0"/>
          </a:p>
        </p:txBody>
      </p:sp>
      <p:pic>
        <p:nvPicPr>
          <p:cNvPr id="5" name="Picture 4">
            <a:extLst>
              <a:ext uri="{FF2B5EF4-FFF2-40B4-BE49-F238E27FC236}">
                <a16:creationId xmlns="" xmlns:a16="http://schemas.microsoft.com/office/drawing/2014/main" id="{1CC0DFC6-F293-8E78-340F-139167BBB36A}"/>
              </a:ext>
            </a:extLst>
          </p:cNvPr>
          <p:cNvPicPr>
            <a:picLocks noChangeAspect="1"/>
          </p:cNvPicPr>
          <p:nvPr/>
        </p:nvPicPr>
        <p:blipFill>
          <a:blip r:embed="rId2"/>
          <a:stretch>
            <a:fillRect/>
          </a:stretch>
        </p:blipFill>
        <p:spPr>
          <a:xfrm>
            <a:off x="8045570" y="3600444"/>
            <a:ext cx="3864325" cy="1205669"/>
          </a:xfrm>
          <a:prstGeom prst="rect">
            <a:avLst/>
          </a:prstGeom>
        </p:spPr>
      </p:pic>
    </p:spTree>
    <p:extLst>
      <p:ext uri="{BB962C8B-B14F-4D97-AF65-F5344CB8AC3E}">
        <p14:creationId xmlns:p14="http://schemas.microsoft.com/office/powerpoint/2010/main" val="1971984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17D25AD-6E1C-CE51-FE7B-2B6A8E453A75}"/>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ED6F61B8-D1A8-EC41-2493-02A161190531}"/>
              </a:ext>
            </a:extLst>
          </p:cNvPr>
          <p:cNvSpPr>
            <a:spLocks noGrp="1"/>
          </p:cNvSpPr>
          <p:nvPr>
            <p:ph type="title"/>
          </p:nvPr>
        </p:nvSpPr>
        <p:spPr>
          <a:xfrm>
            <a:off x="581192" y="702156"/>
            <a:ext cx="11029616" cy="1000123"/>
          </a:xfrm>
        </p:spPr>
        <p:txBody>
          <a:bodyPr/>
          <a:lstStyle/>
          <a:p>
            <a:r>
              <a:rPr lang="en-US" dirty="0"/>
              <a:t>NETWORK COMPONENTS</a:t>
            </a:r>
            <a:endParaRPr lang="x-none" dirty="0"/>
          </a:p>
        </p:txBody>
      </p:sp>
      <p:sp>
        <p:nvSpPr>
          <p:cNvPr id="3" name="Content Placeholder 2">
            <a:extLst>
              <a:ext uri="{FF2B5EF4-FFF2-40B4-BE49-F238E27FC236}">
                <a16:creationId xmlns="" xmlns:a16="http://schemas.microsoft.com/office/drawing/2014/main" id="{6EDE6E40-5615-842B-EAA5-FA042DA5747E}"/>
              </a:ext>
            </a:extLst>
          </p:cNvPr>
          <p:cNvSpPr>
            <a:spLocks noGrp="1"/>
          </p:cNvSpPr>
          <p:nvPr>
            <p:ph idx="1"/>
          </p:nvPr>
        </p:nvSpPr>
        <p:spPr>
          <a:xfrm>
            <a:off x="538552" y="2212358"/>
            <a:ext cx="7082351" cy="3237551"/>
          </a:xfrm>
        </p:spPr>
        <p:txBody>
          <a:bodyPr>
            <a:normAutofit/>
          </a:bodyPr>
          <a:lstStyle/>
          <a:p>
            <a:r>
              <a:rPr lang="en-US" b="1" dirty="0"/>
              <a:t>Peer-to-Peer </a:t>
            </a:r>
          </a:p>
          <a:p>
            <a:pPr lvl="1"/>
            <a:r>
              <a:rPr lang="en-US" dirty="0"/>
              <a:t>Client and server software usually run on separate computers, but it is also possible for one computer to be used for both roles at the same time. In small businesses and homes, many computers function as both servers and clients on the network. This type of network, called a peer-to-peer network.</a:t>
            </a:r>
          </a:p>
        </p:txBody>
      </p:sp>
      <p:pic>
        <p:nvPicPr>
          <p:cNvPr id="6" name="Picture 5">
            <a:extLst>
              <a:ext uri="{FF2B5EF4-FFF2-40B4-BE49-F238E27FC236}">
                <a16:creationId xmlns="" xmlns:a16="http://schemas.microsoft.com/office/drawing/2014/main" id="{9529E2A7-2453-212A-8E8F-AA147250AA5B}"/>
              </a:ext>
            </a:extLst>
          </p:cNvPr>
          <p:cNvPicPr>
            <a:picLocks noChangeAspect="1"/>
          </p:cNvPicPr>
          <p:nvPr/>
        </p:nvPicPr>
        <p:blipFill>
          <a:blip r:embed="rId2"/>
          <a:stretch>
            <a:fillRect/>
          </a:stretch>
        </p:blipFill>
        <p:spPr>
          <a:xfrm>
            <a:off x="7817409" y="3748528"/>
            <a:ext cx="3957482" cy="1499760"/>
          </a:xfrm>
          <a:prstGeom prst="rect">
            <a:avLst/>
          </a:prstGeom>
        </p:spPr>
      </p:pic>
    </p:spTree>
    <p:extLst>
      <p:ext uri="{BB962C8B-B14F-4D97-AF65-F5344CB8AC3E}">
        <p14:creationId xmlns:p14="http://schemas.microsoft.com/office/powerpoint/2010/main" val="1479996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1F85750-4CF8-0986-C25C-0FAC8DF94549}"/>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EAFCD0C2-7CDD-B828-B407-8F7E9DF63060}"/>
              </a:ext>
            </a:extLst>
          </p:cNvPr>
          <p:cNvSpPr>
            <a:spLocks noGrp="1"/>
          </p:cNvSpPr>
          <p:nvPr>
            <p:ph type="title"/>
          </p:nvPr>
        </p:nvSpPr>
        <p:spPr>
          <a:xfrm>
            <a:off x="581192" y="702156"/>
            <a:ext cx="11029616" cy="1000123"/>
          </a:xfrm>
        </p:spPr>
        <p:txBody>
          <a:bodyPr/>
          <a:lstStyle/>
          <a:p>
            <a:r>
              <a:rPr lang="en-US" dirty="0"/>
              <a:t>NETWORK COMPONENTS</a:t>
            </a:r>
            <a:endParaRPr lang="x-none" dirty="0"/>
          </a:p>
        </p:txBody>
      </p:sp>
      <p:pic>
        <p:nvPicPr>
          <p:cNvPr id="8" name="Picture 7">
            <a:extLst>
              <a:ext uri="{FF2B5EF4-FFF2-40B4-BE49-F238E27FC236}">
                <a16:creationId xmlns="" xmlns:a16="http://schemas.microsoft.com/office/drawing/2014/main" id="{E75F24BC-445B-D77F-6A00-9502EDEA0E18}"/>
              </a:ext>
            </a:extLst>
          </p:cNvPr>
          <p:cNvPicPr>
            <a:picLocks noChangeAspect="1"/>
          </p:cNvPicPr>
          <p:nvPr/>
        </p:nvPicPr>
        <p:blipFill>
          <a:blip r:embed="rId2"/>
          <a:stretch>
            <a:fillRect/>
          </a:stretch>
        </p:blipFill>
        <p:spPr>
          <a:xfrm>
            <a:off x="2094118" y="2268050"/>
            <a:ext cx="5713816" cy="4204722"/>
          </a:xfrm>
          <a:prstGeom prst="rect">
            <a:avLst/>
          </a:prstGeom>
        </p:spPr>
      </p:pic>
      <p:sp>
        <p:nvSpPr>
          <p:cNvPr id="10" name="TextBox 9">
            <a:extLst>
              <a:ext uri="{FF2B5EF4-FFF2-40B4-BE49-F238E27FC236}">
                <a16:creationId xmlns="" xmlns:a16="http://schemas.microsoft.com/office/drawing/2014/main" id="{82DB2A15-113E-8A89-3249-11F91151BCFB}"/>
              </a:ext>
            </a:extLst>
          </p:cNvPr>
          <p:cNvSpPr txBox="1"/>
          <p:nvPr/>
        </p:nvSpPr>
        <p:spPr>
          <a:xfrm>
            <a:off x="581192" y="1800498"/>
            <a:ext cx="6095210" cy="369332"/>
          </a:xfrm>
          <a:prstGeom prst="rect">
            <a:avLst/>
          </a:prstGeom>
          <a:noFill/>
        </p:spPr>
        <p:txBody>
          <a:bodyPr wrap="square">
            <a:spAutoFit/>
          </a:bodyPr>
          <a:lstStyle/>
          <a:p>
            <a:r>
              <a:rPr lang="en-US" b="1" dirty="0"/>
              <a:t>Peer-to-Peer</a:t>
            </a:r>
            <a:endParaRPr lang="x-none" dirty="0"/>
          </a:p>
        </p:txBody>
      </p:sp>
    </p:spTree>
    <p:extLst>
      <p:ext uri="{BB962C8B-B14F-4D97-AF65-F5344CB8AC3E}">
        <p14:creationId xmlns:p14="http://schemas.microsoft.com/office/powerpoint/2010/main" val="30302747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C0F557-36F2-97EF-D434-39F6BEEBCA26}"/>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6276C637-FF30-5CD0-A3DE-B1C0247A59D3}"/>
              </a:ext>
            </a:extLst>
          </p:cNvPr>
          <p:cNvSpPr>
            <a:spLocks noGrp="1"/>
          </p:cNvSpPr>
          <p:nvPr>
            <p:ph type="title"/>
          </p:nvPr>
        </p:nvSpPr>
        <p:spPr>
          <a:xfrm>
            <a:off x="581192" y="702156"/>
            <a:ext cx="11029616" cy="1000123"/>
          </a:xfrm>
        </p:spPr>
        <p:txBody>
          <a:bodyPr/>
          <a:lstStyle/>
          <a:p>
            <a:r>
              <a:rPr lang="en-US" dirty="0"/>
              <a:t>NETWORK COMPONENTS</a:t>
            </a:r>
            <a:endParaRPr lang="x-none" dirty="0"/>
          </a:p>
        </p:txBody>
      </p:sp>
      <p:sp>
        <p:nvSpPr>
          <p:cNvPr id="3" name="Content Placeholder 2">
            <a:extLst>
              <a:ext uri="{FF2B5EF4-FFF2-40B4-BE49-F238E27FC236}">
                <a16:creationId xmlns="" xmlns:a16="http://schemas.microsoft.com/office/drawing/2014/main" id="{E5D7B2D9-1789-062D-4173-287CF7D1D231}"/>
              </a:ext>
            </a:extLst>
          </p:cNvPr>
          <p:cNvSpPr>
            <a:spLocks noGrp="1"/>
          </p:cNvSpPr>
          <p:nvPr>
            <p:ph idx="1"/>
          </p:nvPr>
        </p:nvSpPr>
        <p:spPr>
          <a:xfrm>
            <a:off x="581192" y="2378181"/>
            <a:ext cx="6980751" cy="3237551"/>
          </a:xfrm>
        </p:spPr>
        <p:txBody>
          <a:bodyPr>
            <a:normAutofit/>
          </a:bodyPr>
          <a:lstStyle/>
          <a:p>
            <a:r>
              <a:rPr lang="en-US" b="1" dirty="0"/>
              <a:t>Intermediary Devices</a:t>
            </a:r>
          </a:p>
          <a:p>
            <a:pPr lvl="1"/>
            <a:r>
              <a:rPr lang="en-US" dirty="0"/>
              <a:t>Intermediary devices connect individual end devices to a network. They can connect multiple individual networks to form an internetwork. These intermediary devices provide connectivity and ensure that data flows across the network.</a:t>
            </a:r>
          </a:p>
          <a:p>
            <a:endParaRPr lang="x-none" dirty="0"/>
          </a:p>
        </p:txBody>
      </p:sp>
      <p:pic>
        <p:nvPicPr>
          <p:cNvPr id="5" name="Picture 4">
            <a:extLst>
              <a:ext uri="{FF2B5EF4-FFF2-40B4-BE49-F238E27FC236}">
                <a16:creationId xmlns="" xmlns:a16="http://schemas.microsoft.com/office/drawing/2014/main" id="{418A1881-B889-5394-BA41-48F609DCD1E6}"/>
              </a:ext>
            </a:extLst>
          </p:cNvPr>
          <p:cNvPicPr>
            <a:picLocks noChangeAspect="1"/>
          </p:cNvPicPr>
          <p:nvPr/>
        </p:nvPicPr>
        <p:blipFill>
          <a:blip r:embed="rId2"/>
          <a:stretch>
            <a:fillRect/>
          </a:stretch>
        </p:blipFill>
        <p:spPr>
          <a:xfrm>
            <a:off x="8033695" y="3372751"/>
            <a:ext cx="3856695" cy="1620164"/>
          </a:xfrm>
          <a:prstGeom prst="rect">
            <a:avLst/>
          </a:prstGeom>
        </p:spPr>
      </p:pic>
    </p:spTree>
    <p:extLst>
      <p:ext uri="{BB962C8B-B14F-4D97-AF65-F5344CB8AC3E}">
        <p14:creationId xmlns:p14="http://schemas.microsoft.com/office/powerpoint/2010/main" val="1397689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2B3BCB1-A327-095B-C078-613E5FCF56B0}"/>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1E53A5DD-B115-B7E5-6005-B9CA1CE09D26}"/>
              </a:ext>
            </a:extLst>
          </p:cNvPr>
          <p:cNvSpPr>
            <a:spLocks noGrp="1"/>
          </p:cNvSpPr>
          <p:nvPr>
            <p:ph type="title"/>
          </p:nvPr>
        </p:nvSpPr>
        <p:spPr>
          <a:xfrm>
            <a:off x="581192" y="702156"/>
            <a:ext cx="11029616" cy="1000123"/>
          </a:xfrm>
        </p:spPr>
        <p:txBody>
          <a:bodyPr/>
          <a:lstStyle/>
          <a:p>
            <a:r>
              <a:rPr lang="en-US" dirty="0"/>
              <a:t>NETWORK COMPONENTS</a:t>
            </a:r>
            <a:endParaRPr lang="x-none" dirty="0"/>
          </a:p>
        </p:txBody>
      </p:sp>
      <p:sp>
        <p:nvSpPr>
          <p:cNvPr id="3" name="Content Placeholder 2">
            <a:extLst>
              <a:ext uri="{FF2B5EF4-FFF2-40B4-BE49-F238E27FC236}">
                <a16:creationId xmlns="" xmlns:a16="http://schemas.microsoft.com/office/drawing/2014/main" id="{3B36CA07-4120-E8FE-C098-8033C16657CC}"/>
              </a:ext>
            </a:extLst>
          </p:cNvPr>
          <p:cNvSpPr>
            <a:spLocks noGrp="1"/>
          </p:cNvSpPr>
          <p:nvPr>
            <p:ph idx="1"/>
          </p:nvPr>
        </p:nvSpPr>
        <p:spPr>
          <a:xfrm>
            <a:off x="581192" y="2160242"/>
            <a:ext cx="6980751" cy="3237551"/>
          </a:xfrm>
        </p:spPr>
        <p:txBody>
          <a:bodyPr>
            <a:normAutofit/>
          </a:bodyPr>
          <a:lstStyle/>
          <a:p>
            <a:r>
              <a:rPr lang="en-US" b="1" dirty="0"/>
              <a:t>End Devices</a:t>
            </a:r>
          </a:p>
          <a:p>
            <a:pPr lvl="1"/>
            <a:r>
              <a:rPr lang="en-US" dirty="0"/>
              <a:t>The network devices that people are most familiar with are end devices. To distinguish one end device from another, each end device on a network has an address. When an end device initiates communication, it uses the address of the destination end device to specify where to deliver the message. An end device is either the source or destination of a message transmitted over the network.</a:t>
            </a:r>
            <a:endParaRPr lang="x-none" dirty="0"/>
          </a:p>
        </p:txBody>
      </p:sp>
      <p:pic>
        <p:nvPicPr>
          <p:cNvPr id="4" name="Picture 2" descr="Network Design and Implementation ...">
            <a:extLst>
              <a:ext uri="{FF2B5EF4-FFF2-40B4-BE49-F238E27FC236}">
                <a16:creationId xmlns="" xmlns:a16="http://schemas.microsoft.com/office/drawing/2014/main" id="{82254938-1137-7C6D-2A61-840F64A43D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5671" y="2486049"/>
            <a:ext cx="3786449" cy="2836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1142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9057AE4-6214-930B-0479-AEFCC7EAD86A}"/>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1F536CED-DFA7-B81D-49F7-7470A33AD9E0}"/>
              </a:ext>
            </a:extLst>
          </p:cNvPr>
          <p:cNvSpPr>
            <a:spLocks noGrp="1"/>
          </p:cNvSpPr>
          <p:nvPr>
            <p:ph type="title"/>
          </p:nvPr>
        </p:nvSpPr>
        <p:spPr>
          <a:xfrm>
            <a:off x="581192" y="702156"/>
            <a:ext cx="11029616" cy="1000123"/>
          </a:xfrm>
        </p:spPr>
        <p:txBody>
          <a:bodyPr/>
          <a:lstStyle/>
          <a:p>
            <a:r>
              <a:rPr lang="en-US" dirty="0"/>
              <a:t>NETWORK COMPONENTS</a:t>
            </a:r>
            <a:endParaRPr lang="x-none" dirty="0"/>
          </a:p>
        </p:txBody>
      </p:sp>
      <p:sp>
        <p:nvSpPr>
          <p:cNvPr id="3" name="Content Placeholder 2">
            <a:extLst>
              <a:ext uri="{FF2B5EF4-FFF2-40B4-BE49-F238E27FC236}">
                <a16:creationId xmlns="" xmlns:a16="http://schemas.microsoft.com/office/drawing/2014/main" id="{15C5EA93-DE98-FADA-A8E5-55035CCAACCE}"/>
              </a:ext>
            </a:extLst>
          </p:cNvPr>
          <p:cNvSpPr>
            <a:spLocks noGrp="1"/>
          </p:cNvSpPr>
          <p:nvPr>
            <p:ph idx="1"/>
          </p:nvPr>
        </p:nvSpPr>
        <p:spPr>
          <a:xfrm>
            <a:off x="633308" y="2307114"/>
            <a:ext cx="6980751" cy="3237551"/>
          </a:xfrm>
        </p:spPr>
        <p:txBody>
          <a:bodyPr>
            <a:normAutofit/>
          </a:bodyPr>
          <a:lstStyle/>
          <a:p>
            <a:r>
              <a:rPr lang="en-US" b="1" dirty="0"/>
              <a:t>Network Media</a:t>
            </a:r>
          </a:p>
          <a:p>
            <a:pPr lvl="1"/>
            <a:r>
              <a:rPr lang="en-US" dirty="0"/>
              <a:t>Communication transmits across a network on media. The media provide the channel over which a message travels from source to destination. Modern networks primarily use three types of media to interconnect devices:</a:t>
            </a:r>
          </a:p>
          <a:p>
            <a:pPr lvl="2"/>
            <a:r>
              <a:rPr lang="en-US" b="1" dirty="0"/>
              <a:t>Metal wires within cables</a:t>
            </a:r>
            <a:r>
              <a:rPr lang="en-US" dirty="0"/>
              <a:t>: Data is encoded into electrical impulses.</a:t>
            </a:r>
          </a:p>
          <a:p>
            <a:pPr lvl="2"/>
            <a:r>
              <a:rPr lang="en-US" b="1" dirty="0"/>
              <a:t>Glass or plastic fibers within cables (fiber-optic cable): </a:t>
            </a:r>
            <a:r>
              <a:rPr lang="en-US" dirty="0"/>
              <a:t>Data is encoded into pulses of light. </a:t>
            </a:r>
          </a:p>
          <a:p>
            <a:pPr lvl="2"/>
            <a:r>
              <a:rPr lang="en-US" b="1" dirty="0"/>
              <a:t>Wireless transmission: </a:t>
            </a:r>
            <a:r>
              <a:rPr lang="en-US" dirty="0"/>
              <a:t>Data is encoded via modulation of specific frequencies of electromagnetic waves.</a:t>
            </a:r>
            <a:endParaRPr lang="x-none" dirty="0"/>
          </a:p>
        </p:txBody>
      </p:sp>
      <p:pic>
        <p:nvPicPr>
          <p:cNvPr id="5122" name="Picture 2" descr="Types of Network Connections">
            <a:extLst>
              <a:ext uri="{FF2B5EF4-FFF2-40B4-BE49-F238E27FC236}">
                <a16:creationId xmlns="" xmlns:a16="http://schemas.microsoft.com/office/drawing/2014/main" id="{9EA5B83C-8593-3905-1390-EF10847D3E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6350" y="3286915"/>
            <a:ext cx="2524125" cy="180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7637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EBAF0FD-1130-B22F-F99E-8608D86D2924}"/>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194D374-6F8C-4683-82CA-D1AF3F23183A}"/>
              </a:ext>
            </a:extLst>
          </p:cNvPr>
          <p:cNvSpPr>
            <a:spLocks noGrp="1"/>
          </p:cNvSpPr>
          <p:nvPr>
            <p:ph type="title"/>
          </p:nvPr>
        </p:nvSpPr>
        <p:spPr>
          <a:xfrm>
            <a:off x="581192" y="574235"/>
            <a:ext cx="11029616" cy="1000123"/>
          </a:xfrm>
        </p:spPr>
        <p:txBody>
          <a:bodyPr/>
          <a:lstStyle/>
          <a:p>
            <a:r>
              <a:rPr lang="en-US" dirty="0"/>
              <a:t>NETWORK DATA EXCHANGE BETWEEN END DEVICES</a:t>
            </a:r>
            <a:endParaRPr lang="x-none" dirty="0"/>
          </a:p>
        </p:txBody>
      </p:sp>
      <p:pic>
        <p:nvPicPr>
          <p:cNvPr id="7" name="Picture 6">
            <a:extLst>
              <a:ext uri="{FF2B5EF4-FFF2-40B4-BE49-F238E27FC236}">
                <a16:creationId xmlns="" xmlns:a16="http://schemas.microsoft.com/office/drawing/2014/main" id="{587642DC-18E2-84F9-A422-156CAADA3E71}"/>
              </a:ext>
            </a:extLst>
          </p:cNvPr>
          <p:cNvPicPr>
            <a:picLocks noChangeAspect="1"/>
          </p:cNvPicPr>
          <p:nvPr/>
        </p:nvPicPr>
        <p:blipFill>
          <a:blip r:embed="rId2"/>
          <a:stretch>
            <a:fillRect/>
          </a:stretch>
        </p:blipFill>
        <p:spPr>
          <a:xfrm>
            <a:off x="2278893" y="1641507"/>
            <a:ext cx="5917542" cy="5217873"/>
          </a:xfrm>
          <a:prstGeom prst="rect">
            <a:avLst/>
          </a:prstGeom>
        </p:spPr>
      </p:pic>
    </p:spTree>
    <p:extLst>
      <p:ext uri="{BB962C8B-B14F-4D97-AF65-F5344CB8AC3E}">
        <p14:creationId xmlns:p14="http://schemas.microsoft.com/office/powerpoint/2010/main" val="614387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1E6398-BFEB-C134-B7B7-47160D3C57B3}"/>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8451C676-3512-1FB4-2FBA-6AFFE9FB524C}"/>
              </a:ext>
            </a:extLst>
          </p:cNvPr>
          <p:cNvSpPr>
            <a:spLocks noGrp="1"/>
          </p:cNvSpPr>
          <p:nvPr>
            <p:ph type="title"/>
          </p:nvPr>
        </p:nvSpPr>
        <p:spPr/>
        <p:txBody>
          <a:bodyPr/>
          <a:lstStyle/>
          <a:p>
            <a:r>
              <a:rPr lang="en-US" dirty="0"/>
              <a:t>Network components</a:t>
            </a:r>
          </a:p>
        </p:txBody>
      </p:sp>
      <p:sp>
        <p:nvSpPr>
          <p:cNvPr id="3" name="Text Placeholder 2">
            <a:extLst>
              <a:ext uri="{FF2B5EF4-FFF2-40B4-BE49-F238E27FC236}">
                <a16:creationId xmlns="" xmlns:a16="http://schemas.microsoft.com/office/drawing/2014/main" id="{BF00CF9C-B4FA-58F8-4828-2CDD022656C5}"/>
              </a:ext>
            </a:extLst>
          </p:cNvPr>
          <p:cNvSpPr>
            <a:spLocks noGrp="1"/>
          </p:cNvSpPr>
          <p:nvPr>
            <p:ph type="body" idx="1"/>
          </p:nvPr>
        </p:nvSpPr>
        <p:spPr>
          <a:xfrm>
            <a:off x="653763" y="4541417"/>
            <a:ext cx="11029615" cy="600556"/>
          </a:xfrm>
        </p:spPr>
        <p:txBody>
          <a:bodyPr/>
          <a:lstStyle/>
          <a:p>
            <a:r>
              <a:rPr lang="en-US" dirty="0"/>
              <a:t>Day 1</a:t>
            </a:r>
            <a:endParaRPr lang="x-none" dirty="0"/>
          </a:p>
        </p:txBody>
      </p:sp>
    </p:spTree>
    <p:extLst>
      <p:ext uri="{BB962C8B-B14F-4D97-AF65-F5344CB8AC3E}">
        <p14:creationId xmlns:p14="http://schemas.microsoft.com/office/powerpoint/2010/main" val="1847253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294F736-809D-5BEE-9187-98CA8EC4F52D}"/>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89A2E345-2CF1-7F96-C3AD-A095015D52E9}"/>
              </a:ext>
            </a:extLst>
          </p:cNvPr>
          <p:cNvSpPr>
            <a:spLocks noGrp="1"/>
          </p:cNvSpPr>
          <p:nvPr>
            <p:ph type="title"/>
          </p:nvPr>
        </p:nvSpPr>
        <p:spPr>
          <a:xfrm>
            <a:off x="581192" y="702156"/>
            <a:ext cx="11029616" cy="1000123"/>
          </a:xfrm>
        </p:spPr>
        <p:txBody>
          <a:bodyPr/>
          <a:lstStyle/>
          <a:p>
            <a:r>
              <a:rPr lang="en-US" dirty="0"/>
              <a:t>NETWORK components </a:t>
            </a:r>
            <a:endParaRPr lang="x-none" dirty="0"/>
          </a:p>
        </p:txBody>
      </p:sp>
      <p:sp>
        <p:nvSpPr>
          <p:cNvPr id="3" name="Content Placeholder 2">
            <a:extLst>
              <a:ext uri="{FF2B5EF4-FFF2-40B4-BE49-F238E27FC236}">
                <a16:creationId xmlns="" xmlns:a16="http://schemas.microsoft.com/office/drawing/2014/main" id="{14BC6DDE-8B1F-67C2-C2A7-A6C61CDEBAE4}"/>
              </a:ext>
            </a:extLst>
          </p:cNvPr>
          <p:cNvSpPr>
            <a:spLocks noGrp="1"/>
          </p:cNvSpPr>
          <p:nvPr>
            <p:ph idx="1"/>
          </p:nvPr>
        </p:nvSpPr>
        <p:spPr>
          <a:xfrm>
            <a:off x="633309" y="2307114"/>
            <a:ext cx="6411836" cy="3237551"/>
          </a:xfrm>
        </p:spPr>
        <p:txBody>
          <a:bodyPr>
            <a:normAutofit/>
          </a:bodyPr>
          <a:lstStyle/>
          <a:p>
            <a:r>
              <a:rPr lang="en-US" b="0" i="0" dirty="0">
                <a:solidFill>
                  <a:srgbClr val="001D35"/>
                </a:solidFill>
                <a:effectLst/>
                <a:latin typeface="Google Sans"/>
              </a:rPr>
              <a:t>A computer network is made up of several components, including hardware like network interface cards (NICs), routers, switches, and modems, as well as software like operating systems and network protocols. </a:t>
            </a:r>
          </a:p>
          <a:p>
            <a:r>
              <a:rPr lang="en-US" dirty="0">
                <a:solidFill>
                  <a:srgbClr val="001D35"/>
                </a:solidFill>
                <a:latin typeface="Google Sans"/>
              </a:rPr>
              <a:t>A network component refers to a device, software, or hardware unit that plays a specific role in network communication</a:t>
            </a:r>
            <a:endParaRPr lang="x-none" dirty="0">
              <a:solidFill>
                <a:srgbClr val="001D35"/>
              </a:solidFill>
              <a:latin typeface="Google Sans"/>
            </a:endParaRPr>
          </a:p>
        </p:txBody>
      </p:sp>
      <p:pic>
        <p:nvPicPr>
          <p:cNvPr id="4" name="Picture 2">
            <a:extLst>
              <a:ext uri="{FF2B5EF4-FFF2-40B4-BE49-F238E27FC236}">
                <a16:creationId xmlns="" xmlns:a16="http://schemas.microsoft.com/office/drawing/2014/main" id="{C3488E9E-41F6-1EE3-1D61-212BD3071D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4145" y="2529999"/>
            <a:ext cx="4696663" cy="2946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3043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EE7904C-F216-6DBB-25FF-0FB8E73E40E1}"/>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30D79EAB-6AEB-968C-15DE-050CDCCC9BC7}"/>
              </a:ext>
            </a:extLst>
          </p:cNvPr>
          <p:cNvSpPr>
            <a:spLocks noGrp="1"/>
          </p:cNvSpPr>
          <p:nvPr>
            <p:ph type="title"/>
          </p:nvPr>
        </p:nvSpPr>
        <p:spPr>
          <a:xfrm>
            <a:off x="581192" y="702156"/>
            <a:ext cx="11029616" cy="1000123"/>
          </a:xfrm>
        </p:spPr>
        <p:txBody>
          <a:bodyPr/>
          <a:lstStyle/>
          <a:p>
            <a:r>
              <a:rPr lang="en-US" dirty="0"/>
              <a:t>NETWORK components </a:t>
            </a:r>
            <a:endParaRPr lang="x-none" dirty="0"/>
          </a:p>
        </p:txBody>
      </p:sp>
      <p:sp>
        <p:nvSpPr>
          <p:cNvPr id="3" name="Content Placeholder 2">
            <a:extLst>
              <a:ext uri="{FF2B5EF4-FFF2-40B4-BE49-F238E27FC236}">
                <a16:creationId xmlns="" xmlns:a16="http://schemas.microsoft.com/office/drawing/2014/main" id="{648129D2-A2D8-0FDA-E994-088AAFE322EF}"/>
              </a:ext>
            </a:extLst>
          </p:cNvPr>
          <p:cNvSpPr>
            <a:spLocks noGrp="1"/>
          </p:cNvSpPr>
          <p:nvPr>
            <p:ph idx="1"/>
          </p:nvPr>
        </p:nvSpPr>
        <p:spPr>
          <a:xfrm>
            <a:off x="581192" y="2667189"/>
            <a:ext cx="6411836" cy="3237551"/>
          </a:xfrm>
        </p:spPr>
        <p:txBody>
          <a:bodyPr>
            <a:normAutofit fontScale="85000" lnSpcReduction="20000"/>
          </a:bodyPr>
          <a:lstStyle/>
          <a:p>
            <a:pPr>
              <a:spcAft>
                <a:spcPts val="2100"/>
              </a:spcAft>
            </a:pPr>
            <a:r>
              <a:rPr lang="en-US" sz="1600" dirty="0">
                <a:solidFill>
                  <a:srgbClr val="001D35"/>
                </a:solidFill>
                <a:latin typeface="Google Sans"/>
              </a:rPr>
              <a:t>Network devices are critical for establishing and managing networks. The purpose of a computer network is to share resources like files, printers, and internet connections among an organization’s users and devices. They ensure data is accurately routed and secured, supporting network services and applications’ effective and reliable operation. </a:t>
            </a:r>
          </a:p>
          <a:p>
            <a:pPr>
              <a:spcAft>
                <a:spcPts val="2100"/>
              </a:spcAft>
            </a:pPr>
            <a:r>
              <a:rPr lang="en-US" sz="1600" dirty="0">
                <a:solidFill>
                  <a:srgbClr val="001D35"/>
                </a:solidFill>
                <a:latin typeface="Google Sans"/>
              </a:rPr>
              <a:t>Without network devices, your IT infrastructure would lack the ability to manage data traffic, leading to inefficiencies, data loss, and security vulnerabilities. Network devices also enable scalability for businesses, allowing networks to adapt to changing business needs, which is essential for maintaining optimal performance and protecting against cyber threats.</a:t>
            </a:r>
          </a:p>
          <a:p>
            <a:pPr>
              <a:buNone/>
            </a:pPr>
            <a:r>
              <a:rPr lang="en-US" dirty="0"/>
              <a:t/>
            </a:r>
            <a:br>
              <a:rPr lang="en-US" dirty="0"/>
            </a:br>
            <a:endParaRPr lang="x-none" dirty="0"/>
          </a:p>
        </p:txBody>
      </p:sp>
      <p:pic>
        <p:nvPicPr>
          <p:cNvPr id="4" name="Picture 2">
            <a:extLst>
              <a:ext uri="{FF2B5EF4-FFF2-40B4-BE49-F238E27FC236}">
                <a16:creationId xmlns="" xmlns:a16="http://schemas.microsoft.com/office/drawing/2014/main" id="{0380612E-E5C4-6549-5657-976BDB65FB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4145" y="2529999"/>
            <a:ext cx="4696663" cy="2946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457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2FD988B-9B43-AF7F-6C85-E0F8699D223E}"/>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53497A51-2D8E-DAF9-720E-4D59AA480005}"/>
              </a:ext>
            </a:extLst>
          </p:cNvPr>
          <p:cNvSpPr>
            <a:spLocks noGrp="1"/>
          </p:cNvSpPr>
          <p:nvPr>
            <p:ph type="title"/>
          </p:nvPr>
        </p:nvSpPr>
        <p:spPr>
          <a:xfrm>
            <a:off x="581192" y="702156"/>
            <a:ext cx="11029616" cy="1000123"/>
          </a:xfrm>
        </p:spPr>
        <p:txBody>
          <a:bodyPr/>
          <a:lstStyle/>
          <a:p>
            <a:r>
              <a:rPr lang="en-US" dirty="0"/>
              <a:t>NETWORK components - Routers</a:t>
            </a:r>
            <a:endParaRPr lang="x-none" dirty="0"/>
          </a:p>
        </p:txBody>
      </p:sp>
      <p:sp>
        <p:nvSpPr>
          <p:cNvPr id="3" name="Content Placeholder 2">
            <a:extLst>
              <a:ext uri="{FF2B5EF4-FFF2-40B4-BE49-F238E27FC236}">
                <a16:creationId xmlns="" xmlns:a16="http://schemas.microsoft.com/office/drawing/2014/main" id="{CE5C0210-3F88-FC17-B61D-4AE3869B6BF8}"/>
              </a:ext>
            </a:extLst>
          </p:cNvPr>
          <p:cNvSpPr>
            <a:spLocks noGrp="1"/>
          </p:cNvSpPr>
          <p:nvPr>
            <p:ph idx="1"/>
          </p:nvPr>
        </p:nvSpPr>
        <p:spPr>
          <a:xfrm>
            <a:off x="633309" y="2307114"/>
            <a:ext cx="6411836" cy="3237551"/>
          </a:xfrm>
        </p:spPr>
        <p:txBody>
          <a:bodyPr>
            <a:noAutofit/>
          </a:bodyPr>
          <a:lstStyle/>
          <a:p>
            <a:endParaRPr lang="en-US" sz="1400" b="0" i="0" dirty="0">
              <a:solidFill>
                <a:srgbClr val="001D35"/>
              </a:solidFill>
              <a:effectLst/>
              <a:latin typeface="Google Sans"/>
            </a:endParaRPr>
          </a:p>
          <a:p>
            <a:r>
              <a:rPr lang="en-US" sz="1400" b="1" i="0" dirty="0">
                <a:solidFill>
                  <a:srgbClr val="54585C"/>
                </a:solidFill>
                <a:effectLst/>
                <a:latin typeface="Open sans" panose="020B0606030504020204" pitchFamily="34" charset="0"/>
              </a:rPr>
              <a:t>Routers</a:t>
            </a:r>
          </a:p>
          <a:p>
            <a:pPr lvl="1">
              <a:spcAft>
                <a:spcPts val="2100"/>
              </a:spcAft>
            </a:pPr>
            <a:r>
              <a:rPr lang="en-US" dirty="0">
                <a:solidFill>
                  <a:srgbClr val="001D35"/>
                </a:solidFill>
                <a:latin typeface="Google Sans"/>
              </a:rPr>
              <a:t>The main job of a router is to direct traffic. Routers transfer packets to their destinations by charting a path through interconnected networking devices using different network topologies. They are intelligent devices that store information about their connected networks. Routers commonly use access control lists (ACLs) to filter traffic; some can even serve as packet-filtering firewalls.</a:t>
            </a:r>
          </a:p>
          <a:p>
            <a:pPr lvl="1">
              <a:spcAft>
                <a:spcPts val="2100"/>
              </a:spcAft>
            </a:pPr>
            <a:r>
              <a:rPr lang="en-US" dirty="0">
                <a:solidFill>
                  <a:srgbClr val="001D35"/>
                </a:solidFill>
                <a:latin typeface="Google Sans"/>
              </a:rPr>
              <a:t>Routers also divide internal networks into two or more subnetworks and can be connected internally to other routers, creating zones that operate independently. Routers establish communication by maintaining tables about destinations and local connections. A router also contains information about the routers they are connected to and uses this information to forward packets to any destination it doesn’t know about. Routers operate at the OSI model’s network layer (Layer 3).</a:t>
            </a:r>
          </a:p>
          <a:p>
            <a:endParaRPr lang="x-none" sz="1400" dirty="0"/>
          </a:p>
        </p:txBody>
      </p:sp>
      <p:pic>
        <p:nvPicPr>
          <p:cNvPr id="7172" name="Picture 4" descr="cisco-router-icon | Jesus Vilchez | Flickr">
            <a:extLst>
              <a:ext uri="{FF2B5EF4-FFF2-40B4-BE49-F238E27FC236}">
                <a16:creationId xmlns="" xmlns:a16="http://schemas.microsoft.com/office/drawing/2014/main" id="{831EF2C6-BDB6-6895-5AB7-0D3E4BB500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3598" y="2949576"/>
            <a:ext cx="2343150" cy="1952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4230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48B7684-2DDF-9527-CC3E-53DB37CEB1C9}"/>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B5D8942B-7F7C-95EB-77AC-450A1FEFA129}"/>
              </a:ext>
            </a:extLst>
          </p:cNvPr>
          <p:cNvSpPr>
            <a:spLocks noGrp="1"/>
          </p:cNvSpPr>
          <p:nvPr>
            <p:ph type="title"/>
          </p:nvPr>
        </p:nvSpPr>
        <p:spPr>
          <a:xfrm>
            <a:off x="581192" y="702156"/>
            <a:ext cx="11029616" cy="1000123"/>
          </a:xfrm>
        </p:spPr>
        <p:txBody>
          <a:bodyPr/>
          <a:lstStyle/>
          <a:p>
            <a:r>
              <a:rPr lang="en-US" dirty="0"/>
              <a:t>NETWORK components </a:t>
            </a:r>
            <a:endParaRPr lang="x-none" dirty="0"/>
          </a:p>
        </p:txBody>
      </p:sp>
      <p:sp>
        <p:nvSpPr>
          <p:cNvPr id="3" name="Content Placeholder 2">
            <a:extLst>
              <a:ext uri="{FF2B5EF4-FFF2-40B4-BE49-F238E27FC236}">
                <a16:creationId xmlns="" xmlns:a16="http://schemas.microsoft.com/office/drawing/2014/main" id="{639128E6-D4DD-E44A-DFBF-FC31E3CD9D55}"/>
              </a:ext>
            </a:extLst>
          </p:cNvPr>
          <p:cNvSpPr>
            <a:spLocks noGrp="1"/>
          </p:cNvSpPr>
          <p:nvPr>
            <p:ph idx="1"/>
          </p:nvPr>
        </p:nvSpPr>
        <p:spPr>
          <a:xfrm>
            <a:off x="638047" y="2918293"/>
            <a:ext cx="6411836" cy="3237551"/>
          </a:xfrm>
        </p:spPr>
        <p:txBody>
          <a:bodyPr>
            <a:noAutofit/>
          </a:bodyPr>
          <a:lstStyle/>
          <a:p>
            <a:endParaRPr lang="en-US" sz="1400" b="0" i="0" dirty="0">
              <a:solidFill>
                <a:srgbClr val="001D35"/>
              </a:solidFill>
              <a:effectLst/>
              <a:latin typeface="Google Sans"/>
            </a:endParaRPr>
          </a:p>
          <a:p>
            <a:pPr marL="0" indent="0">
              <a:buNone/>
            </a:pPr>
            <a:r>
              <a:rPr lang="en-US" sz="1400" b="1" dirty="0">
                <a:solidFill>
                  <a:srgbClr val="001D35"/>
                </a:solidFill>
                <a:latin typeface="Google Sans"/>
              </a:rPr>
              <a:t>Types of Routers</a:t>
            </a:r>
          </a:p>
          <a:p>
            <a:pPr>
              <a:spcAft>
                <a:spcPts val="0"/>
              </a:spcAft>
            </a:pPr>
            <a:r>
              <a:rPr lang="en-US" sz="1400" dirty="0">
                <a:solidFill>
                  <a:srgbClr val="001D35"/>
                </a:solidFill>
                <a:latin typeface="Google Sans"/>
              </a:rPr>
              <a:t>Static Router</a:t>
            </a:r>
          </a:p>
          <a:p>
            <a:pPr lvl="1">
              <a:spcAft>
                <a:spcPts val="2100"/>
              </a:spcAft>
            </a:pPr>
            <a:r>
              <a:rPr lang="en-US" dirty="0">
                <a:solidFill>
                  <a:srgbClr val="001D35"/>
                </a:solidFill>
                <a:latin typeface="Google Sans"/>
              </a:rPr>
              <a:t>A static router uses manually configured routes to direct network traffic to ensure consistent, predefined data-pack paths without automatically adjusting to network changes. They are ideal for smaller networks.</a:t>
            </a:r>
          </a:p>
          <a:p>
            <a:pPr>
              <a:spcAft>
                <a:spcPts val="0"/>
              </a:spcAft>
            </a:pPr>
            <a:r>
              <a:rPr lang="en-US" sz="1400" dirty="0">
                <a:solidFill>
                  <a:srgbClr val="001D35"/>
                </a:solidFill>
                <a:latin typeface="Google Sans"/>
              </a:rPr>
              <a:t>Dynamic Router</a:t>
            </a:r>
          </a:p>
          <a:p>
            <a:pPr lvl="1">
              <a:spcAft>
                <a:spcPts val="2100"/>
              </a:spcAft>
            </a:pPr>
            <a:r>
              <a:rPr lang="en-US" dirty="0">
                <a:solidFill>
                  <a:srgbClr val="001D35"/>
                </a:solidFill>
                <a:latin typeface="Google Sans"/>
              </a:rPr>
              <a:t>A dynamic router automatically communicates with other dynamic routers to modify its routing table based on real-time network conditions. It uses dynamic routing protocols like OSPF, RIP, or BGP to exchange information about network topology and link states with other routers. These protocols enable routers to discover optimal paths, adapt to network changes, and reroute traffic efficiently. Dynamic routers continuously update their routing tables, allowing automatic failover and load balancing. They can quickly respond to network failures or congestion by finding alternative routes. This flexibility makes them ideal for large, complex networks where manual configuration would be impractical.</a:t>
            </a:r>
          </a:p>
          <a:p>
            <a:pPr>
              <a:buNone/>
            </a:pPr>
            <a:r>
              <a:rPr lang="en-US" sz="1400" dirty="0"/>
              <a:t/>
            </a:r>
            <a:br>
              <a:rPr lang="en-US" sz="1400" dirty="0"/>
            </a:br>
            <a:endParaRPr lang="x-none" sz="1400" dirty="0"/>
          </a:p>
        </p:txBody>
      </p:sp>
      <p:pic>
        <p:nvPicPr>
          <p:cNvPr id="8194" name="Picture 2" descr="cisco-router-icon | Jesus Vilchez | Flickr">
            <a:extLst>
              <a:ext uri="{FF2B5EF4-FFF2-40B4-BE49-F238E27FC236}">
                <a16:creationId xmlns="" xmlns:a16="http://schemas.microsoft.com/office/drawing/2014/main" id="{7F65F255-3696-2490-5A59-BC4D6BF390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8841" y="3163362"/>
            <a:ext cx="2343150" cy="1952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396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247C891-AE2B-A656-1278-79BE672EF64E}"/>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35DDF594-CAA5-9E8B-3236-6C0C8037C35E}"/>
              </a:ext>
            </a:extLst>
          </p:cNvPr>
          <p:cNvSpPr>
            <a:spLocks noGrp="1"/>
          </p:cNvSpPr>
          <p:nvPr>
            <p:ph type="title"/>
          </p:nvPr>
        </p:nvSpPr>
        <p:spPr>
          <a:xfrm>
            <a:off x="581192" y="702156"/>
            <a:ext cx="11029616" cy="1000123"/>
          </a:xfrm>
        </p:spPr>
        <p:txBody>
          <a:bodyPr/>
          <a:lstStyle/>
          <a:p>
            <a:r>
              <a:rPr lang="en-US" dirty="0"/>
              <a:t>NETWORK components - SWITCHES </a:t>
            </a:r>
            <a:endParaRPr lang="x-none" dirty="0"/>
          </a:p>
        </p:txBody>
      </p:sp>
      <p:sp>
        <p:nvSpPr>
          <p:cNvPr id="3" name="Content Placeholder 2">
            <a:extLst>
              <a:ext uri="{FF2B5EF4-FFF2-40B4-BE49-F238E27FC236}">
                <a16:creationId xmlns="" xmlns:a16="http://schemas.microsoft.com/office/drawing/2014/main" id="{368A6ACE-C529-FCF6-5E7D-8A7E45AA252F}"/>
              </a:ext>
            </a:extLst>
          </p:cNvPr>
          <p:cNvSpPr>
            <a:spLocks noGrp="1"/>
          </p:cNvSpPr>
          <p:nvPr>
            <p:ph idx="1"/>
          </p:nvPr>
        </p:nvSpPr>
        <p:spPr>
          <a:xfrm>
            <a:off x="652261" y="2586646"/>
            <a:ext cx="6411836" cy="3237551"/>
          </a:xfrm>
        </p:spPr>
        <p:txBody>
          <a:bodyPr>
            <a:noAutofit/>
          </a:bodyPr>
          <a:lstStyle/>
          <a:p>
            <a:endParaRPr lang="en-US" sz="1400" b="0" i="0" dirty="0">
              <a:solidFill>
                <a:srgbClr val="001D35"/>
              </a:solidFill>
              <a:effectLst/>
              <a:latin typeface="Google Sans"/>
            </a:endParaRPr>
          </a:p>
          <a:p>
            <a:pPr marL="0" indent="0">
              <a:buNone/>
            </a:pPr>
            <a:r>
              <a:rPr lang="en-US" sz="1400" b="1" dirty="0">
                <a:solidFill>
                  <a:srgbClr val="001D35"/>
                </a:solidFill>
                <a:latin typeface="Google Sans"/>
              </a:rPr>
              <a:t>Switches</a:t>
            </a:r>
          </a:p>
          <a:p>
            <a:pPr>
              <a:spcAft>
                <a:spcPts val="0"/>
              </a:spcAft>
            </a:pPr>
            <a:r>
              <a:rPr lang="en-US" sz="1400" dirty="0">
                <a:solidFill>
                  <a:srgbClr val="001D35"/>
                </a:solidFill>
                <a:latin typeface="Google Sans"/>
              </a:rPr>
              <a:t>Connects devices within the same local area network (LAN) and intelligently forwards data to the correct device based on MAC addresses. Switches operate at the OSI model’s network layer (Layer 2).</a:t>
            </a:r>
          </a:p>
          <a:p>
            <a:pPr>
              <a:spcAft>
                <a:spcPts val="0"/>
              </a:spcAft>
            </a:pPr>
            <a:endParaRPr lang="en-US" sz="1400" dirty="0">
              <a:solidFill>
                <a:srgbClr val="001D35"/>
              </a:solidFill>
              <a:latin typeface="Google Sans"/>
            </a:endParaRPr>
          </a:p>
          <a:p>
            <a:pPr algn="l">
              <a:spcAft>
                <a:spcPts val="0"/>
              </a:spcAft>
              <a:buNone/>
            </a:pPr>
            <a:r>
              <a:rPr lang="en-US" sz="1400" dirty="0">
                <a:solidFill>
                  <a:srgbClr val="001D35"/>
                </a:solidFill>
                <a:latin typeface="Google Sans"/>
              </a:rPr>
              <a:t>There are many different types of switches available today, such as:</a:t>
            </a:r>
          </a:p>
          <a:p>
            <a:pPr>
              <a:spcAft>
                <a:spcPts val="0"/>
              </a:spcAft>
            </a:pPr>
            <a:r>
              <a:rPr lang="en-US" sz="1400" dirty="0">
                <a:solidFill>
                  <a:srgbClr val="001D35"/>
                </a:solidFill>
                <a:latin typeface="Google Sans"/>
              </a:rPr>
              <a:t>Unmanaged switches</a:t>
            </a:r>
          </a:p>
          <a:p>
            <a:pPr>
              <a:spcAft>
                <a:spcPts val="0"/>
              </a:spcAft>
            </a:pPr>
            <a:r>
              <a:rPr lang="en-US" sz="1400" dirty="0">
                <a:solidFill>
                  <a:srgbClr val="001D35"/>
                </a:solidFill>
                <a:latin typeface="Google Sans"/>
              </a:rPr>
              <a:t>Managed switches</a:t>
            </a:r>
          </a:p>
          <a:p>
            <a:pPr>
              <a:spcAft>
                <a:spcPts val="0"/>
              </a:spcAft>
            </a:pPr>
            <a:r>
              <a:rPr lang="en-US" sz="1400" dirty="0">
                <a:solidFill>
                  <a:srgbClr val="001D35"/>
                </a:solidFill>
                <a:latin typeface="Google Sans"/>
              </a:rPr>
              <a:t>Smart switch</a:t>
            </a:r>
          </a:p>
          <a:p>
            <a:pPr>
              <a:spcAft>
                <a:spcPts val="0"/>
              </a:spcAft>
            </a:pPr>
            <a:r>
              <a:rPr lang="en-US" sz="1400" dirty="0">
                <a:solidFill>
                  <a:srgbClr val="001D35"/>
                </a:solidFill>
                <a:latin typeface="Google Sans"/>
              </a:rPr>
              <a:t>Layer 2 switch</a:t>
            </a:r>
          </a:p>
          <a:p>
            <a:pPr>
              <a:spcAft>
                <a:spcPts val="0"/>
              </a:spcAft>
            </a:pPr>
            <a:r>
              <a:rPr lang="en-US" sz="1400" dirty="0">
                <a:solidFill>
                  <a:srgbClr val="001D35"/>
                </a:solidFill>
                <a:latin typeface="Google Sans"/>
              </a:rPr>
              <a:t>Layer 3 switch</a:t>
            </a:r>
          </a:p>
          <a:p>
            <a:pPr>
              <a:spcAft>
                <a:spcPts val="0"/>
              </a:spcAft>
            </a:pPr>
            <a:r>
              <a:rPr lang="en-US" sz="1400" dirty="0">
                <a:solidFill>
                  <a:srgbClr val="001D35"/>
                </a:solidFill>
                <a:latin typeface="Google Sans"/>
              </a:rPr>
              <a:t>PoE switch</a:t>
            </a:r>
          </a:p>
          <a:p>
            <a:pPr>
              <a:spcAft>
                <a:spcPts val="0"/>
              </a:spcAft>
            </a:pPr>
            <a:r>
              <a:rPr lang="en-US" sz="1400" dirty="0">
                <a:solidFill>
                  <a:srgbClr val="001D35"/>
                </a:solidFill>
                <a:latin typeface="Google Sans"/>
              </a:rPr>
              <a:t>Gigabit switch</a:t>
            </a:r>
          </a:p>
          <a:p>
            <a:pPr>
              <a:spcAft>
                <a:spcPts val="0"/>
              </a:spcAft>
            </a:pPr>
            <a:r>
              <a:rPr lang="en-US" sz="1400" dirty="0">
                <a:solidFill>
                  <a:srgbClr val="001D35"/>
                </a:solidFill>
                <a:latin typeface="Google Sans"/>
              </a:rPr>
              <a:t>Rack-mounted switch</a:t>
            </a:r>
          </a:p>
          <a:p>
            <a:pPr>
              <a:spcAft>
                <a:spcPts val="0"/>
              </a:spcAft>
            </a:pPr>
            <a:r>
              <a:rPr lang="en-US" sz="1400" dirty="0">
                <a:solidFill>
                  <a:srgbClr val="001D35"/>
                </a:solidFill>
                <a:latin typeface="Google Sans"/>
              </a:rPr>
              <a:t>Desktop switch</a:t>
            </a:r>
          </a:p>
          <a:p>
            <a:pPr>
              <a:spcAft>
                <a:spcPts val="0"/>
              </a:spcAft>
            </a:pPr>
            <a:r>
              <a:rPr lang="en-US" sz="1400" dirty="0">
                <a:solidFill>
                  <a:srgbClr val="001D35"/>
                </a:solidFill>
                <a:latin typeface="Google Sans"/>
              </a:rPr>
              <a:t>Modular switch</a:t>
            </a:r>
          </a:p>
          <a:p>
            <a:pPr>
              <a:buNone/>
            </a:pPr>
            <a:r>
              <a:rPr lang="en-US" sz="1400" dirty="0"/>
              <a:t/>
            </a:r>
            <a:br>
              <a:rPr lang="en-US" sz="1400" dirty="0"/>
            </a:br>
            <a:endParaRPr lang="x-none" sz="1400" dirty="0"/>
          </a:p>
        </p:txBody>
      </p:sp>
      <p:pic>
        <p:nvPicPr>
          <p:cNvPr id="9222" name="Picture 6" descr="Switches on a Network Topology ...">
            <a:extLst>
              <a:ext uri="{FF2B5EF4-FFF2-40B4-BE49-F238E27FC236}">
                <a16:creationId xmlns="" xmlns:a16="http://schemas.microsoft.com/office/drawing/2014/main" id="{D6CD02B5-78AB-449C-90DB-048F521CA0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4232" y="2884373"/>
            <a:ext cx="3660961" cy="24362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9151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DBB0E1D-20D4-59CC-0614-B046D2D4125A}"/>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65EA982E-006C-ADA3-DF72-415ECFF4E61B}"/>
              </a:ext>
            </a:extLst>
          </p:cNvPr>
          <p:cNvSpPr>
            <a:spLocks noGrp="1"/>
          </p:cNvSpPr>
          <p:nvPr>
            <p:ph type="title"/>
          </p:nvPr>
        </p:nvSpPr>
        <p:spPr>
          <a:xfrm>
            <a:off x="581192" y="702156"/>
            <a:ext cx="11029616" cy="1000123"/>
          </a:xfrm>
        </p:spPr>
        <p:txBody>
          <a:bodyPr/>
          <a:lstStyle/>
          <a:p>
            <a:r>
              <a:rPr lang="en-US" dirty="0"/>
              <a:t>NETWORK components – NETWORK INTERFACE CARDS (NIC) </a:t>
            </a:r>
            <a:endParaRPr lang="x-none" dirty="0"/>
          </a:p>
        </p:txBody>
      </p:sp>
      <p:sp>
        <p:nvSpPr>
          <p:cNvPr id="3" name="Content Placeholder 2">
            <a:extLst>
              <a:ext uri="{FF2B5EF4-FFF2-40B4-BE49-F238E27FC236}">
                <a16:creationId xmlns="" xmlns:a16="http://schemas.microsoft.com/office/drawing/2014/main" id="{C1ECD2DA-57DD-67B0-E1E1-57E4FB7A504B}"/>
              </a:ext>
            </a:extLst>
          </p:cNvPr>
          <p:cNvSpPr>
            <a:spLocks noGrp="1"/>
          </p:cNvSpPr>
          <p:nvPr>
            <p:ph idx="1"/>
          </p:nvPr>
        </p:nvSpPr>
        <p:spPr>
          <a:xfrm>
            <a:off x="652261" y="2586646"/>
            <a:ext cx="6411836" cy="3237551"/>
          </a:xfrm>
        </p:spPr>
        <p:txBody>
          <a:bodyPr>
            <a:noAutofit/>
          </a:bodyPr>
          <a:lstStyle/>
          <a:p>
            <a:endParaRPr lang="en-US" sz="1400" b="0" i="0" dirty="0">
              <a:solidFill>
                <a:srgbClr val="001D35"/>
              </a:solidFill>
              <a:effectLst/>
              <a:latin typeface="Google Sans"/>
            </a:endParaRPr>
          </a:p>
          <a:p>
            <a:pPr marL="0" indent="0">
              <a:buNone/>
            </a:pPr>
            <a:r>
              <a:rPr lang="en-US" sz="1400" b="1" dirty="0">
                <a:solidFill>
                  <a:srgbClr val="001D35"/>
                </a:solidFill>
                <a:latin typeface="Google Sans"/>
              </a:rPr>
              <a:t>NIC</a:t>
            </a:r>
          </a:p>
          <a:p>
            <a:pPr>
              <a:spcAft>
                <a:spcPts val="2100"/>
              </a:spcAft>
            </a:pPr>
            <a:r>
              <a:rPr lang="en-US" sz="1400" dirty="0">
                <a:solidFill>
                  <a:srgbClr val="001D35"/>
                </a:solidFill>
                <a:latin typeface="Google Sans"/>
              </a:rPr>
              <a:t>Any network-connected device includes a Network Interface Card (NIC). This card provides a dedicated connection between a computer and a network and manages the data transmission and reception. It is referred to as a card, originally designed as an expansion card inserted into a slot in the motherboard. Most NICs today are integrated directly into the motherboard. They come in various types, including:</a:t>
            </a:r>
          </a:p>
          <a:p>
            <a:pPr lvl="1">
              <a:spcAft>
                <a:spcPts val="0"/>
              </a:spcAft>
            </a:pPr>
            <a:r>
              <a:rPr lang="en-US" dirty="0">
                <a:solidFill>
                  <a:srgbClr val="001D35"/>
                </a:solidFill>
                <a:latin typeface="Google Sans"/>
              </a:rPr>
              <a:t>Wired (e.g., Ethernet)</a:t>
            </a:r>
          </a:p>
          <a:p>
            <a:pPr lvl="1">
              <a:spcAft>
                <a:spcPts val="0"/>
              </a:spcAft>
            </a:pPr>
            <a:r>
              <a:rPr lang="en-US" dirty="0">
                <a:solidFill>
                  <a:srgbClr val="001D35"/>
                </a:solidFill>
                <a:latin typeface="Google Sans"/>
              </a:rPr>
              <a:t>Wireless (e.g., Wi-Fi)</a:t>
            </a:r>
          </a:p>
          <a:p>
            <a:pPr lvl="1">
              <a:spcAft>
                <a:spcPts val="0"/>
              </a:spcAft>
            </a:pPr>
            <a:r>
              <a:rPr lang="en-US" dirty="0">
                <a:solidFill>
                  <a:srgbClr val="001D35"/>
                </a:solidFill>
                <a:latin typeface="Google Sans"/>
              </a:rPr>
              <a:t>Fiber optic</a:t>
            </a:r>
          </a:p>
          <a:p>
            <a:pPr>
              <a:spcAft>
                <a:spcPts val="0"/>
              </a:spcAft>
            </a:pPr>
            <a:endParaRPr lang="en-US" sz="1400" dirty="0">
              <a:solidFill>
                <a:srgbClr val="001D35"/>
              </a:solidFill>
              <a:latin typeface="Google Sans"/>
            </a:endParaRPr>
          </a:p>
        </p:txBody>
      </p:sp>
      <p:pic>
        <p:nvPicPr>
          <p:cNvPr id="10242" name="Picture 2" descr="StarTech 2-Port PCIe 10Gbps Ethernet ...">
            <a:extLst>
              <a:ext uri="{FF2B5EF4-FFF2-40B4-BE49-F238E27FC236}">
                <a16:creationId xmlns="" xmlns:a16="http://schemas.microsoft.com/office/drawing/2014/main" id="{2C972D34-6190-9140-70F1-3D1015AC76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9600" y="2885729"/>
            <a:ext cx="2700560" cy="2700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8986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DCC886F-AD48-2FA0-CCC1-CC29C36C7982}"/>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06498155-AD99-5952-4BF4-B88ECC8C515A}"/>
              </a:ext>
            </a:extLst>
          </p:cNvPr>
          <p:cNvSpPr>
            <a:spLocks noGrp="1"/>
          </p:cNvSpPr>
          <p:nvPr>
            <p:ph type="title"/>
          </p:nvPr>
        </p:nvSpPr>
        <p:spPr>
          <a:xfrm>
            <a:off x="581192" y="702156"/>
            <a:ext cx="11029616" cy="1000123"/>
          </a:xfrm>
        </p:spPr>
        <p:txBody>
          <a:bodyPr/>
          <a:lstStyle/>
          <a:p>
            <a:r>
              <a:rPr lang="en-US" dirty="0"/>
              <a:t>NETWORK components – FIREWALL</a:t>
            </a:r>
            <a:endParaRPr lang="x-none" dirty="0"/>
          </a:p>
        </p:txBody>
      </p:sp>
      <p:sp>
        <p:nvSpPr>
          <p:cNvPr id="3" name="Content Placeholder 2">
            <a:extLst>
              <a:ext uri="{FF2B5EF4-FFF2-40B4-BE49-F238E27FC236}">
                <a16:creationId xmlns="" xmlns:a16="http://schemas.microsoft.com/office/drawing/2014/main" id="{1F5A116A-EB88-A22B-8E4F-6F62D71B2D43}"/>
              </a:ext>
            </a:extLst>
          </p:cNvPr>
          <p:cNvSpPr>
            <a:spLocks noGrp="1"/>
          </p:cNvSpPr>
          <p:nvPr>
            <p:ph idx="1"/>
          </p:nvPr>
        </p:nvSpPr>
        <p:spPr>
          <a:xfrm>
            <a:off x="652261" y="2586646"/>
            <a:ext cx="6411836" cy="3237551"/>
          </a:xfrm>
        </p:spPr>
        <p:txBody>
          <a:bodyPr>
            <a:noAutofit/>
          </a:bodyPr>
          <a:lstStyle/>
          <a:p>
            <a:endParaRPr lang="en-US" sz="1400" b="0" i="0" dirty="0">
              <a:solidFill>
                <a:srgbClr val="001D35"/>
              </a:solidFill>
              <a:effectLst/>
              <a:latin typeface="Google Sans"/>
            </a:endParaRPr>
          </a:p>
          <a:p>
            <a:pPr marL="0" indent="0">
              <a:buNone/>
            </a:pPr>
            <a:r>
              <a:rPr lang="en-US" sz="1400" b="1" dirty="0">
                <a:solidFill>
                  <a:srgbClr val="001D35"/>
                </a:solidFill>
                <a:latin typeface="Google Sans"/>
              </a:rPr>
              <a:t>FIREWALL</a:t>
            </a:r>
          </a:p>
          <a:p>
            <a:pPr>
              <a:spcAft>
                <a:spcPts val="2100"/>
              </a:spcAft>
            </a:pPr>
            <a:r>
              <a:rPr lang="en-US" dirty="0">
                <a:solidFill>
                  <a:srgbClr val="001D35"/>
                </a:solidFill>
                <a:latin typeface="Google Sans"/>
              </a:rPr>
              <a:t>A firewall is a network security device that establishes a barrier between trusted internal networks and untrusted external networks. A firewall connects multiple areas called zones, such as:</a:t>
            </a:r>
          </a:p>
          <a:p>
            <a:pPr lvl="1">
              <a:spcAft>
                <a:spcPts val="2100"/>
              </a:spcAft>
            </a:pPr>
            <a:r>
              <a:rPr lang="en-US" dirty="0">
                <a:solidFill>
                  <a:srgbClr val="001D35"/>
                </a:solidFill>
                <a:latin typeface="Google Sans"/>
              </a:rPr>
              <a:t>Local Area Network</a:t>
            </a:r>
          </a:p>
          <a:p>
            <a:pPr lvl="1">
              <a:spcAft>
                <a:spcPts val="2100"/>
              </a:spcAft>
            </a:pPr>
            <a:r>
              <a:rPr lang="en-US" dirty="0">
                <a:solidFill>
                  <a:srgbClr val="001D35"/>
                </a:solidFill>
                <a:latin typeface="Google Sans"/>
              </a:rPr>
              <a:t>Wide Area Network</a:t>
            </a:r>
          </a:p>
          <a:p>
            <a:pPr lvl="1">
              <a:spcAft>
                <a:spcPts val="0"/>
              </a:spcAft>
            </a:pPr>
            <a:r>
              <a:rPr lang="en-US" b="0" i="0" dirty="0">
                <a:solidFill>
                  <a:srgbClr val="001D35"/>
                </a:solidFill>
                <a:effectLst/>
                <a:latin typeface="Google Sans"/>
              </a:rPr>
              <a:t>Demilitarized</a:t>
            </a:r>
            <a:r>
              <a:rPr lang="en-US" dirty="0">
                <a:solidFill>
                  <a:srgbClr val="001D35"/>
                </a:solidFill>
                <a:latin typeface="Google Sans"/>
              </a:rPr>
              <a:t> Zone</a:t>
            </a:r>
          </a:p>
          <a:p>
            <a:pPr marL="0" indent="0">
              <a:spcAft>
                <a:spcPts val="0"/>
              </a:spcAft>
              <a:buNone/>
            </a:pPr>
            <a:endParaRPr lang="en-US" sz="1400" dirty="0">
              <a:solidFill>
                <a:srgbClr val="001D35"/>
              </a:solidFill>
              <a:latin typeface="Google Sans"/>
            </a:endParaRPr>
          </a:p>
        </p:txBody>
      </p:sp>
      <p:pic>
        <p:nvPicPr>
          <p:cNvPr id="11266" name="Picture 2">
            <a:extLst>
              <a:ext uri="{FF2B5EF4-FFF2-40B4-BE49-F238E27FC236}">
                <a16:creationId xmlns="" xmlns:a16="http://schemas.microsoft.com/office/drawing/2014/main" id="{90ACE664-A89D-4443-1D2A-107989E19A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7211" y="3083881"/>
            <a:ext cx="4375866" cy="2397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5571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6B1A776-5B20-6E3A-F3F6-FC0B0A6B2949}"/>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3847A64E-EB7B-B741-FF96-AF8C0092E52D}"/>
              </a:ext>
            </a:extLst>
          </p:cNvPr>
          <p:cNvSpPr>
            <a:spLocks noGrp="1"/>
          </p:cNvSpPr>
          <p:nvPr>
            <p:ph type="title"/>
          </p:nvPr>
        </p:nvSpPr>
        <p:spPr>
          <a:xfrm>
            <a:off x="581192" y="702156"/>
            <a:ext cx="11029616" cy="1000123"/>
          </a:xfrm>
        </p:spPr>
        <p:txBody>
          <a:bodyPr/>
          <a:lstStyle/>
          <a:p>
            <a:r>
              <a:rPr lang="en-US" dirty="0"/>
              <a:t>NETWORK components – FIREWALL</a:t>
            </a:r>
            <a:endParaRPr lang="x-none" dirty="0"/>
          </a:p>
        </p:txBody>
      </p:sp>
      <p:sp>
        <p:nvSpPr>
          <p:cNvPr id="3" name="Content Placeholder 2">
            <a:extLst>
              <a:ext uri="{FF2B5EF4-FFF2-40B4-BE49-F238E27FC236}">
                <a16:creationId xmlns="" xmlns:a16="http://schemas.microsoft.com/office/drawing/2014/main" id="{0EE5257F-D231-E53F-DB46-2D195FF8B408}"/>
              </a:ext>
            </a:extLst>
          </p:cNvPr>
          <p:cNvSpPr>
            <a:spLocks noGrp="1"/>
          </p:cNvSpPr>
          <p:nvPr>
            <p:ph idx="1"/>
          </p:nvPr>
        </p:nvSpPr>
        <p:spPr>
          <a:xfrm>
            <a:off x="652261" y="2586646"/>
            <a:ext cx="6411836" cy="3237551"/>
          </a:xfrm>
        </p:spPr>
        <p:txBody>
          <a:bodyPr>
            <a:noAutofit/>
          </a:bodyPr>
          <a:lstStyle/>
          <a:p>
            <a:endParaRPr lang="en-US" sz="1400" b="0" i="0" dirty="0">
              <a:solidFill>
                <a:srgbClr val="001D35"/>
              </a:solidFill>
              <a:effectLst/>
              <a:latin typeface="Google Sans"/>
            </a:endParaRPr>
          </a:p>
          <a:p>
            <a:pPr marL="0" indent="0">
              <a:buNone/>
            </a:pPr>
            <a:r>
              <a:rPr lang="en-US" sz="1400" b="1" dirty="0">
                <a:solidFill>
                  <a:srgbClr val="001D35"/>
                </a:solidFill>
                <a:latin typeface="Google Sans"/>
              </a:rPr>
              <a:t>FIREWALL</a:t>
            </a:r>
          </a:p>
          <a:p>
            <a:pPr>
              <a:spcAft>
                <a:spcPts val="2100"/>
              </a:spcAft>
            </a:pPr>
            <a:r>
              <a:rPr lang="en-US" dirty="0">
                <a:solidFill>
                  <a:srgbClr val="001D35"/>
                </a:solidFill>
                <a:latin typeface="Google Sans"/>
              </a:rPr>
              <a:t>Using assigned security policies, they filter traffic by examining data packets that flow between the different zones. The internet is, of course, the most untrusted network of all.  Firewalls can also be placed within the internal network to isolate internal departments that host sensitive data, such as HR or Finance. Firewalls can be hardware-based, software-based, or a combination of both. </a:t>
            </a:r>
            <a:endParaRPr lang="en-US" sz="1400" dirty="0">
              <a:solidFill>
                <a:srgbClr val="001D35"/>
              </a:solidFill>
              <a:latin typeface="Google Sans"/>
            </a:endParaRPr>
          </a:p>
        </p:txBody>
      </p:sp>
      <p:pic>
        <p:nvPicPr>
          <p:cNvPr id="11266" name="Picture 2">
            <a:extLst>
              <a:ext uri="{FF2B5EF4-FFF2-40B4-BE49-F238E27FC236}">
                <a16:creationId xmlns="" xmlns:a16="http://schemas.microsoft.com/office/drawing/2014/main" id="{6F9DE245-D993-2D9E-1075-5CD6D7EF7A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7211" y="3083881"/>
            <a:ext cx="4375866" cy="2397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9102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05BA478-332A-DB21-9A63-E74258BC2290}"/>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7ABFFC33-9E88-4479-0E31-9A21EB219EAA}"/>
              </a:ext>
            </a:extLst>
          </p:cNvPr>
          <p:cNvSpPr>
            <a:spLocks noGrp="1"/>
          </p:cNvSpPr>
          <p:nvPr>
            <p:ph type="title"/>
          </p:nvPr>
        </p:nvSpPr>
        <p:spPr>
          <a:xfrm>
            <a:off x="581192" y="702156"/>
            <a:ext cx="11029616" cy="1000123"/>
          </a:xfrm>
        </p:spPr>
        <p:txBody>
          <a:bodyPr/>
          <a:lstStyle/>
          <a:p>
            <a:r>
              <a:rPr lang="en-US" dirty="0"/>
              <a:t>NETWORK components – Network Cables</a:t>
            </a:r>
            <a:endParaRPr lang="x-none" dirty="0"/>
          </a:p>
        </p:txBody>
      </p:sp>
      <p:sp>
        <p:nvSpPr>
          <p:cNvPr id="3" name="Content Placeholder 2">
            <a:extLst>
              <a:ext uri="{FF2B5EF4-FFF2-40B4-BE49-F238E27FC236}">
                <a16:creationId xmlns="" xmlns:a16="http://schemas.microsoft.com/office/drawing/2014/main" id="{87CD1B05-0B92-37D4-3696-B8F72F5D543D}"/>
              </a:ext>
            </a:extLst>
          </p:cNvPr>
          <p:cNvSpPr>
            <a:spLocks noGrp="1"/>
          </p:cNvSpPr>
          <p:nvPr>
            <p:ph idx="1"/>
          </p:nvPr>
        </p:nvSpPr>
        <p:spPr>
          <a:xfrm>
            <a:off x="581192" y="2411346"/>
            <a:ext cx="6411836" cy="3237551"/>
          </a:xfrm>
        </p:spPr>
        <p:txBody>
          <a:bodyPr>
            <a:noAutofit/>
          </a:bodyPr>
          <a:lstStyle/>
          <a:p>
            <a:endParaRPr lang="en-US" sz="1400" b="0" i="0" dirty="0">
              <a:solidFill>
                <a:srgbClr val="001D35"/>
              </a:solidFill>
              <a:effectLst/>
              <a:latin typeface="Google Sans"/>
            </a:endParaRPr>
          </a:p>
          <a:p>
            <a:pPr marL="0" indent="0">
              <a:buNone/>
            </a:pPr>
            <a:r>
              <a:rPr lang="en-US" sz="1400" b="1" dirty="0">
                <a:solidFill>
                  <a:srgbClr val="001D35"/>
                </a:solidFill>
                <a:latin typeface="Google Sans"/>
              </a:rPr>
              <a:t>NETWORK CABLES</a:t>
            </a:r>
          </a:p>
          <a:p>
            <a:pPr>
              <a:spcAft>
                <a:spcPts val="2100"/>
              </a:spcAft>
            </a:pPr>
            <a:r>
              <a:rPr lang="en-US" dirty="0">
                <a:solidFill>
                  <a:srgbClr val="001D35"/>
                </a:solidFill>
                <a:latin typeface="Google Sans"/>
              </a:rPr>
              <a:t>A network cable is a physical medium to connect devices in a computer network. Common types include:</a:t>
            </a:r>
          </a:p>
          <a:p>
            <a:pPr lvl="1">
              <a:spcAft>
                <a:spcPts val="0"/>
              </a:spcAft>
              <a:buFont typeface="Arial" panose="020B0604020202020204" pitchFamily="34" charset="0"/>
              <a:buChar char="•"/>
            </a:pPr>
            <a:r>
              <a:rPr lang="en-US" sz="1700" dirty="0">
                <a:solidFill>
                  <a:srgbClr val="001D35"/>
                </a:solidFill>
                <a:latin typeface="Google Sans"/>
              </a:rPr>
              <a:t>Ethernet cables (e.g., Cat5e, Cat6)</a:t>
            </a:r>
          </a:p>
          <a:p>
            <a:pPr lvl="1">
              <a:spcAft>
                <a:spcPts val="0"/>
              </a:spcAft>
              <a:buFont typeface="Arial" panose="020B0604020202020204" pitchFamily="34" charset="0"/>
              <a:buChar char="•"/>
            </a:pPr>
            <a:r>
              <a:rPr lang="en-US" sz="1700" dirty="0">
                <a:solidFill>
                  <a:srgbClr val="001D35"/>
                </a:solidFill>
                <a:latin typeface="Google Sans"/>
              </a:rPr>
              <a:t>Coaxial cables</a:t>
            </a:r>
          </a:p>
          <a:p>
            <a:pPr lvl="1">
              <a:spcAft>
                <a:spcPts val="0"/>
              </a:spcAft>
              <a:buFont typeface="Arial" panose="020B0604020202020204" pitchFamily="34" charset="0"/>
              <a:buChar char="•"/>
            </a:pPr>
            <a:r>
              <a:rPr lang="en-US" sz="1700" dirty="0">
                <a:solidFill>
                  <a:srgbClr val="001D35"/>
                </a:solidFill>
                <a:latin typeface="Google Sans"/>
              </a:rPr>
              <a:t>Fiber optic cables.</a:t>
            </a:r>
          </a:p>
          <a:p>
            <a:pPr lvl="1">
              <a:spcAft>
                <a:spcPts val="0"/>
              </a:spcAft>
              <a:buFont typeface="Arial" panose="020B0604020202020204" pitchFamily="34" charset="0"/>
              <a:buChar char="•"/>
            </a:pPr>
            <a:endParaRPr lang="en-US" sz="1700" dirty="0">
              <a:solidFill>
                <a:srgbClr val="001D35"/>
              </a:solidFill>
              <a:latin typeface="Google Sans"/>
            </a:endParaRPr>
          </a:p>
          <a:p>
            <a:pPr marL="306000" lvl="1">
              <a:lnSpc>
                <a:spcPct val="110000"/>
              </a:lnSpc>
              <a:spcAft>
                <a:spcPts val="2100"/>
              </a:spcAft>
            </a:pPr>
            <a:r>
              <a:rPr lang="en-US" sz="1700" dirty="0">
                <a:solidFill>
                  <a:srgbClr val="001D35"/>
                </a:solidFill>
                <a:latin typeface="Google Sans"/>
              </a:rPr>
              <a:t>All network cables have an attenuation length, which means they can only carry digital signals for so long before a power source must energize them. This length varies depending on the cable type, quality, and transmitted signal frequency.</a:t>
            </a:r>
          </a:p>
          <a:p>
            <a:pPr>
              <a:spcAft>
                <a:spcPts val="2100"/>
              </a:spcAft>
            </a:pPr>
            <a:endParaRPr lang="en-US" sz="1400" dirty="0">
              <a:solidFill>
                <a:srgbClr val="001D35"/>
              </a:solidFill>
              <a:latin typeface="Google Sans"/>
            </a:endParaRPr>
          </a:p>
        </p:txBody>
      </p:sp>
      <p:pic>
        <p:nvPicPr>
          <p:cNvPr id="12290" name="Picture 2" descr="What is Network Cable? | Definition and ...">
            <a:extLst>
              <a:ext uri="{FF2B5EF4-FFF2-40B4-BE49-F238E27FC236}">
                <a16:creationId xmlns="" xmlns:a16="http://schemas.microsoft.com/office/drawing/2014/main" id="{48247B1D-09F3-8530-C39B-3C9CEE7066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6961" y="2722001"/>
            <a:ext cx="3461610" cy="2303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4164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FC6C966-B438-69FE-9EDE-DFE490B93630}"/>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9F69057C-A406-FD51-9DD1-4910134567E4}"/>
              </a:ext>
            </a:extLst>
          </p:cNvPr>
          <p:cNvSpPr>
            <a:spLocks noGrp="1"/>
          </p:cNvSpPr>
          <p:nvPr>
            <p:ph type="title"/>
          </p:nvPr>
        </p:nvSpPr>
        <p:spPr>
          <a:xfrm>
            <a:off x="581192" y="702156"/>
            <a:ext cx="11029616" cy="1000123"/>
          </a:xfrm>
        </p:spPr>
        <p:txBody>
          <a:bodyPr/>
          <a:lstStyle/>
          <a:p>
            <a:r>
              <a:rPr lang="en-US" dirty="0"/>
              <a:t>NETWORK components – Wireless Access Points (WAPs)</a:t>
            </a:r>
            <a:br>
              <a:rPr lang="en-US" dirty="0"/>
            </a:br>
            <a:endParaRPr lang="x-none" dirty="0"/>
          </a:p>
        </p:txBody>
      </p:sp>
      <p:sp>
        <p:nvSpPr>
          <p:cNvPr id="3" name="Content Placeholder 2">
            <a:extLst>
              <a:ext uri="{FF2B5EF4-FFF2-40B4-BE49-F238E27FC236}">
                <a16:creationId xmlns="" xmlns:a16="http://schemas.microsoft.com/office/drawing/2014/main" id="{2C08D5B8-F03F-1933-8113-DA360421978A}"/>
              </a:ext>
            </a:extLst>
          </p:cNvPr>
          <p:cNvSpPr>
            <a:spLocks noGrp="1"/>
          </p:cNvSpPr>
          <p:nvPr>
            <p:ph idx="1"/>
          </p:nvPr>
        </p:nvSpPr>
        <p:spPr>
          <a:xfrm>
            <a:off x="652261" y="2586646"/>
            <a:ext cx="6411836" cy="3237551"/>
          </a:xfrm>
        </p:spPr>
        <p:txBody>
          <a:bodyPr>
            <a:noAutofit/>
          </a:bodyPr>
          <a:lstStyle/>
          <a:p>
            <a:endParaRPr lang="en-US" sz="1400" b="0" i="0" dirty="0">
              <a:solidFill>
                <a:srgbClr val="001D35"/>
              </a:solidFill>
              <a:effectLst/>
              <a:latin typeface="Google Sans"/>
            </a:endParaRPr>
          </a:p>
          <a:p>
            <a:pPr marL="0" indent="0">
              <a:buNone/>
            </a:pPr>
            <a:r>
              <a:rPr lang="en-US" sz="1400" b="1" dirty="0">
                <a:solidFill>
                  <a:srgbClr val="001D35"/>
                </a:solidFill>
                <a:latin typeface="Google Sans"/>
              </a:rPr>
              <a:t>WAPS</a:t>
            </a:r>
          </a:p>
          <a:p>
            <a:pPr>
              <a:spcAft>
                <a:spcPts val="2100"/>
              </a:spcAft>
            </a:pPr>
            <a:r>
              <a:rPr lang="en-US" dirty="0">
                <a:solidFill>
                  <a:srgbClr val="001D35"/>
                </a:solidFill>
                <a:latin typeface="Google Sans"/>
              </a:rPr>
              <a:t>A wireless access point (WAP) is a networking device with a built-in antenna, transmitter, and adapter. WAPs use the wireless infrastructure network mode to provide a connection point between WLANs and a wired Ethernet LAN. A WLAN essentially serves as an interconnection point between the WLAN and a fixed wire network. </a:t>
            </a:r>
          </a:p>
          <a:p>
            <a:pPr algn="l">
              <a:spcAft>
                <a:spcPts val="2100"/>
              </a:spcAft>
            </a:pPr>
            <a:r>
              <a:rPr lang="en-US" dirty="0">
                <a:solidFill>
                  <a:srgbClr val="001D35"/>
                </a:solidFill>
                <a:latin typeface="Google Sans"/>
              </a:rPr>
              <a:t>A service set identifier (SSID) name is necessary to connect to a wireless network. The SID is used to identify all systems belonging to the same network, and client stations must be configured with the SSID to be authenticated to the WAP.</a:t>
            </a:r>
          </a:p>
        </p:txBody>
      </p:sp>
      <p:pic>
        <p:nvPicPr>
          <p:cNvPr id="13316" name="Picture 4" descr="Wireless Access Point | Basic Network">
            <a:extLst>
              <a:ext uri="{FF2B5EF4-FFF2-40B4-BE49-F238E27FC236}">
                <a16:creationId xmlns="" xmlns:a16="http://schemas.microsoft.com/office/drawing/2014/main" id="{6646F351-7F8B-6790-1279-C242EE7B42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4739" y="2586646"/>
            <a:ext cx="2873342" cy="3057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5791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D00429B-A981-810F-2E55-12BFFE2DA39C}"/>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35CE86EE-4D10-C0B5-8D31-24A5DED243AB}"/>
              </a:ext>
            </a:extLst>
          </p:cNvPr>
          <p:cNvSpPr>
            <a:spLocks noGrp="1"/>
          </p:cNvSpPr>
          <p:nvPr>
            <p:ph type="title"/>
          </p:nvPr>
        </p:nvSpPr>
        <p:spPr>
          <a:xfrm>
            <a:off x="581192" y="702156"/>
            <a:ext cx="11029616" cy="1000123"/>
          </a:xfrm>
        </p:spPr>
        <p:txBody>
          <a:bodyPr/>
          <a:lstStyle/>
          <a:p>
            <a:r>
              <a:rPr lang="en-US" dirty="0"/>
              <a:t>NETWORK components – Wireless Access Points (WAPs)</a:t>
            </a:r>
            <a:br>
              <a:rPr lang="en-US" dirty="0"/>
            </a:br>
            <a:endParaRPr lang="x-none" dirty="0"/>
          </a:p>
        </p:txBody>
      </p:sp>
      <p:sp>
        <p:nvSpPr>
          <p:cNvPr id="3" name="Content Placeholder 2">
            <a:extLst>
              <a:ext uri="{FF2B5EF4-FFF2-40B4-BE49-F238E27FC236}">
                <a16:creationId xmlns="" xmlns:a16="http://schemas.microsoft.com/office/drawing/2014/main" id="{B83474AD-6037-0173-B815-52D2BF86A0DA}"/>
              </a:ext>
            </a:extLst>
          </p:cNvPr>
          <p:cNvSpPr>
            <a:spLocks noGrp="1"/>
          </p:cNvSpPr>
          <p:nvPr>
            <p:ph idx="1"/>
          </p:nvPr>
        </p:nvSpPr>
        <p:spPr>
          <a:xfrm>
            <a:off x="652261" y="2586646"/>
            <a:ext cx="6411836" cy="3237551"/>
          </a:xfrm>
        </p:spPr>
        <p:txBody>
          <a:bodyPr>
            <a:noAutofit/>
          </a:bodyPr>
          <a:lstStyle/>
          <a:p>
            <a:endParaRPr lang="en-US" sz="1400" b="0" i="0" dirty="0">
              <a:solidFill>
                <a:srgbClr val="001D35"/>
              </a:solidFill>
              <a:effectLst/>
              <a:latin typeface="Google Sans"/>
            </a:endParaRPr>
          </a:p>
          <a:p>
            <a:pPr marL="0" indent="0">
              <a:buNone/>
            </a:pPr>
            <a:r>
              <a:rPr lang="en-US" sz="1400" b="1" dirty="0">
                <a:solidFill>
                  <a:srgbClr val="001D35"/>
                </a:solidFill>
                <a:latin typeface="Google Sans"/>
              </a:rPr>
              <a:t>TYPES OF WAPS</a:t>
            </a:r>
          </a:p>
          <a:p>
            <a:pPr algn="l">
              <a:spcAft>
                <a:spcPts val="2100"/>
              </a:spcAft>
              <a:buNone/>
            </a:pPr>
            <a:r>
              <a:rPr lang="en-US" dirty="0">
                <a:solidFill>
                  <a:srgbClr val="001D35"/>
                </a:solidFill>
                <a:latin typeface="Google Sans"/>
              </a:rPr>
              <a:t>There are many types of WAPs, such as:</a:t>
            </a:r>
          </a:p>
          <a:p>
            <a:pPr algn="l">
              <a:spcAft>
                <a:spcPts val="750"/>
              </a:spcAft>
              <a:buFont typeface="Arial" panose="020B0604020202020204" pitchFamily="34" charset="0"/>
              <a:buChar char="•"/>
            </a:pPr>
            <a:r>
              <a:rPr lang="en-US" dirty="0">
                <a:solidFill>
                  <a:srgbClr val="001D35"/>
                </a:solidFill>
                <a:latin typeface="Google Sans"/>
              </a:rPr>
              <a:t>Standalone Access Points:</a:t>
            </a:r>
          </a:p>
          <a:p>
            <a:pPr algn="l">
              <a:spcAft>
                <a:spcPts val="750"/>
              </a:spcAft>
              <a:buFont typeface="Arial" panose="020B0604020202020204" pitchFamily="34" charset="0"/>
              <a:buChar char="•"/>
            </a:pPr>
            <a:r>
              <a:rPr lang="en-US" dirty="0">
                <a:solidFill>
                  <a:srgbClr val="001D35"/>
                </a:solidFill>
                <a:latin typeface="Google Sans"/>
              </a:rPr>
              <a:t>Controller-Based Access Points</a:t>
            </a:r>
          </a:p>
          <a:p>
            <a:pPr algn="l">
              <a:spcAft>
                <a:spcPts val="750"/>
              </a:spcAft>
              <a:buFont typeface="Arial" panose="020B0604020202020204" pitchFamily="34" charset="0"/>
              <a:buChar char="•"/>
            </a:pPr>
            <a:r>
              <a:rPr lang="en-US" dirty="0">
                <a:solidFill>
                  <a:srgbClr val="001D35"/>
                </a:solidFill>
                <a:latin typeface="Google Sans"/>
              </a:rPr>
              <a:t>Cloud-Managed Access Points:</a:t>
            </a:r>
          </a:p>
          <a:p>
            <a:pPr algn="l">
              <a:spcAft>
                <a:spcPts val="750"/>
              </a:spcAft>
              <a:buFont typeface="Arial" panose="020B0604020202020204" pitchFamily="34" charset="0"/>
              <a:buChar char="•"/>
            </a:pPr>
            <a:r>
              <a:rPr lang="en-US" dirty="0">
                <a:solidFill>
                  <a:srgbClr val="001D35"/>
                </a:solidFill>
                <a:latin typeface="Google Sans"/>
              </a:rPr>
              <a:t>USB Access Points.</a:t>
            </a:r>
          </a:p>
        </p:txBody>
      </p:sp>
      <p:pic>
        <p:nvPicPr>
          <p:cNvPr id="13316" name="Picture 4" descr="Wireless Access Point | Basic Network">
            <a:extLst>
              <a:ext uri="{FF2B5EF4-FFF2-40B4-BE49-F238E27FC236}">
                <a16:creationId xmlns="" xmlns:a16="http://schemas.microsoft.com/office/drawing/2014/main" id="{40F7EAF1-7D5E-F05F-E813-F7F10DFFB1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4739" y="2586646"/>
            <a:ext cx="2873342" cy="3057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57348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46DED28-A7B0-70CA-1E2B-9A8B6E93AA49}"/>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9BA20E30-8707-A7C8-4DE6-9E3882DF66C9}"/>
              </a:ext>
            </a:extLst>
          </p:cNvPr>
          <p:cNvSpPr>
            <a:spLocks noGrp="1"/>
          </p:cNvSpPr>
          <p:nvPr>
            <p:ph type="title"/>
          </p:nvPr>
        </p:nvSpPr>
        <p:spPr/>
        <p:txBody>
          <a:bodyPr/>
          <a:lstStyle/>
          <a:p>
            <a:r>
              <a:rPr lang="en-US" dirty="0"/>
              <a:t>TYPES OF Network</a:t>
            </a:r>
          </a:p>
        </p:txBody>
      </p:sp>
      <p:sp>
        <p:nvSpPr>
          <p:cNvPr id="3" name="Text Placeholder 2">
            <a:extLst>
              <a:ext uri="{FF2B5EF4-FFF2-40B4-BE49-F238E27FC236}">
                <a16:creationId xmlns="" xmlns:a16="http://schemas.microsoft.com/office/drawing/2014/main" id="{E9942328-D87A-1477-D270-694772C912BC}"/>
              </a:ext>
            </a:extLst>
          </p:cNvPr>
          <p:cNvSpPr>
            <a:spLocks noGrp="1"/>
          </p:cNvSpPr>
          <p:nvPr>
            <p:ph type="body" idx="1"/>
          </p:nvPr>
        </p:nvSpPr>
        <p:spPr>
          <a:xfrm>
            <a:off x="653763" y="4541417"/>
            <a:ext cx="11029615" cy="600556"/>
          </a:xfrm>
        </p:spPr>
        <p:txBody>
          <a:bodyPr/>
          <a:lstStyle/>
          <a:p>
            <a:r>
              <a:rPr lang="en-US" dirty="0"/>
              <a:t>Day 1</a:t>
            </a:r>
            <a:endParaRPr lang="x-none" dirty="0"/>
          </a:p>
        </p:txBody>
      </p:sp>
    </p:spTree>
    <p:extLst>
      <p:ext uri="{BB962C8B-B14F-4D97-AF65-F5344CB8AC3E}">
        <p14:creationId xmlns:p14="http://schemas.microsoft.com/office/powerpoint/2010/main" val="29093052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64A487C-9892-4F07-AF47-8DDC4D946A24}"/>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E8A132EE-2855-37BD-319B-FB174954E9B3}"/>
              </a:ext>
            </a:extLst>
          </p:cNvPr>
          <p:cNvSpPr>
            <a:spLocks noGrp="1"/>
          </p:cNvSpPr>
          <p:nvPr>
            <p:ph type="title"/>
          </p:nvPr>
        </p:nvSpPr>
        <p:spPr>
          <a:xfrm>
            <a:off x="581192" y="702156"/>
            <a:ext cx="11029616" cy="1000123"/>
          </a:xfrm>
        </p:spPr>
        <p:txBody>
          <a:bodyPr>
            <a:normAutofit/>
          </a:bodyPr>
          <a:lstStyle/>
          <a:p>
            <a:r>
              <a:rPr lang="en-US" dirty="0"/>
              <a:t>TYPES OF NETWORK– Local Area Network (LAN)</a:t>
            </a:r>
            <a:br>
              <a:rPr lang="en-US" dirty="0"/>
            </a:br>
            <a:endParaRPr lang="x-none" dirty="0"/>
          </a:p>
        </p:txBody>
      </p:sp>
      <p:sp>
        <p:nvSpPr>
          <p:cNvPr id="3" name="Content Placeholder 2">
            <a:extLst>
              <a:ext uri="{FF2B5EF4-FFF2-40B4-BE49-F238E27FC236}">
                <a16:creationId xmlns="" xmlns:a16="http://schemas.microsoft.com/office/drawing/2014/main" id="{0842BF0E-E967-43CF-F1C8-7D838EC6CAEB}"/>
              </a:ext>
            </a:extLst>
          </p:cNvPr>
          <p:cNvSpPr>
            <a:spLocks noGrp="1"/>
          </p:cNvSpPr>
          <p:nvPr>
            <p:ph idx="1"/>
          </p:nvPr>
        </p:nvSpPr>
        <p:spPr>
          <a:xfrm>
            <a:off x="652261" y="2586646"/>
            <a:ext cx="6411836" cy="3237551"/>
          </a:xfrm>
        </p:spPr>
        <p:txBody>
          <a:bodyPr>
            <a:noAutofit/>
          </a:bodyPr>
          <a:lstStyle/>
          <a:p>
            <a:endParaRPr lang="en-US" sz="1400" b="0" i="0" dirty="0">
              <a:solidFill>
                <a:srgbClr val="001D35"/>
              </a:solidFill>
              <a:effectLst/>
              <a:latin typeface="Google Sans"/>
            </a:endParaRPr>
          </a:p>
          <a:p>
            <a:pPr marL="0" indent="0">
              <a:buNone/>
            </a:pPr>
            <a:r>
              <a:rPr lang="en-US" sz="1400" b="1" dirty="0">
                <a:solidFill>
                  <a:srgbClr val="001D35"/>
                </a:solidFill>
                <a:latin typeface="Google Sans"/>
              </a:rPr>
              <a:t>LAN</a:t>
            </a:r>
          </a:p>
          <a:p>
            <a:pPr>
              <a:spcAft>
                <a:spcPts val="2100"/>
              </a:spcAft>
            </a:pPr>
            <a:r>
              <a:rPr lang="en-US" dirty="0">
                <a:solidFill>
                  <a:srgbClr val="001D35"/>
                </a:solidFill>
                <a:latin typeface="Google Sans"/>
              </a:rPr>
              <a:t>A Local Area Network (LAN) connects devices and computers within a limited geographic area, such as a home, office, or campus. Utilizing Ethernet cables or wireless technology, LANs facilitate fast data transfer and resource sharing. They are fundamental for file sharing, printing, and collaborative projects in office environments, fostering a cohesive digital environment</a:t>
            </a:r>
          </a:p>
        </p:txBody>
      </p:sp>
      <p:pic>
        <p:nvPicPr>
          <p:cNvPr id="14338" name="Picture 2" descr="What is a Local Area Network (LAN)?">
            <a:extLst>
              <a:ext uri="{FF2B5EF4-FFF2-40B4-BE49-F238E27FC236}">
                <a16:creationId xmlns="" xmlns:a16="http://schemas.microsoft.com/office/drawing/2014/main" id="{F9EBCB28-0B28-9765-310E-C62C2F2EA3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6245" y="2586646"/>
            <a:ext cx="4206692" cy="3157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36914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E03E7DF-7830-8FE3-3859-7525B59A5EF1}"/>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9C86A4FE-200A-058A-4242-702E293CE98D}"/>
              </a:ext>
            </a:extLst>
          </p:cNvPr>
          <p:cNvSpPr>
            <a:spLocks noGrp="1"/>
          </p:cNvSpPr>
          <p:nvPr>
            <p:ph type="title"/>
          </p:nvPr>
        </p:nvSpPr>
        <p:spPr>
          <a:xfrm>
            <a:off x="581192" y="702156"/>
            <a:ext cx="11029616" cy="1000123"/>
          </a:xfrm>
        </p:spPr>
        <p:txBody>
          <a:bodyPr>
            <a:normAutofit/>
          </a:bodyPr>
          <a:lstStyle/>
          <a:p>
            <a:r>
              <a:rPr lang="en-US" dirty="0"/>
              <a:t>TYPES OF NETWORK– Wide Area Network (WAN) </a:t>
            </a:r>
            <a:br>
              <a:rPr lang="en-US" dirty="0"/>
            </a:br>
            <a:endParaRPr lang="x-none" dirty="0"/>
          </a:p>
        </p:txBody>
      </p:sp>
      <p:sp>
        <p:nvSpPr>
          <p:cNvPr id="3" name="Content Placeholder 2">
            <a:extLst>
              <a:ext uri="{FF2B5EF4-FFF2-40B4-BE49-F238E27FC236}">
                <a16:creationId xmlns="" xmlns:a16="http://schemas.microsoft.com/office/drawing/2014/main" id="{A1DC971D-5BCC-A0E1-D093-3958755B26A1}"/>
              </a:ext>
            </a:extLst>
          </p:cNvPr>
          <p:cNvSpPr>
            <a:spLocks noGrp="1"/>
          </p:cNvSpPr>
          <p:nvPr>
            <p:ph idx="1"/>
          </p:nvPr>
        </p:nvSpPr>
        <p:spPr>
          <a:xfrm>
            <a:off x="652261" y="2586646"/>
            <a:ext cx="6411836" cy="3237551"/>
          </a:xfrm>
        </p:spPr>
        <p:txBody>
          <a:bodyPr>
            <a:noAutofit/>
          </a:bodyPr>
          <a:lstStyle/>
          <a:p>
            <a:endParaRPr lang="en-US" sz="1400" b="0" i="0" dirty="0">
              <a:solidFill>
                <a:srgbClr val="001D35"/>
              </a:solidFill>
              <a:effectLst/>
              <a:latin typeface="Google Sans"/>
            </a:endParaRPr>
          </a:p>
          <a:p>
            <a:pPr marL="0" indent="0">
              <a:buNone/>
            </a:pPr>
            <a:r>
              <a:rPr lang="en-US" sz="1400" b="1" dirty="0">
                <a:solidFill>
                  <a:srgbClr val="001D35"/>
                </a:solidFill>
                <a:latin typeface="Google Sans"/>
              </a:rPr>
              <a:t>WAN</a:t>
            </a:r>
          </a:p>
          <a:p>
            <a:pPr>
              <a:spcAft>
                <a:spcPts val="2100"/>
              </a:spcAft>
            </a:pPr>
            <a:r>
              <a:rPr lang="en-US" dirty="0">
                <a:solidFill>
                  <a:srgbClr val="001D35"/>
                </a:solidFill>
                <a:latin typeface="Google Sans"/>
              </a:rPr>
              <a:t>A Wide Area Network (WAN) spans large geographical areas, connecting Local Area Networks (LANs) across cities, countries, or continents. To enable global communication, WANs use various technologies, including public and private networks. They are crucial for multinational corporations, providing a framework for efficient data transfer and communication between distant locations. </a:t>
            </a:r>
          </a:p>
        </p:txBody>
      </p:sp>
      <p:pic>
        <p:nvPicPr>
          <p:cNvPr id="15368" name="Picture 8" descr="Wide Area Network Service in Pune | ID ...">
            <a:extLst>
              <a:ext uri="{FF2B5EF4-FFF2-40B4-BE49-F238E27FC236}">
                <a16:creationId xmlns="" xmlns:a16="http://schemas.microsoft.com/office/drawing/2014/main" id="{AF68303F-255A-2A5F-E7C8-151D2FDFC9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99469" y="2760472"/>
            <a:ext cx="3167581" cy="28215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01905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223CCC1-E3F5-045F-983C-8627A6CBC5F5}"/>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DFAB1379-D205-C6B8-C105-4654F321366D}"/>
              </a:ext>
            </a:extLst>
          </p:cNvPr>
          <p:cNvSpPr>
            <a:spLocks noGrp="1"/>
          </p:cNvSpPr>
          <p:nvPr>
            <p:ph type="title"/>
          </p:nvPr>
        </p:nvSpPr>
        <p:spPr>
          <a:xfrm>
            <a:off x="581192" y="702156"/>
            <a:ext cx="11029616" cy="1000123"/>
          </a:xfrm>
        </p:spPr>
        <p:txBody>
          <a:bodyPr>
            <a:normAutofit fontScale="90000"/>
          </a:bodyPr>
          <a:lstStyle/>
          <a:p>
            <a:r>
              <a:rPr lang="en-US" dirty="0"/>
              <a:t>TYPES OF NETWORK– Wireless Local Area Network (WLAN)</a:t>
            </a:r>
            <a:br>
              <a:rPr lang="en-US" dirty="0"/>
            </a:br>
            <a:r>
              <a:rPr lang="en-US" dirty="0"/>
              <a:t/>
            </a:r>
            <a:br>
              <a:rPr lang="en-US" dirty="0"/>
            </a:br>
            <a:endParaRPr lang="x-none" dirty="0"/>
          </a:p>
        </p:txBody>
      </p:sp>
      <p:sp>
        <p:nvSpPr>
          <p:cNvPr id="3" name="Content Placeholder 2">
            <a:extLst>
              <a:ext uri="{FF2B5EF4-FFF2-40B4-BE49-F238E27FC236}">
                <a16:creationId xmlns="" xmlns:a16="http://schemas.microsoft.com/office/drawing/2014/main" id="{2F1AF3A7-2643-953F-EF73-39F8A5EF0326}"/>
              </a:ext>
            </a:extLst>
          </p:cNvPr>
          <p:cNvSpPr>
            <a:spLocks noGrp="1"/>
          </p:cNvSpPr>
          <p:nvPr>
            <p:ph idx="1"/>
          </p:nvPr>
        </p:nvSpPr>
        <p:spPr>
          <a:xfrm>
            <a:off x="543291" y="2068811"/>
            <a:ext cx="6411836" cy="3237551"/>
          </a:xfrm>
        </p:spPr>
        <p:txBody>
          <a:bodyPr>
            <a:noAutofit/>
          </a:bodyPr>
          <a:lstStyle/>
          <a:p>
            <a:endParaRPr lang="en-US" sz="1400" b="0" i="0" dirty="0">
              <a:solidFill>
                <a:srgbClr val="001D35"/>
              </a:solidFill>
              <a:effectLst/>
              <a:latin typeface="Google Sans"/>
            </a:endParaRPr>
          </a:p>
          <a:p>
            <a:pPr marL="0" indent="0">
              <a:buNone/>
            </a:pPr>
            <a:r>
              <a:rPr lang="en-US" sz="1400" b="1" dirty="0">
                <a:solidFill>
                  <a:srgbClr val="001D35"/>
                </a:solidFill>
                <a:latin typeface="Google Sans"/>
              </a:rPr>
              <a:t>WLAN</a:t>
            </a:r>
          </a:p>
          <a:p>
            <a:pPr>
              <a:spcAft>
                <a:spcPts val="2100"/>
              </a:spcAft>
            </a:pPr>
            <a:r>
              <a:rPr lang="en-US" dirty="0">
                <a:solidFill>
                  <a:srgbClr val="001D35"/>
                </a:solidFill>
                <a:latin typeface="Google Sans"/>
              </a:rPr>
              <a:t>A Wireless Local Area Network (WLAN) employs wireless technology, allowing devices to connect without physical cables. This flexibility enhances mobility, making WLANs prevalent in homes, offices, and public spaces. Wi-Fi routers enable multiple devices to access the internet concurrently, emphasizing convenience and eliminating the need for extensive cabling.</a:t>
            </a:r>
          </a:p>
        </p:txBody>
      </p:sp>
      <p:pic>
        <p:nvPicPr>
          <p:cNvPr id="16388" name="Picture 4" descr="WLAN vs WiFi: A Comprehensive Guide to ...">
            <a:extLst>
              <a:ext uri="{FF2B5EF4-FFF2-40B4-BE49-F238E27FC236}">
                <a16:creationId xmlns="" xmlns:a16="http://schemas.microsoft.com/office/drawing/2014/main" id="{F381F8F1-0407-E748-E53C-F57C249483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4900" y="2856340"/>
            <a:ext cx="4415908" cy="2450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26431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A73FFA9-F48E-5117-88ED-BBD95432CB74}"/>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B976455A-26E5-3A50-312B-BF3791411CF4}"/>
              </a:ext>
            </a:extLst>
          </p:cNvPr>
          <p:cNvSpPr>
            <a:spLocks noGrp="1"/>
          </p:cNvSpPr>
          <p:nvPr>
            <p:ph type="title"/>
          </p:nvPr>
        </p:nvSpPr>
        <p:spPr>
          <a:xfrm>
            <a:off x="581192" y="702156"/>
            <a:ext cx="11029616" cy="1316157"/>
          </a:xfrm>
        </p:spPr>
        <p:txBody>
          <a:bodyPr>
            <a:normAutofit/>
          </a:bodyPr>
          <a:lstStyle/>
          <a:p>
            <a:r>
              <a:rPr lang="en-US" dirty="0"/>
              <a:t>TYPES OF NETWORK– Metropolitan Area Network (MAN)</a:t>
            </a:r>
            <a:br>
              <a:rPr lang="en-US" dirty="0"/>
            </a:br>
            <a:endParaRPr lang="x-none" dirty="0"/>
          </a:p>
        </p:txBody>
      </p:sp>
      <p:sp>
        <p:nvSpPr>
          <p:cNvPr id="3" name="Content Placeholder 2">
            <a:extLst>
              <a:ext uri="{FF2B5EF4-FFF2-40B4-BE49-F238E27FC236}">
                <a16:creationId xmlns="" xmlns:a16="http://schemas.microsoft.com/office/drawing/2014/main" id="{D963187F-70DB-618E-D17C-4E5A7C8C86F9}"/>
              </a:ext>
            </a:extLst>
          </p:cNvPr>
          <p:cNvSpPr>
            <a:spLocks noGrp="1"/>
          </p:cNvSpPr>
          <p:nvPr>
            <p:ph idx="1"/>
          </p:nvPr>
        </p:nvSpPr>
        <p:spPr>
          <a:xfrm>
            <a:off x="543291" y="2068811"/>
            <a:ext cx="6411836" cy="3237551"/>
          </a:xfrm>
        </p:spPr>
        <p:txBody>
          <a:bodyPr>
            <a:noAutofit/>
          </a:bodyPr>
          <a:lstStyle/>
          <a:p>
            <a:endParaRPr lang="en-US" sz="1400" b="0" i="0" dirty="0">
              <a:solidFill>
                <a:srgbClr val="001D35"/>
              </a:solidFill>
              <a:effectLst/>
              <a:latin typeface="Google Sans"/>
            </a:endParaRPr>
          </a:p>
          <a:p>
            <a:pPr marL="0" indent="0">
              <a:buNone/>
            </a:pPr>
            <a:r>
              <a:rPr lang="en-US" sz="1400" b="1" dirty="0">
                <a:solidFill>
                  <a:srgbClr val="001D35"/>
                </a:solidFill>
                <a:latin typeface="Google Sans"/>
              </a:rPr>
              <a:t>MAN</a:t>
            </a:r>
          </a:p>
          <a:p>
            <a:pPr>
              <a:spcAft>
                <a:spcPts val="2100"/>
              </a:spcAft>
            </a:pPr>
            <a:r>
              <a:rPr lang="en-US" dirty="0">
                <a:solidFill>
                  <a:srgbClr val="001D35"/>
                </a:solidFill>
                <a:latin typeface="Google Sans"/>
              </a:rPr>
              <a:t>A Metropolitan Area Network (MAN) covers a city or a large campus, serving as an intermediary between Local Area Networks (LANs) and Wide Area Networks (WANs). MANs offer high-speed connectivity within a specific geographic region, supporting </a:t>
            </a:r>
            <a:r>
              <a:rPr lang="en-US" dirty="0" err="1">
                <a:solidFill>
                  <a:srgbClr val="001D35"/>
                </a:solidFill>
                <a:latin typeface="Google Sans"/>
              </a:rPr>
              <a:t>organisations</a:t>
            </a:r>
            <a:r>
              <a:rPr lang="en-US" dirty="0">
                <a:solidFill>
                  <a:srgbClr val="001D35"/>
                </a:solidFill>
                <a:latin typeface="Google Sans"/>
              </a:rPr>
              <a:t> with multiple offices or campuses nearby.</a:t>
            </a:r>
          </a:p>
        </p:txBody>
      </p:sp>
      <p:pic>
        <p:nvPicPr>
          <p:cNvPr id="17414" name="Picture 6" descr="Types of computer network">
            <a:extLst>
              <a:ext uri="{FF2B5EF4-FFF2-40B4-BE49-F238E27FC236}">
                <a16:creationId xmlns="" xmlns:a16="http://schemas.microsoft.com/office/drawing/2014/main" id="{57E4DA77-21C4-3FFE-D991-72C7FB9832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1278" y="2583745"/>
            <a:ext cx="3580042" cy="29042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96195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1A64F67-C74E-1227-DC3F-D5FEBBCE64CA}"/>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59E1C5B8-0F19-5977-4513-ECA841A1BD24}"/>
              </a:ext>
            </a:extLst>
          </p:cNvPr>
          <p:cNvSpPr>
            <a:spLocks noGrp="1"/>
          </p:cNvSpPr>
          <p:nvPr>
            <p:ph type="title"/>
          </p:nvPr>
        </p:nvSpPr>
        <p:spPr>
          <a:xfrm>
            <a:off x="581192" y="702156"/>
            <a:ext cx="11029616" cy="1316157"/>
          </a:xfrm>
        </p:spPr>
        <p:txBody>
          <a:bodyPr>
            <a:normAutofit/>
          </a:bodyPr>
          <a:lstStyle/>
          <a:p>
            <a:r>
              <a:rPr lang="en-US" dirty="0"/>
              <a:t>TYPES OF NETWORK– Campus Area Network (CAN)</a:t>
            </a:r>
            <a:br>
              <a:rPr lang="en-US" dirty="0"/>
            </a:br>
            <a:endParaRPr lang="x-none" dirty="0"/>
          </a:p>
        </p:txBody>
      </p:sp>
      <p:sp>
        <p:nvSpPr>
          <p:cNvPr id="3" name="Content Placeholder 2">
            <a:extLst>
              <a:ext uri="{FF2B5EF4-FFF2-40B4-BE49-F238E27FC236}">
                <a16:creationId xmlns="" xmlns:a16="http://schemas.microsoft.com/office/drawing/2014/main" id="{2F5F9523-0D87-0E58-757B-28AD5455F2CC}"/>
              </a:ext>
            </a:extLst>
          </p:cNvPr>
          <p:cNvSpPr>
            <a:spLocks noGrp="1"/>
          </p:cNvSpPr>
          <p:nvPr>
            <p:ph idx="1"/>
          </p:nvPr>
        </p:nvSpPr>
        <p:spPr>
          <a:xfrm>
            <a:off x="543291" y="2068811"/>
            <a:ext cx="6411836" cy="3237551"/>
          </a:xfrm>
        </p:spPr>
        <p:txBody>
          <a:bodyPr>
            <a:noAutofit/>
          </a:bodyPr>
          <a:lstStyle/>
          <a:p>
            <a:endParaRPr lang="en-US" sz="1400" b="0" i="0" dirty="0">
              <a:solidFill>
                <a:srgbClr val="001D35"/>
              </a:solidFill>
              <a:effectLst/>
              <a:latin typeface="Google Sans"/>
            </a:endParaRPr>
          </a:p>
          <a:p>
            <a:pPr marL="0" indent="0">
              <a:buNone/>
            </a:pPr>
            <a:r>
              <a:rPr lang="en-US" sz="1400" b="1" dirty="0">
                <a:solidFill>
                  <a:srgbClr val="001D35"/>
                </a:solidFill>
                <a:latin typeface="Google Sans"/>
              </a:rPr>
              <a:t>CAN</a:t>
            </a:r>
          </a:p>
          <a:p>
            <a:pPr>
              <a:spcAft>
                <a:spcPts val="2100"/>
              </a:spcAft>
            </a:pPr>
            <a:r>
              <a:rPr lang="en-US" dirty="0">
                <a:solidFill>
                  <a:srgbClr val="001D35"/>
                </a:solidFill>
                <a:latin typeface="Google Sans"/>
              </a:rPr>
              <a:t>A Campus Area Network (CAN) interconnects multiple Local Area Networks (LANs) within a specific campus or enterprise. CANs facilitate efficient data exchange among different departments, promoting seamless communication and resource sharing within the campus environment. </a:t>
            </a:r>
          </a:p>
        </p:txBody>
      </p:sp>
      <p:pic>
        <p:nvPicPr>
          <p:cNvPr id="18436" name="Picture 4" descr="What is a Campus Area Network (CAN ...">
            <a:extLst>
              <a:ext uri="{FF2B5EF4-FFF2-40B4-BE49-F238E27FC236}">
                <a16:creationId xmlns="" xmlns:a16="http://schemas.microsoft.com/office/drawing/2014/main" id="{64B99D55-D0A0-3907-95AE-A729CCBF60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1357" y="2775255"/>
            <a:ext cx="3575691" cy="2531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1745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AABB383-E6E8-DA89-1250-E5EF2435D43D}"/>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E62BE0D-F95E-9645-C26B-BBF8B5615957}"/>
              </a:ext>
            </a:extLst>
          </p:cNvPr>
          <p:cNvSpPr>
            <a:spLocks noGrp="1"/>
          </p:cNvSpPr>
          <p:nvPr>
            <p:ph type="title"/>
          </p:nvPr>
        </p:nvSpPr>
        <p:spPr>
          <a:xfrm>
            <a:off x="581192" y="702156"/>
            <a:ext cx="11029616" cy="1316157"/>
          </a:xfrm>
        </p:spPr>
        <p:txBody>
          <a:bodyPr>
            <a:normAutofit/>
          </a:bodyPr>
          <a:lstStyle/>
          <a:p>
            <a:r>
              <a:rPr lang="en-US" dirty="0"/>
              <a:t>TYPES OF NETWORK– Personal Area Network (PAN)</a:t>
            </a:r>
            <a:br>
              <a:rPr lang="en-US" dirty="0"/>
            </a:br>
            <a:endParaRPr lang="x-none" dirty="0"/>
          </a:p>
        </p:txBody>
      </p:sp>
      <p:sp>
        <p:nvSpPr>
          <p:cNvPr id="3" name="Content Placeholder 2">
            <a:extLst>
              <a:ext uri="{FF2B5EF4-FFF2-40B4-BE49-F238E27FC236}">
                <a16:creationId xmlns="" xmlns:a16="http://schemas.microsoft.com/office/drawing/2014/main" id="{4DE83B6C-34D9-5722-AE67-C1361C511DB2}"/>
              </a:ext>
            </a:extLst>
          </p:cNvPr>
          <p:cNvSpPr>
            <a:spLocks noGrp="1"/>
          </p:cNvSpPr>
          <p:nvPr>
            <p:ph idx="1"/>
          </p:nvPr>
        </p:nvSpPr>
        <p:spPr>
          <a:xfrm>
            <a:off x="543291" y="2068811"/>
            <a:ext cx="6411836" cy="3237551"/>
          </a:xfrm>
        </p:spPr>
        <p:txBody>
          <a:bodyPr>
            <a:noAutofit/>
          </a:bodyPr>
          <a:lstStyle/>
          <a:p>
            <a:endParaRPr lang="en-US" sz="1400" b="0" i="0" dirty="0">
              <a:solidFill>
                <a:srgbClr val="001D35"/>
              </a:solidFill>
              <a:effectLst/>
              <a:latin typeface="Google Sans"/>
            </a:endParaRPr>
          </a:p>
          <a:p>
            <a:pPr marL="0" indent="0">
              <a:buNone/>
            </a:pPr>
            <a:r>
              <a:rPr lang="en-US" sz="1400" b="1" dirty="0">
                <a:solidFill>
                  <a:srgbClr val="001D35"/>
                </a:solidFill>
                <a:latin typeface="Google Sans"/>
              </a:rPr>
              <a:t>PAN</a:t>
            </a:r>
          </a:p>
          <a:p>
            <a:pPr>
              <a:spcAft>
                <a:spcPts val="2100"/>
              </a:spcAft>
            </a:pPr>
            <a:r>
              <a:rPr lang="en-US" dirty="0">
                <a:solidFill>
                  <a:srgbClr val="001D35"/>
                </a:solidFill>
                <a:latin typeface="Google Sans"/>
              </a:rPr>
              <a:t>A Personal Area Network links devices within an individual's workspace, typically covering a range of a few meters. PANs often use wireless technologies like Bluetooth or USB connections, enabling seamless communication between personal devices such as smartphones, laptops, and wearable gadgets.</a:t>
            </a:r>
          </a:p>
        </p:txBody>
      </p:sp>
      <p:pic>
        <p:nvPicPr>
          <p:cNvPr id="19460" name="Picture 4" descr="What is a Personal Area Network (PAN ...">
            <a:extLst>
              <a:ext uri="{FF2B5EF4-FFF2-40B4-BE49-F238E27FC236}">
                <a16:creationId xmlns="" xmlns:a16="http://schemas.microsoft.com/office/drawing/2014/main" id="{F36B3E42-C3F2-94BA-729B-037EA33233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8988" y="2898907"/>
            <a:ext cx="3568619" cy="2042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88135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CEBC26A-0F75-E15F-B552-8A64D41F9999}"/>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14B3BF7E-0BC4-A742-5624-F821C39C7C98}"/>
              </a:ext>
            </a:extLst>
          </p:cNvPr>
          <p:cNvSpPr>
            <a:spLocks noGrp="1"/>
          </p:cNvSpPr>
          <p:nvPr>
            <p:ph type="title"/>
          </p:nvPr>
        </p:nvSpPr>
        <p:spPr>
          <a:xfrm>
            <a:off x="581192" y="702156"/>
            <a:ext cx="11029616" cy="1316157"/>
          </a:xfrm>
        </p:spPr>
        <p:txBody>
          <a:bodyPr>
            <a:normAutofit/>
          </a:bodyPr>
          <a:lstStyle/>
          <a:p>
            <a:r>
              <a:rPr lang="en-US" dirty="0"/>
              <a:t>TYPES OF NETWORK– Virtual Private Network (VPN)</a:t>
            </a:r>
            <a:br>
              <a:rPr lang="en-US" dirty="0"/>
            </a:br>
            <a:endParaRPr lang="x-none" dirty="0"/>
          </a:p>
        </p:txBody>
      </p:sp>
      <p:sp>
        <p:nvSpPr>
          <p:cNvPr id="3" name="Content Placeholder 2">
            <a:extLst>
              <a:ext uri="{FF2B5EF4-FFF2-40B4-BE49-F238E27FC236}">
                <a16:creationId xmlns="" xmlns:a16="http://schemas.microsoft.com/office/drawing/2014/main" id="{C6CF3552-989C-8486-831A-C33B2E1F7EC7}"/>
              </a:ext>
            </a:extLst>
          </p:cNvPr>
          <p:cNvSpPr>
            <a:spLocks noGrp="1"/>
          </p:cNvSpPr>
          <p:nvPr>
            <p:ph idx="1"/>
          </p:nvPr>
        </p:nvSpPr>
        <p:spPr>
          <a:xfrm>
            <a:off x="543291" y="2068811"/>
            <a:ext cx="6411836" cy="3237551"/>
          </a:xfrm>
        </p:spPr>
        <p:txBody>
          <a:bodyPr>
            <a:noAutofit/>
          </a:bodyPr>
          <a:lstStyle/>
          <a:p>
            <a:endParaRPr lang="en-US" sz="1400" b="0" i="0" dirty="0">
              <a:solidFill>
                <a:srgbClr val="001D35"/>
              </a:solidFill>
              <a:effectLst/>
              <a:latin typeface="Google Sans"/>
            </a:endParaRPr>
          </a:p>
          <a:p>
            <a:pPr marL="0" indent="0">
              <a:buNone/>
            </a:pPr>
            <a:r>
              <a:rPr lang="en-US" sz="1400" b="1" dirty="0">
                <a:solidFill>
                  <a:srgbClr val="001D35"/>
                </a:solidFill>
                <a:latin typeface="Google Sans"/>
              </a:rPr>
              <a:t>VPN</a:t>
            </a:r>
          </a:p>
          <a:p>
            <a:pPr>
              <a:spcAft>
                <a:spcPts val="2100"/>
              </a:spcAft>
            </a:pPr>
            <a:r>
              <a:rPr lang="en-US" dirty="0">
                <a:solidFill>
                  <a:srgbClr val="001D35"/>
                </a:solidFill>
                <a:latin typeface="Google Sans"/>
              </a:rPr>
              <a:t>A VPN creates a secure, encrypted network over the internet, enabling secure remote access to a private network. VPNs are essential for remote work, allowing users to connect to their organization’s network securely from any location with internet access. However, it’s important to also consider the disadvantages of VPN when evaluating its use.</a:t>
            </a:r>
          </a:p>
        </p:txBody>
      </p:sp>
      <p:pic>
        <p:nvPicPr>
          <p:cNvPr id="20482" name="Picture 2" descr="What is a VPN (Virtual Private Network ...">
            <a:extLst>
              <a:ext uri="{FF2B5EF4-FFF2-40B4-BE49-F238E27FC236}">
                <a16:creationId xmlns="" xmlns:a16="http://schemas.microsoft.com/office/drawing/2014/main" id="{C71A5028-BBC8-C080-321D-B754E2C731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4763" y="2912822"/>
            <a:ext cx="3642913" cy="2393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90916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7C223F7-1FBA-5C5D-A5C0-E49432FECAB2}"/>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04BF5CB8-AE19-2487-C975-5C0B3EB71DD7}"/>
              </a:ext>
            </a:extLst>
          </p:cNvPr>
          <p:cNvSpPr>
            <a:spLocks noGrp="1"/>
          </p:cNvSpPr>
          <p:nvPr>
            <p:ph type="title"/>
          </p:nvPr>
        </p:nvSpPr>
        <p:spPr>
          <a:xfrm>
            <a:off x="581192" y="702156"/>
            <a:ext cx="11029616" cy="1316157"/>
          </a:xfrm>
        </p:spPr>
        <p:txBody>
          <a:bodyPr>
            <a:normAutofit/>
          </a:bodyPr>
          <a:lstStyle/>
          <a:p>
            <a:r>
              <a:rPr lang="en-US" dirty="0"/>
              <a:t>TYPES OF NETWORK– Storage Area Network (SAN)</a:t>
            </a:r>
            <a:br>
              <a:rPr lang="en-US" dirty="0"/>
            </a:br>
            <a:endParaRPr lang="x-none" dirty="0"/>
          </a:p>
        </p:txBody>
      </p:sp>
      <p:sp>
        <p:nvSpPr>
          <p:cNvPr id="3" name="Content Placeholder 2">
            <a:extLst>
              <a:ext uri="{FF2B5EF4-FFF2-40B4-BE49-F238E27FC236}">
                <a16:creationId xmlns="" xmlns:a16="http://schemas.microsoft.com/office/drawing/2014/main" id="{9A5D432E-7756-37B6-6907-95DC0EC5C349}"/>
              </a:ext>
            </a:extLst>
          </p:cNvPr>
          <p:cNvSpPr>
            <a:spLocks noGrp="1"/>
          </p:cNvSpPr>
          <p:nvPr>
            <p:ph idx="1"/>
          </p:nvPr>
        </p:nvSpPr>
        <p:spPr>
          <a:xfrm>
            <a:off x="543291" y="2068811"/>
            <a:ext cx="6411836" cy="3237551"/>
          </a:xfrm>
        </p:spPr>
        <p:txBody>
          <a:bodyPr>
            <a:noAutofit/>
          </a:bodyPr>
          <a:lstStyle/>
          <a:p>
            <a:endParaRPr lang="en-US" sz="1400" b="0" i="0" dirty="0">
              <a:solidFill>
                <a:srgbClr val="001D35"/>
              </a:solidFill>
              <a:effectLst/>
              <a:latin typeface="Google Sans"/>
            </a:endParaRPr>
          </a:p>
          <a:p>
            <a:pPr marL="0" indent="0">
              <a:buNone/>
            </a:pPr>
            <a:r>
              <a:rPr lang="en-US" sz="1400" b="1" dirty="0">
                <a:solidFill>
                  <a:srgbClr val="001D35"/>
                </a:solidFill>
                <a:latin typeface="Google Sans"/>
              </a:rPr>
              <a:t>SAN</a:t>
            </a:r>
          </a:p>
          <a:p>
            <a:pPr>
              <a:spcAft>
                <a:spcPts val="2100"/>
              </a:spcAft>
            </a:pPr>
            <a:r>
              <a:rPr lang="en-US" dirty="0">
                <a:solidFill>
                  <a:srgbClr val="001D35"/>
                </a:solidFill>
                <a:latin typeface="Google Sans"/>
              </a:rPr>
              <a:t>A Storage Area Network (SAN) is dedicated to efficient data storage and retrieval. It separates storage resources from the main network, providing a centralized and scalable solution for managing and accessing large volumes of data. SANs are crucial for enterprises with extensive storage needs, enhancing data management and accessibility.</a:t>
            </a:r>
          </a:p>
        </p:txBody>
      </p:sp>
      <p:pic>
        <p:nvPicPr>
          <p:cNvPr id="21506" name="Picture 2" descr="NAS vs SAN Storage Detailed Comparison ...">
            <a:extLst>
              <a:ext uri="{FF2B5EF4-FFF2-40B4-BE49-F238E27FC236}">
                <a16:creationId xmlns="" xmlns:a16="http://schemas.microsoft.com/office/drawing/2014/main" id="{1CD2CD9D-F5E9-98D4-21E0-244DCEE0A4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9978" y="2517932"/>
            <a:ext cx="2446567" cy="3000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37436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7597DC5-DD46-5AD5-1D4E-5B363354837B}"/>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FC2453A2-7B41-596F-E175-286304130CEA}"/>
              </a:ext>
            </a:extLst>
          </p:cNvPr>
          <p:cNvSpPr>
            <a:spLocks noGrp="1"/>
          </p:cNvSpPr>
          <p:nvPr>
            <p:ph type="title"/>
          </p:nvPr>
        </p:nvSpPr>
        <p:spPr/>
        <p:txBody>
          <a:bodyPr/>
          <a:lstStyle/>
          <a:p>
            <a:r>
              <a:rPr lang="en-US" dirty="0"/>
              <a:t>Network Models –OSI and TCP/IP</a:t>
            </a:r>
            <a:br>
              <a:rPr lang="en-US" dirty="0"/>
            </a:br>
            <a:endParaRPr lang="en-US" dirty="0"/>
          </a:p>
        </p:txBody>
      </p:sp>
      <p:sp>
        <p:nvSpPr>
          <p:cNvPr id="3" name="Text Placeholder 2">
            <a:extLst>
              <a:ext uri="{FF2B5EF4-FFF2-40B4-BE49-F238E27FC236}">
                <a16:creationId xmlns="" xmlns:a16="http://schemas.microsoft.com/office/drawing/2014/main" id="{292C03EF-75AC-220C-3AAA-DE6150C7455A}"/>
              </a:ext>
            </a:extLst>
          </p:cNvPr>
          <p:cNvSpPr>
            <a:spLocks noGrp="1"/>
          </p:cNvSpPr>
          <p:nvPr>
            <p:ph type="body" idx="1"/>
          </p:nvPr>
        </p:nvSpPr>
        <p:spPr>
          <a:xfrm>
            <a:off x="653763" y="4541417"/>
            <a:ext cx="11029615" cy="600556"/>
          </a:xfrm>
        </p:spPr>
        <p:txBody>
          <a:bodyPr/>
          <a:lstStyle/>
          <a:p>
            <a:r>
              <a:rPr lang="en-US" dirty="0"/>
              <a:t>Day 1</a:t>
            </a:r>
            <a:endParaRPr lang="x-none" dirty="0"/>
          </a:p>
        </p:txBody>
      </p:sp>
    </p:spTree>
    <p:extLst>
      <p:ext uri="{BB962C8B-B14F-4D97-AF65-F5344CB8AC3E}">
        <p14:creationId xmlns:p14="http://schemas.microsoft.com/office/powerpoint/2010/main" val="37890138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92CDC91-7B49-1EAA-47E1-5E1ADBB64A67}"/>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2107D40-05AD-5816-1BCF-6AC2D31D90CC}"/>
              </a:ext>
            </a:extLst>
          </p:cNvPr>
          <p:cNvSpPr>
            <a:spLocks noGrp="1"/>
          </p:cNvSpPr>
          <p:nvPr>
            <p:ph type="title"/>
          </p:nvPr>
        </p:nvSpPr>
        <p:spPr>
          <a:xfrm>
            <a:off x="581192" y="702156"/>
            <a:ext cx="11029616" cy="1316157"/>
          </a:xfrm>
        </p:spPr>
        <p:txBody>
          <a:bodyPr>
            <a:normAutofit fontScale="90000"/>
          </a:bodyPr>
          <a:lstStyle/>
          <a:p>
            <a:r>
              <a:rPr lang="en-US" dirty="0"/>
              <a:t>NETWORK LAYER models – OSI Model (Open Systems Interconnection)</a:t>
            </a:r>
            <a:br>
              <a:rPr lang="en-US" dirty="0"/>
            </a:br>
            <a:endParaRPr lang="x-none" dirty="0"/>
          </a:p>
        </p:txBody>
      </p:sp>
      <p:sp>
        <p:nvSpPr>
          <p:cNvPr id="3" name="Content Placeholder 2">
            <a:extLst>
              <a:ext uri="{FF2B5EF4-FFF2-40B4-BE49-F238E27FC236}">
                <a16:creationId xmlns="" xmlns:a16="http://schemas.microsoft.com/office/drawing/2014/main" id="{8DEB6748-9C34-9A3F-FE58-941A09501572}"/>
              </a:ext>
            </a:extLst>
          </p:cNvPr>
          <p:cNvSpPr>
            <a:spLocks noGrp="1"/>
          </p:cNvSpPr>
          <p:nvPr>
            <p:ph idx="1"/>
          </p:nvPr>
        </p:nvSpPr>
        <p:spPr>
          <a:xfrm>
            <a:off x="543291" y="2068811"/>
            <a:ext cx="5289777" cy="3237551"/>
          </a:xfrm>
        </p:spPr>
        <p:txBody>
          <a:bodyPr>
            <a:noAutofit/>
          </a:bodyPr>
          <a:lstStyle/>
          <a:p>
            <a:endParaRPr lang="en-US" sz="1400" b="0" i="0" dirty="0">
              <a:solidFill>
                <a:srgbClr val="001D35"/>
              </a:solidFill>
              <a:effectLst/>
              <a:latin typeface="Google Sans"/>
            </a:endParaRPr>
          </a:p>
          <a:p>
            <a:pPr marL="0" indent="0">
              <a:buNone/>
            </a:pPr>
            <a:r>
              <a:rPr lang="en-US" sz="1400" b="1" dirty="0">
                <a:solidFill>
                  <a:srgbClr val="001D35"/>
                </a:solidFill>
                <a:latin typeface="Google Sans"/>
              </a:rPr>
              <a:t>OSI MODEL</a:t>
            </a:r>
          </a:p>
          <a:p>
            <a:pPr>
              <a:spcAft>
                <a:spcPts val="2100"/>
              </a:spcAft>
            </a:pPr>
            <a:r>
              <a:rPr lang="en-US" dirty="0">
                <a:solidFill>
                  <a:srgbClr val="001D35"/>
                </a:solidFill>
                <a:latin typeface="Google Sans"/>
              </a:rPr>
              <a:t>The Open Systems Interconnection (OSI) model describes seven layers that computer systems use to communicate over a network. The OSI model is divided into seven distinct layers, each with specific responsibilities, ranging from physical hardware connections to high-level application interactions.</a:t>
            </a:r>
          </a:p>
        </p:txBody>
      </p:sp>
      <p:pic>
        <p:nvPicPr>
          <p:cNvPr id="22536" name="Picture 8">
            <a:extLst>
              <a:ext uri="{FF2B5EF4-FFF2-40B4-BE49-F238E27FC236}">
                <a16:creationId xmlns="" xmlns:a16="http://schemas.microsoft.com/office/drawing/2014/main" id="{0E300DEC-5291-AF16-3607-4B42777EA5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399" y="2121459"/>
            <a:ext cx="5334000"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1745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9BBBDDE-3271-0DCC-0A9D-349FB1691DC6}"/>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38949372-5B63-F4CB-027E-1D394A53D40E}"/>
              </a:ext>
            </a:extLst>
          </p:cNvPr>
          <p:cNvSpPr>
            <a:spLocks noGrp="1"/>
          </p:cNvSpPr>
          <p:nvPr>
            <p:ph type="title"/>
          </p:nvPr>
        </p:nvSpPr>
        <p:spPr>
          <a:xfrm>
            <a:off x="581192" y="702156"/>
            <a:ext cx="11029616" cy="1316157"/>
          </a:xfrm>
        </p:spPr>
        <p:txBody>
          <a:bodyPr>
            <a:normAutofit fontScale="90000"/>
          </a:bodyPr>
          <a:lstStyle/>
          <a:p>
            <a:r>
              <a:rPr lang="en-US" dirty="0"/>
              <a:t>NETWORK LAYER models – OSI Model (Open Systems Interconnection)</a:t>
            </a:r>
            <a:br>
              <a:rPr lang="en-US" dirty="0"/>
            </a:br>
            <a:endParaRPr lang="x-none" dirty="0"/>
          </a:p>
        </p:txBody>
      </p:sp>
      <p:sp>
        <p:nvSpPr>
          <p:cNvPr id="3" name="Content Placeholder 2">
            <a:extLst>
              <a:ext uri="{FF2B5EF4-FFF2-40B4-BE49-F238E27FC236}">
                <a16:creationId xmlns="" xmlns:a16="http://schemas.microsoft.com/office/drawing/2014/main" id="{73C140F5-2C60-4EFC-5AD0-299E402E0F9B}"/>
              </a:ext>
            </a:extLst>
          </p:cNvPr>
          <p:cNvSpPr>
            <a:spLocks noGrp="1"/>
          </p:cNvSpPr>
          <p:nvPr>
            <p:ph idx="1"/>
          </p:nvPr>
        </p:nvSpPr>
        <p:spPr>
          <a:xfrm>
            <a:off x="581192" y="2372031"/>
            <a:ext cx="6411836" cy="3237551"/>
          </a:xfrm>
        </p:spPr>
        <p:txBody>
          <a:bodyPr>
            <a:noAutofit/>
          </a:bodyPr>
          <a:lstStyle/>
          <a:p>
            <a:endParaRPr lang="en-US" sz="1400" b="0" i="0" dirty="0">
              <a:solidFill>
                <a:srgbClr val="001D35"/>
              </a:solidFill>
              <a:effectLst/>
              <a:latin typeface="Google Sans"/>
            </a:endParaRPr>
          </a:p>
          <a:p>
            <a:pPr marL="0" indent="0">
              <a:buNone/>
            </a:pPr>
            <a:r>
              <a:rPr lang="en-US" sz="1400" b="1" dirty="0">
                <a:solidFill>
                  <a:srgbClr val="001D35"/>
                </a:solidFill>
                <a:latin typeface="Google Sans"/>
              </a:rPr>
              <a:t>OSI MODEL</a:t>
            </a:r>
          </a:p>
          <a:p>
            <a:pPr>
              <a:spcAft>
                <a:spcPts val="2100"/>
              </a:spcAft>
            </a:pPr>
            <a:r>
              <a:rPr lang="en-US" dirty="0">
                <a:solidFill>
                  <a:srgbClr val="001D35"/>
                </a:solidFill>
                <a:latin typeface="Google Sans"/>
              </a:rPr>
              <a:t>Each layer of the OSI model interacts with the layer directly above and below it, encapsulating and transmitting data in a structured manner. This approach helps network professionals troubleshoot issues, as problems can be isolated to a specific layer. The OSI model serves as a universal language for networking, providing a common ground for different systems to communicate effectively.</a:t>
            </a:r>
          </a:p>
        </p:txBody>
      </p:sp>
      <p:pic>
        <p:nvPicPr>
          <p:cNvPr id="23558" name="Picture 6" descr="What is OSI Model | Comprehensive Guide to OSI Model">
            <a:extLst>
              <a:ext uri="{FF2B5EF4-FFF2-40B4-BE49-F238E27FC236}">
                <a16:creationId xmlns="" xmlns:a16="http://schemas.microsoft.com/office/drawing/2014/main" id="{ACF90586-D0E2-1505-EB17-0E9F282446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9543" y="3153492"/>
            <a:ext cx="4337934" cy="2010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24858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C3BAF36-5FD3-6159-C7A7-D6C7752A13DF}"/>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C97DBA38-14E9-474A-B896-13090CDE0364}"/>
              </a:ext>
            </a:extLst>
          </p:cNvPr>
          <p:cNvSpPr>
            <a:spLocks noGrp="1"/>
          </p:cNvSpPr>
          <p:nvPr>
            <p:ph type="title"/>
          </p:nvPr>
        </p:nvSpPr>
        <p:spPr>
          <a:xfrm>
            <a:off x="581192" y="702156"/>
            <a:ext cx="11029616" cy="1316157"/>
          </a:xfrm>
        </p:spPr>
        <p:txBody>
          <a:bodyPr>
            <a:normAutofit fontScale="90000"/>
          </a:bodyPr>
          <a:lstStyle/>
          <a:p>
            <a:r>
              <a:rPr lang="en-US" dirty="0"/>
              <a:t>NETWORK LAYER models – OSI Model (Open Systems Interconnection)</a:t>
            </a:r>
            <a:br>
              <a:rPr lang="en-US" dirty="0"/>
            </a:br>
            <a:endParaRPr lang="x-none" dirty="0"/>
          </a:p>
        </p:txBody>
      </p:sp>
      <p:sp>
        <p:nvSpPr>
          <p:cNvPr id="3" name="Content Placeholder 2">
            <a:extLst>
              <a:ext uri="{FF2B5EF4-FFF2-40B4-BE49-F238E27FC236}">
                <a16:creationId xmlns="" xmlns:a16="http://schemas.microsoft.com/office/drawing/2014/main" id="{C82F07D7-3981-E823-4C98-3442CDC56848}"/>
              </a:ext>
            </a:extLst>
          </p:cNvPr>
          <p:cNvSpPr>
            <a:spLocks noGrp="1"/>
          </p:cNvSpPr>
          <p:nvPr>
            <p:ph idx="1"/>
          </p:nvPr>
        </p:nvSpPr>
        <p:spPr>
          <a:xfrm>
            <a:off x="581192" y="2372031"/>
            <a:ext cx="6411836" cy="3237551"/>
          </a:xfrm>
        </p:spPr>
        <p:txBody>
          <a:bodyPr>
            <a:noAutofit/>
          </a:bodyPr>
          <a:lstStyle/>
          <a:p>
            <a:pPr algn="just"/>
            <a:endParaRPr lang="en-US" sz="1400" b="0" i="0" dirty="0">
              <a:solidFill>
                <a:srgbClr val="001D35"/>
              </a:solidFill>
              <a:effectLst/>
              <a:latin typeface="Google Sans"/>
            </a:endParaRPr>
          </a:p>
          <a:p>
            <a:pPr marL="0" indent="0" algn="just">
              <a:buNone/>
            </a:pPr>
            <a:r>
              <a:rPr lang="en-US" sz="1400" b="1" dirty="0">
                <a:solidFill>
                  <a:srgbClr val="001D35"/>
                </a:solidFill>
                <a:latin typeface="Google Sans"/>
              </a:rPr>
              <a:t>OSI MODEL</a:t>
            </a:r>
          </a:p>
          <a:p>
            <a:pPr algn="just">
              <a:spcAft>
                <a:spcPts val="2100"/>
              </a:spcAft>
            </a:pPr>
            <a:r>
              <a:rPr lang="en-US" dirty="0">
                <a:solidFill>
                  <a:srgbClr val="001D35"/>
                </a:solidFill>
                <a:latin typeface="Google Sans"/>
              </a:rPr>
              <a:t>The OSI model was the first standard model for network communications, adopted by all major computer and telecommunication companies in the early 1980s. It was introduced in 1983 by representatives of the major computer and telecom companies, and was adopted by ISO as an international standard in 1984.</a:t>
            </a:r>
          </a:p>
          <a:p>
            <a:pPr algn="just">
              <a:spcAft>
                <a:spcPts val="2100"/>
              </a:spcAft>
            </a:pPr>
            <a:r>
              <a:rPr lang="en-US" dirty="0">
                <a:solidFill>
                  <a:srgbClr val="001D35"/>
                </a:solidFill>
                <a:latin typeface="Google Sans"/>
              </a:rPr>
              <a:t>The modern Internet is not based on OSI, but on the simpler TCP/IP model. However, the OSI 7-layer model is still widely used, as it helps visualize and communicate how networks operate..</a:t>
            </a:r>
          </a:p>
        </p:txBody>
      </p:sp>
      <p:pic>
        <p:nvPicPr>
          <p:cNvPr id="23558" name="Picture 6" descr="What is OSI Model | Comprehensive Guide to OSI Model">
            <a:extLst>
              <a:ext uri="{FF2B5EF4-FFF2-40B4-BE49-F238E27FC236}">
                <a16:creationId xmlns="" xmlns:a16="http://schemas.microsoft.com/office/drawing/2014/main" id="{FAA3F3B9-2FF8-781C-9203-C091634496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9543" y="3153492"/>
            <a:ext cx="4337934" cy="2010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31158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032D11C-4492-498C-F3ED-C5084B7CF253}"/>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A1B16B5B-4FE9-CD81-2CF0-6578BD59AA27}"/>
              </a:ext>
            </a:extLst>
          </p:cNvPr>
          <p:cNvSpPr>
            <a:spLocks noGrp="1"/>
          </p:cNvSpPr>
          <p:nvPr>
            <p:ph type="title"/>
          </p:nvPr>
        </p:nvSpPr>
        <p:spPr>
          <a:xfrm>
            <a:off x="581192" y="702156"/>
            <a:ext cx="11029616" cy="689541"/>
          </a:xfrm>
        </p:spPr>
        <p:txBody>
          <a:bodyPr>
            <a:normAutofit/>
          </a:bodyPr>
          <a:lstStyle/>
          <a:p>
            <a:r>
              <a:rPr lang="en-US" dirty="0"/>
              <a:t>OSI Model - top down</a:t>
            </a:r>
            <a:endParaRPr lang="x-none" dirty="0"/>
          </a:p>
        </p:txBody>
      </p:sp>
      <p:sp>
        <p:nvSpPr>
          <p:cNvPr id="3" name="Content Placeholder 2">
            <a:extLst>
              <a:ext uri="{FF2B5EF4-FFF2-40B4-BE49-F238E27FC236}">
                <a16:creationId xmlns="" xmlns:a16="http://schemas.microsoft.com/office/drawing/2014/main" id="{22CDBE51-8EEF-1D9E-84C4-79BBCBFC4C0B}"/>
              </a:ext>
            </a:extLst>
          </p:cNvPr>
          <p:cNvSpPr>
            <a:spLocks noGrp="1"/>
          </p:cNvSpPr>
          <p:nvPr>
            <p:ph idx="1"/>
          </p:nvPr>
        </p:nvSpPr>
        <p:spPr>
          <a:xfrm>
            <a:off x="581192" y="2372031"/>
            <a:ext cx="6411836" cy="3237551"/>
          </a:xfrm>
        </p:spPr>
        <p:txBody>
          <a:bodyPr>
            <a:noAutofit/>
          </a:bodyPr>
          <a:lstStyle/>
          <a:p>
            <a:pPr algn="just"/>
            <a:endParaRPr lang="en-US" sz="1400" b="0" i="0" dirty="0">
              <a:solidFill>
                <a:srgbClr val="001D35"/>
              </a:solidFill>
              <a:effectLst/>
              <a:latin typeface="Google Sans"/>
            </a:endParaRPr>
          </a:p>
          <a:p>
            <a:pPr marL="0" indent="0" algn="just">
              <a:buNone/>
            </a:pPr>
            <a:r>
              <a:rPr lang="en-US" sz="1400" b="1" dirty="0">
                <a:solidFill>
                  <a:srgbClr val="001D35"/>
                </a:solidFill>
                <a:latin typeface="Google Sans"/>
              </a:rPr>
              <a:t>APPLICATION LAYER</a:t>
            </a:r>
          </a:p>
          <a:p>
            <a:pPr marL="0" indent="0" algn="just">
              <a:buNone/>
            </a:pPr>
            <a:endParaRPr lang="en-US" sz="1400" b="1" dirty="0">
              <a:solidFill>
                <a:srgbClr val="001D35"/>
              </a:solidFill>
              <a:latin typeface="Google Sans"/>
            </a:endParaRPr>
          </a:p>
          <a:p>
            <a:pPr algn="just">
              <a:spcAft>
                <a:spcPts val="2100"/>
              </a:spcAft>
            </a:pPr>
            <a:r>
              <a:rPr lang="en-US" b="0" i="0" dirty="0">
                <a:solidFill>
                  <a:srgbClr val="000000"/>
                </a:solidFill>
                <a:effectLst/>
                <a:latin typeface="Inter"/>
              </a:rPr>
              <a:t>The Application Layer serves as the interface between the end-user applications and the underlying network services. This layer provides protocols and services that are directly utilized by end-user applications to communicate across the network. Key functionalities of the Application Layer include resource sharing, remote file access, and network management.</a:t>
            </a:r>
          </a:p>
          <a:p>
            <a:pPr algn="just">
              <a:spcAft>
                <a:spcPts val="2100"/>
              </a:spcAft>
            </a:pPr>
            <a:r>
              <a:rPr lang="en-US" dirty="0">
                <a:solidFill>
                  <a:srgbClr val="000000"/>
                </a:solidFill>
                <a:latin typeface="Inter"/>
              </a:rPr>
              <a:t>Examples of protocols operating at the Application Layer include Hypertext Transfer Protocol (HTTP) for web browsing, File Transfer Protocol (FTP) for file transfers, Simple Mail Transfer Protocol (SMTP) for email services, and Domain Name System (DNS) for resolving domain names to IP addresses. These protocols ensure that user applications can effectively communicate with each other and with servers over a network.</a:t>
            </a:r>
          </a:p>
        </p:txBody>
      </p:sp>
      <p:pic>
        <p:nvPicPr>
          <p:cNvPr id="24578" name="Picture 2" descr="application layer">
            <a:extLst>
              <a:ext uri="{FF2B5EF4-FFF2-40B4-BE49-F238E27FC236}">
                <a16:creationId xmlns="" xmlns:a16="http://schemas.microsoft.com/office/drawing/2014/main" id="{EFDDC4B5-82E2-93D9-7C63-C13EC31289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5103" y="3115245"/>
            <a:ext cx="4697134" cy="2196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63575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E093E58-9972-64EA-9D2D-FEC6121DF98C}"/>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47E647BB-5A6E-AF37-78F3-83E743D74777}"/>
              </a:ext>
            </a:extLst>
          </p:cNvPr>
          <p:cNvSpPr>
            <a:spLocks noGrp="1"/>
          </p:cNvSpPr>
          <p:nvPr>
            <p:ph type="title"/>
          </p:nvPr>
        </p:nvSpPr>
        <p:spPr>
          <a:xfrm>
            <a:off x="581192" y="702156"/>
            <a:ext cx="11029616" cy="689541"/>
          </a:xfrm>
        </p:spPr>
        <p:txBody>
          <a:bodyPr>
            <a:normAutofit/>
          </a:bodyPr>
          <a:lstStyle/>
          <a:p>
            <a:r>
              <a:rPr lang="en-US" dirty="0"/>
              <a:t>OSI Model - top down</a:t>
            </a:r>
            <a:endParaRPr lang="x-none" dirty="0"/>
          </a:p>
        </p:txBody>
      </p:sp>
      <p:sp>
        <p:nvSpPr>
          <p:cNvPr id="3" name="Content Placeholder 2">
            <a:extLst>
              <a:ext uri="{FF2B5EF4-FFF2-40B4-BE49-F238E27FC236}">
                <a16:creationId xmlns="" xmlns:a16="http://schemas.microsoft.com/office/drawing/2014/main" id="{22CCABBD-107A-FF80-DDA5-6AFF4B13E400}"/>
              </a:ext>
            </a:extLst>
          </p:cNvPr>
          <p:cNvSpPr>
            <a:spLocks noGrp="1"/>
          </p:cNvSpPr>
          <p:nvPr>
            <p:ph idx="1"/>
          </p:nvPr>
        </p:nvSpPr>
        <p:spPr>
          <a:xfrm>
            <a:off x="581192" y="2372031"/>
            <a:ext cx="6411836" cy="3237551"/>
          </a:xfrm>
        </p:spPr>
        <p:txBody>
          <a:bodyPr>
            <a:noAutofit/>
          </a:bodyPr>
          <a:lstStyle/>
          <a:p>
            <a:pPr algn="just"/>
            <a:endParaRPr lang="en-US" sz="1400" b="0" i="0" dirty="0">
              <a:solidFill>
                <a:srgbClr val="001D35"/>
              </a:solidFill>
              <a:effectLst/>
              <a:latin typeface="Google Sans"/>
            </a:endParaRPr>
          </a:p>
          <a:p>
            <a:pPr marL="0" indent="0" algn="l">
              <a:spcAft>
                <a:spcPts val="1725"/>
              </a:spcAft>
              <a:buNone/>
            </a:pPr>
            <a:r>
              <a:rPr lang="en-US" sz="1400" b="1" dirty="0">
                <a:solidFill>
                  <a:srgbClr val="001D35"/>
                </a:solidFill>
                <a:latin typeface="Google Sans"/>
              </a:rPr>
              <a:t>PRESENTATION LAYER</a:t>
            </a:r>
          </a:p>
          <a:p>
            <a:pPr marL="0" indent="0" algn="just">
              <a:buNone/>
            </a:pPr>
            <a:endParaRPr lang="en-US" sz="1400" b="1" dirty="0">
              <a:solidFill>
                <a:srgbClr val="001D35"/>
              </a:solidFill>
              <a:latin typeface="Google Sans"/>
            </a:endParaRPr>
          </a:p>
          <a:p>
            <a:pPr algn="just">
              <a:spcAft>
                <a:spcPts val="2100"/>
              </a:spcAft>
            </a:pPr>
            <a:r>
              <a:rPr lang="en-US" dirty="0">
                <a:solidFill>
                  <a:srgbClr val="000000"/>
                </a:solidFill>
                <a:latin typeface="Inter"/>
              </a:rPr>
              <a:t>The Presentation Layer, also known as the syntax layer, is responsible for translating data between the application layer and the network format. It ensures that data sent from the application layer of one system is readable by the application layer of another system. This layer handles data formatting, encryption, and compression, facilitating interoperability between different systems.</a:t>
            </a:r>
          </a:p>
          <a:p>
            <a:pPr algn="just">
              <a:spcAft>
                <a:spcPts val="2100"/>
              </a:spcAft>
            </a:pPr>
            <a:r>
              <a:rPr lang="en-US" dirty="0">
                <a:solidFill>
                  <a:srgbClr val="000000"/>
                </a:solidFill>
                <a:latin typeface="Inter"/>
              </a:rPr>
              <a:t>One of the key roles of the Presentation Layer is data translation and code conversion. It transforms data into a format that the application layer can understand. For example, it may convert data from ASCII to EBCDIC. It also includes encryption protocols to ensure data security during transmission and compression protocols to reduce the amount of data for efficient transmission.</a:t>
            </a:r>
          </a:p>
        </p:txBody>
      </p:sp>
      <p:pic>
        <p:nvPicPr>
          <p:cNvPr id="25602" name="Picture 2" descr="presentation layer">
            <a:extLst>
              <a:ext uri="{FF2B5EF4-FFF2-40B4-BE49-F238E27FC236}">
                <a16:creationId xmlns="" xmlns:a16="http://schemas.microsoft.com/office/drawing/2014/main" id="{A6FC1FFD-5E56-D4A3-1EAB-5EBA9AF3AB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5911" y="2787254"/>
            <a:ext cx="4147865" cy="20309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78932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C46E911-711B-44AB-2B42-A825E547E241}"/>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97814A2B-FE4C-C63E-B845-A1646281A670}"/>
              </a:ext>
            </a:extLst>
          </p:cNvPr>
          <p:cNvSpPr>
            <a:spLocks noGrp="1"/>
          </p:cNvSpPr>
          <p:nvPr>
            <p:ph type="title"/>
          </p:nvPr>
        </p:nvSpPr>
        <p:spPr>
          <a:xfrm>
            <a:off x="581192" y="702156"/>
            <a:ext cx="11029616" cy="689541"/>
          </a:xfrm>
        </p:spPr>
        <p:txBody>
          <a:bodyPr>
            <a:normAutofit/>
          </a:bodyPr>
          <a:lstStyle/>
          <a:p>
            <a:r>
              <a:rPr lang="en-US" dirty="0"/>
              <a:t>OSI Model - top down</a:t>
            </a:r>
            <a:endParaRPr lang="x-none" dirty="0"/>
          </a:p>
        </p:txBody>
      </p:sp>
      <p:sp>
        <p:nvSpPr>
          <p:cNvPr id="3" name="Content Placeholder 2">
            <a:extLst>
              <a:ext uri="{FF2B5EF4-FFF2-40B4-BE49-F238E27FC236}">
                <a16:creationId xmlns="" xmlns:a16="http://schemas.microsoft.com/office/drawing/2014/main" id="{8B16858C-1C3F-613B-1B18-B6E5AAC3F5E5}"/>
              </a:ext>
            </a:extLst>
          </p:cNvPr>
          <p:cNvSpPr>
            <a:spLocks noGrp="1"/>
          </p:cNvSpPr>
          <p:nvPr>
            <p:ph idx="1"/>
          </p:nvPr>
        </p:nvSpPr>
        <p:spPr>
          <a:xfrm>
            <a:off x="581192" y="2372031"/>
            <a:ext cx="6411836" cy="3237551"/>
          </a:xfrm>
        </p:spPr>
        <p:txBody>
          <a:bodyPr>
            <a:noAutofit/>
          </a:bodyPr>
          <a:lstStyle/>
          <a:p>
            <a:pPr algn="just"/>
            <a:endParaRPr lang="en-US" sz="1400" b="0" i="0" dirty="0">
              <a:solidFill>
                <a:srgbClr val="001D35"/>
              </a:solidFill>
              <a:effectLst/>
              <a:latin typeface="Google Sans"/>
            </a:endParaRPr>
          </a:p>
          <a:p>
            <a:pPr marL="0" indent="0" algn="l">
              <a:spcAft>
                <a:spcPts val="1725"/>
              </a:spcAft>
              <a:buNone/>
            </a:pPr>
            <a:r>
              <a:rPr lang="en-US" sz="1400" b="1" dirty="0">
                <a:solidFill>
                  <a:srgbClr val="001D35"/>
                </a:solidFill>
                <a:latin typeface="Google Sans"/>
              </a:rPr>
              <a:t>SESSION LAYER</a:t>
            </a:r>
          </a:p>
          <a:p>
            <a:pPr marL="0" indent="0" algn="just">
              <a:buNone/>
            </a:pPr>
            <a:endParaRPr lang="en-US" sz="1400" b="1" dirty="0">
              <a:solidFill>
                <a:srgbClr val="001D35"/>
              </a:solidFill>
              <a:latin typeface="Google Sans"/>
            </a:endParaRPr>
          </a:p>
          <a:p>
            <a:pPr algn="just">
              <a:spcAft>
                <a:spcPts val="2100"/>
              </a:spcAft>
            </a:pPr>
            <a:r>
              <a:rPr lang="en-US" b="0" i="0" dirty="0">
                <a:solidFill>
                  <a:srgbClr val="000000"/>
                </a:solidFill>
                <a:effectLst/>
                <a:latin typeface="Inter"/>
              </a:rPr>
              <a:t>The Session Layer manages and controls the connections between computers. It establishes, maintains, and terminates connections, ensuring that data exchanges occur efficiently and in an organized manner. The layer is responsible for session checkpointing and recovery, which allows sessions to resume after interruptions.</a:t>
            </a:r>
          </a:p>
          <a:p>
            <a:pPr algn="just">
              <a:spcAft>
                <a:spcPts val="2100"/>
              </a:spcAft>
            </a:pPr>
            <a:r>
              <a:rPr lang="en-US" dirty="0">
                <a:solidFill>
                  <a:srgbClr val="000000"/>
                </a:solidFill>
                <a:latin typeface="Inter"/>
              </a:rPr>
              <a:t>Protocols operating at the Session Layer include Remote Procedure Call (RPC), which enables a program to execute a procedure on a remote host as if it were local, and the session establishment phase in protocols like NetBIOS and SQL. These services enable reliable communication, especially in complex network environments</a:t>
            </a:r>
          </a:p>
        </p:txBody>
      </p:sp>
      <p:pic>
        <p:nvPicPr>
          <p:cNvPr id="26626" name="Picture 2" descr="session layer">
            <a:extLst>
              <a:ext uri="{FF2B5EF4-FFF2-40B4-BE49-F238E27FC236}">
                <a16:creationId xmlns="" xmlns:a16="http://schemas.microsoft.com/office/drawing/2014/main" id="{9D2B26DF-AB21-C1BC-7BFF-7A4ABA85AD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5112" y="2647479"/>
            <a:ext cx="3409950" cy="2276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02245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30129A8-F65F-B43C-5DE5-C58D2B0F3223}"/>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5A75077-4872-BAF5-57EB-8DBC84ABE20F}"/>
              </a:ext>
            </a:extLst>
          </p:cNvPr>
          <p:cNvSpPr>
            <a:spLocks noGrp="1"/>
          </p:cNvSpPr>
          <p:nvPr>
            <p:ph type="title"/>
          </p:nvPr>
        </p:nvSpPr>
        <p:spPr>
          <a:xfrm>
            <a:off x="581192" y="702156"/>
            <a:ext cx="11029616" cy="689541"/>
          </a:xfrm>
        </p:spPr>
        <p:txBody>
          <a:bodyPr>
            <a:normAutofit/>
          </a:bodyPr>
          <a:lstStyle/>
          <a:p>
            <a:r>
              <a:rPr lang="en-US" dirty="0"/>
              <a:t>OSI Model - top down</a:t>
            </a:r>
            <a:endParaRPr lang="x-none" dirty="0"/>
          </a:p>
        </p:txBody>
      </p:sp>
      <p:sp>
        <p:nvSpPr>
          <p:cNvPr id="3" name="Content Placeholder 2">
            <a:extLst>
              <a:ext uri="{FF2B5EF4-FFF2-40B4-BE49-F238E27FC236}">
                <a16:creationId xmlns="" xmlns:a16="http://schemas.microsoft.com/office/drawing/2014/main" id="{4E71BAAF-A305-D2D3-7248-4D9C6CD818C6}"/>
              </a:ext>
            </a:extLst>
          </p:cNvPr>
          <p:cNvSpPr>
            <a:spLocks noGrp="1"/>
          </p:cNvSpPr>
          <p:nvPr>
            <p:ph idx="1"/>
          </p:nvPr>
        </p:nvSpPr>
        <p:spPr>
          <a:xfrm>
            <a:off x="581192" y="2372031"/>
            <a:ext cx="6411836" cy="3237551"/>
          </a:xfrm>
        </p:spPr>
        <p:txBody>
          <a:bodyPr>
            <a:noAutofit/>
          </a:bodyPr>
          <a:lstStyle/>
          <a:p>
            <a:pPr algn="just"/>
            <a:endParaRPr lang="en-US" sz="1400" b="0" i="0" dirty="0">
              <a:solidFill>
                <a:srgbClr val="001D35"/>
              </a:solidFill>
              <a:effectLst/>
              <a:latin typeface="Google Sans"/>
            </a:endParaRPr>
          </a:p>
          <a:p>
            <a:pPr marL="0" indent="0" algn="l">
              <a:spcAft>
                <a:spcPts val="1725"/>
              </a:spcAft>
              <a:buNone/>
            </a:pPr>
            <a:r>
              <a:rPr lang="en-US" sz="1400" b="1" dirty="0">
                <a:solidFill>
                  <a:srgbClr val="001D35"/>
                </a:solidFill>
                <a:latin typeface="Google Sans"/>
              </a:rPr>
              <a:t>TRANSPORT LAYER</a:t>
            </a:r>
          </a:p>
          <a:p>
            <a:pPr marL="0" indent="0" algn="just">
              <a:buNone/>
            </a:pPr>
            <a:endParaRPr lang="en-US" sz="1400" b="1" dirty="0">
              <a:solidFill>
                <a:srgbClr val="001D35"/>
              </a:solidFill>
              <a:latin typeface="Google Sans"/>
            </a:endParaRPr>
          </a:p>
          <a:p>
            <a:pPr algn="just">
              <a:spcAft>
                <a:spcPts val="2100"/>
              </a:spcAft>
            </a:pPr>
            <a:r>
              <a:rPr lang="en-US" b="0" i="0" dirty="0">
                <a:solidFill>
                  <a:srgbClr val="000000"/>
                </a:solidFill>
                <a:effectLst/>
                <a:latin typeface="Inter"/>
              </a:rPr>
              <a:t>The Transport Layer provides end-to-end communication services for applications. It ensures complete data transfer, error recovery, and flow control between hosts. This layer segments and reassembles data for efficient transmission and provides reliability with error detection and correction mechanisms.</a:t>
            </a:r>
          </a:p>
          <a:p>
            <a:pPr algn="just">
              <a:spcAft>
                <a:spcPts val="2100"/>
              </a:spcAft>
            </a:pPr>
            <a:r>
              <a:rPr lang="en-US" dirty="0">
                <a:solidFill>
                  <a:srgbClr val="000000"/>
                </a:solidFill>
                <a:latin typeface="Inter"/>
              </a:rPr>
              <a:t>Protocols at this layer include Transmission Control Protocol (TCP) and User Datagram Protocol (UDP). TCP is connection-oriented and ensures reliable data transfer with error checking and flow control, making it suitable for applications like web browsing and email. UDP is connectionless, offering faster, though less reliable, transmission, suitable for applications like video streaming and online gaming.</a:t>
            </a:r>
          </a:p>
        </p:txBody>
      </p:sp>
      <p:pic>
        <p:nvPicPr>
          <p:cNvPr id="27650" name="Picture 2" descr="transport layer">
            <a:extLst>
              <a:ext uri="{FF2B5EF4-FFF2-40B4-BE49-F238E27FC236}">
                <a16:creationId xmlns="" xmlns:a16="http://schemas.microsoft.com/office/drawing/2014/main" id="{8F97AD13-308B-38FC-FA94-66E600A9FB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5442" y="2747963"/>
            <a:ext cx="4066546" cy="2276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68596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BC4B967-73A7-A770-EA6D-A36BC083B09E}"/>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0C41EBA9-0B06-663E-319E-9852A60AEF22}"/>
              </a:ext>
            </a:extLst>
          </p:cNvPr>
          <p:cNvSpPr>
            <a:spLocks noGrp="1"/>
          </p:cNvSpPr>
          <p:nvPr>
            <p:ph type="title"/>
          </p:nvPr>
        </p:nvSpPr>
        <p:spPr>
          <a:xfrm>
            <a:off x="581192" y="702156"/>
            <a:ext cx="11029616" cy="689541"/>
          </a:xfrm>
        </p:spPr>
        <p:txBody>
          <a:bodyPr>
            <a:normAutofit/>
          </a:bodyPr>
          <a:lstStyle/>
          <a:p>
            <a:r>
              <a:rPr lang="en-US" dirty="0"/>
              <a:t>OSI Model - top down</a:t>
            </a:r>
            <a:endParaRPr lang="x-none" dirty="0"/>
          </a:p>
        </p:txBody>
      </p:sp>
      <p:sp>
        <p:nvSpPr>
          <p:cNvPr id="3" name="Content Placeholder 2">
            <a:extLst>
              <a:ext uri="{FF2B5EF4-FFF2-40B4-BE49-F238E27FC236}">
                <a16:creationId xmlns="" xmlns:a16="http://schemas.microsoft.com/office/drawing/2014/main" id="{47632B8D-073B-81D6-BE90-743852532926}"/>
              </a:ext>
            </a:extLst>
          </p:cNvPr>
          <p:cNvSpPr>
            <a:spLocks noGrp="1"/>
          </p:cNvSpPr>
          <p:nvPr>
            <p:ph idx="1"/>
          </p:nvPr>
        </p:nvSpPr>
        <p:spPr>
          <a:xfrm>
            <a:off x="581192" y="2372031"/>
            <a:ext cx="6411836" cy="3237551"/>
          </a:xfrm>
        </p:spPr>
        <p:txBody>
          <a:bodyPr>
            <a:noAutofit/>
          </a:bodyPr>
          <a:lstStyle/>
          <a:p>
            <a:pPr algn="just"/>
            <a:endParaRPr lang="en-US" sz="1400" b="0" i="0" dirty="0">
              <a:solidFill>
                <a:srgbClr val="001D35"/>
              </a:solidFill>
              <a:effectLst/>
              <a:latin typeface="Google Sans"/>
            </a:endParaRPr>
          </a:p>
          <a:p>
            <a:pPr marL="0" indent="0" algn="l">
              <a:spcAft>
                <a:spcPts val="1725"/>
              </a:spcAft>
              <a:buNone/>
            </a:pPr>
            <a:r>
              <a:rPr lang="en-US" sz="1400" b="1" dirty="0">
                <a:solidFill>
                  <a:srgbClr val="001D35"/>
                </a:solidFill>
                <a:latin typeface="Google Sans"/>
              </a:rPr>
              <a:t>NETWORK LAYER</a:t>
            </a:r>
          </a:p>
          <a:p>
            <a:pPr marL="0" indent="0" algn="just">
              <a:buNone/>
            </a:pPr>
            <a:endParaRPr lang="en-US" sz="1400" b="1" dirty="0">
              <a:solidFill>
                <a:srgbClr val="001D35"/>
              </a:solidFill>
              <a:latin typeface="Google Sans"/>
            </a:endParaRPr>
          </a:p>
          <a:p>
            <a:pPr algn="just">
              <a:spcAft>
                <a:spcPts val="2100"/>
              </a:spcAft>
            </a:pPr>
            <a:r>
              <a:rPr lang="en-US" b="0" i="0" dirty="0">
                <a:solidFill>
                  <a:srgbClr val="000000"/>
                </a:solidFill>
                <a:effectLst/>
                <a:latin typeface="Inter"/>
              </a:rPr>
              <a:t>The Network Layer is responsible for data routing, forwarding, and addressing. It determines the best physical path for data to reach its destination based on network conditions, the priority of service, and other factors. This layer manages logical addressing through IP addresses and handles packet forwarding.</a:t>
            </a:r>
          </a:p>
          <a:p>
            <a:pPr algn="just">
              <a:spcAft>
                <a:spcPts val="2100"/>
              </a:spcAft>
            </a:pPr>
            <a:r>
              <a:rPr lang="en-US" b="0" i="0" dirty="0">
                <a:solidFill>
                  <a:srgbClr val="000000"/>
                </a:solidFill>
                <a:effectLst/>
                <a:latin typeface="Inter"/>
              </a:rPr>
              <a:t>Key protocols at this layer include the Internet Protocol (IP), which is important for routing and addressing, Internet Control Message Protocol (ICMP) for diagnostic and error-reporting purposes, and routing protocols like Routing Information Protocol (RIP) that manage the routing of data across networks.</a:t>
            </a:r>
            <a:endParaRPr lang="en-US" dirty="0">
              <a:solidFill>
                <a:srgbClr val="000000"/>
              </a:solidFill>
              <a:latin typeface="Inter"/>
            </a:endParaRPr>
          </a:p>
        </p:txBody>
      </p:sp>
      <p:pic>
        <p:nvPicPr>
          <p:cNvPr id="28674" name="Picture 2" descr="network layer">
            <a:extLst>
              <a:ext uri="{FF2B5EF4-FFF2-40B4-BE49-F238E27FC236}">
                <a16:creationId xmlns="" xmlns:a16="http://schemas.microsoft.com/office/drawing/2014/main" id="{F4C157F5-7242-C41A-B237-5FFB1E7729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1432" y="3043618"/>
            <a:ext cx="3956015" cy="1894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01510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EA21861-8C71-57CD-BEBF-850A769E9144}"/>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F66E7C9-BDFA-44BB-2733-D096B43D1B49}"/>
              </a:ext>
            </a:extLst>
          </p:cNvPr>
          <p:cNvSpPr>
            <a:spLocks noGrp="1"/>
          </p:cNvSpPr>
          <p:nvPr>
            <p:ph type="title"/>
          </p:nvPr>
        </p:nvSpPr>
        <p:spPr>
          <a:xfrm>
            <a:off x="581192" y="702156"/>
            <a:ext cx="11029616" cy="689541"/>
          </a:xfrm>
        </p:spPr>
        <p:txBody>
          <a:bodyPr>
            <a:normAutofit/>
          </a:bodyPr>
          <a:lstStyle/>
          <a:p>
            <a:r>
              <a:rPr lang="en-US" dirty="0"/>
              <a:t>OSI Model - top down</a:t>
            </a:r>
            <a:endParaRPr lang="x-none" dirty="0"/>
          </a:p>
        </p:txBody>
      </p:sp>
      <p:sp>
        <p:nvSpPr>
          <p:cNvPr id="3" name="Content Placeholder 2">
            <a:extLst>
              <a:ext uri="{FF2B5EF4-FFF2-40B4-BE49-F238E27FC236}">
                <a16:creationId xmlns="" xmlns:a16="http://schemas.microsoft.com/office/drawing/2014/main" id="{9DF7FA63-902E-05F7-731D-B6C5E5B3758E}"/>
              </a:ext>
            </a:extLst>
          </p:cNvPr>
          <p:cNvSpPr>
            <a:spLocks noGrp="1"/>
          </p:cNvSpPr>
          <p:nvPr>
            <p:ph idx="1"/>
          </p:nvPr>
        </p:nvSpPr>
        <p:spPr>
          <a:xfrm>
            <a:off x="581192" y="2372031"/>
            <a:ext cx="6411836" cy="3237551"/>
          </a:xfrm>
        </p:spPr>
        <p:txBody>
          <a:bodyPr>
            <a:noAutofit/>
          </a:bodyPr>
          <a:lstStyle/>
          <a:p>
            <a:pPr algn="just"/>
            <a:endParaRPr lang="en-US" sz="1400" b="0" i="0" dirty="0">
              <a:solidFill>
                <a:srgbClr val="001D35"/>
              </a:solidFill>
              <a:effectLst/>
              <a:latin typeface="Google Sans"/>
            </a:endParaRPr>
          </a:p>
          <a:p>
            <a:pPr marL="0" indent="0" algn="l">
              <a:spcAft>
                <a:spcPts val="1725"/>
              </a:spcAft>
              <a:buNone/>
            </a:pPr>
            <a:r>
              <a:rPr lang="en-US" sz="1400" b="1" dirty="0">
                <a:solidFill>
                  <a:srgbClr val="001D35"/>
                </a:solidFill>
                <a:latin typeface="Google Sans"/>
              </a:rPr>
              <a:t>DATA LINK LAYER</a:t>
            </a:r>
          </a:p>
          <a:p>
            <a:pPr marL="0" indent="0" algn="just">
              <a:buNone/>
            </a:pPr>
            <a:endParaRPr lang="en-US" sz="1400" b="1" dirty="0">
              <a:solidFill>
                <a:srgbClr val="001D35"/>
              </a:solidFill>
              <a:latin typeface="Google Sans"/>
            </a:endParaRPr>
          </a:p>
          <a:p>
            <a:pPr algn="just">
              <a:spcAft>
                <a:spcPts val="2100"/>
              </a:spcAft>
            </a:pPr>
            <a:r>
              <a:rPr lang="en-US" b="0" i="0" dirty="0">
                <a:solidFill>
                  <a:srgbClr val="000000"/>
                </a:solidFill>
                <a:effectLst/>
                <a:latin typeface="Inter"/>
              </a:rPr>
              <a:t>The Data Link Layer is responsible for node-to-node data transfer and error detection and correction. It ensures that data is transmitted to the correct device on a local network segment. This layer manages </a:t>
            </a:r>
            <a:r>
              <a:rPr lang="en-US" dirty="0">
                <a:solidFill>
                  <a:srgbClr val="000000"/>
                </a:solidFill>
                <a:latin typeface="Inter"/>
              </a:rPr>
              <a:t>MAC (Media Access Control) </a:t>
            </a:r>
            <a:r>
              <a:rPr lang="en-US" b="0" i="0" dirty="0">
                <a:solidFill>
                  <a:srgbClr val="000000"/>
                </a:solidFill>
                <a:effectLst/>
                <a:latin typeface="Inter"/>
              </a:rPr>
              <a:t>addresses and is divided into two sublayers: Logical Link Control (LLC) and Media Access Control (MAC).</a:t>
            </a:r>
          </a:p>
          <a:p>
            <a:pPr algn="just">
              <a:spcAft>
                <a:spcPts val="2100"/>
              </a:spcAft>
            </a:pPr>
            <a:r>
              <a:rPr lang="en-US" b="0" i="0" dirty="0">
                <a:solidFill>
                  <a:srgbClr val="000000"/>
                </a:solidFill>
                <a:effectLst/>
                <a:latin typeface="Inter"/>
              </a:rPr>
              <a:t>Protocols and technologies at this layer include Ethernet, which defines the rules for data transmission over local area networks (LANs), and Point-to-Point Protocol (PPP) for direct connections between two network nodes. It also includes mechanisms for detecting and possibly correcting errors that may occur in the Physical Layer.</a:t>
            </a:r>
            <a:endParaRPr lang="en-US" dirty="0">
              <a:solidFill>
                <a:srgbClr val="000000"/>
              </a:solidFill>
              <a:latin typeface="Inter"/>
            </a:endParaRPr>
          </a:p>
        </p:txBody>
      </p:sp>
      <p:pic>
        <p:nvPicPr>
          <p:cNvPr id="29698" name="Picture 2" descr="data link layer">
            <a:extLst>
              <a:ext uri="{FF2B5EF4-FFF2-40B4-BE49-F238E27FC236}">
                <a16:creationId xmlns="" xmlns:a16="http://schemas.microsoft.com/office/drawing/2014/main" id="{F95A73D1-4364-68D4-9A64-EBB8DB5C97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7907" y="2707770"/>
            <a:ext cx="4192151" cy="2276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82849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FD83B05-59F1-F4E8-094A-B83B70784C9A}"/>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6C0C4C3F-88C0-0B5D-C3F6-87D7B8A8A90E}"/>
              </a:ext>
            </a:extLst>
          </p:cNvPr>
          <p:cNvSpPr>
            <a:spLocks noGrp="1"/>
          </p:cNvSpPr>
          <p:nvPr>
            <p:ph type="title"/>
          </p:nvPr>
        </p:nvSpPr>
        <p:spPr>
          <a:xfrm>
            <a:off x="581192" y="702156"/>
            <a:ext cx="11029616" cy="689541"/>
          </a:xfrm>
        </p:spPr>
        <p:txBody>
          <a:bodyPr>
            <a:normAutofit/>
          </a:bodyPr>
          <a:lstStyle/>
          <a:p>
            <a:r>
              <a:rPr lang="en-US" dirty="0"/>
              <a:t>OSI Model - top down</a:t>
            </a:r>
            <a:endParaRPr lang="x-none" dirty="0"/>
          </a:p>
        </p:txBody>
      </p:sp>
      <p:sp>
        <p:nvSpPr>
          <p:cNvPr id="3" name="Content Placeholder 2">
            <a:extLst>
              <a:ext uri="{FF2B5EF4-FFF2-40B4-BE49-F238E27FC236}">
                <a16:creationId xmlns="" xmlns:a16="http://schemas.microsoft.com/office/drawing/2014/main" id="{3D3DE1E4-7503-0AC6-77D5-E16C3BC48D6B}"/>
              </a:ext>
            </a:extLst>
          </p:cNvPr>
          <p:cNvSpPr>
            <a:spLocks noGrp="1"/>
          </p:cNvSpPr>
          <p:nvPr>
            <p:ph idx="1"/>
          </p:nvPr>
        </p:nvSpPr>
        <p:spPr>
          <a:xfrm>
            <a:off x="581192" y="2372031"/>
            <a:ext cx="6411836" cy="3237551"/>
          </a:xfrm>
        </p:spPr>
        <p:txBody>
          <a:bodyPr>
            <a:noAutofit/>
          </a:bodyPr>
          <a:lstStyle/>
          <a:p>
            <a:pPr algn="just"/>
            <a:endParaRPr lang="en-US" sz="1400" b="0" i="0" dirty="0">
              <a:solidFill>
                <a:srgbClr val="001D35"/>
              </a:solidFill>
              <a:effectLst/>
              <a:latin typeface="Google Sans"/>
            </a:endParaRPr>
          </a:p>
          <a:p>
            <a:pPr marL="0" indent="0" algn="l">
              <a:spcAft>
                <a:spcPts val="1725"/>
              </a:spcAft>
              <a:buNone/>
            </a:pPr>
            <a:r>
              <a:rPr lang="en-US" sz="1400" b="1" dirty="0">
                <a:solidFill>
                  <a:srgbClr val="001D35"/>
                </a:solidFill>
                <a:latin typeface="Google Sans"/>
              </a:rPr>
              <a:t>PHYSICAL LAYER</a:t>
            </a:r>
          </a:p>
          <a:p>
            <a:pPr marL="0" indent="0" algn="just">
              <a:buNone/>
            </a:pPr>
            <a:endParaRPr lang="en-US" sz="1400" b="1" dirty="0">
              <a:solidFill>
                <a:srgbClr val="001D35"/>
              </a:solidFill>
              <a:latin typeface="Google Sans"/>
            </a:endParaRPr>
          </a:p>
          <a:p>
            <a:pPr algn="just">
              <a:spcAft>
                <a:spcPts val="2100"/>
              </a:spcAft>
            </a:pPr>
            <a:r>
              <a:rPr lang="en-US" b="0" i="0" dirty="0">
                <a:solidFill>
                  <a:srgbClr val="000000"/>
                </a:solidFill>
                <a:effectLst/>
                <a:latin typeface="Inter"/>
              </a:rPr>
              <a:t>The Physical Layer is responsible for the physical connection between devices. It defines the hardware elements involved in the network, including cables, switches, and other physical components. This layer also specifies the electrical, optical, and radio characteristics of the network.</a:t>
            </a:r>
          </a:p>
          <a:p>
            <a:pPr algn="just">
              <a:spcAft>
                <a:spcPts val="2100"/>
              </a:spcAft>
            </a:pPr>
            <a:r>
              <a:rPr lang="en-US" b="0" i="0" dirty="0">
                <a:solidFill>
                  <a:srgbClr val="000000"/>
                </a:solidFill>
                <a:effectLst/>
                <a:latin typeface="Inter"/>
              </a:rPr>
              <a:t>Functions of the Physical Layer include the modulation, bit synchronization, and transmission of raw binary data over the physical medium. Technologies such as Fiber Optics and Wi-Fi operate at this layer, ensuring that the data physically moves from one device to another in the network.</a:t>
            </a:r>
            <a:endParaRPr lang="en-US" dirty="0">
              <a:solidFill>
                <a:srgbClr val="000000"/>
              </a:solidFill>
              <a:latin typeface="Inter"/>
            </a:endParaRPr>
          </a:p>
        </p:txBody>
      </p:sp>
      <p:pic>
        <p:nvPicPr>
          <p:cNvPr id="30722" name="Picture 2" descr="physical layer">
            <a:extLst>
              <a:ext uri="{FF2B5EF4-FFF2-40B4-BE49-F238E27FC236}">
                <a16:creationId xmlns="" xmlns:a16="http://schemas.microsoft.com/office/drawing/2014/main" id="{02D528E0-91F8-ABD3-5142-603C78B891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4431" y="3076406"/>
            <a:ext cx="3684710"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95276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4893919-5033-CFC6-F04B-F7CA80D17708}"/>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FE8704D5-0776-F593-A5C9-7876543AC05A}"/>
              </a:ext>
            </a:extLst>
          </p:cNvPr>
          <p:cNvSpPr>
            <a:spLocks noGrp="1"/>
          </p:cNvSpPr>
          <p:nvPr>
            <p:ph type="title"/>
          </p:nvPr>
        </p:nvSpPr>
        <p:spPr/>
        <p:txBody>
          <a:bodyPr>
            <a:normAutofit fontScale="90000"/>
          </a:bodyPr>
          <a:lstStyle/>
          <a:p>
            <a:r>
              <a:rPr lang="en-US" dirty="0"/>
              <a:t>How Does Communication Happen in the OSI Model? A Practical Example</a:t>
            </a:r>
            <a:r>
              <a:rPr lang="en-US" b="1" i="0" dirty="0">
                <a:solidFill>
                  <a:srgbClr val="000000"/>
                </a:solidFill>
                <a:effectLst/>
                <a:latin typeface="Inter"/>
              </a:rPr>
              <a:t/>
            </a:r>
            <a:br>
              <a:rPr lang="en-US" b="1" i="0" dirty="0">
                <a:solidFill>
                  <a:srgbClr val="000000"/>
                </a:solidFill>
                <a:effectLst/>
                <a:latin typeface="Inter"/>
              </a:rPr>
            </a:br>
            <a:r>
              <a:rPr lang="en-US" dirty="0"/>
              <a:t/>
            </a:r>
            <a:br>
              <a:rPr lang="en-US" dirty="0"/>
            </a:br>
            <a:endParaRPr lang="en-US" dirty="0"/>
          </a:p>
        </p:txBody>
      </p:sp>
      <p:sp>
        <p:nvSpPr>
          <p:cNvPr id="3" name="Text Placeholder 2">
            <a:extLst>
              <a:ext uri="{FF2B5EF4-FFF2-40B4-BE49-F238E27FC236}">
                <a16:creationId xmlns="" xmlns:a16="http://schemas.microsoft.com/office/drawing/2014/main" id="{C4A93D8F-09E0-D7D5-9646-1ED4AD51E1ED}"/>
              </a:ext>
            </a:extLst>
          </p:cNvPr>
          <p:cNvSpPr>
            <a:spLocks noGrp="1"/>
          </p:cNvSpPr>
          <p:nvPr>
            <p:ph type="body" idx="1"/>
          </p:nvPr>
        </p:nvSpPr>
        <p:spPr>
          <a:xfrm>
            <a:off x="653763" y="4541417"/>
            <a:ext cx="11029615" cy="600556"/>
          </a:xfrm>
        </p:spPr>
        <p:txBody>
          <a:bodyPr/>
          <a:lstStyle/>
          <a:p>
            <a:r>
              <a:rPr lang="en-US" dirty="0"/>
              <a:t>Day 1</a:t>
            </a:r>
            <a:endParaRPr lang="x-none" dirty="0"/>
          </a:p>
        </p:txBody>
      </p:sp>
    </p:spTree>
    <p:extLst>
      <p:ext uri="{BB962C8B-B14F-4D97-AF65-F5344CB8AC3E}">
        <p14:creationId xmlns:p14="http://schemas.microsoft.com/office/powerpoint/2010/main" val="27174296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8536501-E713-46BE-2A1B-6DD5C261EA75}"/>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370EF6BA-E3A3-4193-F08D-1E22F0E850C0}"/>
              </a:ext>
            </a:extLst>
          </p:cNvPr>
          <p:cNvSpPr>
            <a:spLocks noGrp="1"/>
          </p:cNvSpPr>
          <p:nvPr>
            <p:ph type="title"/>
          </p:nvPr>
        </p:nvSpPr>
        <p:spPr>
          <a:xfrm>
            <a:off x="581192" y="702156"/>
            <a:ext cx="11029616" cy="689541"/>
          </a:xfrm>
        </p:spPr>
        <p:txBody>
          <a:bodyPr>
            <a:normAutofit/>
          </a:bodyPr>
          <a:lstStyle/>
          <a:p>
            <a:r>
              <a:rPr lang="en-US" dirty="0"/>
              <a:t>PRACTICAL EXAMPLE</a:t>
            </a:r>
            <a:endParaRPr lang="x-none" dirty="0"/>
          </a:p>
        </p:txBody>
      </p:sp>
      <p:sp>
        <p:nvSpPr>
          <p:cNvPr id="3" name="Content Placeholder 2">
            <a:extLst>
              <a:ext uri="{FF2B5EF4-FFF2-40B4-BE49-F238E27FC236}">
                <a16:creationId xmlns="" xmlns:a16="http://schemas.microsoft.com/office/drawing/2014/main" id="{44357292-1337-82CA-E42C-D934DDD6F029}"/>
              </a:ext>
            </a:extLst>
          </p:cNvPr>
          <p:cNvSpPr>
            <a:spLocks noGrp="1"/>
          </p:cNvSpPr>
          <p:nvPr>
            <p:ph idx="1"/>
          </p:nvPr>
        </p:nvSpPr>
        <p:spPr>
          <a:xfrm>
            <a:off x="676589" y="2675202"/>
            <a:ext cx="6411836" cy="3237551"/>
          </a:xfrm>
        </p:spPr>
        <p:txBody>
          <a:bodyPr>
            <a:noAutofit/>
          </a:bodyPr>
          <a:lstStyle/>
          <a:p>
            <a:pPr algn="just"/>
            <a:endParaRPr lang="en-US" sz="1400" b="0" i="0" dirty="0">
              <a:solidFill>
                <a:srgbClr val="001D35"/>
              </a:solidFill>
              <a:effectLst/>
              <a:latin typeface="Google Sans"/>
            </a:endParaRPr>
          </a:p>
          <a:p>
            <a:pPr marL="0" indent="0" algn="l">
              <a:spcAft>
                <a:spcPts val="1725"/>
              </a:spcAft>
              <a:buNone/>
            </a:pPr>
            <a:r>
              <a:rPr lang="en-US" dirty="0">
                <a:solidFill>
                  <a:srgbClr val="000000"/>
                </a:solidFill>
                <a:latin typeface="Inter"/>
              </a:rPr>
              <a:t>Let’s consider how OSI layers play a role in an everyday activity like sending an email to a person overseas:</a:t>
            </a:r>
          </a:p>
          <a:p>
            <a:pPr algn="just">
              <a:spcAft>
                <a:spcPts val="2100"/>
              </a:spcAft>
            </a:pPr>
            <a:r>
              <a:rPr lang="en-US" dirty="0">
                <a:solidFill>
                  <a:srgbClr val="000000"/>
                </a:solidFill>
                <a:latin typeface="Inter"/>
              </a:rPr>
              <a:t>When a user in Nigeria sends an email to a colleague in South Africa, the process starts at the Application Layer (Layer 7). The user’s email client, such as Outlook, uses SMTP (Simple Mail Transfer Protocol) to handle the email message.</a:t>
            </a:r>
          </a:p>
          <a:p>
            <a:pPr algn="just">
              <a:spcAft>
                <a:spcPts val="2100"/>
              </a:spcAft>
            </a:pPr>
            <a:r>
              <a:rPr lang="en-US" b="0" i="0" dirty="0">
                <a:solidFill>
                  <a:srgbClr val="000000"/>
                </a:solidFill>
                <a:effectLst/>
                <a:latin typeface="Inter"/>
              </a:rPr>
              <a:t>The email is then passed to the Presentation Layer (Layer 6), where it is formatted and encrypted to ensure proper transmission.</a:t>
            </a:r>
          </a:p>
          <a:p>
            <a:pPr algn="just">
              <a:spcAft>
                <a:spcPts val="2100"/>
              </a:spcAft>
            </a:pPr>
            <a:r>
              <a:rPr lang="en-US" b="0" i="0" dirty="0">
                <a:solidFill>
                  <a:srgbClr val="000000"/>
                </a:solidFill>
                <a:effectLst/>
                <a:latin typeface="Inter"/>
              </a:rPr>
              <a:t>Next, the email moves to the Session Layer (Layer 5), where a session is established between the sender’s email server in Nigeria and the receiver’s email server in South Africa. This layer manages the session, keeping the connection open long enough to send the email.</a:t>
            </a:r>
          </a:p>
          <a:p>
            <a:pPr algn="just">
              <a:spcAft>
                <a:spcPts val="2100"/>
              </a:spcAft>
            </a:pPr>
            <a:endParaRPr lang="en-US" dirty="0">
              <a:solidFill>
                <a:srgbClr val="000000"/>
              </a:solidFill>
              <a:latin typeface="Inter"/>
            </a:endParaRPr>
          </a:p>
        </p:txBody>
      </p:sp>
      <p:pic>
        <p:nvPicPr>
          <p:cNvPr id="31746" name="Picture 2" descr="WHAT IS OSI MODEL? - RealPars">
            <a:extLst>
              <a:ext uri="{FF2B5EF4-FFF2-40B4-BE49-F238E27FC236}">
                <a16:creationId xmlns="" xmlns:a16="http://schemas.microsoft.com/office/drawing/2014/main" id="{77740112-5373-6545-5718-8A7AE702A2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4097" y="3287067"/>
            <a:ext cx="3401314" cy="1898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70859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C291668-0475-7CB2-B5CC-1EDAF89A3448}"/>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E8A0A7B7-06E0-AA1E-82E6-DD9C3342B220}"/>
              </a:ext>
            </a:extLst>
          </p:cNvPr>
          <p:cNvSpPr>
            <a:spLocks noGrp="1"/>
          </p:cNvSpPr>
          <p:nvPr>
            <p:ph type="title"/>
          </p:nvPr>
        </p:nvSpPr>
        <p:spPr>
          <a:xfrm>
            <a:off x="581192" y="702156"/>
            <a:ext cx="11029616" cy="689541"/>
          </a:xfrm>
        </p:spPr>
        <p:txBody>
          <a:bodyPr>
            <a:normAutofit/>
          </a:bodyPr>
          <a:lstStyle/>
          <a:p>
            <a:r>
              <a:rPr lang="en-US" dirty="0"/>
              <a:t>PRACTICAL EXAMPLE</a:t>
            </a:r>
            <a:endParaRPr lang="x-none" dirty="0"/>
          </a:p>
        </p:txBody>
      </p:sp>
      <p:sp>
        <p:nvSpPr>
          <p:cNvPr id="3" name="Content Placeholder 2">
            <a:extLst>
              <a:ext uri="{FF2B5EF4-FFF2-40B4-BE49-F238E27FC236}">
                <a16:creationId xmlns="" xmlns:a16="http://schemas.microsoft.com/office/drawing/2014/main" id="{C2638402-F582-547E-12C2-71B5CA24ED2E}"/>
              </a:ext>
            </a:extLst>
          </p:cNvPr>
          <p:cNvSpPr>
            <a:spLocks noGrp="1"/>
          </p:cNvSpPr>
          <p:nvPr>
            <p:ph idx="1"/>
          </p:nvPr>
        </p:nvSpPr>
        <p:spPr>
          <a:xfrm>
            <a:off x="721869" y="2670178"/>
            <a:ext cx="6411836" cy="3237551"/>
          </a:xfrm>
        </p:spPr>
        <p:txBody>
          <a:bodyPr>
            <a:noAutofit/>
          </a:bodyPr>
          <a:lstStyle/>
          <a:p>
            <a:pPr algn="just"/>
            <a:endParaRPr lang="en-US" sz="1400" b="0" i="0" dirty="0">
              <a:solidFill>
                <a:srgbClr val="001D35"/>
              </a:solidFill>
              <a:effectLst/>
              <a:latin typeface="Google Sans"/>
            </a:endParaRPr>
          </a:p>
          <a:p>
            <a:pPr algn="just">
              <a:spcAft>
                <a:spcPts val="2100"/>
              </a:spcAft>
            </a:pPr>
            <a:r>
              <a:rPr lang="en-US" b="0" i="0" dirty="0">
                <a:solidFill>
                  <a:srgbClr val="000000"/>
                </a:solidFill>
                <a:effectLst/>
                <a:latin typeface="Inter"/>
              </a:rPr>
              <a:t>The email data then reaches the Transport Layer (Layer 4), where it is divided into smaller packets. TCP ensures these packets are sent reliably and in the correct order.</a:t>
            </a:r>
          </a:p>
          <a:p>
            <a:pPr algn="just">
              <a:spcAft>
                <a:spcPts val="2100"/>
              </a:spcAft>
            </a:pPr>
            <a:r>
              <a:rPr lang="en-US" dirty="0">
                <a:solidFill>
                  <a:srgbClr val="000000"/>
                </a:solidFill>
                <a:latin typeface="Inter"/>
              </a:rPr>
              <a:t>At the Network Layer (Layer 3), each packet is assigned source and destination IP addresses, allowing it to be routed through multiple networks, including routers and switches, to reach the recipient in South Africa.</a:t>
            </a:r>
          </a:p>
          <a:p>
            <a:pPr algn="l">
              <a:buFont typeface="Arial" panose="020B0604020202020204" pitchFamily="34" charset="0"/>
              <a:buChar char="•"/>
            </a:pPr>
            <a:r>
              <a:rPr lang="en-US" b="0" i="0" dirty="0">
                <a:solidFill>
                  <a:srgbClr val="000000"/>
                </a:solidFill>
                <a:effectLst/>
                <a:latin typeface="Inter"/>
              </a:rPr>
              <a:t>The Data Link Layer (Layer 2) then uses MAC addresses to handle the packets’ journey across local networks and correcting any errors that occur.</a:t>
            </a:r>
          </a:p>
          <a:p>
            <a:pPr algn="just">
              <a:spcAft>
                <a:spcPts val="2100"/>
              </a:spcAft>
            </a:pPr>
            <a:r>
              <a:rPr lang="en-US" b="0" i="0" dirty="0">
                <a:solidFill>
                  <a:srgbClr val="000000"/>
                </a:solidFill>
                <a:effectLst/>
                <a:latin typeface="Inter"/>
              </a:rPr>
              <a:t>Finally, the Physical Layer (Layer 1) converts the data into electrical signals, which are transmitted over fiber-optic cables under the Ocean.</a:t>
            </a:r>
          </a:p>
          <a:p>
            <a:pPr algn="just">
              <a:spcAft>
                <a:spcPts val="2100"/>
              </a:spcAft>
            </a:pPr>
            <a:endParaRPr lang="en-US" dirty="0">
              <a:solidFill>
                <a:srgbClr val="000000"/>
              </a:solidFill>
              <a:latin typeface="Inter"/>
            </a:endParaRPr>
          </a:p>
        </p:txBody>
      </p:sp>
      <p:pic>
        <p:nvPicPr>
          <p:cNvPr id="31746" name="Picture 2" descr="WHAT IS OSI MODEL? - RealPars">
            <a:extLst>
              <a:ext uri="{FF2B5EF4-FFF2-40B4-BE49-F238E27FC236}">
                <a16:creationId xmlns="" xmlns:a16="http://schemas.microsoft.com/office/drawing/2014/main" id="{58B50917-F270-7BAF-F87D-07EE52E36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4097" y="3287067"/>
            <a:ext cx="3401314" cy="1898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74627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104D8BF-0AA3-B4C2-9A38-D5DCB470BA6D}"/>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B77939C3-9223-B320-8F92-444BC17DE944}"/>
              </a:ext>
            </a:extLst>
          </p:cNvPr>
          <p:cNvSpPr>
            <a:spLocks noGrp="1"/>
          </p:cNvSpPr>
          <p:nvPr>
            <p:ph type="title"/>
          </p:nvPr>
        </p:nvSpPr>
        <p:spPr>
          <a:xfrm>
            <a:off x="581192" y="702156"/>
            <a:ext cx="11029616" cy="689541"/>
          </a:xfrm>
        </p:spPr>
        <p:txBody>
          <a:bodyPr>
            <a:normAutofit/>
          </a:bodyPr>
          <a:lstStyle/>
          <a:p>
            <a:r>
              <a:rPr lang="en-US" dirty="0"/>
              <a:t>PRACTICAL EXAMPLE</a:t>
            </a:r>
            <a:endParaRPr lang="x-none" dirty="0"/>
          </a:p>
        </p:txBody>
      </p:sp>
      <p:sp>
        <p:nvSpPr>
          <p:cNvPr id="3" name="Content Placeholder 2">
            <a:extLst>
              <a:ext uri="{FF2B5EF4-FFF2-40B4-BE49-F238E27FC236}">
                <a16:creationId xmlns="" xmlns:a16="http://schemas.microsoft.com/office/drawing/2014/main" id="{FBFCBB86-EAD9-D890-E043-8A2BEC3374ED}"/>
              </a:ext>
            </a:extLst>
          </p:cNvPr>
          <p:cNvSpPr>
            <a:spLocks noGrp="1"/>
          </p:cNvSpPr>
          <p:nvPr>
            <p:ph idx="1"/>
          </p:nvPr>
        </p:nvSpPr>
        <p:spPr>
          <a:xfrm>
            <a:off x="721869" y="2670178"/>
            <a:ext cx="6411836" cy="3237551"/>
          </a:xfrm>
        </p:spPr>
        <p:txBody>
          <a:bodyPr>
            <a:noAutofit/>
          </a:bodyPr>
          <a:lstStyle/>
          <a:p>
            <a:pPr algn="just"/>
            <a:endParaRPr lang="en-US" sz="1400" b="0" i="0" dirty="0">
              <a:solidFill>
                <a:srgbClr val="001D35"/>
              </a:solidFill>
              <a:effectLst/>
              <a:latin typeface="Google Sans"/>
            </a:endParaRPr>
          </a:p>
          <a:p>
            <a:pPr marL="0" indent="0" algn="just">
              <a:spcAft>
                <a:spcPts val="2100"/>
              </a:spcAft>
              <a:buNone/>
            </a:pPr>
            <a:r>
              <a:rPr lang="en-US" b="0" i="0" dirty="0">
                <a:solidFill>
                  <a:srgbClr val="000000"/>
                </a:solidFill>
                <a:effectLst/>
                <a:latin typeface="Inter"/>
              </a:rPr>
              <a:t>Upon reaching the recipient’s server in South Africa, the process is reversed:</a:t>
            </a:r>
          </a:p>
          <a:p>
            <a:pPr algn="just">
              <a:spcAft>
                <a:spcPts val="2100"/>
              </a:spcAft>
            </a:pPr>
            <a:r>
              <a:rPr lang="en-US" dirty="0">
                <a:solidFill>
                  <a:srgbClr val="000000"/>
                </a:solidFill>
                <a:latin typeface="Inter"/>
              </a:rPr>
              <a:t>The Physical Layer converts the signals back into data packets, which are reassembled at the Data Link Layer.</a:t>
            </a:r>
          </a:p>
          <a:p>
            <a:pPr algn="just">
              <a:spcAft>
                <a:spcPts val="2100"/>
              </a:spcAft>
            </a:pPr>
            <a:r>
              <a:rPr lang="en-US" dirty="0">
                <a:solidFill>
                  <a:srgbClr val="000000"/>
                </a:solidFill>
                <a:latin typeface="Inter"/>
              </a:rPr>
              <a:t>The Network Layer ensures the packets have arrived correctly, and the Transport Layer reorders them if necessary</a:t>
            </a:r>
          </a:p>
          <a:p>
            <a:pPr algn="just">
              <a:spcAft>
                <a:spcPts val="2100"/>
              </a:spcAft>
            </a:pPr>
            <a:r>
              <a:rPr lang="en-US" dirty="0">
                <a:solidFill>
                  <a:srgbClr val="000000"/>
                </a:solidFill>
                <a:latin typeface="Inter"/>
              </a:rPr>
              <a:t>The Session Layer maintains the session until the email is fully received.</a:t>
            </a:r>
          </a:p>
          <a:p>
            <a:pPr algn="just">
              <a:spcAft>
                <a:spcPts val="2100"/>
              </a:spcAft>
            </a:pPr>
            <a:r>
              <a:rPr lang="en-US" b="0" i="0" dirty="0">
                <a:solidFill>
                  <a:srgbClr val="000000"/>
                </a:solidFill>
                <a:effectLst/>
                <a:latin typeface="Inter"/>
              </a:rPr>
              <a:t>The Presentation Layer decrypts and formats the email, and the Application Layer delivers the email to the client, where it appears in their inbox.</a:t>
            </a:r>
          </a:p>
          <a:p>
            <a:pPr algn="just">
              <a:spcAft>
                <a:spcPts val="2100"/>
              </a:spcAft>
            </a:pPr>
            <a:endParaRPr lang="en-US" dirty="0">
              <a:solidFill>
                <a:srgbClr val="000000"/>
              </a:solidFill>
              <a:latin typeface="Inter"/>
            </a:endParaRPr>
          </a:p>
        </p:txBody>
      </p:sp>
      <p:pic>
        <p:nvPicPr>
          <p:cNvPr id="31746" name="Picture 2" descr="WHAT IS OSI MODEL? - RealPars">
            <a:extLst>
              <a:ext uri="{FF2B5EF4-FFF2-40B4-BE49-F238E27FC236}">
                <a16:creationId xmlns="" xmlns:a16="http://schemas.microsoft.com/office/drawing/2014/main" id="{6A05492D-8730-E071-8886-50853EA1A8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4097" y="3287067"/>
            <a:ext cx="3401314" cy="1898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24263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2DBFAFC-CE4B-7615-DD64-C7B50676BD40}"/>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0B82D96E-B3E6-F864-FCA2-E581FF898276}"/>
              </a:ext>
            </a:extLst>
          </p:cNvPr>
          <p:cNvSpPr>
            <a:spLocks noGrp="1"/>
          </p:cNvSpPr>
          <p:nvPr>
            <p:ph type="title"/>
          </p:nvPr>
        </p:nvSpPr>
        <p:spPr>
          <a:xfrm>
            <a:off x="581192" y="702156"/>
            <a:ext cx="11029616" cy="689541"/>
          </a:xfrm>
        </p:spPr>
        <p:txBody>
          <a:bodyPr>
            <a:normAutofit/>
          </a:bodyPr>
          <a:lstStyle/>
          <a:p>
            <a:r>
              <a:rPr lang="en-US" dirty="0"/>
              <a:t>ADVANTAGES OF OSI MODEL</a:t>
            </a:r>
            <a:endParaRPr lang="x-none" dirty="0"/>
          </a:p>
        </p:txBody>
      </p:sp>
      <p:sp>
        <p:nvSpPr>
          <p:cNvPr id="3" name="Content Placeholder 2">
            <a:extLst>
              <a:ext uri="{FF2B5EF4-FFF2-40B4-BE49-F238E27FC236}">
                <a16:creationId xmlns="" xmlns:a16="http://schemas.microsoft.com/office/drawing/2014/main" id="{8881D019-F4F3-C9F7-DBF7-CD1E92B3E97B}"/>
              </a:ext>
            </a:extLst>
          </p:cNvPr>
          <p:cNvSpPr>
            <a:spLocks noGrp="1"/>
          </p:cNvSpPr>
          <p:nvPr>
            <p:ph idx="1"/>
          </p:nvPr>
        </p:nvSpPr>
        <p:spPr>
          <a:xfrm>
            <a:off x="721869" y="2670178"/>
            <a:ext cx="6411836" cy="3237551"/>
          </a:xfrm>
        </p:spPr>
        <p:txBody>
          <a:bodyPr>
            <a:noAutofit/>
          </a:bodyPr>
          <a:lstStyle/>
          <a:p>
            <a:pPr algn="just"/>
            <a:endParaRPr lang="en-US" sz="1400" b="0" i="0" dirty="0">
              <a:solidFill>
                <a:srgbClr val="001D35"/>
              </a:solidFill>
              <a:effectLst/>
              <a:latin typeface="Google Sans"/>
            </a:endParaRPr>
          </a:p>
          <a:p>
            <a:pPr algn="l">
              <a:spcAft>
                <a:spcPts val="2250"/>
              </a:spcAft>
              <a:buNone/>
            </a:pPr>
            <a:r>
              <a:rPr lang="en-US" sz="1400" b="0" i="0" dirty="0">
                <a:solidFill>
                  <a:srgbClr val="000000"/>
                </a:solidFill>
                <a:effectLst/>
                <a:latin typeface="Inter"/>
              </a:rPr>
              <a:t>The OSI model helps users and operators of computer networks:</a:t>
            </a:r>
          </a:p>
          <a:p>
            <a:pPr algn="l">
              <a:buFont typeface="Arial" panose="020B0604020202020204" pitchFamily="34" charset="0"/>
              <a:buChar char="•"/>
            </a:pPr>
            <a:r>
              <a:rPr lang="en-US" sz="1400" b="0" i="0" dirty="0">
                <a:solidFill>
                  <a:srgbClr val="000000"/>
                </a:solidFill>
                <a:effectLst/>
                <a:latin typeface="Inter"/>
              </a:rPr>
              <a:t>Determine the required hardware and software to build their network.</a:t>
            </a:r>
          </a:p>
          <a:p>
            <a:pPr algn="l">
              <a:buFont typeface="Arial" panose="020B0604020202020204" pitchFamily="34" charset="0"/>
              <a:buChar char="•"/>
            </a:pPr>
            <a:r>
              <a:rPr lang="en-US" sz="1400" b="0" i="0" dirty="0">
                <a:solidFill>
                  <a:srgbClr val="000000"/>
                </a:solidFill>
                <a:effectLst/>
                <a:latin typeface="Inter"/>
              </a:rPr>
              <a:t>Understand and communicate the process followed by components communicating across a network.</a:t>
            </a:r>
          </a:p>
          <a:p>
            <a:pPr algn="l">
              <a:buFont typeface="Arial" panose="020B0604020202020204" pitchFamily="34" charset="0"/>
              <a:buChar char="•"/>
            </a:pPr>
            <a:r>
              <a:rPr lang="en-US" sz="1400" b="0" i="0" dirty="0">
                <a:solidFill>
                  <a:srgbClr val="000000"/>
                </a:solidFill>
                <a:effectLst/>
                <a:latin typeface="Inter"/>
              </a:rPr>
              <a:t>Perform troubleshooting, by identifying which network layer is causing an issue and focusing efforts on that layer.</a:t>
            </a:r>
          </a:p>
          <a:p>
            <a:pPr algn="l">
              <a:spcAft>
                <a:spcPts val="2250"/>
              </a:spcAft>
              <a:buNone/>
            </a:pPr>
            <a:r>
              <a:rPr lang="en-US" sz="1400" b="0" i="0" dirty="0">
                <a:solidFill>
                  <a:srgbClr val="000000"/>
                </a:solidFill>
                <a:effectLst/>
                <a:latin typeface="Inter"/>
              </a:rPr>
              <a:t>The OSI model helps network device manufacturers and networking software vendors:</a:t>
            </a:r>
          </a:p>
          <a:p>
            <a:pPr algn="l">
              <a:buFont typeface="Arial" panose="020B0604020202020204" pitchFamily="34" charset="0"/>
              <a:buChar char="•"/>
            </a:pPr>
            <a:r>
              <a:rPr lang="en-US" sz="1400" b="0" i="0" dirty="0">
                <a:solidFill>
                  <a:srgbClr val="000000"/>
                </a:solidFill>
                <a:effectLst/>
                <a:latin typeface="Inter"/>
              </a:rPr>
              <a:t>Create devices and software that can communicate with products from any other vendor, allowing open interoperability</a:t>
            </a:r>
          </a:p>
          <a:p>
            <a:pPr algn="l">
              <a:buFont typeface="Arial" panose="020B0604020202020204" pitchFamily="34" charset="0"/>
              <a:buChar char="•"/>
            </a:pPr>
            <a:r>
              <a:rPr lang="en-US" sz="1400" b="0" i="0" dirty="0">
                <a:solidFill>
                  <a:srgbClr val="000000"/>
                </a:solidFill>
                <a:effectLst/>
                <a:latin typeface="Inter"/>
              </a:rPr>
              <a:t>Define which parts of the network their products should work with.</a:t>
            </a:r>
          </a:p>
          <a:p>
            <a:pPr algn="l">
              <a:buFont typeface="Arial" panose="020B0604020202020204" pitchFamily="34" charset="0"/>
              <a:buChar char="•"/>
            </a:pPr>
            <a:r>
              <a:rPr lang="en-US" sz="1400" b="0" i="0" dirty="0">
                <a:solidFill>
                  <a:srgbClr val="000000"/>
                </a:solidFill>
                <a:effectLst/>
                <a:latin typeface="Inter"/>
              </a:rPr>
              <a:t>Communicate to users at which network layers their product operates – for example, only at the application layer, or across the stack.</a:t>
            </a:r>
          </a:p>
          <a:p>
            <a:pPr algn="just">
              <a:spcAft>
                <a:spcPts val="2100"/>
              </a:spcAft>
            </a:pPr>
            <a:endParaRPr lang="en-US" sz="1400" dirty="0">
              <a:solidFill>
                <a:srgbClr val="000000"/>
              </a:solidFill>
              <a:latin typeface="Inter"/>
            </a:endParaRPr>
          </a:p>
        </p:txBody>
      </p:sp>
    </p:spTree>
    <p:extLst>
      <p:ext uri="{BB962C8B-B14F-4D97-AF65-F5344CB8AC3E}">
        <p14:creationId xmlns:p14="http://schemas.microsoft.com/office/powerpoint/2010/main" val="983721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AB4E949-39DF-06FB-E700-EEADCE352106}"/>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59F87C06-059C-662C-2B82-D2827F1E048F}"/>
              </a:ext>
            </a:extLst>
          </p:cNvPr>
          <p:cNvSpPr>
            <a:spLocks noGrp="1"/>
          </p:cNvSpPr>
          <p:nvPr>
            <p:ph type="title"/>
          </p:nvPr>
        </p:nvSpPr>
        <p:spPr>
          <a:xfrm>
            <a:off x="581192" y="702156"/>
            <a:ext cx="11029616" cy="689541"/>
          </a:xfrm>
        </p:spPr>
        <p:txBody>
          <a:bodyPr>
            <a:normAutofit fontScale="90000"/>
          </a:bodyPr>
          <a:lstStyle/>
          <a:p>
            <a:r>
              <a:rPr lang="it-IT" dirty="0"/>
              <a:t>OSI vs. TCP/IP Model</a:t>
            </a:r>
            <a:r>
              <a:rPr lang="it-IT" b="1" i="0" dirty="0">
                <a:solidFill>
                  <a:srgbClr val="000000"/>
                </a:solidFill>
                <a:effectLst/>
                <a:latin typeface="Inter"/>
              </a:rPr>
              <a:t/>
            </a:r>
            <a:br>
              <a:rPr lang="it-IT" b="1" i="0" dirty="0">
                <a:solidFill>
                  <a:srgbClr val="000000"/>
                </a:solidFill>
                <a:effectLst/>
                <a:latin typeface="Inter"/>
              </a:rPr>
            </a:br>
            <a:endParaRPr lang="x-none" dirty="0"/>
          </a:p>
        </p:txBody>
      </p:sp>
      <p:pic>
        <p:nvPicPr>
          <p:cNvPr id="32770" name="Picture 2" descr="OSI vs. TCPIP models">
            <a:extLst>
              <a:ext uri="{FF2B5EF4-FFF2-40B4-BE49-F238E27FC236}">
                <a16:creationId xmlns="" xmlns:a16="http://schemas.microsoft.com/office/drawing/2014/main" id="{743766F9-3DBF-7A31-2625-086CE7506C5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51448" y="1587640"/>
            <a:ext cx="8151203" cy="5269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12966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38C7402-5EBA-7F73-756A-0EADD5E14B28}"/>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A409F70C-EBE1-EB22-900E-C84BE12EB3F6}"/>
              </a:ext>
            </a:extLst>
          </p:cNvPr>
          <p:cNvSpPr>
            <a:spLocks noGrp="1"/>
          </p:cNvSpPr>
          <p:nvPr>
            <p:ph type="title"/>
          </p:nvPr>
        </p:nvSpPr>
        <p:spPr>
          <a:xfrm>
            <a:off x="581192" y="702156"/>
            <a:ext cx="11029616" cy="689541"/>
          </a:xfrm>
        </p:spPr>
        <p:txBody>
          <a:bodyPr>
            <a:normAutofit/>
          </a:bodyPr>
          <a:lstStyle/>
          <a:p>
            <a:r>
              <a:rPr lang="en-US" dirty="0"/>
              <a:t>TCP/IP</a:t>
            </a:r>
            <a:endParaRPr lang="x-none" dirty="0"/>
          </a:p>
        </p:txBody>
      </p:sp>
      <p:sp>
        <p:nvSpPr>
          <p:cNvPr id="3" name="Content Placeholder 2">
            <a:extLst>
              <a:ext uri="{FF2B5EF4-FFF2-40B4-BE49-F238E27FC236}">
                <a16:creationId xmlns="" xmlns:a16="http://schemas.microsoft.com/office/drawing/2014/main" id="{5F1E5E3A-332A-3297-41F7-5625091F2265}"/>
              </a:ext>
            </a:extLst>
          </p:cNvPr>
          <p:cNvSpPr>
            <a:spLocks noGrp="1"/>
          </p:cNvSpPr>
          <p:nvPr>
            <p:ph idx="1"/>
          </p:nvPr>
        </p:nvSpPr>
        <p:spPr>
          <a:xfrm>
            <a:off x="721869" y="2670178"/>
            <a:ext cx="6411836" cy="3237551"/>
          </a:xfrm>
        </p:spPr>
        <p:txBody>
          <a:bodyPr>
            <a:noAutofit/>
          </a:bodyPr>
          <a:lstStyle/>
          <a:p>
            <a:pPr algn="just"/>
            <a:endParaRPr lang="en-US" sz="1400" b="0" i="0" dirty="0">
              <a:solidFill>
                <a:srgbClr val="001D35"/>
              </a:solidFill>
              <a:effectLst/>
              <a:latin typeface="Google Sans"/>
            </a:endParaRPr>
          </a:p>
          <a:p>
            <a:pPr algn="just">
              <a:spcAft>
                <a:spcPts val="2100"/>
              </a:spcAft>
            </a:pPr>
            <a:r>
              <a:rPr lang="en-US" dirty="0">
                <a:solidFill>
                  <a:srgbClr val="000000"/>
                </a:solidFill>
                <a:latin typeface="Inter"/>
              </a:rPr>
              <a:t>The Transfer Control Protocol/Internet Protocol (TCP/IP) is older than the OSI model and was created by the US Department of Defense (DoD). A key difference between the models is that TCP/IP is simpler, collapsing several OSI layers into one:</a:t>
            </a:r>
          </a:p>
          <a:p>
            <a:pPr algn="just">
              <a:spcAft>
                <a:spcPts val="2100"/>
              </a:spcAft>
            </a:pPr>
            <a:r>
              <a:rPr lang="en-US" dirty="0">
                <a:solidFill>
                  <a:srgbClr val="000000"/>
                </a:solidFill>
                <a:latin typeface="Inter"/>
              </a:rPr>
              <a:t>OSI layers 5, 6, 7 are combined into one Application Layer in TCP/IP</a:t>
            </a:r>
          </a:p>
          <a:p>
            <a:pPr algn="just">
              <a:spcAft>
                <a:spcPts val="2100"/>
              </a:spcAft>
            </a:pPr>
            <a:r>
              <a:rPr lang="en-US" dirty="0">
                <a:solidFill>
                  <a:srgbClr val="000000"/>
                </a:solidFill>
                <a:latin typeface="Inter"/>
              </a:rPr>
              <a:t>OSI layers 1, 2 are combined into one Network Access Layer in TCP/IP – however TCP/IP does not take responsibility for sequencing and acknowledgement functions, leaving these to the underlying transport layer..</a:t>
            </a:r>
          </a:p>
          <a:p>
            <a:pPr algn="just">
              <a:spcAft>
                <a:spcPts val="2100"/>
              </a:spcAft>
            </a:pPr>
            <a:endParaRPr lang="en-US" dirty="0">
              <a:solidFill>
                <a:srgbClr val="000000"/>
              </a:solidFill>
              <a:latin typeface="Inter"/>
            </a:endParaRPr>
          </a:p>
        </p:txBody>
      </p:sp>
      <p:pic>
        <p:nvPicPr>
          <p:cNvPr id="33794" name="Picture 2" descr="What is TCP IP">
            <a:extLst>
              <a:ext uri="{FF2B5EF4-FFF2-40B4-BE49-F238E27FC236}">
                <a16:creationId xmlns="" xmlns:a16="http://schemas.microsoft.com/office/drawing/2014/main" id="{4BDE5A3F-E8BD-FC97-0EAE-0A4E6B83C0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9798" y="3121008"/>
            <a:ext cx="2867025" cy="159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03812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97C435C-E818-8136-01F1-72DF5EDB2542}"/>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33D4C72E-726A-0064-7C3B-AFE81D4B1FAC}"/>
              </a:ext>
            </a:extLst>
          </p:cNvPr>
          <p:cNvSpPr>
            <a:spLocks noGrp="1"/>
          </p:cNvSpPr>
          <p:nvPr>
            <p:ph type="title"/>
          </p:nvPr>
        </p:nvSpPr>
        <p:spPr>
          <a:xfrm>
            <a:off x="581192" y="702156"/>
            <a:ext cx="11029616" cy="689541"/>
          </a:xfrm>
        </p:spPr>
        <p:txBody>
          <a:bodyPr>
            <a:normAutofit/>
          </a:bodyPr>
          <a:lstStyle/>
          <a:p>
            <a:r>
              <a:rPr lang="en-US" dirty="0"/>
              <a:t>IMPORTANCE OF TCP/IP</a:t>
            </a:r>
            <a:endParaRPr lang="x-none" dirty="0"/>
          </a:p>
        </p:txBody>
      </p:sp>
      <p:sp>
        <p:nvSpPr>
          <p:cNvPr id="3" name="Content Placeholder 2">
            <a:extLst>
              <a:ext uri="{FF2B5EF4-FFF2-40B4-BE49-F238E27FC236}">
                <a16:creationId xmlns="" xmlns:a16="http://schemas.microsoft.com/office/drawing/2014/main" id="{233E5D67-2BBD-D29F-C3C5-9ECFF78BF902}"/>
              </a:ext>
            </a:extLst>
          </p:cNvPr>
          <p:cNvSpPr>
            <a:spLocks noGrp="1"/>
          </p:cNvSpPr>
          <p:nvPr>
            <p:ph idx="1"/>
          </p:nvPr>
        </p:nvSpPr>
        <p:spPr>
          <a:xfrm>
            <a:off x="721869" y="2670178"/>
            <a:ext cx="6411836" cy="3237551"/>
          </a:xfrm>
        </p:spPr>
        <p:txBody>
          <a:bodyPr>
            <a:noAutofit/>
          </a:bodyPr>
          <a:lstStyle/>
          <a:p>
            <a:pPr algn="just"/>
            <a:endParaRPr lang="en-US" sz="1400" b="0" i="0" dirty="0">
              <a:solidFill>
                <a:srgbClr val="001D35"/>
              </a:solidFill>
              <a:effectLst/>
              <a:latin typeface="Google Sans"/>
            </a:endParaRPr>
          </a:p>
          <a:p>
            <a:pPr algn="l">
              <a:buFont typeface="Arial" panose="020B0604020202020204" pitchFamily="34" charset="0"/>
              <a:buChar char="•"/>
            </a:pPr>
            <a:r>
              <a:rPr lang="en-US" b="0" i="0" dirty="0">
                <a:solidFill>
                  <a:srgbClr val="000000"/>
                </a:solidFill>
                <a:effectLst/>
                <a:latin typeface="Inter"/>
              </a:rPr>
              <a:t>TCP/IP is a functional model designed to solve specific communication problems, and which is based on specific, standard protocols. OSI is a generic, protocol-independent model intended to describe all forms of network communication.</a:t>
            </a:r>
          </a:p>
          <a:p>
            <a:pPr algn="l">
              <a:buFont typeface="Arial" panose="020B0604020202020204" pitchFamily="34" charset="0"/>
              <a:buChar char="•"/>
            </a:pPr>
            <a:r>
              <a:rPr lang="en-US" b="0" i="0" dirty="0">
                <a:solidFill>
                  <a:srgbClr val="000000"/>
                </a:solidFill>
                <a:effectLst/>
                <a:latin typeface="Inter"/>
              </a:rPr>
              <a:t>In TCP/IP, most applications use all the layers, while in OSI simple applications do not use all seven layers. Only layers 1, 2 and 3 are mandatory to enable any data communication.</a:t>
            </a:r>
          </a:p>
          <a:p>
            <a:pPr algn="just">
              <a:spcAft>
                <a:spcPts val="2100"/>
              </a:spcAft>
            </a:pPr>
            <a:endParaRPr lang="en-US" dirty="0">
              <a:solidFill>
                <a:srgbClr val="000000"/>
              </a:solidFill>
              <a:latin typeface="Inter"/>
            </a:endParaRPr>
          </a:p>
        </p:txBody>
      </p:sp>
      <p:pic>
        <p:nvPicPr>
          <p:cNvPr id="34818" name="Picture 2" descr="What is TCP IP">
            <a:extLst>
              <a:ext uri="{FF2B5EF4-FFF2-40B4-BE49-F238E27FC236}">
                <a16:creationId xmlns="" xmlns:a16="http://schemas.microsoft.com/office/drawing/2014/main" id="{CFDAF990-9DB3-A626-E9AE-C7A85596A3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5306" y="3311926"/>
            <a:ext cx="2867025" cy="159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691671"/>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{D41AB3C1-36D1-4BF5-B947-5FE175623093}tf33552983_win32</Template>
  <TotalTime>6505</TotalTime>
  <Words>3765</Words>
  <Application>Microsoft Office PowerPoint</Application>
  <PresentationFormat>Custom</PresentationFormat>
  <Paragraphs>304</Paragraphs>
  <Slides>56</Slides>
  <Notes>26</Notes>
  <HiddenSlides>0</HiddenSlides>
  <MMClips>0</MMClips>
  <ScaleCrop>false</ScaleCrop>
  <HeadingPairs>
    <vt:vector size="4" baseType="variant">
      <vt:variant>
        <vt:lpstr>Theme</vt:lpstr>
      </vt:variant>
      <vt:variant>
        <vt:i4>1</vt:i4>
      </vt:variant>
      <vt:variant>
        <vt:lpstr>Slide Titles</vt:lpstr>
      </vt:variant>
      <vt:variant>
        <vt:i4>56</vt:i4>
      </vt:variant>
    </vt:vector>
  </HeadingPairs>
  <TitlesOfParts>
    <vt:vector size="57" baseType="lpstr">
      <vt:lpstr>DividendVTI</vt:lpstr>
      <vt:lpstr>ALTSCHOOL OF Cybersecurity (BARAKA 2025)</vt:lpstr>
      <vt:lpstr>Refresher-  Last week</vt:lpstr>
      <vt:lpstr>MONTH 2 -  WEEK 2</vt:lpstr>
      <vt:lpstr>Introduction to Networks and Network Models</vt:lpstr>
      <vt:lpstr>NETWORKS - INTRODUCTION</vt:lpstr>
      <vt:lpstr>NETWORK AFFECTS OUR LIVES</vt:lpstr>
      <vt:lpstr>NETWORK - DEFINITION</vt:lpstr>
      <vt:lpstr>NETWORK COMPONENTS</vt:lpstr>
      <vt:lpstr>NETWORK COMPONENTS</vt:lpstr>
      <vt:lpstr>NETWORK COMPONENTS</vt:lpstr>
      <vt:lpstr>NETWORK COMPONENTS</vt:lpstr>
      <vt:lpstr>NETWORK COMPONENTS</vt:lpstr>
      <vt:lpstr>NETWORK COMPONENTS</vt:lpstr>
      <vt:lpstr>NETWORK COMPONENTS</vt:lpstr>
      <vt:lpstr>NETWORK COMPONENTS</vt:lpstr>
      <vt:lpstr>NETWORK DATA EXCHANGE BETWEEN END DEVICES</vt:lpstr>
      <vt:lpstr>Network components</vt:lpstr>
      <vt:lpstr>NETWORK components </vt:lpstr>
      <vt:lpstr>NETWORK components </vt:lpstr>
      <vt:lpstr>NETWORK components - Routers</vt:lpstr>
      <vt:lpstr>NETWORK components </vt:lpstr>
      <vt:lpstr>NETWORK components - SWITCHES </vt:lpstr>
      <vt:lpstr>NETWORK components – NETWORK INTERFACE CARDS (NIC) </vt:lpstr>
      <vt:lpstr>NETWORK components – FIREWALL</vt:lpstr>
      <vt:lpstr>NETWORK components – FIREWALL</vt:lpstr>
      <vt:lpstr>NETWORK components – Network Cables</vt:lpstr>
      <vt:lpstr>NETWORK components – Wireless Access Points (WAPs) </vt:lpstr>
      <vt:lpstr>NETWORK components – Wireless Access Points (WAPs) </vt:lpstr>
      <vt:lpstr>TYPES OF Network</vt:lpstr>
      <vt:lpstr>TYPES OF NETWORK– Local Area Network (LAN) </vt:lpstr>
      <vt:lpstr>TYPES OF NETWORK– Wide Area Network (WAN)  </vt:lpstr>
      <vt:lpstr>TYPES OF NETWORK– Wireless Local Area Network (WLAN)  </vt:lpstr>
      <vt:lpstr>TYPES OF NETWORK– Metropolitan Area Network (MAN) </vt:lpstr>
      <vt:lpstr>TYPES OF NETWORK– Campus Area Network (CAN) </vt:lpstr>
      <vt:lpstr>TYPES OF NETWORK– Personal Area Network (PAN) </vt:lpstr>
      <vt:lpstr>TYPES OF NETWORK– Virtual Private Network (VPN) </vt:lpstr>
      <vt:lpstr>TYPES OF NETWORK– Storage Area Network (SAN) </vt:lpstr>
      <vt:lpstr>Network Models –OSI and TCP/IP </vt:lpstr>
      <vt:lpstr>NETWORK LAYER models – OSI Model (Open Systems Interconnection) </vt:lpstr>
      <vt:lpstr>NETWORK LAYER models – OSI Model (Open Systems Interconnection) </vt:lpstr>
      <vt:lpstr>NETWORK LAYER models – OSI Model (Open Systems Interconnection) </vt:lpstr>
      <vt:lpstr>OSI Model - top down</vt:lpstr>
      <vt:lpstr>OSI Model - top down</vt:lpstr>
      <vt:lpstr>OSI Model - top down</vt:lpstr>
      <vt:lpstr>OSI Model - top down</vt:lpstr>
      <vt:lpstr>OSI Model - top down</vt:lpstr>
      <vt:lpstr>OSI Model - top down</vt:lpstr>
      <vt:lpstr>OSI Model - top down</vt:lpstr>
      <vt:lpstr>How Does Communication Happen in the OSI Model? A Practical Example  </vt:lpstr>
      <vt:lpstr>PRACTICAL EXAMPLE</vt:lpstr>
      <vt:lpstr>PRACTICAL EXAMPLE</vt:lpstr>
      <vt:lpstr>PRACTICAL EXAMPLE</vt:lpstr>
      <vt:lpstr>ADVANTAGES OF OSI MODEL</vt:lpstr>
      <vt:lpstr>OSI vs. TCP/IP Model </vt:lpstr>
      <vt:lpstr>TCP/IP</vt:lpstr>
      <vt:lpstr>IMPORTANCE OF TCP/IP</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ALTSCHOOL OF Cybersecurity (BARAKA 2025)</dc:title>
  <dc:creator>Oluwafemi Adebiyi</dc:creator>
  <cp:lastModifiedBy>CS50</cp:lastModifiedBy>
  <cp:revision>10</cp:revision>
  <dcterms:created xsi:type="dcterms:W3CDTF">2025-03-19T13:29:09Z</dcterms:created>
  <dcterms:modified xsi:type="dcterms:W3CDTF">2025-07-07T15:29:44Z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