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67"/>
  </p:notesMasterIdLst>
  <p:sldIdLst>
    <p:sldId id="257" r:id="rId5"/>
    <p:sldId id="359" r:id="rId6"/>
    <p:sldId id="260" r:id="rId7"/>
    <p:sldId id="302" r:id="rId8"/>
    <p:sldId id="285" r:id="rId9"/>
    <p:sldId id="530" r:id="rId10"/>
    <p:sldId id="536" r:id="rId11"/>
    <p:sldId id="537" r:id="rId12"/>
    <p:sldId id="538" r:id="rId13"/>
    <p:sldId id="539" r:id="rId14"/>
    <p:sldId id="528" r:id="rId15"/>
    <p:sldId id="531" r:id="rId16"/>
    <p:sldId id="529" r:id="rId17"/>
    <p:sldId id="533" r:id="rId18"/>
    <p:sldId id="534" r:id="rId19"/>
    <p:sldId id="532" r:id="rId20"/>
    <p:sldId id="535" r:id="rId21"/>
    <p:sldId id="541" r:id="rId22"/>
    <p:sldId id="540" r:id="rId23"/>
    <p:sldId id="542" r:id="rId24"/>
    <p:sldId id="544" r:id="rId25"/>
    <p:sldId id="543" r:id="rId26"/>
    <p:sldId id="545" r:id="rId27"/>
    <p:sldId id="547" r:id="rId28"/>
    <p:sldId id="548" r:id="rId29"/>
    <p:sldId id="549" r:id="rId30"/>
    <p:sldId id="550" r:id="rId31"/>
    <p:sldId id="551" r:id="rId32"/>
    <p:sldId id="552" r:id="rId33"/>
    <p:sldId id="553" r:id="rId34"/>
    <p:sldId id="554" r:id="rId35"/>
    <p:sldId id="555" r:id="rId36"/>
    <p:sldId id="556" r:id="rId37"/>
    <p:sldId id="557" r:id="rId38"/>
    <p:sldId id="558" r:id="rId39"/>
    <p:sldId id="559" r:id="rId40"/>
    <p:sldId id="560" r:id="rId41"/>
    <p:sldId id="561" r:id="rId42"/>
    <p:sldId id="562" r:id="rId43"/>
    <p:sldId id="563" r:id="rId44"/>
    <p:sldId id="564" r:id="rId45"/>
    <p:sldId id="565" r:id="rId46"/>
    <p:sldId id="566" r:id="rId47"/>
    <p:sldId id="567" r:id="rId48"/>
    <p:sldId id="568" r:id="rId49"/>
    <p:sldId id="569" r:id="rId50"/>
    <p:sldId id="570" r:id="rId51"/>
    <p:sldId id="571" r:id="rId52"/>
    <p:sldId id="572" r:id="rId53"/>
    <p:sldId id="573" r:id="rId54"/>
    <p:sldId id="575" r:id="rId55"/>
    <p:sldId id="574" r:id="rId56"/>
    <p:sldId id="577" r:id="rId57"/>
    <p:sldId id="579" r:id="rId58"/>
    <p:sldId id="578" r:id="rId59"/>
    <p:sldId id="580" r:id="rId60"/>
    <p:sldId id="581" r:id="rId61"/>
    <p:sldId id="582" r:id="rId62"/>
    <p:sldId id="583" r:id="rId63"/>
    <p:sldId id="584" r:id="rId64"/>
    <p:sldId id="585" r:id="rId65"/>
    <p:sldId id="54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69" autoAdjust="0"/>
    <p:restoredTop sz="94619" autoAdjust="0"/>
  </p:normalViewPr>
  <p:slideViewPr>
    <p:cSldViewPr snapToGrid="0">
      <p:cViewPr varScale="1">
        <p:scale>
          <a:sx n="96" d="100"/>
          <a:sy n="96" d="100"/>
        </p:scale>
        <p:origin x="66" y="3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en-NG" smtClean="0"/>
              <a:t>23/04/2025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en-NG" smtClean="0"/>
              <a:t>‹#›</a:t>
            </a:fld>
            <a:endParaRPr lang="en-NG"/>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4/23/2025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4/23/2025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4/23/2025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4/23/2025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4/23/2025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4/23/2025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4/23/2025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2 – WEEK 3</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A0DC-C434-B3B4-0363-3B35ABFDD03A}"/>
              </a:ext>
            </a:extLst>
          </p:cNvPr>
          <p:cNvSpPr>
            <a:spLocks noGrp="1"/>
          </p:cNvSpPr>
          <p:nvPr>
            <p:ph type="title"/>
          </p:nvPr>
        </p:nvSpPr>
        <p:spPr/>
        <p:txBody>
          <a:bodyPr/>
          <a:lstStyle/>
          <a:p>
            <a:r>
              <a:rPr lang="en-US" dirty="0"/>
              <a:t>Refresher-  Last week</a:t>
            </a:r>
            <a:endParaRPr lang="en-NG" dirty="0"/>
          </a:p>
        </p:txBody>
      </p:sp>
      <p:sp>
        <p:nvSpPr>
          <p:cNvPr id="4" name="Content Placeholder 2">
            <a:extLst>
              <a:ext uri="{FF2B5EF4-FFF2-40B4-BE49-F238E27FC236}">
                <a16:creationId xmlns:a16="http://schemas.microsoft.com/office/drawing/2014/main" id="{9900875B-7EFA-237A-A995-A93013DF59DC}"/>
              </a:ext>
            </a:extLst>
          </p:cNvPr>
          <p:cNvSpPr>
            <a:spLocks noGrp="1"/>
          </p:cNvSpPr>
          <p:nvPr>
            <p:ph idx="1"/>
          </p:nvPr>
        </p:nvSpPr>
        <p:spPr>
          <a:xfrm>
            <a:off x="623498" y="2668929"/>
            <a:ext cx="11029950" cy="3633787"/>
          </a:xfrm>
        </p:spPr>
        <p:txBody>
          <a:bodyPr>
            <a:normAutofit/>
          </a:bodyPr>
          <a:lstStyle/>
          <a:p>
            <a:r>
              <a:rPr lang="en-US" dirty="0"/>
              <a:t>Introduction to Networks and Network Models</a:t>
            </a:r>
          </a:p>
          <a:p>
            <a:pPr lvl="1"/>
            <a:r>
              <a:rPr lang="en-US" dirty="0"/>
              <a:t>Introduction to Networks and Networking Models (OSI, TCP/IP)</a:t>
            </a:r>
          </a:p>
          <a:p>
            <a:pPr lvl="1"/>
            <a:r>
              <a:rPr lang="en-US" dirty="0"/>
              <a:t>Importance and Components of Networks</a:t>
            </a:r>
          </a:p>
          <a:p>
            <a:pPr lvl="1"/>
            <a:r>
              <a:rPr lang="en-US" dirty="0"/>
              <a:t>Types of Networks</a:t>
            </a:r>
          </a:p>
          <a:p>
            <a:pPr lvl="1"/>
            <a:r>
              <a:rPr lang="en-US" dirty="0"/>
              <a:t>A Day in the Life –Learning Networks</a:t>
            </a:r>
          </a:p>
          <a:p>
            <a:pPr lvl="1"/>
            <a:r>
              <a:rPr lang="en-US" dirty="0"/>
              <a:t>Network Models –OSI and TCP/IP</a:t>
            </a:r>
          </a:p>
          <a:p>
            <a:r>
              <a:rPr lang="en-US" dirty="0"/>
              <a:t>Network Topologies and Network Devices</a:t>
            </a:r>
          </a:p>
          <a:p>
            <a:pPr lvl="1"/>
            <a:r>
              <a:rPr lang="en-US" dirty="0"/>
              <a:t>Network Topologies (Bus, Star, Ring, Mesh, Hybrid)</a:t>
            </a:r>
          </a:p>
          <a:p>
            <a:pPr lvl="1"/>
            <a:r>
              <a:rPr lang="en-US" dirty="0"/>
              <a:t>Networking Devices – Routers, Switches, Hubs</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8418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MONTH 2 -  WEEK 3</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fontScale="92500" lnSpcReduction="10000"/>
          </a:bodyPr>
          <a:lstStyle/>
          <a:p>
            <a:r>
              <a:rPr lang="en-US" dirty="0"/>
              <a:t>IP Address Fundamentals</a:t>
            </a:r>
          </a:p>
          <a:p>
            <a:pPr lvl="1"/>
            <a:r>
              <a:rPr lang="en-US" dirty="0"/>
              <a:t>Understanding Internet Protocol v4 (IPV4) and Structure</a:t>
            </a:r>
          </a:p>
          <a:p>
            <a:pPr lvl="1"/>
            <a:r>
              <a:rPr lang="en-US" dirty="0"/>
              <a:t>Understanding Binary Format in IP addresses</a:t>
            </a:r>
          </a:p>
          <a:p>
            <a:endParaRPr lang="en-US" dirty="0"/>
          </a:p>
          <a:p>
            <a:r>
              <a:rPr lang="en-US" dirty="0"/>
              <a:t>Subnet and IPv4 Addresses</a:t>
            </a:r>
          </a:p>
          <a:p>
            <a:pPr lvl="1"/>
            <a:r>
              <a:rPr lang="en-US" dirty="0"/>
              <a:t>What is a Subnet?</a:t>
            </a:r>
          </a:p>
          <a:p>
            <a:pPr lvl="1"/>
            <a:r>
              <a:rPr lang="en-US" dirty="0"/>
              <a:t>Classes of IPv4 Addresses</a:t>
            </a:r>
          </a:p>
          <a:p>
            <a:pPr lvl="1"/>
            <a:r>
              <a:rPr lang="en-US" dirty="0"/>
              <a:t>Subnet Mask and IPv4 Addresses</a:t>
            </a:r>
          </a:p>
          <a:p>
            <a:pPr lvl="1"/>
            <a:r>
              <a:rPr lang="en-US" dirty="0"/>
              <a:t>Subnet Mask and Subnetting Techniques</a:t>
            </a:r>
          </a:p>
          <a:p>
            <a:pPr lvl="1"/>
            <a:r>
              <a:rPr lang="en-US" dirty="0"/>
              <a:t>Classless Inter-Domain Routing (CIDR) Notation and Variable Length Subnet Mask</a:t>
            </a:r>
          </a:p>
          <a:p>
            <a:pPr lvl="1"/>
            <a:r>
              <a:rPr lang="en-US" dirty="0"/>
              <a:t>Class Demo</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4FD3-15E9-5865-B87C-64743D0622C4}"/>
              </a:ext>
            </a:extLst>
          </p:cNvPr>
          <p:cNvSpPr>
            <a:spLocks noGrp="1"/>
          </p:cNvSpPr>
          <p:nvPr>
            <p:ph type="title"/>
          </p:nvPr>
        </p:nvSpPr>
        <p:spPr/>
        <p:txBody>
          <a:bodyPr/>
          <a:lstStyle/>
          <a:p>
            <a:r>
              <a:rPr lang="en-US" dirty="0"/>
              <a:t>Understanding Internet Protocol v4 (IPV4) and Structure</a:t>
            </a:r>
            <a:br>
              <a:rPr lang="en-US" dirty="0"/>
            </a:br>
            <a:endParaRPr lang="en-US" dirty="0"/>
          </a:p>
        </p:txBody>
      </p:sp>
      <p:sp>
        <p:nvSpPr>
          <p:cNvPr id="3" name="Text Placeholder 2">
            <a:extLst>
              <a:ext uri="{FF2B5EF4-FFF2-40B4-BE49-F238E27FC236}">
                <a16:creationId xmlns:a16="http://schemas.microsoft.com/office/drawing/2014/main" id="{97FBB6EF-E130-3B34-984F-FA630B72816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BA21D-8631-283B-8B42-2104876966E4}"/>
              </a:ext>
            </a:extLst>
          </p:cNvPr>
          <p:cNvSpPr>
            <a:spLocks noGrp="1"/>
          </p:cNvSpPr>
          <p:nvPr>
            <p:ph type="title"/>
          </p:nvPr>
        </p:nvSpPr>
        <p:spPr>
          <a:xfrm>
            <a:off x="399143" y="687641"/>
            <a:ext cx="11029616" cy="1000123"/>
          </a:xfrm>
        </p:spPr>
        <p:txBody>
          <a:bodyPr/>
          <a:lstStyle/>
          <a:p>
            <a:r>
              <a:rPr lang="en-US" dirty="0"/>
              <a:t>Internet protocol</a:t>
            </a:r>
            <a:endParaRPr lang="en-NG" dirty="0"/>
          </a:p>
        </p:txBody>
      </p:sp>
      <p:sp>
        <p:nvSpPr>
          <p:cNvPr id="3" name="Content Placeholder 2">
            <a:extLst>
              <a:ext uri="{FF2B5EF4-FFF2-40B4-BE49-F238E27FC236}">
                <a16:creationId xmlns:a16="http://schemas.microsoft.com/office/drawing/2014/main" id="{37AB3EED-2183-FAC7-C646-2CA488D91A79}"/>
              </a:ext>
            </a:extLst>
          </p:cNvPr>
          <p:cNvSpPr>
            <a:spLocks noGrp="1"/>
          </p:cNvSpPr>
          <p:nvPr>
            <p:ph idx="1"/>
          </p:nvPr>
        </p:nvSpPr>
        <p:spPr>
          <a:xfrm>
            <a:off x="399143" y="1995715"/>
            <a:ext cx="7815943" cy="4601028"/>
          </a:xfrm>
        </p:spPr>
        <p:txBody>
          <a:bodyPr>
            <a:normAutofit/>
          </a:bodyPr>
          <a:lstStyle/>
          <a:p>
            <a:r>
              <a:rPr lang="en-US" dirty="0"/>
              <a:t>It is a network layer (OSI - layer 3) protocol in the Internet Protocol suite (also known as TCP/IP) used for forwarding packet streams and datagrams across networks. To put it very simply: it provides everyone with a unified way of addressing (by assigning IP addresses to devices) which allows users in different networks to communicate. And communication between different networks is, after all, the underlying principle of the internet (hence the name: inter means “between” and net is short for “network”).</a:t>
            </a:r>
            <a:endParaRPr lang="en-NG" dirty="0"/>
          </a:p>
        </p:txBody>
      </p:sp>
      <p:pic>
        <p:nvPicPr>
          <p:cNvPr id="16388" name="Picture 4" descr="Internet Protocols Explained - Open ...">
            <a:extLst>
              <a:ext uri="{FF2B5EF4-FFF2-40B4-BE49-F238E27FC236}">
                <a16:creationId xmlns:a16="http://schemas.microsoft.com/office/drawing/2014/main" id="{C2E8F475-C3ED-0BBD-CF7B-2272BCBC8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1382" y="3243263"/>
            <a:ext cx="2914343" cy="200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30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4BB69-4A8E-57D3-04F4-C1D3B23A6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EC964-598F-A564-79A1-310A26C5FA2C}"/>
              </a:ext>
            </a:extLst>
          </p:cNvPr>
          <p:cNvSpPr>
            <a:spLocks noGrp="1"/>
          </p:cNvSpPr>
          <p:nvPr>
            <p:ph type="title"/>
          </p:nvPr>
        </p:nvSpPr>
        <p:spPr>
          <a:xfrm>
            <a:off x="399143" y="687641"/>
            <a:ext cx="11029616" cy="1000123"/>
          </a:xfrm>
        </p:spPr>
        <p:txBody>
          <a:bodyPr/>
          <a:lstStyle/>
          <a:p>
            <a:r>
              <a:rPr lang="en-US" dirty="0"/>
              <a:t>Internet protocol V4 – IPV4</a:t>
            </a:r>
            <a:endParaRPr lang="en-NG" dirty="0"/>
          </a:p>
        </p:txBody>
      </p:sp>
      <p:sp>
        <p:nvSpPr>
          <p:cNvPr id="3" name="Content Placeholder 2">
            <a:extLst>
              <a:ext uri="{FF2B5EF4-FFF2-40B4-BE49-F238E27FC236}">
                <a16:creationId xmlns:a16="http://schemas.microsoft.com/office/drawing/2014/main" id="{94D2CF3C-ED04-F608-2C27-15D6E493AA2B}"/>
              </a:ext>
            </a:extLst>
          </p:cNvPr>
          <p:cNvSpPr>
            <a:spLocks noGrp="1"/>
          </p:cNvSpPr>
          <p:nvPr>
            <p:ph idx="1"/>
          </p:nvPr>
        </p:nvSpPr>
        <p:spPr>
          <a:xfrm>
            <a:off x="399143" y="1995715"/>
            <a:ext cx="7815943" cy="4601028"/>
          </a:xfrm>
        </p:spPr>
        <p:txBody>
          <a:bodyPr>
            <a:normAutofit/>
          </a:bodyPr>
          <a:lstStyle/>
          <a:p>
            <a:r>
              <a:rPr lang="en-US" dirty="0"/>
              <a:t>Internet Protocol Version 4 (IPv4) is the fourth version of the Internet Protocol and is the most widely used protocol for data communication across different types of networks.</a:t>
            </a:r>
          </a:p>
          <a:p>
            <a:r>
              <a:rPr lang="en-US" dirty="0"/>
              <a:t>IPv4 is a connectionless protocol used in packet-switched networks, such as Ethernet. It provides a logical connection between network devices by providing an identifier for each device. There are many ways to configure IPv4 with all types of devices – including both manual and automatic configuration – depending on the type of network.</a:t>
            </a:r>
          </a:p>
          <a:p>
            <a:endParaRPr lang="en-NG" dirty="0"/>
          </a:p>
        </p:txBody>
      </p:sp>
      <p:pic>
        <p:nvPicPr>
          <p:cNvPr id="17410" name="Picture 2" descr="what is ipv4">
            <a:extLst>
              <a:ext uri="{FF2B5EF4-FFF2-40B4-BE49-F238E27FC236}">
                <a16:creationId xmlns:a16="http://schemas.microsoft.com/office/drawing/2014/main" id="{835C4405-89A0-C607-894E-99F3A30EEDB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64" t="7249" r="20386" b="12626"/>
          <a:stretch/>
        </p:blipFill>
        <p:spPr bwMode="auto">
          <a:xfrm>
            <a:off x="8134350" y="2652713"/>
            <a:ext cx="3933825" cy="277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444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8934-FB4E-C030-BE3A-DD3D71053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2051D-5CFE-6F38-7D48-88EDD85DBFA2}"/>
              </a:ext>
            </a:extLst>
          </p:cNvPr>
          <p:cNvSpPr>
            <a:spLocks noGrp="1"/>
          </p:cNvSpPr>
          <p:nvPr>
            <p:ph type="title"/>
          </p:nvPr>
        </p:nvSpPr>
        <p:spPr>
          <a:xfrm>
            <a:off x="399143" y="687641"/>
            <a:ext cx="11029616" cy="1000123"/>
          </a:xfrm>
        </p:spPr>
        <p:txBody>
          <a:bodyPr/>
          <a:lstStyle/>
          <a:p>
            <a:r>
              <a:rPr lang="en-US" dirty="0"/>
              <a:t>How Does IPv4 Work?</a:t>
            </a:r>
            <a:endParaRPr lang="en-NG" dirty="0"/>
          </a:p>
        </p:txBody>
      </p:sp>
      <p:sp>
        <p:nvSpPr>
          <p:cNvPr id="3" name="Content Placeholder 2">
            <a:extLst>
              <a:ext uri="{FF2B5EF4-FFF2-40B4-BE49-F238E27FC236}">
                <a16:creationId xmlns:a16="http://schemas.microsoft.com/office/drawing/2014/main" id="{FD6FC34E-CD8A-0700-502D-148413B233C1}"/>
              </a:ext>
            </a:extLst>
          </p:cNvPr>
          <p:cNvSpPr>
            <a:spLocks noGrp="1"/>
          </p:cNvSpPr>
          <p:nvPr>
            <p:ph idx="1"/>
          </p:nvPr>
        </p:nvSpPr>
        <p:spPr>
          <a:xfrm>
            <a:off x="399143" y="1995715"/>
            <a:ext cx="7815943" cy="4601028"/>
          </a:xfrm>
        </p:spPr>
        <p:txBody>
          <a:bodyPr>
            <a:normAutofit/>
          </a:bodyPr>
          <a:lstStyle/>
          <a:p>
            <a:pPr>
              <a:spcAft>
                <a:spcPts val="1500"/>
              </a:spcAft>
            </a:pPr>
            <a:r>
              <a:rPr lang="en-US" b="1" dirty="0"/>
              <a:t>Addressing</a:t>
            </a:r>
          </a:p>
          <a:p>
            <a:pPr lvl="1">
              <a:spcAft>
                <a:spcPts val="1500"/>
              </a:spcAft>
            </a:pPr>
            <a:r>
              <a:rPr lang="en-US" sz="1600" dirty="0"/>
              <a:t>Each device on an IPv4 network has a unique 32-bit address, typically written in dotted-decimal notation (e.g., 192.168.1.2). This address acts like a street address, identifying the device’s location on the network.</a:t>
            </a:r>
          </a:p>
          <a:p>
            <a:pPr algn="l">
              <a:spcAft>
                <a:spcPts val="1500"/>
              </a:spcAft>
            </a:pPr>
            <a:r>
              <a:rPr lang="en-US" dirty="0"/>
              <a:t>Packet Fragmentation</a:t>
            </a:r>
          </a:p>
          <a:p>
            <a:pPr marL="576000" lvl="2">
              <a:lnSpc>
                <a:spcPct val="110000"/>
              </a:lnSpc>
              <a:spcAft>
                <a:spcPts val="1500"/>
              </a:spcAft>
            </a:pPr>
            <a:r>
              <a:rPr lang="en-US" sz="1600" dirty="0"/>
              <a:t>Data is sent in chunks called packets. If a packet is too large to fit through a network link, it’s fragmented into smaller pieces. Each fragment carries the original address and information about its order within the whole packet.</a:t>
            </a:r>
            <a:endParaRPr lang="en-NG" sz="1600" dirty="0"/>
          </a:p>
        </p:txBody>
      </p:sp>
      <p:pic>
        <p:nvPicPr>
          <p:cNvPr id="17410" name="Picture 2" descr="what is ipv4">
            <a:extLst>
              <a:ext uri="{FF2B5EF4-FFF2-40B4-BE49-F238E27FC236}">
                <a16:creationId xmlns:a16="http://schemas.microsoft.com/office/drawing/2014/main" id="{44A7C47D-272E-C905-D01D-75F258C776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64" t="7249" r="20386" b="12626"/>
          <a:stretch/>
        </p:blipFill>
        <p:spPr bwMode="auto">
          <a:xfrm>
            <a:off x="8134350" y="2652713"/>
            <a:ext cx="3933825" cy="277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155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78C8F-2BA6-B4D8-554B-1E101B3C6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DB0E9-DFC3-75A6-EF26-5A781366A633}"/>
              </a:ext>
            </a:extLst>
          </p:cNvPr>
          <p:cNvSpPr>
            <a:spLocks noGrp="1"/>
          </p:cNvSpPr>
          <p:nvPr>
            <p:ph type="title"/>
          </p:nvPr>
        </p:nvSpPr>
        <p:spPr>
          <a:xfrm>
            <a:off x="399143" y="687641"/>
            <a:ext cx="11029616" cy="1000123"/>
          </a:xfrm>
        </p:spPr>
        <p:txBody>
          <a:bodyPr/>
          <a:lstStyle/>
          <a:p>
            <a:r>
              <a:rPr lang="en-US" dirty="0"/>
              <a:t>How Does IPv4 Work?</a:t>
            </a:r>
            <a:endParaRPr lang="en-NG" dirty="0"/>
          </a:p>
        </p:txBody>
      </p:sp>
      <p:sp>
        <p:nvSpPr>
          <p:cNvPr id="3" name="Content Placeholder 2">
            <a:extLst>
              <a:ext uri="{FF2B5EF4-FFF2-40B4-BE49-F238E27FC236}">
                <a16:creationId xmlns:a16="http://schemas.microsoft.com/office/drawing/2014/main" id="{FFAA978A-E0E4-3D29-CD27-92A2F33F6D07}"/>
              </a:ext>
            </a:extLst>
          </p:cNvPr>
          <p:cNvSpPr>
            <a:spLocks noGrp="1"/>
          </p:cNvSpPr>
          <p:nvPr>
            <p:ph idx="1"/>
          </p:nvPr>
        </p:nvSpPr>
        <p:spPr>
          <a:xfrm>
            <a:off x="399143" y="1995715"/>
            <a:ext cx="7815943" cy="4601028"/>
          </a:xfrm>
        </p:spPr>
        <p:txBody>
          <a:bodyPr>
            <a:normAutofit/>
          </a:bodyPr>
          <a:lstStyle/>
          <a:p>
            <a:pPr>
              <a:spcAft>
                <a:spcPts val="1500"/>
              </a:spcAft>
            </a:pPr>
            <a:r>
              <a:rPr lang="en-US" b="1" dirty="0"/>
              <a:t>Routing</a:t>
            </a:r>
          </a:p>
          <a:p>
            <a:pPr lvl="1">
              <a:spcAft>
                <a:spcPts val="1500"/>
              </a:spcAft>
            </a:pPr>
            <a:r>
              <a:rPr lang="en-US" sz="1600" dirty="0"/>
              <a:t>When a device sends a packet, it consults a routing table. This table contains information about how to reach different networks based on their addresses. The device forwards the packet to the next router on the path towards its destination.</a:t>
            </a:r>
          </a:p>
          <a:p>
            <a:pPr>
              <a:spcAft>
                <a:spcPts val="1500"/>
              </a:spcAft>
            </a:pPr>
            <a:r>
              <a:rPr lang="en-US" b="1" dirty="0"/>
              <a:t>Routing and Forwarding</a:t>
            </a:r>
          </a:p>
          <a:p>
            <a:pPr marL="576000" lvl="2">
              <a:lnSpc>
                <a:spcPct val="110000"/>
              </a:lnSpc>
              <a:spcAft>
                <a:spcPts val="1500"/>
              </a:spcAft>
            </a:pPr>
            <a:r>
              <a:rPr lang="en-US" sz="1600" dirty="0"/>
              <a:t>Routers are the traffic cops of the internet. They receive packets, check their destination addresses against their routing tables, and then forward them to the next router or directly to the recipient device.</a:t>
            </a:r>
            <a:endParaRPr lang="en-NG" sz="1600" dirty="0"/>
          </a:p>
        </p:txBody>
      </p:sp>
      <p:pic>
        <p:nvPicPr>
          <p:cNvPr id="17410" name="Picture 2" descr="what is ipv4">
            <a:extLst>
              <a:ext uri="{FF2B5EF4-FFF2-40B4-BE49-F238E27FC236}">
                <a16:creationId xmlns:a16="http://schemas.microsoft.com/office/drawing/2014/main" id="{DF69B2AD-D41C-8041-EE4A-A0DAAE51D6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64" t="7249" r="20386" b="12626"/>
          <a:stretch/>
        </p:blipFill>
        <p:spPr bwMode="auto">
          <a:xfrm>
            <a:off x="8134350" y="2652713"/>
            <a:ext cx="3933825" cy="277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52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7757-750E-BF70-1240-B3C072EA6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110B6-DE43-EE11-6131-C5AC4F7A6614}"/>
              </a:ext>
            </a:extLst>
          </p:cNvPr>
          <p:cNvSpPr>
            <a:spLocks noGrp="1"/>
          </p:cNvSpPr>
          <p:nvPr>
            <p:ph type="title"/>
          </p:nvPr>
        </p:nvSpPr>
        <p:spPr>
          <a:xfrm>
            <a:off x="399143" y="687641"/>
            <a:ext cx="11029616" cy="1000123"/>
          </a:xfrm>
        </p:spPr>
        <p:txBody>
          <a:bodyPr/>
          <a:lstStyle/>
          <a:p>
            <a:r>
              <a:rPr lang="en-US" dirty="0"/>
              <a:t>How Does IPv4 Work?</a:t>
            </a:r>
            <a:endParaRPr lang="en-NG" dirty="0"/>
          </a:p>
        </p:txBody>
      </p:sp>
      <p:sp>
        <p:nvSpPr>
          <p:cNvPr id="3" name="Content Placeholder 2">
            <a:extLst>
              <a:ext uri="{FF2B5EF4-FFF2-40B4-BE49-F238E27FC236}">
                <a16:creationId xmlns:a16="http://schemas.microsoft.com/office/drawing/2014/main" id="{9A25C698-D34F-7AB4-18CD-3F8964F68CB8}"/>
              </a:ext>
            </a:extLst>
          </p:cNvPr>
          <p:cNvSpPr>
            <a:spLocks noGrp="1"/>
          </p:cNvSpPr>
          <p:nvPr>
            <p:ph idx="1"/>
          </p:nvPr>
        </p:nvSpPr>
        <p:spPr>
          <a:xfrm>
            <a:off x="399143" y="1995715"/>
            <a:ext cx="7815943" cy="4601028"/>
          </a:xfrm>
        </p:spPr>
        <p:txBody>
          <a:bodyPr>
            <a:normAutofit/>
          </a:bodyPr>
          <a:lstStyle/>
          <a:p>
            <a:pPr>
              <a:spcAft>
                <a:spcPts val="1500"/>
              </a:spcAft>
            </a:pPr>
            <a:r>
              <a:rPr lang="en-US" b="1" dirty="0"/>
              <a:t>Reassembly</a:t>
            </a:r>
          </a:p>
          <a:p>
            <a:pPr lvl="1">
              <a:spcAft>
                <a:spcPts val="1500"/>
              </a:spcAft>
            </a:pPr>
            <a:r>
              <a:rPr lang="en-US" sz="1600" dirty="0"/>
              <a:t>Fragmented packets eventually reach their destination device. The device reassembles them in the correct order based on the information inside each fragment, forming the original data sent.</a:t>
            </a:r>
          </a:p>
          <a:p>
            <a:pPr marL="306000" lvl="1">
              <a:lnSpc>
                <a:spcPct val="110000"/>
              </a:lnSpc>
              <a:spcAft>
                <a:spcPts val="1500"/>
              </a:spcAft>
            </a:pPr>
            <a:r>
              <a:rPr lang="en-US" sz="1700" b="1" dirty="0"/>
              <a:t>Error Checking</a:t>
            </a:r>
          </a:p>
          <a:p>
            <a:pPr marL="576000" lvl="2">
              <a:lnSpc>
                <a:spcPct val="110000"/>
              </a:lnSpc>
              <a:spcAft>
                <a:spcPts val="1500"/>
              </a:spcAft>
            </a:pPr>
            <a:r>
              <a:rPr lang="en-US" sz="1600" dirty="0"/>
              <a:t>Each packet contains a checksum, a calculated value used to detect errors during transmission. If the checksum received at the destination doesn’t match the original, the packet is discarded and re-requested.</a:t>
            </a:r>
            <a:endParaRPr lang="en-NG" sz="1600" dirty="0"/>
          </a:p>
        </p:txBody>
      </p:sp>
      <p:pic>
        <p:nvPicPr>
          <p:cNvPr id="17410" name="Picture 2" descr="what is ipv4">
            <a:extLst>
              <a:ext uri="{FF2B5EF4-FFF2-40B4-BE49-F238E27FC236}">
                <a16:creationId xmlns:a16="http://schemas.microsoft.com/office/drawing/2014/main" id="{5B95C558-038F-27EC-AB2E-B0492885B5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64" t="7249" r="20386" b="12626"/>
          <a:stretch/>
        </p:blipFill>
        <p:spPr bwMode="auto">
          <a:xfrm>
            <a:off x="8134350" y="2652713"/>
            <a:ext cx="3933825" cy="277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13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1B32D-3B8F-0263-7A47-782D08CC6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4242AA-139C-EB91-EF02-114B027638B5}"/>
              </a:ext>
            </a:extLst>
          </p:cNvPr>
          <p:cNvSpPr>
            <a:spLocks noGrp="1"/>
          </p:cNvSpPr>
          <p:nvPr>
            <p:ph type="title"/>
          </p:nvPr>
        </p:nvSpPr>
        <p:spPr>
          <a:xfrm>
            <a:off x="399143" y="687641"/>
            <a:ext cx="11029616" cy="1000123"/>
          </a:xfrm>
        </p:spPr>
        <p:txBody>
          <a:bodyPr/>
          <a:lstStyle/>
          <a:p>
            <a:r>
              <a:rPr lang="en-US" dirty="0"/>
              <a:t>How Does IPv4 Work?</a:t>
            </a:r>
            <a:endParaRPr lang="en-NG" dirty="0"/>
          </a:p>
        </p:txBody>
      </p:sp>
      <p:sp>
        <p:nvSpPr>
          <p:cNvPr id="3" name="Content Placeholder 2">
            <a:extLst>
              <a:ext uri="{FF2B5EF4-FFF2-40B4-BE49-F238E27FC236}">
                <a16:creationId xmlns:a16="http://schemas.microsoft.com/office/drawing/2014/main" id="{014C784C-4E8E-A285-9204-C5C24C0B38F4}"/>
              </a:ext>
            </a:extLst>
          </p:cNvPr>
          <p:cNvSpPr>
            <a:spLocks noGrp="1"/>
          </p:cNvSpPr>
          <p:nvPr>
            <p:ph idx="1"/>
          </p:nvPr>
        </p:nvSpPr>
        <p:spPr>
          <a:xfrm>
            <a:off x="399143" y="1995715"/>
            <a:ext cx="7815943" cy="4601028"/>
          </a:xfrm>
        </p:spPr>
        <p:txBody>
          <a:bodyPr>
            <a:normAutofit/>
          </a:bodyPr>
          <a:lstStyle/>
          <a:p>
            <a:pPr>
              <a:spcAft>
                <a:spcPts val="1500"/>
              </a:spcAft>
            </a:pPr>
            <a:r>
              <a:rPr lang="en-US" b="1" dirty="0"/>
              <a:t>Protocols</a:t>
            </a:r>
          </a:p>
          <a:p>
            <a:pPr lvl="1">
              <a:spcAft>
                <a:spcPts val="1500"/>
              </a:spcAft>
            </a:pPr>
            <a:r>
              <a:rPr lang="en-US" sz="1600" dirty="0"/>
              <a:t>IPv4 works alongside other protocols like TCP (Transmission Control Protocol) and UDP (User Datagram Protocol). TCP ensures reliable delivery of data by acknowledging receipt and retransmitting lost packets. UDP prioritizes speed over reliability, making it suitable for real-time applications like streaming.</a:t>
            </a:r>
          </a:p>
          <a:p>
            <a:pPr marL="306000" lvl="1">
              <a:lnSpc>
                <a:spcPct val="110000"/>
              </a:lnSpc>
              <a:spcAft>
                <a:spcPts val="1500"/>
              </a:spcAft>
            </a:pPr>
            <a:r>
              <a:rPr lang="en-US" sz="1700" b="1" dirty="0"/>
              <a:t>Error Checking</a:t>
            </a:r>
          </a:p>
          <a:p>
            <a:pPr marL="576000" lvl="2">
              <a:lnSpc>
                <a:spcPct val="110000"/>
              </a:lnSpc>
              <a:spcAft>
                <a:spcPts val="1500"/>
              </a:spcAft>
            </a:pPr>
            <a:r>
              <a:rPr lang="en-US" sz="1600" dirty="0"/>
              <a:t>Each packet contains a checksum, a calculated value used to detect errors during transmission. If the checksum received at the destination doesn’t match the original, the packet is discarded and re-requested.</a:t>
            </a:r>
            <a:endParaRPr lang="en-NG" sz="1600" dirty="0"/>
          </a:p>
        </p:txBody>
      </p:sp>
      <p:pic>
        <p:nvPicPr>
          <p:cNvPr id="17410" name="Picture 2" descr="what is ipv4">
            <a:extLst>
              <a:ext uri="{FF2B5EF4-FFF2-40B4-BE49-F238E27FC236}">
                <a16:creationId xmlns:a16="http://schemas.microsoft.com/office/drawing/2014/main" id="{8110EA5B-0BFB-E472-B3F8-51EF0D450E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64" t="7249" r="20386" b="12626"/>
          <a:stretch/>
        </p:blipFill>
        <p:spPr bwMode="auto">
          <a:xfrm>
            <a:off x="8134350" y="2652713"/>
            <a:ext cx="3933825" cy="277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068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4343EDD-0FDA-9EF9-FAFA-069A4B0AC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50C8C6-BB78-2D02-FBD4-BB2792276E56}"/>
              </a:ext>
            </a:extLst>
          </p:cNvPr>
          <p:cNvSpPr>
            <a:spLocks noGrp="1"/>
          </p:cNvSpPr>
          <p:nvPr>
            <p:ph type="title"/>
          </p:nvPr>
        </p:nvSpPr>
        <p:spPr>
          <a:xfrm>
            <a:off x="399143" y="687641"/>
            <a:ext cx="11029616" cy="1000123"/>
          </a:xfrm>
        </p:spPr>
        <p:txBody>
          <a:bodyPr/>
          <a:lstStyle/>
          <a:p>
            <a:r>
              <a:rPr lang="en-US" dirty="0"/>
              <a:t>STRUCTURE OF Internet protocol V4 – IPV4</a:t>
            </a:r>
            <a:endParaRPr lang="en-NG" dirty="0"/>
          </a:p>
        </p:txBody>
      </p:sp>
      <p:sp>
        <p:nvSpPr>
          <p:cNvPr id="3" name="Content Placeholder 2">
            <a:extLst>
              <a:ext uri="{FF2B5EF4-FFF2-40B4-BE49-F238E27FC236}">
                <a16:creationId xmlns:a16="http://schemas.microsoft.com/office/drawing/2014/main" id="{F9AE424D-E0E8-9E48-17F1-52205091D842}"/>
              </a:ext>
            </a:extLst>
          </p:cNvPr>
          <p:cNvSpPr>
            <a:spLocks noGrp="1"/>
          </p:cNvSpPr>
          <p:nvPr>
            <p:ph idx="1"/>
          </p:nvPr>
        </p:nvSpPr>
        <p:spPr>
          <a:xfrm>
            <a:off x="399143" y="1995715"/>
            <a:ext cx="7815943" cy="4601028"/>
          </a:xfrm>
        </p:spPr>
        <p:txBody>
          <a:bodyPr>
            <a:normAutofit/>
          </a:bodyPr>
          <a:lstStyle/>
          <a:p>
            <a:r>
              <a:rPr lang="en-US" dirty="0"/>
              <a:t>An IPv4 address is a 32-bit  numerical label assigned to each device (e.g., computer, printer) participating in a computer network using the Internet Protocol (IP). It’s like a unique street address for your device on the internet.</a:t>
            </a:r>
          </a:p>
          <a:p>
            <a:endParaRPr lang="en-US" dirty="0">
              <a:solidFill>
                <a:srgbClr val="000000"/>
              </a:solidFill>
              <a:latin typeface="Inter"/>
            </a:endParaRPr>
          </a:p>
          <a:p>
            <a:r>
              <a:rPr lang="en-US" dirty="0"/>
              <a:t> The structure of an IPv4 address: 32-bits</a:t>
            </a:r>
            <a:endParaRPr lang="en-NG" dirty="0"/>
          </a:p>
        </p:txBody>
      </p:sp>
      <p:pic>
        <p:nvPicPr>
          <p:cNvPr id="16386" name="Picture 2" descr="what is ipv4">
            <a:extLst>
              <a:ext uri="{FF2B5EF4-FFF2-40B4-BE49-F238E27FC236}">
                <a16:creationId xmlns:a16="http://schemas.microsoft.com/office/drawing/2014/main" id="{CB7A17E0-1057-FDCF-FCE8-8F8835B404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62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1D19E-80BB-DE80-448D-3307D872F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254B1E-20C6-AF33-C013-0C6DA215D975}"/>
              </a:ext>
            </a:extLst>
          </p:cNvPr>
          <p:cNvSpPr>
            <a:spLocks noGrp="1"/>
          </p:cNvSpPr>
          <p:nvPr>
            <p:ph type="title"/>
          </p:nvPr>
        </p:nvSpPr>
        <p:spPr>
          <a:xfrm>
            <a:off x="399143" y="687641"/>
            <a:ext cx="11029616" cy="1000123"/>
          </a:xfrm>
        </p:spPr>
        <p:txBody>
          <a:bodyPr/>
          <a:lstStyle/>
          <a:p>
            <a:r>
              <a:rPr lang="en-US" dirty="0"/>
              <a:t>STRUCTURE OF Internet protocol V4 – IPV4</a:t>
            </a:r>
            <a:endParaRPr lang="en-NG" dirty="0"/>
          </a:p>
        </p:txBody>
      </p:sp>
      <p:sp>
        <p:nvSpPr>
          <p:cNvPr id="3" name="Content Placeholder 2">
            <a:extLst>
              <a:ext uri="{FF2B5EF4-FFF2-40B4-BE49-F238E27FC236}">
                <a16:creationId xmlns:a16="http://schemas.microsoft.com/office/drawing/2014/main" id="{79DE3A8A-A7E9-55EC-A6B9-12CB879AE94E}"/>
              </a:ext>
            </a:extLst>
          </p:cNvPr>
          <p:cNvSpPr>
            <a:spLocks noGrp="1"/>
          </p:cNvSpPr>
          <p:nvPr>
            <p:ph idx="1"/>
          </p:nvPr>
        </p:nvSpPr>
        <p:spPr>
          <a:xfrm>
            <a:off x="399143" y="1995715"/>
            <a:ext cx="7815943" cy="4601028"/>
          </a:xfrm>
        </p:spPr>
        <p:txBody>
          <a:bodyPr>
            <a:noAutofit/>
          </a:bodyPr>
          <a:lstStyle/>
          <a:p>
            <a:r>
              <a:rPr lang="en-US" sz="1600" dirty="0"/>
              <a:t>The 32-bits structure of an IPv4 address is divided into four octets (bytes) of eight bits each (4x8), written in decimal form and separated by periods. </a:t>
            </a:r>
          </a:p>
          <a:p>
            <a:endParaRPr lang="en-US" sz="1600" dirty="0"/>
          </a:p>
          <a:p>
            <a:r>
              <a:rPr lang="en-US" sz="1600" dirty="0"/>
              <a:t>It is relatively easy to translate a decimal IPv4 address to its binary form and vice versa. Any octet consists of eight bits, to which a particular number is assigned, from left to right: 128, 64, 32, 16, 8, 4, 2, 1. The trick is to add these numbers – starting from the highest possible ones – to arrive at the decimal value. One means the number is there, zero – that it isn’t.  So for “172” this would be 128 + 32 + 8 + 4 = 172, which in binary translates to “10101100.” As you can count quickly, the possible range for decimal values is 0 to 255.</a:t>
            </a:r>
          </a:p>
          <a:p>
            <a:endParaRPr lang="en-NG" sz="1600" dirty="0"/>
          </a:p>
        </p:txBody>
      </p:sp>
      <p:pic>
        <p:nvPicPr>
          <p:cNvPr id="16386" name="Picture 2" descr="what is ipv4">
            <a:extLst>
              <a:ext uri="{FF2B5EF4-FFF2-40B4-BE49-F238E27FC236}">
                <a16:creationId xmlns:a16="http://schemas.microsoft.com/office/drawing/2014/main" id="{F10E86F1-4D3F-01F8-CB8F-9962DCB9536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414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2041E-5F20-B8C5-4002-94FE844AE4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0EC6DC-68CE-DF43-9682-EF3A5FDBD320}"/>
              </a:ext>
            </a:extLst>
          </p:cNvPr>
          <p:cNvSpPr>
            <a:spLocks noGrp="1"/>
          </p:cNvSpPr>
          <p:nvPr>
            <p:ph type="title"/>
          </p:nvPr>
        </p:nvSpPr>
        <p:spPr>
          <a:xfrm>
            <a:off x="399143" y="687641"/>
            <a:ext cx="11029616" cy="1000123"/>
          </a:xfrm>
        </p:spPr>
        <p:txBody>
          <a:bodyPr/>
          <a:lstStyle/>
          <a:p>
            <a:r>
              <a:rPr lang="en-US" dirty="0"/>
              <a:t>STRUCTURE OF Internet protocol V4 – IPV4</a:t>
            </a:r>
            <a:endParaRPr lang="en-NG" dirty="0"/>
          </a:p>
        </p:txBody>
      </p:sp>
      <p:sp>
        <p:nvSpPr>
          <p:cNvPr id="3" name="Content Placeholder 2">
            <a:extLst>
              <a:ext uri="{FF2B5EF4-FFF2-40B4-BE49-F238E27FC236}">
                <a16:creationId xmlns:a16="http://schemas.microsoft.com/office/drawing/2014/main" id="{6485F3BA-D197-B073-F497-98E03D30F4FD}"/>
              </a:ext>
            </a:extLst>
          </p:cNvPr>
          <p:cNvSpPr>
            <a:spLocks noGrp="1"/>
          </p:cNvSpPr>
          <p:nvPr>
            <p:ph idx="1"/>
          </p:nvPr>
        </p:nvSpPr>
        <p:spPr>
          <a:xfrm>
            <a:off x="399143" y="1995715"/>
            <a:ext cx="7815943" cy="4601028"/>
          </a:xfrm>
        </p:spPr>
        <p:txBody>
          <a:bodyPr>
            <a:noAutofit/>
          </a:bodyPr>
          <a:lstStyle/>
          <a:p>
            <a:r>
              <a:rPr lang="en-US" sz="1600" dirty="0"/>
              <a:t>For example, the address 172.168.1.2 would be represented as four bytes:</a:t>
            </a:r>
          </a:p>
          <a:p>
            <a:endParaRPr lang="en-US" sz="1600" dirty="0"/>
          </a:p>
          <a:p>
            <a:pPr lvl="1">
              <a:spcAft>
                <a:spcPts val="1500"/>
              </a:spcAft>
            </a:pPr>
            <a:r>
              <a:rPr lang="en-US" sz="1600" dirty="0"/>
              <a:t> </a:t>
            </a:r>
            <a:r>
              <a:rPr lang="en-NG" sz="1600" b="0" i="0" dirty="0">
                <a:solidFill>
                  <a:srgbClr val="000000"/>
                </a:solidFill>
                <a:effectLst/>
                <a:latin typeface="Inter"/>
              </a:rPr>
              <a:t> </a:t>
            </a:r>
            <a:r>
              <a:rPr lang="en-US" sz="1600" b="0" i="0" dirty="0">
                <a:solidFill>
                  <a:srgbClr val="000000"/>
                </a:solidFill>
                <a:effectLst/>
                <a:latin typeface="Inter"/>
              </a:rPr>
              <a:t>	</a:t>
            </a:r>
            <a:r>
              <a:rPr lang="en-NG" sz="1600" dirty="0"/>
              <a:t>10</a:t>
            </a:r>
            <a:r>
              <a:rPr lang="en-US" sz="1600" dirty="0"/>
              <a:t>1</a:t>
            </a:r>
            <a:r>
              <a:rPr lang="en-NG" sz="1600" dirty="0"/>
              <a:t>0</a:t>
            </a:r>
            <a:r>
              <a:rPr lang="en-US" sz="1600" dirty="0"/>
              <a:t>11</a:t>
            </a:r>
            <a:r>
              <a:rPr lang="en-NG" sz="1600" dirty="0"/>
              <a:t>00</a:t>
            </a:r>
          </a:p>
          <a:p>
            <a:pPr lvl="1">
              <a:spcAft>
                <a:spcPts val="1500"/>
              </a:spcAft>
            </a:pPr>
            <a:r>
              <a:rPr lang="en-US" sz="1600" dirty="0"/>
              <a:t>	</a:t>
            </a:r>
            <a:r>
              <a:rPr lang="en-NG" sz="1600" dirty="0"/>
              <a:t>10101000</a:t>
            </a:r>
          </a:p>
          <a:p>
            <a:pPr lvl="1">
              <a:spcAft>
                <a:spcPts val="1500"/>
              </a:spcAft>
            </a:pPr>
            <a:r>
              <a:rPr lang="en-US" sz="1600" dirty="0"/>
              <a:t>	</a:t>
            </a:r>
            <a:r>
              <a:rPr lang="en-NG" sz="1600" dirty="0"/>
              <a:t>00000001</a:t>
            </a:r>
            <a:endParaRPr lang="en-US" sz="1600" dirty="0"/>
          </a:p>
          <a:p>
            <a:pPr lvl="1">
              <a:spcAft>
                <a:spcPts val="1500"/>
              </a:spcAft>
            </a:pPr>
            <a:r>
              <a:rPr lang="en-US" sz="1600" dirty="0"/>
              <a:t>      </a:t>
            </a:r>
            <a:r>
              <a:rPr lang="en-NG" sz="1600" dirty="0"/>
              <a:t>00000010</a:t>
            </a:r>
          </a:p>
          <a:p>
            <a:endParaRPr lang="en-NG" sz="1600" dirty="0"/>
          </a:p>
        </p:txBody>
      </p:sp>
      <p:pic>
        <p:nvPicPr>
          <p:cNvPr id="16386" name="Picture 2" descr="what is ipv4">
            <a:extLst>
              <a:ext uri="{FF2B5EF4-FFF2-40B4-BE49-F238E27FC236}">
                <a16:creationId xmlns:a16="http://schemas.microsoft.com/office/drawing/2014/main" id="{8DDB5316-0E5A-4C93-45D8-3ECBA3FF52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1066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E9652-8AA6-2A28-1374-29FA64CBB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BF72F3-4315-EAC7-0713-5052E180A64B}"/>
              </a:ext>
            </a:extLst>
          </p:cNvPr>
          <p:cNvSpPr>
            <a:spLocks noGrp="1"/>
          </p:cNvSpPr>
          <p:nvPr>
            <p:ph type="title"/>
          </p:nvPr>
        </p:nvSpPr>
        <p:spPr>
          <a:xfrm>
            <a:off x="399143" y="687641"/>
            <a:ext cx="11029616" cy="1000123"/>
          </a:xfrm>
        </p:spPr>
        <p:txBody>
          <a:bodyPr/>
          <a:lstStyle/>
          <a:p>
            <a:r>
              <a:rPr lang="en-US" dirty="0"/>
              <a:t>STRUCTURE OF Internet protocol V4 – IPV4</a:t>
            </a:r>
            <a:endParaRPr lang="en-NG" dirty="0"/>
          </a:p>
        </p:txBody>
      </p:sp>
      <p:sp>
        <p:nvSpPr>
          <p:cNvPr id="3" name="Content Placeholder 2">
            <a:extLst>
              <a:ext uri="{FF2B5EF4-FFF2-40B4-BE49-F238E27FC236}">
                <a16:creationId xmlns:a16="http://schemas.microsoft.com/office/drawing/2014/main" id="{30326F71-B1D3-B6E1-BDBD-68DEC75ED844}"/>
              </a:ext>
            </a:extLst>
          </p:cNvPr>
          <p:cNvSpPr>
            <a:spLocks noGrp="1"/>
          </p:cNvSpPr>
          <p:nvPr>
            <p:ph idx="1"/>
          </p:nvPr>
        </p:nvSpPr>
        <p:spPr>
          <a:xfrm>
            <a:off x="399143" y="1995715"/>
            <a:ext cx="7815943" cy="4601028"/>
          </a:xfrm>
        </p:spPr>
        <p:txBody>
          <a:bodyPr>
            <a:noAutofit/>
          </a:bodyPr>
          <a:lstStyle/>
          <a:p>
            <a:r>
              <a:rPr lang="en-US" sz="1600" dirty="0"/>
              <a:t>These 32 bits are further divided into two parts:</a:t>
            </a:r>
          </a:p>
          <a:p>
            <a:pPr lvl="1">
              <a:spcAft>
                <a:spcPts val="1500"/>
              </a:spcAft>
            </a:pPr>
            <a:r>
              <a:rPr lang="en-US" sz="1300" b="1" dirty="0"/>
              <a:t>Network portion</a:t>
            </a:r>
            <a:r>
              <a:rPr lang="en-US" sz="1300" dirty="0"/>
              <a:t>: Identifies the network to which the device belongs. The number of bits used for the network portion depends on the subnet mask. Generally, the more devices on a network, the more bits are needed for the network portion.</a:t>
            </a:r>
          </a:p>
          <a:p>
            <a:pPr lvl="1">
              <a:spcAft>
                <a:spcPts val="1500"/>
              </a:spcAft>
            </a:pPr>
            <a:r>
              <a:rPr lang="en-US" sz="1300" b="1" dirty="0"/>
              <a:t>Host portion</a:t>
            </a:r>
            <a:r>
              <a:rPr lang="en-US" sz="1300" dirty="0"/>
              <a:t>: Identifies the specific device within the network. The remaining bits after the network portion are used for the host portion.</a:t>
            </a:r>
          </a:p>
          <a:p>
            <a:endParaRPr lang="en-NG" sz="1600" dirty="0"/>
          </a:p>
        </p:txBody>
      </p:sp>
      <p:pic>
        <p:nvPicPr>
          <p:cNvPr id="16386" name="Picture 2" descr="what is ipv4">
            <a:extLst>
              <a:ext uri="{FF2B5EF4-FFF2-40B4-BE49-F238E27FC236}">
                <a16:creationId xmlns:a16="http://schemas.microsoft.com/office/drawing/2014/main" id="{62C00B2E-8380-FF79-B174-D3FE1A93DB5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436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9A69-6868-D9AC-2069-742456433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3D491-A23C-3036-1CB9-D8574194B4A0}"/>
              </a:ext>
            </a:extLst>
          </p:cNvPr>
          <p:cNvSpPr>
            <a:spLocks noGrp="1"/>
          </p:cNvSpPr>
          <p:nvPr>
            <p:ph type="title"/>
          </p:nvPr>
        </p:nvSpPr>
        <p:spPr>
          <a:xfrm>
            <a:off x="399143" y="687641"/>
            <a:ext cx="11029616" cy="1000123"/>
          </a:xfrm>
        </p:spPr>
        <p:txBody>
          <a:bodyPr/>
          <a:lstStyle/>
          <a:p>
            <a:r>
              <a:rPr lang="en-US" dirty="0"/>
              <a:t>STRUCTURE OF Internet protocol V4 – IPV4</a:t>
            </a:r>
            <a:endParaRPr lang="en-NG" dirty="0"/>
          </a:p>
        </p:txBody>
      </p:sp>
      <p:sp>
        <p:nvSpPr>
          <p:cNvPr id="3" name="Content Placeholder 2">
            <a:extLst>
              <a:ext uri="{FF2B5EF4-FFF2-40B4-BE49-F238E27FC236}">
                <a16:creationId xmlns:a16="http://schemas.microsoft.com/office/drawing/2014/main" id="{CBFD20F3-F09B-1E75-519A-B3D3A41B618B}"/>
              </a:ext>
            </a:extLst>
          </p:cNvPr>
          <p:cNvSpPr>
            <a:spLocks noGrp="1"/>
          </p:cNvSpPr>
          <p:nvPr>
            <p:ph idx="1"/>
          </p:nvPr>
        </p:nvSpPr>
        <p:spPr>
          <a:xfrm>
            <a:off x="399143" y="1995715"/>
            <a:ext cx="7815943" cy="4601028"/>
          </a:xfrm>
        </p:spPr>
        <p:txBody>
          <a:bodyPr>
            <a:noAutofit/>
          </a:bodyPr>
          <a:lstStyle/>
          <a:p>
            <a:pPr marL="0" indent="0">
              <a:buNone/>
            </a:pPr>
            <a:r>
              <a:rPr lang="en-US" sz="1600" dirty="0"/>
              <a:t>Dotted Decimal Notation</a:t>
            </a:r>
          </a:p>
          <a:p>
            <a:pPr algn="l">
              <a:spcAft>
                <a:spcPts val="1500"/>
              </a:spcAft>
            </a:pPr>
            <a:r>
              <a:rPr lang="en-US" sz="1600" dirty="0"/>
              <a:t>This is the most common way to write IPv4 addresses. It uses four decimal numbers between 0 and 255, separated by periods. For example, the address 192.168.1.2 is written in dotted decimal notation.</a:t>
            </a:r>
          </a:p>
          <a:p>
            <a:pPr marL="0" indent="0">
              <a:buNone/>
            </a:pPr>
            <a:r>
              <a:rPr lang="en-US" sz="1600" dirty="0"/>
              <a:t>Special Addresses</a:t>
            </a:r>
          </a:p>
          <a:p>
            <a:pPr>
              <a:spcAft>
                <a:spcPts val="1500"/>
              </a:spcAft>
            </a:pPr>
            <a:r>
              <a:rPr lang="en-US" sz="1600" dirty="0"/>
              <a:t>0.0.0.0: Represents the default route or “all hosts” within a network.</a:t>
            </a:r>
          </a:p>
          <a:p>
            <a:pPr algn="l">
              <a:spcAft>
                <a:spcPts val="1500"/>
              </a:spcAft>
              <a:buFont typeface="Arial" panose="020B0604020202020204" pitchFamily="34" charset="0"/>
              <a:buChar char="•"/>
            </a:pPr>
            <a:r>
              <a:rPr lang="en-US" sz="1600" dirty="0"/>
              <a:t>255.255.255.255: Represents the broadcast address and is used to send data to all devices on a network.</a:t>
            </a:r>
          </a:p>
          <a:p>
            <a:endParaRPr lang="en-NG" sz="1600" dirty="0"/>
          </a:p>
        </p:txBody>
      </p:sp>
      <p:pic>
        <p:nvPicPr>
          <p:cNvPr id="16386" name="Picture 2" descr="what is ipv4">
            <a:extLst>
              <a:ext uri="{FF2B5EF4-FFF2-40B4-BE49-F238E27FC236}">
                <a16:creationId xmlns:a16="http://schemas.microsoft.com/office/drawing/2014/main" id="{142F7BD3-093F-055D-F651-C1AFCF62A1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1533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D0954-774A-A4E5-3FF5-55E8CC57E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7C5AD-4FE7-BDA0-6851-94FB8E5A89B5}"/>
              </a:ext>
            </a:extLst>
          </p:cNvPr>
          <p:cNvSpPr>
            <a:spLocks noGrp="1"/>
          </p:cNvSpPr>
          <p:nvPr>
            <p:ph type="title"/>
          </p:nvPr>
        </p:nvSpPr>
        <p:spPr>
          <a:xfrm>
            <a:off x="581193" y="2393950"/>
            <a:ext cx="11029615" cy="3082925"/>
          </a:xfrm>
        </p:spPr>
        <p:txBody>
          <a:bodyPr>
            <a:normAutofit/>
          </a:bodyPr>
          <a:lstStyle/>
          <a:p>
            <a:r>
              <a:rPr lang="en-US" dirty="0"/>
              <a:t>Understanding Binary Format in IP addresses</a:t>
            </a:r>
            <a:br>
              <a:rPr lang="en-US" dirty="0"/>
            </a:br>
            <a:br>
              <a:rPr lang="en-US" dirty="0"/>
            </a:br>
            <a:endParaRPr lang="en-US" dirty="0"/>
          </a:p>
        </p:txBody>
      </p:sp>
      <p:sp>
        <p:nvSpPr>
          <p:cNvPr id="3" name="Text Placeholder 2">
            <a:extLst>
              <a:ext uri="{FF2B5EF4-FFF2-40B4-BE49-F238E27FC236}">
                <a16:creationId xmlns:a16="http://schemas.microsoft.com/office/drawing/2014/main" id="{4368F412-000E-AADF-78F6-34DBC125417D}"/>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629001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178E-F034-9129-78A7-C3B0804E1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F1739D-9B28-AC7E-6B79-590538581F35}"/>
              </a:ext>
            </a:extLst>
          </p:cNvPr>
          <p:cNvSpPr>
            <a:spLocks noGrp="1"/>
          </p:cNvSpPr>
          <p:nvPr>
            <p:ph type="title"/>
          </p:nvPr>
        </p:nvSpPr>
        <p:spPr>
          <a:xfrm>
            <a:off x="399143" y="687641"/>
            <a:ext cx="11029616" cy="1000123"/>
          </a:xfrm>
        </p:spPr>
        <p:txBody>
          <a:bodyPr/>
          <a:lstStyle/>
          <a:p>
            <a:r>
              <a:rPr lang="en-US" dirty="0"/>
              <a:t>STRUCTURE OF Internet protocol V4 – IPV4</a:t>
            </a:r>
            <a:endParaRPr lang="en-NG" dirty="0"/>
          </a:p>
        </p:txBody>
      </p:sp>
      <p:pic>
        <p:nvPicPr>
          <p:cNvPr id="5" name="Content Placeholder 4">
            <a:extLst>
              <a:ext uri="{FF2B5EF4-FFF2-40B4-BE49-F238E27FC236}">
                <a16:creationId xmlns:a16="http://schemas.microsoft.com/office/drawing/2014/main" id="{5A4C328C-31BD-4388-9DB0-60E68C6C7553}"/>
              </a:ext>
            </a:extLst>
          </p:cNvPr>
          <p:cNvPicPr>
            <a:picLocks noGrp="1" noChangeAspect="1"/>
          </p:cNvPicPr>
          <p:nvPr>
            <p:ph idx="1"/>
          </p:nvPr>
        </p:nvPicPr>
        <p:blipFill>
          <a:blip r:embed="rId2"/>
          <a:stretch>
            <a:fillRect/>
          </a:stretch>
        </p:blipFill>
        <p:spPr>
          <a:xfrm>
            <a:off x="2144548" y="1828800"/>
            <a:ext cx="7191703" cy="4600575"/>
          </a:xfrm>
        </p:spPr>
      </p:pic>
    </p:spTree>
    <p:extLst>
      <p:ext uri="{BB962C8B-B14F-4D97-AF65-F5344CB8AC3E}">
        <p14:creationId xmlns:p14="http://schemas.microsoft.com/office/powerpoint/2010/main" val="507063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E761-E032-B8C7-4CC7-5A4A5955F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C7DDB7-37F9-847A-9DA0-7D12ABCA806C}"/>
              </a:ext>
            </a:extLst>
          </p:cNvPr>
          <p:cNvSpPr>
            <a:spLocks noGrp="1"/>
          </p:cNvSpPr>
          <p:nvPr>
            <p:ph type="title"/>
          </p:nvPr>
        </p:nvSpPr>
        <p:spPr>
          <a:xfrm>
            <a:off x="581193" y="2393950"/>
            <a:ext cx="11029615" cy="3082925"/>
          </a:xfrm>
        </p:spPr>
        <p:txBody>
          <a:bodyPr>
            <a:normAutofit/>
          </a:bodyPr>
          <a:lstStyle/>
          <a:p>
            <a:r>
              <a:rPr lang="en-US" dirty="0"/>
              <a:t>Subnet and IPv4 Addresses</a:t>
            </a:r>
            <a:br>
              <a:rPr lang="en-US" dirty="0"/>
            </a:br>
            <a:br>
              <a:rPr lang="en-US" dirty="0"/>
            </a:br>
            <a:endParaRPr lang="en-US" dirty="0"/>
          </a:p>
        </p:txBody>
      </p:sp>
      <p:sp>
        <p:nvSpPr>
          <p:cNvPr id="3" name="Text Placeholder 2">
            <a:extLst>
              <a:ext uri="{FF2B5EF4-FFF2-40B4-BE49-F238E27FC236}">
                <a16:creationId xmlns:a16="http://schemas.microsoft.com/office/drawing/2014/main" id="{030BB6D9-35B8-8952-DFEF-74D10AC2A7A7}"/>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7963518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3DD3F-F84E-01EF-DDB4-477D833C9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1E53E-FAB9-E445-474B-8E134739CE72}"/>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D7A1844A-4CF1-D734-FFBF-732BD3E300AD}"/>
              </a:ext>
            </a:extLst>
          </p:cNvPr>
          <p:cNvSpPr>
            <a:spLocks noGrp="1"/>
          </p:cNvSpPr>
          <p:nvPr>
            <p:ph idx="1"/>
          </p:nvPr>
        </p:nvSpPr>
        <p:spPr>
          <a:xfrm>
            <a:off x="238125" y="2309811"/>
            <a:ext cx="7815943" cy="2653393"/>
          </a:xfrm>
        </p:spPr>
        <p:txBody>
          <a:bodyPr>
            <a:noAutofit/>
          </a:bodyPr>
          <a:lstStyle/>
          <a:p>
            <a:pPr marL="0" indent="0">
              <a:buNone/>
            </a:pPr>
            <a:endParaRPr lang="en-US" sz="1600" dirty="0"/>
          </a:p>
          <a:p>
            <a:pPr marL="0" indent="0">
              <a:buNone/>
            </a:pPr>
            <a:endParaRPr lang="en-US" sz="1600" dirty="0"/>
          </a:p>
          <a:p>
            <a:pPr algn="l">
              <a:spcAft>
                <a:spcPts val="1500"/>
              </a:spcAft>
            </a:pPr>
            <a:r>
              <a:rPr lang="en-US" sz="1600" dirty="0"/>
              <a:t>IP address subnetting is a method used to divide a single IP address block into several smaller, more manageable groups. But why is this division necessary? It is primarily used to improve network performance and efficiency, enhance security, and facilitate organizational control over its network resources. Each subnet acts like its own miniature network, improving routing efficiency and reducing network congestion</a:t>
            </a:r>
            <a:r>
              <a:rPr lang="en-US" sz="1600" b="0" i="0" dirty="0">
                <a:solidFill>
                  <a:srgbClr val="6B7385"/>
                </a:solidFill>
                <a:effectLst/>
                <a:latin typeface="Euclid Circular"/>
              </a:rPr>
              <a:t>.</a:t>
            </a:r>
            <a:endParaRPr lang="en-NG" sz="1600" dirty="0"/>
          </a:p>
        </p:txBody>
      </p:sp>
      <p:pic>
        <p:nvPicPr>
          <p:cNvPr id="16386" name="Picture 2" descr="what is ipv4">
            <a:extLst>
              <a:ext uri="{FF2B5EF4-FFF2-40B4-BE49-F238E27FC236}">
                <a16:creationId xmlns:a16="http://schemas.microsoft.com/office/drawing/2014/main" id="{08EEEC76-8F73-F5BD-D89C-FF0A0DEB1C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523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9C4B2-4FCE-1EC6-F06F-BA56F3BCB0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95920B-E5C2-0DD2-A3B8-C800CC1B6FFA}"/>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E79774CD-61B7-DD45-70AF-241D3C0632C1}"/>
              </a:ext>
            </a:extLst>
          </p:cNvPr>
          <p:cNvSpPr>
            <a:spLocks noGrp="1"/>
          </p:cNvSpPr>
          <p:nvPr>
            <p:ph idx="1"/>
          </p:nvPr>
        </p:nvSpPr>
        <p:spPr>
          <a:xfrm>
            <a:off x="238125" y="2309811"/>
            <a:ext cx="7815943" cy="2653393"/>
          </a:xfrm>
        </p:spPr>
        <p:txBody>
          <a:bodyPr>
            <a:noAutofit/>
          </a:bodyPr>
          <a:lstStyle/>
          <a:p>
            <a:pPr marL="0" indent="0">
              <a:buNone/>
            </a:pPr>
            <a:endParaRPr lang="en-US" sz="1600" dirty="0"/>
          </a:p>
          <a:p>
            <a:pPr marL="0" indent="0">
              <a:buNone/>
            </a:pPr>
            <a:endParaRPr lang="en-US" sz="1600" dirty="0"/>
          </a:p>
          <a:p>
            <a:pPr algn="l">
              <a:spcAft>
                <a:spcPts val="1500"/>
              </a:spcAft>
            </a:pPr>
            <a:r>
              <a:rPr lang="en-US" sz="1600" dirty="0"/>
              <a:t>An IP address is typically shown in a decimal format (like 192.168.1.1) for human readability. However, under the surface, computers interpret this address in binary form (11000000.10101000.00000001.00000001). The transformation from a user-friendly decimal form to binary happens behind the scenes, powering the logic used in subnetting.</a:t>
            </a:r>
            <a:endParaRPr lang="en-NG" sz="1600" dirty="0"/>
          </a:p>
        </p:txBody>
      </p:sp>
      <p:pic>
        <p:nvPicPr>
          <p:cNvPr id="16386" name="Picture 2" descr="what is ipv4">
            <a:extLst>
              <a:ext uri="{FF2B5EF4-FFF2-40B4-BE49-F238E27FC236}">
                <a16:creationId xmlns:a16="http://schemas.microsoft.com/office/drawing/2014/main" id="{E8D5F69E-BB8E-D627-95EF-F982115BC4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501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99D28-5FC5-338C-2731-7ED158CDB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BD1C6-AA5E-F37D-28DB-4D407FDC3E01}"/>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0356DF83-E51B-4132-63F6-E70848E846DA}"/>
              </a:ext>
            </a:extLst>
          </p:cNvPr>
          <p:cNvSpPr>
            <a:spLocks noGrp="1"/>
          </p:cNvSpPr>
          <p:nvPr>
            <p:ph idx="1"/>
          </p:nvPr>
        </p:nvSpPr>
        <p:spPr>
          <a:xfrm>
            <a:off x="238125" y="2309811"/>
            <a:ext cx="7815943" cy="2653393"/>
          </a:xfrm>
        </p:spPr>
        <p:txBody>
          <a:bodyPr>
            <a:noAutofit/>
          </a:bodyPr>
          <a:lstStyle/>
          <a:p>
            <a:pPr marL="0" indent="0">
              <a:buNone/>
            </a:pPr>
            <a:endParaRPr lang="en-US" sz="1600" dirty="0"/>
          </a:p>
          <a:p>
            <a:pPr marL="0" indent="0">
              <a:buNone/>
            </a:pPr>
            <a:endParaRPr lang="en-US" sz="1600" dirty="0"/>
          </a:p>
          <a:p>
            <a:pPr algn="l">
              <a:spcAft>
                <a:spcPts val="1500"/>
              </a:spcAft>
            </a:pPr>
            <a:r>
              <a:rPr lang="en-US" sz="1600" dirty="0"/>
              <a:t>To differentiate between what part of the IP address refers to the network and which part refers to the host, subnet masks are used. Subnet masks are also expressed in binary and determine how the IP address is divided. A common subnet mask, like 255.255.255.0, told in binary, is 11111111.11111111.11111111.00000000. </a:t>
            </a:r>
          </a:p>
          <a:p>
            <a:pPr algn="l">
              <a:spcAft>
                <a:spcPts val="1500"/>
              </a:spcAft>
            </a:pPr>
            <a:r>
              <a:rPr lang="en-US" sz="1600" dirty="0"/>
              <a:t>This mask says that the first three octets (24 bits) represent the network portion, and the last octet (8 bits) is for host devices.</a:t>
            </a:r>
            <a:endParaRPr lang="en-NG" sz="1600" dirty="0"/>
          </a:p>
        </p:txBody>
      </p:sp>
      <p:pic>
        <p:nvPicPr>
          <p:cNvPr id="16386" name="Picture 2" descr="what is ipv4">
            <a:extLst>
              <a:ext uri="{FF2B5EF4-FFF2-40B4-BE49-F238E27FC236}">
                <a16:creationId xmlns:a16="http://schemas.microsoft.com/office/drawing/2014/main" id="{4578627C-30B7-803E-B353-A8E18FAE59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101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B35A9-575B-4A46-F84C-4930A92AE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6E2119-A238-D778-5BAB-E0232780D918}"/>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02ECC703-CBE0-F00E-408A-B2BC95FB30CB}"/>
              </a:ext>
            </a:extLst>
          </p:cNvPr>
          <p:cNvSpPr>
            <a:spLocks noGrp="1"/>
          </p:cNvSpPr>
          <p:nvPr>
            <p:ph idx="1"/>
          </p:nvPr>
        </p:nvSpPr>
        <p:spPr>
          <a:xfrm>
            <a:off x="238125" y="2309811"/>
            <a:ext cx="7815943" cy="2653393"/>
          </a:xfrm>
        </p:spPr>
        <p:txBody>
          <a:bodyPr>
            <a:noAutofit/>
          </a:bodyPr>
          <a:lstStyle/>
          <a:p>
            <a:pPr marL="0" indent="0">
              <a:buNone/>
            </a:pPr>
            <a:endParaRPr lang="en-US" sz="1600" dirty="0"/>
          </a:p>
          <a:p>
            <a:pPr marL="0" indent="0">
              <a:buNone/>
            </a:pPr>
            <a:endParaRPr lang="en-US" sz="1600" dirty="0"/>
          </a:p>
          <a:p>
            <a:pPr algn="l">
              <a:spcAft>
                <a:spcPts val="1500"/>
              </a:spcAft>
            </a:pPr>
            <a:r>
              <a:rPr lang="en-US" sz="1600" dirty="0"/>
              <a:t>An IP address is typically shown in a decimal format (like 192.168.1.1) for human readability. However, under the surface, computers interpret this address in binary form (11000000.10101000.00000001.00000001). The transformation from a user-friendly decimal form to binary happens behind the scenes, powering the logic used in subnetting.</a:t>
            </a:r>
            <a:endParaRPr lang="en-NG" sz="1600" dirty="0"/>
          </a:p>
        </p:txBody>
      </p:sp>
      <p:pic>
        <p:nvPicPr>
          <p:cNvPr id="16386" name="Picture 2" descr="what is ipv4">
            <a:extLst>
              <a:ext uri="{FF2B5EF4-FFF2-40B4-BE49-F238E27FC236}">
                <a16:creationId xmlns:a16="http://schemas.microsoft.com/office/drawing/2014/main" id="{54FBD75C-7027-993A-688B-46CFE4BE3E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624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628B6-E617-91FC-4FBE-A16384821C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817B6-6EE7-B4A9-CD89-9AF7537D95B4}"/>
              </a:ext>
            </a:extLst>
          </p:cNvPr>
          <p:cNvSpPr>
            <a:spLocks noGrp="1"/>
          </p:cNvSpPr>
          <p:nvPr>
            <p:ph type="title"/>
          </p:nvPr>
        </p:nvSpPr>
        <p:spPr>
          <a:xfrm>
            <a:off x="399143" y="687641"/>
            <a:ext cx="11029616" cy="1000123"/>
          </a:xfrm>
        </p:spPr>
        <p:txBody>
          <a:bodyPr/>
          <a:lstStyle/>
          <a:p>
            <a:r>
              <a:rPr lang="en-US" dirty="0"/>
              <a:t>a subnet</a:t>
            </a:r>
            <a:endParaRPr lang="en-NG" dirty="0"/>
          </a:p>
        </p:txBody>
      </p:sp>
      <p:sp>
        <p:nvSpPr>
          <p:cNvPr id="3" name="Content Placeholder 2">
            <a:extLst>
              <a:ext uri="{FF2B5EF4-FFF2-40B4-BE49-F238E27FC236}">
                <a16:creationId xmlns:a16="http://schemas.microsoft.com/office/drawing/2014/main" id="{538ADFA8-15DC-517B-F8DF-D96EED260E45}"/>
              </a:ext>
            </a:extLst>
          </p:cNvPr>
          <p:cNvSpPr>
            <a:spLocks noGrp="1"/>
          </p:cNvSpPr>
          <p:nvPr>
            <p:ph idx="1"/>
          </p:nvPr>
        </p:nvSpPr>
        <p:spPr>
          <a:xfrm>
            <a:off x="238125" y="2309811"/>
            <a:ext cx="7815943" cy="2653393"/>
          </a:xfrm>
        </p:spPr>
        <p:txBody>
          <a:bodyPr>
            <a:noAutofit/>
          </a:bodyPr>
          <a:lstStyle/>
          <a:p>
            <a:pPr marL="0" indent="0">
              <a:buNone/>
            </a:pPr>
            <a:endParaRPr lang="en-US" sz="1600" dirty="0"/>
          </a:p>
          <a:p>
            <a:pPr marL="0" indent="0">
              <a:buNone/>
            </a:pPr>
            <a:endParaRPr lang="en-US" sz="1600" dirty="0"/>
          </a:p>
          <a:p>
            <a:pPr algn="l">
              <a:spcAft>
                <a:spcPts val="1500"/>
              </a:spcAft>
            </a:pPr>
            <a:r>
              <a:rPr lang="en-US" sz="1600" dirty="0"/>
              <a:t>A subnet defines the number of bits, out of 32, used for the "network portion" of the address. Subnet masks can also be defined in a more common 'slash' representation called CIDR notation.</a:t>
            </a:r>
            <a:endParaRPr lang="en-NG" sz="1600" dirty="0"/>
          </a:p>
        </p:txBody>
      </p:sp>
      <p:pic>
        <p:nvPicPr>
          <p:cNvPr id="16386" name="Picture 2" descr="what is ipv4">
            <a:extLst>
              <a:ext uri="{FF2B5EF4-FFF2-40B4-BE49-F238E27FC236}">
                <a16:creationId xmlns:a16="http://schemas.microsoft.com/office/drawing/2014/main" id="{012321A6-E72D-9169-6EC3-5E62DA74D0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68" r="21946"/>
          <a:stretch/>
        </p:blipFill>
        <p:spPr bwMode="auto">
          <a:xfrm>
            <a:off x="8334375" y="2552701"/>
            <a:ext cx="3619500" cy="2835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89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AD187-36C3-45B1-D98B-5F6E4C694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C1D3D0-0D0A-4CC2-7D33-BEA93889202A}"/>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AB2DFDB3-A480-83D3-1653-A7F8C6F31521}"/>
              </a:ext>
            </a:extLst>
          </p:cNvPr>
          <p:cNvSpPr>
            <a:spLocks noGrp="1"/>
          </p:cNvSpPr>
          <p:nvPr>
            <p:ph idx="1"/>
          </p:nvPr>
        </p:nvSpPr>
        <p:spPr>
          <a:xfrm>
            <a:off x="238125" y="1514475"/>
            <a:ext cx="10715625" cy="3448729"/>
          </a:xfrm>
        </p:spPr>
        <p:txBody>
          <a:bodyPr>
            <a:noAutofit/>
          </a:bodyPr>
          <a:lstStyle/>
          <a:p>
            <a:pPr marL="0" indent="0" algn="l">
              <a:spcAft>
                <a:spcPts val="1500"/>
              </a:spcAft>
              <a:buNone/>
            </a:pPr>
            <a:r>
              <a:rPr lang="en-US" sz="1600" dirty="0"/>
              <a:t>In the following table, the red digits represent the bits used for the network. The black digits will be used for device IP addresses. Note that the 255.0.0.0 mask can also be represented as a '/8' because it reserves 8 bits of the overall 32 bits used to describe an IPv4 address as the network portion.</a:t>
            </a:r>
          </a:p>
          <a:p>
            <a:pPr marL="0" indent="0" algn="l">
              <a:spcAft>
                <a:spcPts val="1500"/>
              </a:spcAft>
              <a:buNone/>
            </a:pPr>
            <a:endParaRPr lang="en-US" sz="1600" dirty="0"/>
          </a:p>
          <a:p>
            <a:pPr marL="0" indent="0" algn="l">
              <a:spcAft>
                <a:spcPts val="1500"/>
              </a:spcAft>
              <a:buNone/>
            </a:pPr>
            <a:endParaRPr lang="en-NG" sz="1600" dirty="0"/>
          </a:p>
        </p:txBody>
      </p:sp>
      <p:pic>
        <p:nvPicPr>
          <p:cNvPr id="5" name="Picture 4">
            <a:extLst>
              <a:ext uri="{FF2B5EF4-FFF2-40B4-BE49-F238E27FC236}">
                <a16:creationId xmlns:a16="http://schemas.microsoft.com/office/drawing/2014/main" id="{46DF2053-3310-50AA-24D2-5DC72483DD6D}"/>
              </a:ext>
            </a:extLst>
          </p:cNvPr>
          <p:cNvPicPr>
            <a:picLocks noChangeAspect="1"/>
          </p:cNvPicPr>
          <p:nvPr/>
        </p:nvPicPr>
        <p:blipFill>
          <a:blip r:embed="rId2"/>
          <a:stretch>
            <a:fillRect/>
          </a:stretch>
        </p:blipFill>
        <p:spPr>
          <a:xfrm>
            <a:off x="2776515" y="3789092"/>
            <a:ext cx="6000794" cy="2381267"/>
          </a:xfrm>
          <a:prstGeom prst="rect">
            <a:avLst/>
          </a:prstGeom>
        </p:spPr>
      </p:pic>
    </p:spTree>
    <p:extLst>
      <p:ext uri="{BB962C8B-B14F-4D97-AF65-F5344CB8AC3E}">
        <p14:creationId xmlns:p14="http://schemas.microsoft.com/office/powerpoint/2010/main" val="487306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ECBD-F09B-EADA-BE03-CE445E403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0CF3C-3DD6-37E7-C918-89FB5D20B08C}"/>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FFA601F6-5DD6-0AE6-59C4-2EF443ACBAB1}"/>
              </a:ext>
            </a:extLst>
          </p:cNvPr>
          <p:cNvSpPr>
            <a:spLocks noGrp="1"/>
          </p:cNvSpPr>
          <p:nvPr>
            <p:ph idx="1"/>
          </p:nvPr>
        </p:nvSpPr>
        <p:spPr>
          <a:xfrm>
            <a:off x="442912" y="2757487"/>
            <a:ext cx="10715625" cy="3448729"/>
          </a:xfrm>
        </p:spPr>
        <p:txBody>
          <a:bodyPr>
            <a:noAutofit/>
          </a:bodyPr>
          <a:lstStyle/>
          <a:p>
            <a:pPr algn="l">
              <a:buNone/>
            </a:pPr>
            <a:r>
              <a:rPr lang="en-US" sz="1600" dirty="0"/>
              <a:t>For example, you might have a network with devices (known as hosts) with the following IP addresses:</a:t>
            </a:r>
          </a:p>
          <a:p>
            <a:pPr algn="l">
              <a:buFont typeface="Arial" panose="020B0604020202020204" pitchFamily="34" charset="0"/>
              <a:buChar char="•"/>
            </a:pPr>
            <a:r>
              <a:rPr lang="en-US" sz="1600" dirty="0"/>
              <a:t>Network: 172.16.56.0</a:t>
            </a:r>
          </a:p>
          <a:p>
            <a:pPr algn="l">
              <a:buFont typeface="Arial" panose="020B0604020202020204" pitchFamily="34" charset="0"/>
              <a:buChar char="•"/>
            </a:pPr>
            <a:r>
              <a:rPr lang="en-US" sz="1600" dirty="0"/>
              <a:t>Computer 1: 172.16.56.40</a:t>
            </a:r>
          </a:p>
          <a:p>
            <a:pPr algn="l">
              <a:buFont typeface="Arial" panose="020B0604020202020204" pitchFamily="34" charset="0"/>
              <a:buChar char="•"/>
            </a:pPr>
            <a:r>
              <a:rPr lang="en-US" sz="1600" dirty="0"/>
              <a:t>Computer 2: 172.16.56.55</a:t>
            </a:r>
          </a:p>
          <a:p>
            <a:pPr algn="l">
              <a:buFont typeface="Arial" panose="020B0604020202020204" pitchFamily="34" charset="0"/>
              <a:buChar char="•"/>
            </a:pPr>
            <a:r>
              <a:rPr lang="en-US" sz="1600" dirty="0"/>
              <a:t>Printer 1: 172.16.56.100</a:t>
            </a:r>
          </a:p>
          <a:p>
            <a:pPr marL="0" indent="0" algn="l">
              <a:spcAft>
                <a:spcPts val="1500"/>
              </a:spcAft>
              <a:buNone/>
            </a:pPr>
            <a:endParaRPr lang="en-US" sz="1600" dirty="0"/>
          </a:p>
          <a:p>
            <a:pPr marL="0" indent="0" algn="l">
              <a:spcAft>
                <a:spcPts val="1500"/>
              </a:spcAft>
              <a:buNone/>
            </a:pPr>
            <a:r>
              <a:rPr lang="en-US" sz="1600" dirty="0"/>
              <a:t>In this case, the network uses 24 bits (or three octets). Notice that every host device in the network has the same first three octets. That's the network portion of the IP address with a /24 mask.</a:t>
            </a:r>
          </a:p>
          <a:p>
            <a:pPr algn="l">
              <a:buFont typeface="Arial" panose="020B0604020202020204" pitchFamily="34" charset="0"/>
              <a:buChar char="•"/>
            </a:pPr>
            <a:r>
              <a:rPr lang="en-US" sz="1600" dirty="0"/>
              <a:t>IP address: 172.16.56.40</a:t>
            </a:r>
          </a:p>
          <a:p>
            <a:pPr algn="l">
              <a:buFont typeface="Arial" panose="020B0604020202020204" pitchFamily="34" charset="0"/>
              <a:buChar char="•"/>
            </a:pPr>
            <a:r>
              <a:rPr lang="en-US" sz="1600" dirty="0"/>
              <a:t>Mask: 255.255.255.0</a:t>
            </a:r>
          </a:p>
          <a:p>
            <a:pPr algn="l">
              <a:buFont typeface="Arial" panose="020B0604020202020204" pitchFamily="34" charset="0"/>
              <a:buChar char="•"/>
            </a:pPr>
            <a:r>
              <a:rPr lang="en-US" sz="1600" dirty="0"/>
              <a:t>Binary mask: 11111111.11111111.11111111.00000000</a:t>
            </a:r>
          </a:p>
          <a:p>
            <a:pPr marL="0" indent="0" algn="l">
              <a:spcAft>
                <a:spcPts val="1500"/>
              </a:spcAft>
              <a:buNone/>
            </a:pPr>
            <a:endParaRPr lang="en-US" sz="1600" dirty="0"/>
          </a:p>
          <a:p>
            <a:pPr marL="0" indent="0" algn="l">
              <a:spcAft>
                <a:spcPts val="1500"/>
              </a:spcAft>
              <a:buNone/>
            </a:pPr>
            <a:endParaRPr lang="en-NG" sz="1600" dirty="0"/>
          </a:p>
        </p:txBody>
      </p:sp>
    </p:spTree>
    <p:extLst>
      <p:ext uri="{BB962C8B-B14F-4D97-AF65-F5344CB8AC3E}">
        <p14:creationId xmlns:p14="http://schemas.microsoft.com/office/powerpoint/2010/main" val="2989671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E2538-F073-FB53-BFA3-AF1E09912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2665D-FB03-3C3D-99C6-9346CFEFEB14}"/>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BA137EC9-F151-A726-ED9A-3FA250DACBF0}"/>
              </a:ext>
            </a:extLst>
          </p:cNvPr>
          <p:cNvSpPr>
            <a:spLocks noGrp="1"/>
          </p:cNvSpPr>
          <p:nvPr>
            <p:ph idx="1"/>
          </p:nvPr>
        </p:nvSpPr>
        <p:spPr>
          <a:xfrm>
            <a:off x="357187" y="1957387"/>
            <a:ext cx="10715625" cy="3448729"/>
          </a:xfrm>
        </p:spPr>
        <p:txBody>
          <a:bodyPr>
            <a:noAutofit/>
          </a:bodyPr>
          <a:lstStyle/>
          <a:p>
            <a:pPr algn="l">
              <a:buNone/>
            </a:pPr>
            <a:r>
              <a:rPr lang="en-US" sz="1600" dirty="0"/>
              <a:t>The last octet is the host portion of the IP address. That's where you'd assign your devices. In this case, you could assign up to 254 hosts. (More on that later.)</a:t>
            </a:r>
          </a:p>
          <a:p>
            <a:pPr algn="l">
              <a:buFont typeface="Arial" panose="020B0604020202020204" pitchFamily="34" charset="0"/>
              <a:buChar char="•"/>
            </a:pPr>
            <a:r>
              <a:rPr lang="en-US" sz="1600" dirty="0"/>
              <a:t>IP address: 172.16.56.40</a:t>
            </a:r>
          </a:p>
          <a:p>
            <a:pPr algn="l">
              <a:buFont typeface="Arial" panose="020B0604020202020204" pitchFamily="34" charset="0"/>
              <a:buChar char="•"/>
            </a:pPr>
            <a:r>
              <a:rPr lang="en-US" sz="1600" dirty="0"/>
              <a:t>Mask: 255.255.255.0</a:t>
            </a:r>
          </a:p>
          <a:p>
            <a:pPr algn="l">
              <a:buFont typeface="Arial" panose="020B0604020202020204" pitchFamily="34" charset="0"/>
              <a:buChar char="•"/>
            </a:pPr>
            <a:r>
              <a:rPr lang="en-US" sz="1600" dirty="0"/>
              <a:t>Binary mask: 11111111.11111111.11111111.00000000</a:t>
            </a:r>
          </a:p>
          <a:p>
            <a:pPr marL="0" indent="0" algn="l">
              <a:spcAft>
                <a:spcPts val="1500"/>
              </a:spcAft>
              <a:buNone/>
            </a:pPr>
            <a:endParaRPr lang="en-US" sz="1600" dirty="0"/>
          </a:p>
          <a:p>
            <a:pPr marL="0" indent="0" algn="l">
              <a:spcAft>
                <a:spcPts val="1500"/>
              </a:spcAft>
              <a:buNone/>
            </a:pPr>
            <a:endParaRPr lang="en-NG" sz="1600" dirty="0"/>
          </a:p>
        </p:txBody>
      </p:sp>
    </p:spTree>
    <p:extLst>
      <p:ext uri="{BB962C8B-B14F-4D97-AF65-F5344CB8AC3E}">
        <p14:creationId xmlns:p14="http://schemas.microsoft.com/office/powerpoint/2010/main" val="3581047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EE512-99E5-509E-0AA5-AA4100B38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8E0700-BC51-1A73-CF29-4C8FE7167724}"/>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C255C464-8214-BE2D-6455-C62E1DA1F14D}"/>
              </a:ext>
            </a:extLst>
          </p:cNvPr>
          <p:cNvSpPr>
            <a:spLocks noGrp="1"/>
          </p:cNvSpPr>
          <p:nvPr>
            <p:ph idx="1"/>
          </p:nvPr>
        </p:nvSpPr>
        <p:spPr>
          <a:xfrm>
            <a:off x="338138" y="1795461"/>
            <a:ext cx="10715625" cy="3448729"/>
          </a:xfrm>
        </p:spPr>
        <p:txBody>
          <a:bodyPr>
            <a:noAutofit/>
          </a:bodyPr>
          <a:lstStyle/>
          <a:p>
            <a:pPr marL="0" indent="0">
              <a:buNone/>
            </a:pPr>
            <a:r>
              <a:rPr lang="en-US" sz="1600" dirty="0"/>
              <a:t>If it were an /8 network, then only the first octet would be the network portion.</a:t>
            </a:r>
            <a:endParaRPr lang="en-NG" sz="1600" dirty="0"/>
          </a:p>
        </p:txBody>
      </p:sp>
      <p:pic>
        <p:nvPicPr>
          <p:cNvPr id="9" name="Picture 8">
            <a:extLst>
              <a:ext uri="{FF2B5EF4-FFF2-40B4-BE49-F238E27FC236}">
                <a16:creationId xmlns:a16="http://schemas.microsoft.com/office/drawing/2014/main" id="{635F5096-D137-7372-D5A6-83016FFFC3BA}"/>
              </a:ext>
            </a:extLst>
          </p:cNvPr>
          <p:cNvPicPr>
            <a:picLocks noChangeAspect="1"/>
          </p:cNvPicPr>
          <p:nvPr/>
        </p:nvPicPr>
        <p:blipFill>
          <a:blip r:embed="rId2"/>
          <a:stretch>
            <a:fillRect/>
          </a:stretch>
        </p:blipFill>
        <p:spPr>
          <a:xfrm>
            <a:off x="2433615" y="3933817"/>
            <a:ext cx="6162720" cy="1933589"/>
          </a:xfrm>
          <a:prstGeom prst="rect">
            <a:avLst/>
          </a:prstGeom>
        </p:spPr>
      </p:pic>
    </p:spTree>
    <p:extLst>
      <p:ext uri="{BB962C8B-B14F-4D97-AF65-F5344CB8AC3E}">
        <p14:creationId xmlns:p14="http://schemas.microsoft.com/office/powerpoint/2010/main" val="281963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148F3-3F42-82AD-48C0-4121456F7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C27454-FB16-0E93-8202-E76E1906AD29}"/>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A2D05238-3F50-3413-4A14-96DB848CCA6D}"/>
              </a:ext>
            </a:extLst>
          </p:cNvPr>
          <p:cNvSpPr>
            <a:spLocks noGrp="1"/>
          </p:cNvSpPr>
          <p:nvPr>
            <p:ph idx="1"/>
          </p:nvPr>
        </p:nvSpPr>
        <p:spPr>
          <a:xfrm>
            <a:off x="338138" y="1795461"/>
            <a:ext cx="10715625" cy="3448729"/>
          </a:xfrm>
        </p:spPr>
        <p:txBody>
          <a:bodyPr>
            <a:noAutofit/>
          </a:bodyPr>
          <a:lstStyle/>
          <a:p>
            <a:pPr marL="0" indent="0">
              <a:buNone/>
            </a:pPr>
            <a:r>
              <a:rPr lang="en-US" sz="1600" dirty="0"/>
              <a:t>Let's look at the table again. If it were /16, the first two octets would be the network portion, and the host portion would occupy the last two octets.</a:t>
            </a:r>
          </a:p>
          <a:p>
            <a:pPr marL="0" indent="0" algn="l">
              <a:spcAft>
                <a:spcPts val="1500"/>
              </a:spcAft>
              <a:buNone/>
            </a:pPr>
            <a:endParaRPr lang="en-NG" sz="1600" dirty="0"/>
          </a:p>
        </p:txBody>
      </p:sp>
      <p:pic>
        <p:nvPicPr>
          <p:cNvPr id="5" name="Picture 4">
            <a:extLst>
              <a:ext uri="{FF2B5EF4-FFF2-40B4-BE49-F238E27FC236}">
                <a16:creationId xmlns:a16="http://schemas.microsoft.com/office/drawing/2014/main" id="{C9E88E01-8D3A-D467-AF0F-DC11A1C68257}"/>
              </a:ext>
            </a:extLst>
          </p:cNvPr>
          <p:cNvPicPr>
            <a:picLocks noChangeAspect="1"/>
          </p:cNvPicPr>
          <p:nvPr/>
        </p:nvPicPr>
        <p:blipFill>
          <a:blip r:embed="rId2"/>
          <a:stretch>
            <a:fillRect/>
          </a:stretch>
        </p:blipFill>
        <p:spPr>
          <a:xfrm>
            <a:off x="2752703" y="3843332"/>
            <a:ext cx="6076994" cy="1724038"/>
          </a:xfrm>
          <a:prstGeom prst="rect">
            <a:avLst/>
          </a:prstGeom>
        </p:spPr>
      </p:pic>
    </p:spTree>
    <p:extLst>
      <p:ext uri="{BB962C8B-B14F-4D97-AF65-F5344CB8AC3E}">
        <p14:creationId xmlns:p14="http://schemas.microsoft.com/office/powerpoint/2010/main" val="1108302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399B5-CB45-8235-5D21-852ADF50B8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6ED55-A02B-1B45-3A2F-8C94EF63F047}"/>
              </a:ext>
            </a:extLst>
          </p:cNvPr>
          <p:cNvSpPr>
            <a:spLocks noGrp="1"/>
          </p:cNvSpPr>
          <p:nvPr>
            <p:ph type="title"/>
          </p:nvPr>
        </p:nvSpPr>
        <p:spPr>
          <a:xfrm>
            <a:off x="581193" y="2393950"/>
            <a:ext cx="11029615" cy="3082925"/>
          </a:xfrm>
        </p:spPr>
        <p:txBody>
          <a:bodyPr>
            <a:normAutofit/>
          </a:bodyPr>
          <a:lstStyle/>
          <a:p>
            <a:r>
              <a:rPr lang="en-US" dirty="0"/>
              <a:t>Subnet and IPv4 Addresses</a:t>
            </a:r>
            <a:br>
              <a:rPr lang="en-US" dirty="0"/>
            </a:br>
            <a:br>
              <a:rPr lang="en-US" dirty="0"/>
            </a:br>
            <a:endParaRPr lang="en-US" dirty="0"/>
          </a:p>
        </p:txBody>
      </p:sp>
      <p:sp>
        <p:nvSpPr>
          <p:cNvPr id="3" name="Text Placeholder 2">
            <a:extLst>
              <a:ext uri="{FF2B5EF4-FFF2-40B4-BE49-F238E27FC236}">
                <a16:creationId xmlns:a16="http://schemas.microsoft.com/office/drawing/2014/main" id="{464F9013-CA83-7138-B3C3-E3C2641A55E3}"/>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640559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36961-B4EB-8772-470F-76C2FF096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CC304-11D9-2526-4CC3-4FB24F1CB67C}"/>
              </a:ext>
            </a:extLst>
          </p:cNvPr>
          <p:cNvSpPr>
            <a:spLocks noGrp="1"/>
          </p:cNvSpPr>
          <p:nvPr>
            <p:ph type="title"/>
          </p:nvPr>
        </p:nvSpPr>
        <p:spPr/>
        <p:txBody>
          <a:bodyPr/>
          <a:lstStyle/>
          <a:p>
            <a:r>
              <a:rPr lang="en-US" dirty="0"/>
              <a:t>Refresher-  Last CLASS (DAY 1)</a:t>
            </a:r>
            <a:endParaRPr lang="en-NG" dirty="0"/>
          </a:p>
        </p:txBody>
      </p:sp>
      <p:sp>
        <p:nvSpPr>
          <p:cNvPr id="4" name="Content Placeholder 2">
            <a:extLst>
              <a:ext uri="{FF2B5EF4-FFF2-40B4-BE49-F238E27FC236}">
                <a16:creationId xmlns:a16="http://schemas.microsoft.com/office/drawing/2014/main" id="{7CDE6032-2997-9CF8-FCC3-F70E0021F107}"/>
              </a:ext>
            </a:extLst>
          </p:cNvPr>
          <p:cNvSpPr>
            <a:spLocks noGrp="1"/>
          </p:cNvSpPr>
          <p:nvPr>
            <p:ph idx="1"/>
          </p:nvPr>
        </p:nvSpPr>
        <p:spPr>
          <a:xfrm>
            <a:off x="623498" y="2668929"/>
            <a:ext cx="11029950" cy="3633787"/>
          </a:xfrm>
        </p:spPr>
        <p:txBody>
          <a:bodyPr>
            <a:normAutofit/>
          </a:bodyPr>
          <a:lstStyle/>
          <a:p>
            <a:r>
              <a:rPr lang="en-US" dirty="0"/>
              <a:t>IP Address Fundamentals</a:t>
            </a:r>
          </a:p>
          <a:p>
            <a:pPr lvl="1"/>
            <a:r>
              <a:rPr lang="en-US" dirty="0"/>
              <a:t>Understanding Internet Protocol v4 (IPV4) and Structure</a:t>
            </a:r>
          </a:p>
          <a:p>
            <a:pPr lvl="1"/>
            <a:r>
              <a:rPr lang="en-US" dirty="0"/>
              <a:t>Understanding </a:t>
            </a:r>
            <a:r>
              <a:rPr lang="en-US" sz="1600" dirty="0">
                <a:solidFill>
                  <a:srgbClr val="1B2733"/>
                </a:solidFill>
                <a:latin typeface="Arial" panose="020B0604020202020204" pitchFamily="34" charset="0"/>
              </a:rPr>
              <a:t>Binary</a:t>
            </a:r>
            <a:r>
              <a:rPr lang="en-US" dirty="0"/>
              <a:t> Format in IP addresses</a:t>
            </a:r>
          </a:p>
          <a:p>
            <a:r>
              <a:rPr lang="en-US" dirty="0"/>
              <a:t>Subnet and IPv4 Addresses</a:t>
            </a:r>
          </a:p>
          <a:p>
            <a:pPr lvl="1"/>
            <a:r>
              <a:rPr lang="en-US" dirty="0"/>
              <a:t>What is a Subnet?</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4080744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1213A-DC23-CB3C-1FA7-013CDB708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87AF02-43EA-372B-5988-FE64FF9A7F35}"/>
              </a:ext>
            </a:extLst>
          </p:cNvPr>
          <p:cNvSpPr>
            <a:spLocks noGrp="1"/>
          </p:cNvSpPr>
          <p:nvPr>
            <p:ph type="title"/>
          </p:nvPr>
        </p:nvSpPr>
        <p:spPr/>
        <p:txBody>
          <a:bodyPr/>
          <a:lstStyle/>
          <a:p>
            <a:r>
              <a:rPr lang="en-US" dirty="0"/>
              <a:t>MONTH 2 -  WEEK 3 (DAY 2)</a:t>
            </a:r>
            <a:endParaRPr lang="en-NG" dirty="0"/>
          </a:p>
        </p:txBody>
      </p:sp>
      <p:sp>
        <p:nvSpPr>
          <p:cNvPr id="4" name="Content Placeholder 2">
            <a:extLst>
              <a:ext uri="{FF2B5EF4-FFF2-40B4-BE49-F238E27FC236}">
                <a16:creationId xmlns:a16="http://schemas.microsoft.com/office/drawing/2014/main" id="{D5C675BA-8320-D904-3BBA-4F0957D71629}"/>
              </a:ext>
            </a:extLst>
          </p:cNvPr>
          <p:cNvSpPr>
            <a:spLocks noGrp="1"/>
          </p:cNvSpPr>
          <p:nvPr>
            <p:ph idx="1"/>
          </p:nvPr>
        </p:nvSpPr>
        <p:spPr>
          <a:xfrm>
            <a:off x="623498" y="2668929"/>
            <a:ext cx="11029950" cy="3633787"/>
          </a:xfrm>
        </p:spPr>
        <p:txBody>
          <a:bodyPr>
            <a:normAutofit/>
          </a:bodyPr>
          <a:lstStyle/>
          <a:p>
            <a:pPr marL="0" indent="0">
              <a:buNone/>
            </a:pPr>
            <a:endParaRPr lang="en-US" dirty="0"/>
          </a:p>
          <a:p>
            <a:r>
              <a:rPr lang="en-US" dirty="0"/>
              <a:t>Subnet and IPv4 Addresses</a:t>
            </a:r>
          </a:p>
          <a:p>
            <a:pPr lvl="1"/>
            <a:r>
              <a:rPr lang="en-US" dirty="0"/>
              <a:t>What is a Subnet?</a:t>
            </a:r>
          </a:p>
          <a:p>
            <a:pPr lvl="1"/>
            <a:r>
              <a:rPr lang="en-US" dirty="0"/>
              <a:t>Classes of IPv4 Addresses</a:t>
            </a:r>
          </a:p>
          <a:p>
            <a:pPr lvl="1"/>
            <a:r>
              <a:rPr lang="en-US" dirty="0"/>
              <a:t>Subnet Mask and IPv4 Addresses</a:t>
            </a:r>
          </a:p>
          <a:p>
            <a:pPr lvl="1"/>
            <a:r>
              <a:rPr lang="en-US" dirty="0"/>
              <a:t>Subnet Mask and Subnetting Techniques</a:t>
            </a:r>
          </a:p>
          <a:p>
            <a:pPr lvl="1"/>
            <a:r>
              <a:rPr lang="en-US" dirty="0"/>
              <a:t>Classless Inter-Domain Routing (CIDR) Notation and Variable Length Subnet Mask</a:t>
            </a:r>
          </a:p>
          <a:p>
            <a:pPr lvl="1"/>
            <a:r>
              <a:rPr lang="en-US" dirty="0"/>
              <a:t>Class demonstration</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24468584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26C9B-868F-6A94-B31A-52A0D9B1C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CBFAF-82C1-FE2F-328D-B5E83FA2A592}"/>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B87FD023-2585-6C7F-1A9D-0B0A9B153B53}"/>
              </a:ext>
            </a:extLst>
          </p:cNvPr>
          <p:cNvSpPr>
            <a:spLocks noGrp="1"/>
          </p:cNvSpPr>
          <p:nvPr>
            <p:ph idx="1"/>
          </p:nvPr>
        </p:nvSpPr>
        <p:spPr>
          <a:xfrm>
            <a:off x="338138" y="1795462"/>
            <a:ext cx="10715625" cy="447676"/>
          </a:xfrm>
        </p:spPr>
        <p:txBody>
          <a:bodyPr>
            <a:noAutofit/>
          </a:bodyPr>
          <a:lstStyle/>
          <a:p>
            <a:r>
              <a:rPr lang="en-US" dirty="0"/>
              <a:t>Here's what the full subnet mask table looks like. In this table, 1s represent the network portion, and 0s represent the host portion</a:t>
            </a:r>
            <a:endParaRPr lang="en-NG" dirty="0"/>
          </a:p>
        </p:txBody>
      </p:sp>
      <p:pic>
        <p:nvPicPr>
          <p:cNvPr id="6" name="Picture 5">
            <a:extLst>
              <a:ext uri="{FF2B5EF4-FFF2-40B4-BE49-F238E27FC236}">
                <a16:creationId xmlns:a16="http://schemas.microsoft.com/office/drawing/2014/main" id="{EDA14A07-DC58-7FED-BC6C-6E05C01F51D2}"/>
              </a:ext>
            </a:extLst>
          </p:cNvPr>
          <p:cNvPicPr>
            <a:picLocks noChangeAspect="1"/>
          </p:cNvPicPr>
          <p:nvPr/>
        </p:nvPicPr>
        <p:blipFill>
          <a:blip r:embed="rId2"/>
          <a:stretch>
            <a:fillRect/>
          </a:stretch>
        </p:blipFill>
        <p:spPr>
          <a:xfrm>
            <a:off x="2633640" y="2176445"/>
            <a:ext cx="6048419" cy="4638709"/>
          </a:xfrm>
          <a:prstGeom prst="rect">
            <a:avLst/>
          </a:prstGeom>
        </p:spPr>
      </p:pic>
    </p:spTree>
    <p:extLst>
      <p:ext uri="{BB962C8B-B14F-4D97-AF65-F5344CB8AC3E}">
        <p14:creationId xmlns:p14="http://schemas.microsoft.com/office/powerpoint/2010/main" val="2490628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7ED37-D699-CFF4-B9C3-B99DFFDFF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CED4E-C952-F803-D05E-C2688CBFF3B8}"/>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FBC0DEFD-DAD2-1C3D-20F1-0A856809FA5A}"/>
              </a:ext>
            </a:extLst>
          </p:cNvPr>
          <p:cNvSpPr>
            <a:spLocks noGrp="1"/>
          </p:cNvSpPr>
          <p:nvPr>
            <p:ph idx="1"/>
          </p:nvPr>
        </p:nvSpPr>
        <p:spPr>
          <a:xfrm>
            <a:off x="338138" y="1795462"/>
            <a:ext cx="10715625" cy="447676"/>
          </a:xfrm>
        </p:spPr>
        <p:txBody>
          <a:bodyPr>
            <a:noAutofit/>
          </a:bodyPr>
          <a:lstStyle/>
          <a:p>
            <a:r>
              <a:rPr lang="en-US" dirty="0"/>
              <a:t>Here's what the full subnet mask table looks like. In this table, 1s represent the network portion, and 0s represent the host portion</a:t>
            </a:r>
            <a:endParaRPr lang="en-NG" dirty="0"/>
          </a:p>
        </p:txBody>
      </p:sp>
      <p:pic>
        <p:nvPicPr>
          <p:cNvPr id="5" name="Picture 4">
            <a:extLst>
              <a:ext uri="{FF2B5EF4-FFF2-40B4-BE49-F238E27FC236}">
                <a16:creationId xmlns:a16="http://schemas.microsoft.com/office/drawing/2014/main" id="{571D3089-33A3-BE14-BE48-DAFD54AD2CAC}"/>
              </a:ext>
            </a:extLst>
          </p:cNvPr>
          <p:cNvPicPr>
            <a:picLocks noChangeAspect="1"/>
          </p:cNvPicPr>
          <p:nvPr/>
        </p:nvPicPr>
        <p:blipFill>
          <a:blip r:embed="rId2"/>
          <a:stretch>
            <a:fillRect/>
          </a:stretch>
        </p:blipFill>
        <p:spPr>
          <a:xfrm>
            <a:off x="2533628" y="2350836"/>
            <a:ext cx="5686467" cy="3962429"/>
          </a:xfrm>
          <a:prstGeom prst="rect">
            <a:avLst/>
          </a:prstGeom>
        </p:spPr>
      </p:pic>
    </p:spTree>
    <p:extLst>
      <p:ext uri="{BB962C8B-B14F-4D97-AF65-F5344CB8AC3E}">
        <p14:creationId xmlns:p14="http://schemas.microsoft.com/office/powerpoint/2010/main" val="2869732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1D16-4C59-84D2-1DA2-3769F777A7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51BD6-A73B-D85D-7C13-B56E4BD70297}"/>
              </a:ext>
            </a:extLst>
          </p:cNvPr>
          <p:cNvSpPr>
            <a:spLocks noGrp="1"/>
          </p:cNvSpPr>
          <p:nvPr>
            <p:ph type="title"/>
          </p:nvPr>
        </p:nvSpPr>
        <p:spPr>
          <a:xfrm>
            <a:off x="399143" y="687641"/>
            <a:ext cx="11029616" cy="1000123"/>
          </a:xfrm>
        </p:spPr>
        <p:txBody>
          <a:bodyPr/>
          <a:lstStyle/>
          <a:p>
            <a:r>
              <a:rPr lang="en-US" dirty="0"/>
              <a:t>IP ADDRESS </a:t>
            </a:r>
            <a:r>
              <a:rPr lang="en-US" dirty="0" err="1"/>
              <a:t>subnetTING</a:t>
            </a:r>
            <a:endParaRPr lang="en-NG" dirty="0"/>
          </a:p>
        </p:txBody>
      </p:sp>
      <p:sp>
        <p:nvSpPr>
          <p:cNvPr id="3" name="Content Placeholder 2">
            <a:extLst>
              <a:ext uri="{FF2B5EF4-FFF2-40B4-BE49-F238E27FC236}">
                <a16:creationId xmlns:a16="http://schemas.microsoft.com/office/drawing/2014/main" id="{8BFCCE6C-C41F-86DD-7F9A-FDEC3D02ACE5}"/>
              </a:ext>
            </a:extLst>
          </p:cNvPr>
          <p:cNvSpPr>
            <a:spLocks noGrp="1"/>
          </p:cNvSpPr>
          <p:nvPr>
            <p:ph idx="1"/>
          </p:nvPr>
        </p:nvSpPr>
        <p:spPr>
          <a:xfrm>
            <a:off x="338138" y="1795462"/>
            <a:ext cx="10715625" cy="447676"/>
          </a:xfrm>
        </p:spPr>
        <p:txBody>
          <a:bodyPr>
            <a:noAutofit/>
          </a:bodyPr>
          <a:lstStyle/>
          <a:p>
            <a:r>
              <a:rPr lang="en-US" dirty="0"/>
              <a:t>Here's what the full subnet mask table looks like. In this table, 1s represent the network portion, and 0s represent the host portion</a:t>
            </a:r>
            <a:endParaRPr lang="en-NG" dirty="0"/>
          </a:p>
        </p:txBody>
      </p:sp>
      <p:pic>
        <p:nvPicPr>
          <p:cNvPr id="6" name="Picture 5">
            <a:extLst>
              <a:ext uri="{FF2B5EF4-FFF2-40B4-BE49-F238E27FC236}">
                <a16:creationId xmlns:a16="http://schemas.microsoft.com/office/drawing/2014/main" id="{01E1770C-21D4-E558-6883-B2CD188864E5}"/>
              </a:ext>
            </a:extLst>
          </p:cNvPr>
          <p:cNvPicPr>
            <a:picLocks noChangeAspect="1"/>
          </p:cNvPicPr>
          <p:nvPr/>
        </p:nvPicPr>
        <p:blipFill>
          <a:blip r:embed="rId2"/>
          <a:stretch>
            <a:fillRect/>
          </a:stretch>
        </p:blipFill>
        <p:spPr>
          <a:xfrm>
            <a:off x="2257403" y="2943215"/>
            <a:ext cx="6038894" cy="2447943"/>
          </a:xfrm>
          <a:prstGeom prst="rect">
            <a:avLst/>
          </a:prstGeom>
        </p:spPr>
      </p:pic>
    </p:spTree>
    <p:extLst>
      <p:ext uri="{BB962C8B-B14F-4D97-AF65-F5344CB8AC3E}">
        <p14:creationId xmlns:p14="http://schemas.microsoft.com/office/powerpoint/2010/main" val="2532610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03BAC-6BD6-479A-E550-62621A6C2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41D7F-DAB8-2182-9EAD-1DF18546C32F}"/>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What are IP Address Classes?</a:t>
            </a:r>
          </a:p>
        </p:txBody>
      </p:sp>
      <p:sp>
        <p:nvSpPr>
          <p:cNvPr id="3" name="Content Placeholder 2">
            <a:extLst>
              <a:ext uri="{FF2B5EF4-FFF2-40B4-BE49-F238E27FC236}">
                <a16:creationId xmlns:a16="http://schemas.microsoft.com/office/drawing/2014/main" id="{20B13F59-CC1D-B178-CCB9-ADE44BE83ACA}"/>
              </a:ext>
            </a:extLst>
          </p:cNvPr>
          <p:cNvSpPr>
            <a:spLocks noGrp="1"/>
          </p:cNvSpPr>
          <p:nvPr>
            <p:ph idx="1"/>
          </p:nvPr>
        </p:nvSpPr>
        <p:spPr>
          <a:xfrm>
            <a:off x="342901" y="2524123"/>
            <a:ext cx="10715625" cy="3700463"/>
          </a:xfrm>
        </p:spPr>
        <p:txBody>
          <a:bodyPr>
            <a:noAutofit/>
          </a:bodyPr>
          <a:lstStyle/>
          <a:p>
            <a:pPr marL="0" indent="0">
              <a:buNone/>
            </a:pPr>
            <a:r>
              <a:rPr lang="en-US" dirty="0"/>
              <a:t>IP addresses have five classes, but only three are applicable to subnetting — A, B, C.</a:t>
            </a:r>
          </a:p>
          <a:p>
            <a:pPr marL="0" indent="0">
              <a:buNone/>
            </a:pPr>
            <a:endParaRPr lang="en-US" dirty="0"/>
          </a:p>
          <a:p>
            <a:pPr algn="l">
              <a:buNone/>
            </a:pPr>
            <a:r>
              <a:rPr lang="en-US" dirty="0"/>
              <a:t>Here are the IP address ranges by class:</a:t>
            </a:r>
          </a:p>
          <a:p>
            <a:pPr algn="l">
              <a:buFont typeface="Arial" panose="020B0604020202020204" pitchFamily="34" charset="0"/>
              <a:buChar char="•"/>
            </a:pPr>
            <a:r>
              <a:rPr lang="en-US" dirty="0"/>
              <a:t>Class A = 1.0.0.0 to 127.0.0.0</a:t>
            </a:r>
          </a:p>
          <a:p>
            <a:pPr algn="l">
              <a:buFont typeface="Arial" panose="020B0604020202020204" pitchFamily="34" charset="0"/>
              <a:buChar char="•"/>
            </a:pPr>
            <a:r>
              <a:rPr lang="en-US" dirty="0"/>
              <a:t>Class B = 128.0.0.0 to 191.255.0.0</a:t>
            </a:r>
          </a:p>
          <a:p>
            <a:pPr algn="l">
              <a:buFont typeface="Arial" panose="020B0604020202020204" pitchFamily="34" charset="0"/>
              <a:buChar char="•"/>
            </a:pPr>
            <a:r>
              <a:rPr lang="en-US" dirty="0"/>
              <a:t>Class C = 192.0.0.0 to 223.255.255.0</a:t>
            </a:r>
          </a:p>
          <a:p>
            <a:pPr>
              <a:buFont typeface="Arial" panose="020B0604020202020204" pitchFamily="34" charset="0"/>
              <a:buChar char="•"/>
            </a:pPr>
            <a:r>
              <a:rPr lang="en-US" dirty="0"/>
              <a:t>Class D = 224.0.0.0 to 239.255.255.0</a:t>
            </a:r>
          </a:p>
          <a:p>
            <a:pPr>
              <a:buFont typeface="Arial" panose="020B0604020202020204" pitchFamily="34" charset="0"/>
              <a:buChar char="•"/>
            </a:pPr>
            <a:r>
              <a:rPr lang="en-US" dirty="0"/>
              <a:t>Class E = 240.0.0.0 to 254.255.255.0</a:t>
            </a:r>
          </a:p>
          <a:p>
            <a:pPr algn="l">
              <a:buFont typeface="Arial" panose="020B0604020202020204" pitchFamily="34" charset="0"/>
              <a:buChar char="•"/>
            </a:pPr>
            <a:endParaRPr lang="en-US" dirty="0"/>
          </a:p>
          <a:p>
            <a:pPr marL="0" indent="0">
              <a:buNone/>
            </a:pPr>
            <a:endParaRPr lang="en-NG" sz="1600" dirty="0"/>
          </a:p>
        </p:txBody>
      </p:sp>
      <p:pic>
        <p:nvPicPr>
          <p:cNvPr id="19460" name="Picture 4" descr="Different Classes Of IP's In Hosting ...">
            <a:extLst>
              <a:ext uri="{FF2B5EF4-FFF2-40B4-BE49-F238E27FC236}">
                <a16:creationId xmlns:a16="http://schemas.microsoft.com/office/drawing/2014/main" id="{DE7FAA95-54B8-E4DC-AD6D-60505D0F7E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8100" y="3101530"/>
            <a:ext cx="3195638" cy="1789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6822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40D90-DE7D-7F79-BD34-F66C49EDC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93333-713E-44EE-1B54-8C83B3945B5E}"/>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a:t>
            </a:r>
          </a:p>
        </p:txBody>
      </p:sp>
      <p:sp>
        <p:nvSpPr>
          <p:cNvPr id="3" name="Content Placeholder 2">
            <a:extLst>
              <a:ext uri="{FF2B5EF4-FFF2-40B4-BE49-F238E27FC236}">
                <a16:creationId xmlns:a16="http://schemas.microsoft.com/office/drawing/2014/main" id="{FA6167FB-E352-8EB1-BAD0-090959733D1E}"/>
              </a:ext>
            </a:extLst>
          </p:cNvPr>
          <p:cNvSpPr>
            <a:spLocks noGrp="1"/>
          </p:cNvSpPr>
          <p:nvPr>
            <p:ph idx="1"/>
          </p:nvPr>
        </p:nvSpPr>
        <p:spPr>
          <a:xfrm>
            <a:off x="338138" y="1795461"/>
            <a:ext cx="10715625" cy="3700463"/>
          </a:xfrm>
        </p:spPr>
        <p:txBody>
          <a:bodyPr>
            <a:noAutofit/>
          </a:bodyPr>
          <a:lstStyle/>
          <a:p>
            <a:pPr algn="l">
              <a:buNone/>
            </a:pPr>
            <a:r>
              <a:rPr lang="en-US" dirty="0"/>
              <a:t>Remember, these IP addresses are represented in binary.</a:t>
            </a:r>
          </a:p>
          <a:p>
            <a:pPr algn="l"/>
            <a:r>
              <a:rPr lang="en-US" dirty="0"/>
              <a:t>Here are the largest subnet IP addresses in these ranges:</a:t>
            </a:r>
          </a:p>
          <a:p>
            <a:pPr algn="l"/>
            <a:endParaRPr lang="en-US" dirty="0"/>
          </a:p>
          <a:p>
            <a:pPr marL="0" indent="0">
              <a:buNone/>
            </a:pPr>
            <a:endParaRPr lang="en-NG" sz="1600" dirty="0"/>
          </a:p>
        </p:txBody>
      </p:sp>
      <p:pic>
        <p:nvPicPr>
          <p:cNvPr id="5" name="Picture 4">
            <a:extLst>
              <a:ext uri="{FF2B5EF4-FFF2-40B4-BE49-F238E27FC236}">
                <a16:creationId xmlns:a16="http://schemas.microsoft.com/office/drawing/2014/main" id="{5B121BCD-6358-E4D4-EF46-9586AE0779C8}"/>
              </a:ext>
            </a:extLst>
          </p:cNvPr>
          <p:cNvPicPr>
            <a:picLocks noChangeAspect="1"/>
          </p:cNvPicPr>
          <p:nvPr/>
        </p:nvPicPr>
        <p:blipFill>
          <a:blip r:embed="rId2"/>
          <a:stretch>
            <a:fillRect/>
          </a:stretch>
        </p:blipFill>
        <p:spPr>
          <a:xfrm>
            <a:off x="966762" y="3800467"/>
            <a:ext cx="6848525" cy="2228866"/>
          </a:xfrm>
          <a:prstGeom prst="rect">
            <a:avLst/>
          </a:prstGeom>
        </p:spPr>
      </p:pic>
    </p:spTree>
    <p:extLst>
      <p:ext uri="{BB962C8B-B14F-4D97-AF65-F5344CB8AC3E}">
        <p14:creationId xmlns:p14="http://schemas.microsoft.com/office/powerpoint/2010/main" val="24001757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64E3B-838D-084C-F7C7-B202B6C1BC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2C2D07-AE00-B019-A205-BC1981FAAA7C}"/>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a:t>
            </a:r>
          </a:p>
        </p:txBody>
      </p:sp>
      <p:sp>
        <p:nvSpPr>
          <p:cNvPr id="3" name="Content Placeholder 2">
            <a:extLst>
              <a:ext uri="{FF2B5EF4-FFF2-40B4-BE49-F238E27FC236}">
                <a16:creationId xmlns:a16="http://schemas.microsoft.com/office/drawing/2014/main" id="{1CAAD5AE-79BE-4277-99A6-A46D939C10D7}"/>
              </a:ext>
            </a:extLst>
          </p:cNvPr>
          <p:cNvSpPr>
            <a:spLocks noGrp="1"/>
          </p:cNvSpPr>
          <p:nvPr>
            <p:ph idx="1"/>
          </p:nvPr>
        </p:nvSpPr>
        <p:spPr>
          <a:xfrm>
            <a:off x="338138" y="1795461"/>
            <a:ext cx="10715625" cy="3700463"/>
          </a:xfrm>
        </p:spPr>
        <p:txBody>
          <a:bodyPr>
            <a:noAutofit/>
          </a:bodyPr>
          <a:lstStyle/>
          <a:p>
            <a:pPr algn="l">
              <a:buNone/>
            </a:pPr>
            <a:r>
              <a:rPr lang="en-US" dirty="0"/>
              <a:t>This IP classes are  important because it affects the number of hosts and subnets available in a network.</a:t>
            </a:r>
          </a:p>
          <a:p>
            <a:pPr algn="l"/>
            <a:r>
              <a:rPr lang="en-US" dirty="0"/>
              <a:t>Notice that Class A addresses provide the most room for host addresses (the black digits). That's because the network portion only occupies the first octet. Most large enterprises use Class A IP addresses for this reason. You can connect more devices to a Class A network than a Class C.</a:t>
            </a:r>
          </a:p>
          <a:p>
            <a:pPr algn="l"/>
            <a:endParaRPr lang="en-US" dirty="0"/>
          </a:p>
          <a:p>
            <a:pPr algn="l"/>
            <a:endParaRPr lang="en-US" dirty="0"/>
          </a:p>
          <a:p>
            <a:pPr marL="0" indent="0">
              <a:buNone/>
            </a:pPr>
            <a:endParaRPr lang="en-NG" sz="1600" dirty="0"/>
          </a:p>
        </p:txBody>
      </p:sp>
      <p:pic>
        <p:nvPicPr>
          <p:cNvPr id="6" name="Picture 5">
            <a:extLst>
              <a:ext uri="{FF2B5EF4-FFF2-40B4-BE49-F238E27FC236}">
                <a16:creationId xmlns:a16="http://schemas.microsoft.com/office/drawing/2014/main" id="{3F4D10B3-1ABA-688C-87BC-1D02CB2C1AF2}"/>
              </a:ext>
            </a:extLst>
          </p:cNvPr>
          <p:cNvPicPr>
            <a:picLocks noChangeAspect="1"/>
          </p:cNvPicPr>
          <p:nvPr/>
        </p:nvPicPr>
        <p:blipFill>
          <a:blip r:embed="rId2"/>
          <a:stretch>
            <a:fillRect/>
          </a:stretch>
        </p:blipFill>
        <p:spPr>
          <a:xfrm>
            <a:off x="1990700" y="4067168"/>
            <a:ext cx="6819950" cy="1609737"/>
          </a:xfrm>
          <a:prstGeom prst="rect">
            <a:avLst/>
          </a:prstGeom>
        </p:spPr>
      </p:pic>
    </p:spTree>
    <p:extLst>
      <p:ext uri="{BB962C8B-B14F-4D97-AF65-F5344CB8AC3E}">
        <p14:creationId xmlns:p14="http://schemas.microsoft.com/office/powerpoint/2010/main" val="878288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EA8F-7D48-C52B-6D02-711017B40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1FF55-1C0D-3C93-13C9-95CA47786BE9}"/>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a:t>
            </a:r>
          </a:p>
        </p:txBody>
      </p:sp>
      <p:sp>
        <p:nvSpPr>
          <p:cNvPr id="3" name="Content Placeholder 2">
            <a:extLst>
              <a:ext uri="{FF2B5EF4-FFF2-40B4-BE49-F238E27FC236}">
                <a16:creationId xmlns:a16="http://schemas.microsoft.com/office/drawing/2014/main" id="{BE6F1E1F-53FD-99A3-F9D0-ADF3C557FF61}"/>
              </a:ext>
            </a:extLst>
          </p:cNvPr>
          <p:cNvSpPr>
            <a:spLocks noGrp="1"/>
          </p:cNvSpPr>
          <p:nvPr>
            <p:ph idx="1"/>
          </p:nvPr>
        </p:nvSpPr>
        <p:spPr>
          <a:xfrm>
            <a:off x="314326" y="2009774"/>
            <a:ext cx="10715625" cy="1462089"/>
          </a:xfrm>
        </p:spPr>
        <p:txBody>
          <a:bodyPr>
            <a:noAutofit/>
          </a:bodyPr>
          <a:lstStyle/>
          <a:p>
            <a:r>
              <a:rPr lang="en-US" dirty="0"/>
              <a:t>In every class, you can steal bits from the hosts to create more subnets but also reduce the number of hosts. Notice how stealing just one bit for the network significantly drops the number of hosts.</a:t>
            </a:r>
          </a:p>
          <a:p>
            <a:r>
              <a:rPr lang="en-US" dirty="0"/>
              <a:t>Class A Subnet mask and host</a:t>
            </a:r>
          </a:p>
          <a:p>
            <a:endParaRPr lang="en-US" dirty="0"/>
          </a:p>
          <a:p>
            <a:pPr algn="l"/>
            <a:endParaRPr lang="en-US" dirty="0"/>
          </a:p>
          <a:p>
            <a:pPr marL="0" indent="0">
              <a:buNone/>
            </a:pPr>
            <a:endParaRPr lang="en-NG" sz="1600" dirty="0"/>
          </a:p>
        </p:txBody>
      </p:sp>
      <p:pic>
        <p:nvPicPr>
          <p:cNvPr id="5" name="Picture 4">
            <a:extLst>
              <a:ext uri="{FF2B5EF4-FFF2-40B4-BE49-F238E27FC236}">
                <a16:creationId xmlns:a16="http://schemas.microsoft.com/office/drawing/2014/main" id="{9B9974D8-4FD9-CCF8-9E23-24C02EF301F3}"/>
              </a:ext>
            </a:extLst>
          </p:cNvPr>
          <p:cNvPicPr>
            <a:picLocks noChangeAspect="1"/>
          </p:cNvPicPr>
          <p:nvPr/>
        </p:nvPicPr>
        <p:blipFill>
          <a:blip r:embed="rId2"/>
          <a:stretch>
            <a:fillRect/>
          </a:stretch>
        </p:blipFill>
        <p:spPr>
          <a:xfrm>
            <a:off x="3924300" y="2444571"/>
            <a:ext cx="5038726" cy="4413429"/>
          </a:xfrm>
          <a:prstGeom prst="rect">
            <a:avLst/>
          </a:prstGeom>
        </p:spPr>
      </p:pic>
    </p:spTree>
    <p:extLst>
      <p:ext uri="{BB962C8B-B14F-4D97-AF65-F5344CB8AC3E}">
        <p14:creationId xmlns:p14="http://schemas.microsoft.com/office/powerpoint/2010/main" val="30676196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E59C6-092F-6545-FFD7-B6B3D6DAE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468AA-F827-F620-7481-F4679E07EA5A}"/>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a:t>
            </a:r>
          </a:p>
        </p:txBody>
      </p:sp>
      <p:sp>
        <p:nvSpPr>
          <p:cNvPr id="3" name="Content Placeholder 2">
            <a:extLst>
              <a:ext uri="{FF2B5EF4-FFF2-40B4-BE49-F238E27FC236}">
                <a16:creationId xmlns:a16="http://schemas.microsoft.com/office/drawing/2014/main" id="{2CCA008C-0197-8ECB-3FBF-6BDA249C4BB8}"/>
              </a:ext>
            </a:extLst>
          </p:cNvPr>
          <p:cNvSpPr>
            <a:spLocks noGrp="1"/>
          </p:cNvSpPr>
          <p:nvPr>
            <p:ph idx="1"/>
          </p:nvPr>
        </p:nvSpPr>
        <p:spPr>
          <a:xfrm>
            <a:off x="314326" y="2009774"/>
            <a:ext cx="10715625" cy="1462089"/>
          </a:xfrm>
        </p:spPr>
        <p:txBody>
          <a:bodyPr>
            <a:noAutofit/>
          </a:bodyPr>
          <a:lstStyle/>
          <a:p>
            <a:r>
              <a:rPr lang="en-US" dirty="0"/>
              <a:t>Class A Subnet mask and host</a:t>
            </a:r>
          </a:p>
          <a:p>
            <a:endParaRPr lang="en-US" dirty="0"/>
          </a:p>
          <a:p>
            <a:pPr algn="l"/>
            <a:endParaRPr lang="en-US" dirty="0"/>
          </a:p>
          <a:p>
            <a:pPr marL="0" indent="0">
              <a:buNone/>
            </a:pPr>
            <a:endParaRPr lang="en-NG" sz="1600" dirty="0"/>
          </a:p>
        </p:txBody>
      </p:sp>
      <p:pic>
        <p:nvPicPr>
          <p:cNvPr id="6" name="Picture 5">
            <a:extLst>
              <a:ext uri="{FF2B5EF4-FFF2-40B4-BE49-F238E27FC236}">
                <a16:creationId xmlns:a16="http://schemas.microsoft.com/office/drawing/2014/main" id="{77FC6A1D-D8C6-FABC-573A-5D10418ADE24}"/>
              </a:ext>
            </a:extLst>
          </p:cNvPr>
          <p:cNvPicPr>
            <a:picLocks noChangeAspect="1"/>
          </p:cNvPicPr>
          <p:nvPr/>
        </p:nvPicPr>
        <p:blipFill>
          <a:blip r:embed="rId2"/>
          <a:stretch>
            <a:fillRect/>
          </a:stretch>
        </p:blipFill>
        <p:spPr>
          <a:xfrm>
            <a:off x="2928914" y="2800338"/>
            <a:ext cx="6610398" cy="3190898"/>
          </a:xfrm>
          <a:prstGeom prst="rect">
            <a:avLst/>
          </a:prstGeom>
        </p:spPr>
      </p:pic>
    </p:spTree>
    <p:extLst>
      <p:ext uri="{BB962C8B-B14F-4D97-AF65-F5344CB8AC3E}">
        <p14:creationId xmlns:p14="http://schemas.microsoft.com/office/powerpoint/2010/main" val="3891947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3B0CF-6DAD-AF3F-85CE-0593CEC24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D11857-B2A5-B338-45DB-A9748B8C57CB}"/>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a:t>
            </a:r>
          </a:p>
        </p:txBody>
      </p:sp>
      <p:sp>
        <p:nvSpPr>
          <p:cNvPr id="3" name="Content Placeholder 2">
            <a:extLst>
              <a:ext uri="{FF2B5EF4-FFF2-40B4-BE49-F238E27FC236}">
                <a16:creationId xmlns:a16="http://schemas.microsoft.com/office/drawing/2014/main" id="{5AB7AE05-E317-C038-471B-8A4FBADBFA0E}"/>
              </a:ext>
            </a:extLst>
          </p:cNvPr>
          <p:cNvSpPr>
            <a:spLocks noGrp="1"/>
          </p:cNvSpPr>
          <p:nvPr>
            <p:ph idx="1"/>
          </p:nvPr>
        </p:nvSpPr>
        <p:spPr>
          <a:xfrm>
            <a:off x="314326" y="2009774"/>
            <a:ext cx="10715625" cy="1462089"/>
          </a:xfrm>
        </p:spPr>
        <p:txBody>
          <a:bodyPr>
            <a:noAutofit/>
          </a:bodyPr>
          <a:lstStyle/>
          <a:p>
            <a:r>
              <a:rPr lang="en-US" dirty="0"/>
              <a:t>Class A Subnet mask and host</a:t>
            </a:r>
          </a:p>
          <a:p>
            <a:endParaRPr lang="en-US" dirty="0"/>
          </a:p>
          <a:p>
            <a:pPr algn="l"/>
            <a:endParaRPr lang="en-US" dirty="0"/>
          </a:p>
          <a:p>
            <a:pPr marL="0" indent="0">
              <a:buNone/>
            </a:pPr>
            <a:endParaRPr lang="en-NG" sz="1600" dirty="0"/>
          </a:p>
        </p:txBody>
      </p:sp>
      <p:pic>
        <p:nvPicPr>
          <p:cNvPr id="6" name="Picture 5">
            <a:extLst>
              <a:ext uri="{FF2B5EF4-FFF2-40B4-BE49-F238E27FC236}">
                <a16:creationId xmlns:a16="http://schemas.microsoft.com/office/drawing/2014/main" id="{0B2ECE4A-36E8-6A4C-0F57-7CCBE4EE4C21}"/>
              </a:ext>
            </a:extLst>
          </p:cNvPr>
          <p:cNvPicPr>
            <a:picLocks noChangeAspect="1"/>
          </p:cNvPicPr>
          <p:nvPr/>
        </p:nvPicPr>
        <p:blipFill>
          <a:blip r:embed="rId2"/>
          <a:stretch>
            <a:fillRect/>
          </a:stretch>
        </p:blipFill>
        <p:spPr>
          <a:xfrm>
            <a:off x="2928914" y="2800338"/>
            <a:ext cx="6610398" cy="3190898"/>
          </a:xfrm>
          <a:prstGeom prst="rect">
            <a:avLst/>
          </a:prstGeom>
        </p:spPr>
      </p:pic>
    </p:spTree>
    <p:extLst>
      <p:ext uri="{BB962C8B-B14F-4D97-AF65-F5344CB8AC3E}">
        <p14:creationId xmlns:p14="http://schemas.microsoft.com/office/powerpoint/2010/main" val="2091146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301C8-C8F4-BF36-ACAB-C3F6D47DC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3F34AD-EE77-31AE-4A07-BD24D0F29ECB}"/>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a:t>
            </a:r>
          </a:p>
        </p:txBody>
      </p:sp>
      <p:sp>
        <p:nvSpPr>
          <p:cNvPr id="3" name="Content Placeholder 2">
            <a:extLst>
              <a:ext uri="{FF2B5EF4-FFF2-40B4-BE49-F238E27FC236}">
                <a16:creationId xmlns:a16="http://schemas.microsoft.com/office/drawing/2014/main" id="{8C3910E4-FC7A-8105-C581-1334C8534C40}"/>
              </a:ext>
            </a:extLst>
          </p:cNvPr>
          <p:cNvSpPr>
            <a:spLocks noGrp="1"/>
          </p:cNvSpPr>
          <p:nvPr>
            <p:ph idx="1"/>
          </p:nvPr>
        </p:nvSpPr>
        <p:spPr>
          <a:xfrm>
            <a:off x="314326" y="2009774"/>
            <a:ext cx="10715625" cy="1462089"/>
          </a:xfrm>
        </p:spPr>
        <p:txBody>
          <a:bodyPr>
            <a:noAutofit/>
          </a:bodyPr>
          <a:lstStyle/>
          <a:p>
            <a:r>
              <a:rPr lang="en-US" dirty="0"/>
              <a:t>Class A Subnet mask and host</a:t>
            </a:r>
          </a:p>
          <a:p>
            <a:endParaRPr lang="en-US" dirty="0"/>
          </a:p>
          <a:p>
            <a:pPr algn="l"/>
            <a:endParaRPr lang="en-US" dirty="0"/>
          </a:p>
          <a:p>
            <a:pPr marL="0" indent="0">
              <a:buNone/>
            </a:pPr>
            <a:endParaRPr lang="en-NG" sz="1600" dirty="0"/>
          </a:p>
        </p:txBody>
      </p:sp>
      <p:pic>
        <p:nvPicPr>
          <p:cNvPr id="6" name="Picture 5">
            <a:extLst>
              <a:ext uri="{FF2B5EF4-FFF2-40B4-BE49-F238E27FC236}">
                <a16:creationId xmlns:a16="http://schemas.microsoft.com/office/drawing/2014/main" id="{30D98BBC-E892-A2E9-D2C6-4B11F64804E7}"/>
              </a:ext>
            </a:extLst>
          </p:cNvPr>
          <p:cNvPicPr>
            <a:picLocks noChangeAspect="1"/>
          </p:cNvPicPr>
          <p:nvPr/>
        </p:nvPicPr>
        <p:blipFill>
          <a:blip r:embed="rId2"/>
          <a:stretch>
            <a:fillRect/>
          </a:stretch>
        </p:blipFill>
        <p:spPr>
          <a:xfrm>
            <a:off x="2928914" y="2800338"/>
            <a:ext cx="6610398" cy="3190898"/>
          </a:xfrm>
          <a:prstGeom prst="rect">
            <a:avLst/>
          </a:prstGeom>
        </p:spPr>
      </p:pic>
    </p:spTree>
    <p:extLst>
      <p:ext uri="{BB962C8B-B14F-4D97-AF65-F5344CB8AC3E}">
        <p14:creationId xmlns:p14="http://schemas.microsoft.com/office/powerpoint/2010/main" val="14923260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A5A28-94AE-1AB9-2523-2CC88FEA7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68576-AFA9-2202-F274-CAF67A2818B4}"/>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 –CLASS B</a:t>
            </a:r>
          </a:p>
        </p:txBody>
      </p:sp>
      <p:sp>
        <p:nvSpPr>
          <p:cNvPr id="3" name="Content Placeholder 2">
            <a:extLst>
              <a:ext uri="{FF2B5EF4-FFF2-40B4-BE49-F238E27FC236}">
                <a16:creationId xmlns:a16="http://schemas.microsoft.com/office/drawing/2014/main" id="{32AEC22B-82DB-15AC-469F-BB431AA427D1}"/>
              </a:ext>
            </a:extLst>
          </p:cNvPr>
          <p:cNvSpPr>
            <a:spLocks noGrp="1"/>
          </p:cNvSpPr>
          <p:nvPr>
            <p:ph idx="1"/>
          </p:nvPr>
        </p:nvSpPr>
        <p:spPr>
          <a:xfrm>
            <a:off x="314326" y="2009774"/>
            <a:ext cx="10715625" cy="1462089"/>
          </a:xfrm>
        </p:spPr>
        <p:txBody>
          <a:bodyPr>
            <a:noAutofit/>
          </a:bodyPr>
          <a:lstStyle/>
          <a:p>
            <a:r>
              <a:rPr lang="en-US" dirty="0"/>
              <a:t>Class B IP addresses offer fewer hosts than Class A because its network portion occupies the first two octets.</a:t>
            </a:r>
          </a:p>
          <a:p>
            <a:endParaRPr lang="en-US" dirty="0"/>
          </a:p>
          <a:p>
            <a:pPr algn="l"/>
            <a:endParaRPr lang="en-US" dirty="0"/>
          </a:p>
          <a:p>
            <a:pPr marL="0" indent="0">
              <a:buNone/>
            </a:pPr>
            <a:endParaRPr lang="en-NG" sz="1600" dirty="0"/>
          </a:p>
        </p:txBody>
      </p:sp>
      <p:pic>
        <p:nvPicPr>
          <p:cNvPr id="10" name="Picture 9">
            <a:extLst>
              <a:ext uri="{FF2B5EF4-FFF2-40B4-BE49-F238E27FC236}">
                <a16:creationId xmlns:a16="http://schemas.microsoft.com/office/drawing/2014/main" id="{F6C070B6-AC82-9E00-ADDB-0DC602AD9CB8}"/>
              </a:ext>
            </a:extLst>
          </p:cNvPr>
          <p:cNvPicPr>
            <a:picLocks noChangeAspect="1"/>
          </p:cNvPicPr>
          <p:nvPr/>
        </p:nvPicPr>
        <p:blipFill>
          <a:blip r:embed="rId2"/>
          <a:stretch>
            <a:fillRect/>
          </a:stretch>
        </p:blipFill>
        <p:spPr>
          <a:xfrm>
            <a:off x="2484926" y="2847969"/>
            <a:ext cx="6858050" cy="1609737"/>
          </a:xfrm>
          <a:prstGeom prst="rect">
            <a:avLst/>
          </a:prstGeom>
        </p:spPr>
      </p:pic>
    </p:spTree>
    <p:extLst>
      <p:ext uri="{BB962C8B-B14F-4D97-AF65-F5344CB8AC3E}">
        <p14:creationId xmlns:p14="http://schemas.microsoft.com/office/powerpoint/2010/main" val="31218259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5A39B-C263-FF14-DA0E-E0F3D60A0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B6264-B7BA-DB00-D4D6-5ABD830D4F4A}"/>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 –CLASS B</a:t>
            </a:r>
          </a:p>
        </p:txBody>
      </p:sp>
      <p:sp>
        <p:nvSpPr>
          <p:cNvPr id="3" name="Content Placeholder 2">
            <a:extLst>
              <a:ext uri="{FF2B5EF4-FFF2-40B4-BE49-F238E27FC236}">
                <a16:creationId xmlns:a16="http://schemas.microsoft.com/office/drawing/2014/main" id="{4D1A9B9F-5007-CABE-EE84-02876485E7CE}"/>
              </a:ext>
            </a:extLst>
          </p:cNvPr>
          <p:cNvSpPr>
            <a:spLocks noGrp="1"/>
          </p:cNvSpPr>
          <p:nvPr>
            <p:ph idx="1"/>
          </p:nvPr>
        </p:nvSpPr>
        <p:spPr>
          <a:xfrm>
            <a:off x="314326" y="2009774"/>
            <a:ext cx="10715625" cy="1462089"/>
          </a:xfrm>
        </p:spPr>
        <p:txBody>
          <a:bodyPr>
            <a:noAutofit/>
          </a:bodyPr>
          <a:lstStyle/>
          <a:p>
            <a:r>
              <a:rPr lang="en-US" dirty="0"/>
              <a:t>Class B Subnet mask and host</a:t>
            </a:r>
          </a:p>
          <a:p>
            <a:endParaRPr lang="en-US" dirty="0"/>
          </a:p>
          <a:p>
            <a:pPr algn="l"/>
            <a:endParaRPr lang="en-US" dirty="0"/>
          </a:p>
          <a:p>
            <a:pPr marL="0" indent="0">
              <a:buNone/>
            </a:pPr>
            <a:endParaRPr lang="en-NG" sz="1600" dirty="0"/>
          </a:p>
        </p:txBody>
      </p:sp>
      <p:pic>
        <p:nvPicPr>
          <p:cNvPr id="6" name="Picture 5">
            <a:extLst>
              <a:ext uri="{FF2B5EF4-FFF2-40B4-BE49-F238E27FC236}">
                <a16:creationId xmlns:a16="http://schemas.microsoft.com/office/drawing/2014/main" id="{AC74480B-E582-2C7E-8B67-3F61EDAFBCE1}"/>
              </a:ext>
            </a:extLst>
          </p:cNvPr>
          <p:cNvPicPr>
            <a:picLocks noChangeAspect="1"/>
          </p:cNvPicPr>
          <p:nvPr/>
        </p:nvPicPr>
        <p:blipFill>
          <a:blip r:embed="rId2"/>
          <a:stretch>
            <a:fillRect/>
          </a:stretch>
        </p:blipFill>
        <p:spPr>
          <a:xfrm>
            <a:off x="3705224" y="1943325"/>
            <a:ext cx="5186387" cy="4824209"/>
          </a:xfrm>
          <a:prstGeom prst="rect">
            <a:avLst/>
          </a:prstGeom>
        </p:spPr>
      </p:pic>
    </p:spTree>
    <p:extLst>
      <p:ext uri="{BB962C8B-B14F-4D97-AF65-F5344CB8AC3E}">
        <p14:creationId xmlns:p14="http://schemas.microsoft.com/office/powerpoint/2010/main" val="35898011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4B2B9-9151-0526-5242-9BE423344E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A0939-0572-6261-ADCA-4EF627AD49FD}"/>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 –CLASS C</a:t>
            </a:r>
          </a:p>
        </p:txBody>
      </p:sp>
      <p:sp>
        <p:nvSpPr>
          <p:cNvPr id="3" name="Content Placeholder 2">
            <a:extLst>
              <a:ext uri="{FF2B5EF4-FFF2-40B4-BE49-F238E27FC236}">
                <a16:creationId xmlns:a16="http://schemas.microsoft.com/office/drawing/2014/main" id="{2D61CB35-5B9D-AE59-9664-8D249244E25A}"/>
              </a:ext>
            </a:extLst>
          </p:cNvPr>
          <p:cNvSpPr>
            <a:spLocks noGrp="1"/>
          </p:cNvSpPr>
          <p:nvPr>
            <p:ph idx="1"/>
          </p:nvPr>
        </p:nvSpPr>
        <p:spPr>
          <a:xfrm>
            <a:off x="399143" y="2312197"/>
            <a:ext cx="10715625" cy="1462089"/>
          </a:xfrm>
        </p:spPr>
        <p:txBody>
          <a:bodyPr>
            <a:noAutofit/>
          </a:bodyPr>
          <a:lstStyle/>
          <a:p>
            <a:r>
              <a:rPr lang="en-US" dirty="0"/>
              <a:t>Class C IP addresses offer the fewest hosts because the network portion occupies three octets.</a:t>
            </a:r>
          </a:p>
          <a:p>
            <a:r>
              <a:rPr lang="en-US" dirty="0"/>
              <a:t>You might notice that your home router's default IP address falls into the Class C category. This special subnet is reserved for private IP addresses; you can read why in the Network Address Translation article.</a:t>
            </a:r>
          </a:p>
          <a:p>
            <a:pPr algn="l"/>
            <a:endParaRPr lang="en-US" dirty="0"/>
          </a:p>
          <a:p>
            <a:pPr marL="0" indent="0">
              <a:buNone/>
            </a:pPr>
            <a:endParaRPr lang="en-NG" sz="1600" dirty="0"/>
          </a:p>
        </p:txBody>
      </p:sp>
      <p:pic>
        <p:nvPicPr>
          <p:cNvPr id="5" name="Picture 4">
            <a:extLst>
              <a:ext uri="{FF2B5EF4-FFF2-40B4-BE49-F238E27FC236}">
                <a16:creationId xmlns:a16="http://schemas.microsoft.com/office/drawing/2014/main" id="{162C69D9-4316-8589-57B3-232BC2984CC5}"/>
              </a:ext>
            </a:extLst>
          </p:cNvPr>
          <p:cNvPicPr>
            <a:picLocks noChangeAspect="1"/>
          </p:cNvPicPr>
          <p:nvPr/>
        </p:nvPicPr>
        <p:blipFill>
          <a:blip r:embed="rId2"/>
          <a:stretch>
            <a:fillRect/>
          </a:stretch>
        </p:blipFill>
        <p:spPr>
          <a:xfrm>
            <a:off x="1862113" y="3888580"/>
            <a:ext cx="6886625" cy="1590687"/>
          </a:xfrm>
          <a:prstGeom prst="rect">
            <a:avLst/>
          </a:prstGeom>
        </p:spPr>
      </p:pic>
    </p:spTree>
    <p:extLst>
      <p:ext uri="{BB962C8B-B14F-4D97-AF65-F5344CB8AC3E}">
        <p14:creationId xmlns:p14="http://schemas.microsoft.com/office/powerpoint/2010/main" val="25921858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71C06-E134-2741-549B-99CB4CD92F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047E7-7CEE-4C99-2C14-C7BB08951F6D}"/>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 –CLASS C</a:t>
            </a:r>
          </a:p>
        </p:txBody>
      </p:sp>
      <p:sp>
        <p:nvSpPr>
          <p:cNvPr id="3" name="Content Placeholder 2">
            <a:extLst>
              <a:ext uri="{FF2B5EF4-FFF2-40B4-BE49-F238E27FC236}">
                <a16:creationId xmlns:a16="http://schemas.microsoft.com/office/drawing/2014/main" id="{7FB96A23-3D9D-3D74-26FB-1F4B646A22EE}"/>
              </a:ext>
            </a:extLst>
          </p:cNvPr>
          <p:cNvSpPr>
            <a:spLocks noGrp="1"/>
          </p:cNvSpPr>
          <p:nvPr>
            <p:ph idx="1"/>
          </p:nvPr>
        </p:nvSpPr>
        <p:spPr>
          <a:xfrm>
            <a:off x="314326" y="2009774"/>
            <a:ext cx="10715625" cy="1462089"/>
          </a:xfrm>
        </p:spPr>
        <p:txBody>
          <a:bodyPr>
            <a:noAutofit/>
          </a:bodyPr>
          <a:lstStyle/>
          <a:p>
            <a:r>
              <a:rPr lang="en-US" dirty="0"/>
              <a:t>Class C Subnet mask and host</a:t>
            </a:r>
          </a:p>
          <a:p>
            <a:endParaRPr lang="en-US" dirty="0"/>
          </a:p>
          <a:p>
            <a:endParaRPr lang="en-US" dirty="0"/>
          </a:p>
          <a:p>
            <a:pPr algn="l"/>
            <a:endParaRPr lang="en-US" dirty="0"/>
          </a:p>
          <a:p>
            <a:pPr marL="0" indent="0">
              <a:buNone/>
            </a:pPr>
            <a:endParaRPr lang="en-NG" sz="1600" dirty="0"/>
          </a:p>
        </p:txBody>
      </p:sp>
      <p:pic>
        <p:nvPicPr>
          <p:cNvPr id="5" name="Picture 4">
            <a:extLst>
              <a:ext uri="{FF2B5EF4-FFF2-40B4-BE49-F238E27FC236}">
                <a16:creationId xmlns:a16="http://schemas.microsoft.com/office/drawing/2014/main" id="{9FCCE3DC-08F7-50A7-7E22-8E7229D04315}"/>
              </a:ext>
            </a:extLst>
          </p:cNvPr>
          <p:cNvPicPr>
            <a:picLocks noChangeAspect="1"/>
          </p:cNvPicPr>
          <p:nvPr/>
        </p:nvPicPr>
        <p:blipFill>
          <a:blip r:embed="rId2"/>
          <a:stretch>
            <a:fillRect/>
          </a:stretch>
        </p:blipFill>
        <p:spPr>
          <a:xfrm>
            <a:off x="2542076" y="2443149"/>
            <a:ext cx="6743749" cy="3600476"/>
          </a:xfrm>
          <a:prstGeom prst="rect">
            <a:avLst/>
          </a:prstGeom>
        </p:spPr>
      </p:pic>
    </p:spTree>
    <p:extLst>
      <p:ext uri="{BB962C8B-B14F-4D97-AF65-F5344CB8AC3E}">
        <p14:creationId xmlns:p14="http://schemas.microsoft.com/office/powerpoint/2010/main" val="36542103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3F331-9AF3-72B4-FBB6-E7F59CE82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425F3E-05FE-DD5C-497A-E2E22CD0E753}"/>
              </a:ext>
            </a:extLst>
          </p:cNvPr>
          <p:cNvSpPr>
            <a:spLocks noGrp="1"/>
          </p:cNvSpPr>
          <p:nvPr>
            <p:ph type="title"/>
          </p:nvPr>
        </p:nvSpPr>
        <p:spPr>
          <a:xfrm>
            <a:off x="399143" y="687641"/>
            <a:ext cx="11029616" cy="1000123"/>
          </a:xfrm>
        </p:spPr>
        <p:txBody>
          <a:bodyPr/>
          <a:lstStyle/>
          <a:p>
            <a:pPr algn="l"/>
            <a:r>
              <a:rPr lang="en-US" b="1" i="0" dirty="0">
                <a:solidFill>
                  <a:srgbClr val="1B2733"/>
                </a:solidFill>
                <a:effectLst/>
                <a:latin typeface="Arial" panose="020B0604020202020204" pitchFamily="34" charset="0"/>
              </a:rPr>
              <a:t>IP Address Classes AND SUBNET MASK –CLASS C</a:t>
            </a:r>
          </a:p>
        </p:txBody>
      </p:sp>
      <p:sp>
        <p:nvSpPr>
          <p:cNvPr id="3" name="Content Placeholder 2">
            <a:extLst>
              <a:ext uri="{FF2B5EF4-FFF2-40B4-BE49-F238E27FC236}">
                <a16:creationId xmlns:a16="http://schemas.microsoft.com/office/drawing/2014/main" id="{0318AD15-E2EB-1955-DDC9-FF37F0A36C91}"/>
              </a:ext>
            </a:extLst>
          </p:cNvPr>
          <p:cNvSpPr>
            <a:spLocks noGrp="1"/>
          </p:cNvSpPr>
          <p:nvPr>
            <p:ph idx="1"/>
          </p:nvPr>
        </p:nvSpPr>
        <p:spPr>
          <a:xfrm>
            <a:off x="337231" y="2755109"/>
            <a:ext cx="10715625" cy="1462089"/>
          </a:xfrm>
        </p:spPr>
        <p:txBody>
          <a:bodyPr>
            <a:noAutofit/>
          </a:bodyPr>
          <a:lstStyle/>
          <a:p>
            <a:r>
              <a:rPr lang="en-US" dirty="0"/>
              <a:t>Class C IP addresses offer the fewest hosts because the network portion occupies three octets.</a:t>
            </a:r>
          </a:p>
          <a:p>
            <a:r>
              <a:rPr lang="en-US" dirty="0"/>
              <a:t>You might notice that your home router's default IP address falls into the Class C category. This special subnet is reserved for private IP addresses; you can read why in the Network Address Translation article.</a:t>
            </a:r>
          </a:p>
          <a:p>
            <a:r>
              <a:rPr lang="en-US" dirty="0"/>
              <a:t>These standards make subnetting a little easier. For example, if you choose a Class 'C' address, you know it uses at least 24 bits (/24) of the 32 available bits for the network portion of the address</a:t>
            </a:r>
          </a:p>
          <a:p>
            <a:pPr algn="l"/>
            <a:endParaRPr lang="en-US" dirty="0"/>
          </a:p>
          <a:p>
            <a:pPr marL="0" indent="0">
              <a:buNone/>
            </a:pPr>
            <a:endParaRPr lang="en-NG" sz="1600" dirty="0"/>
          </a:p>
        </p:txBody>
      </p:sp>
      <p:pic>
        <p:nvPicPr>
          <p:cNvPr id="5" name="Picture 4">
            <a:extLst>
              <a:ext uri="{FF2B5EF4-FFF2-40B4-BE49-F238E27FC236}">
                <a16:creationId xmlns:a16="http://schemas.microsoft.com/office/drawing/2014/main" id="{487EC3AC-A556-06B7-E3BA-69213F4AC312}"/>
              </a:ext>
            </a:extLst>
          </p:cNvPr>
          <p:cNvPicPr>
            <a:picLocks noChangeAspect="1"/>
          </p:cNvPicPr>
          <p:nvPr/>
        </p:nvPicPr>
        <p:blipFill>
          <a:blip r:embed="rId2"/>
          <a:stretch>
            <a:fillRect/>
          </a:stretch>
        </p:blipFill>
        <p:spPr>
          <a:xfrm>
            <a:off x="1871638" y="4579672"/>
            <a:ext cx="6886625" cy="1590687"/>
          </a:xfrm>
          <a:prstGeom prst="rect">
            <a:avLst/>
          </a:prstGeom>
        </p:spPr>
      </p:pic>
    </p:spTree>
    <p:extLst>
      <p:ext uri="{BB962C8B-B14F-4D97-AF65-F5344CB8AC3E}">
        <p14:creationId xmlns:p14="http://schemas.microsoft.com/office/powerpoint/2010/main" val="2626366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DDB2D-95DD-3223-C26C-FD720E3C8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09D6E-9233-F39F-AEE7-D57424AAAA6E}"/>
              </a:ext>
            </a:extLst>
          </p:cNvPr>
          <p:cNvSpPr>
            <a:spLocks noGrp="1"/>
          </p:cNvSpPr>
          <p:nvPr>
            <p:ph type="title"/>
          </p:nvPr>
        </p:nvSpPr>
        <p:spPr>
          <a:xfrm>
            <a:off x="399143" y="687641"/>
            <a:ext cx="11029616" cy="1000123"/>
          </a:xfrm>
        </p:spPr>
        <p:txBody>
          <a:bodyPr/>
          <a:lstStyle/>
          <a:p>
            <a:r>
              <a:rPr lang="en-US" b="1" i="0" dirty="0">
                <a:solidFill>
                  <a:srgbClr val="1B2733"/>
                </a:solidFill>
                <a:effectLst/>
                <a:latin typeface="Arial" panose="020B0604020202020204" pitchFamily="34" charset="0"/>
              </a:rPr>
              <a:t>How to Subnet in IPv4</a:t>
            </a: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58C46ECB-1181-06BD-0286-9C7C3FEBD396}"/>
              </a:ext>
            </a:extLst>
          </p:cNvPr>
          <p:cNvSpPr>
            <a:spLocks noGrp="1"/>
          </p:cNvSpPr>
          <p:nvPr>
            <p:ph idx="1"/>
          </p:nvPr>
        </p:nvSpPr>
        <p:spPr>
          <a:xfrm>
            <a:off x="399143" y="2697955"/>
            <a:ext cx="10715625" cy="1462089"/>
          </a:xfrm>
        </p:spPr>
        <p:txBody>
          <a:bodyPr>
            <a:noAutofit/>
          </a:bodyPr>
          <a:lstStyle/>
          <a:p>
            <a:pPr algn="l">
              <a:buNone/>
            </a:pPr>
            <a:r>
              <a:rPr lang="en-US" sz="1600" dirty="0"/>
              <a:t>Now that we know about classes, binary, and subnets. Let's dive into a subnet.</a:t>
            </a:r>
          </a:p>
          <a:p>
            <a:pPr algn="l">
              <a:buNone/>
            </a:pPr>
            <a:r>
              <a:rPr lang="en-US" sz="1600" dirty="0"/>
              <a:t>Here's the IP address we'll use: </a:t>
            </a:r>
            <a:r>
              <a:rPr lang="en-US" sz="1600" b="1" dirty="0"/>
              <a:t>43.17.255.71/27</a:t>
            </a:r>
          </a:p>
          <a:p>
            <a:pPr algn="l">
              <a:buNone/>
            </a:pPr>
            <a:r>
              <a:rPr lang="en-US" sz="1600" dirty="0"/>
              <a:t>Here's what it looks like in binary:</a:t>
            </a:r>
          </a:p>
          <a:p>
            <a:pPr algn="l">
              <a:buNone/>
            </a:pPr>
            <a:r>
              <a:rPr lang="en-US" sz="1600" dirty="0"/>
              <a:t>00101011.00010001.111111.01000111</a:t>
            </a:r>
          </a:p>
          <a:p>
            <a:pPr algn="l">
              <a:buNone/>
            </a:pPr>
            <a:r>
              <a:rPr lang="en-US" sz="1600" dirty="0"/>
              <a:t>From the IP address, we already know two things:</a:t>
            </a:r>
          </a:p>
          <a:p>
            <a:pPr algn="l">
              <a:buFont typeface="Arial" panose="020B0604020202020204" pitchFamily="34" charset="0"/>
              <a:buChar char="•"/>
            </a:pPr>
            <a:r>
              <a:rPr lang="en-US" sz="1600" dirty="0"/>
              <a:t>It's a Class A IP Address</a:t>
            </a:r>
          </a:p>
          <a:p>
            <a:pPr algn="l">
              <a:buFont typeface="Arial" panose="020B0604020202020204" pitchFamily="34" charset="0"/>
              <a:buChar char="•"/>
            </a:pPr>
            <a:r>
              <a:rPr lang="en-US" sz="1600" dirty="0"/>
              <a:t>It must have at least eight network bits, but we're giving it 27 bits</a:t>
            </a:r>
          </a:p>
          <a:p>
            <a:pPr marL="0" indent="0" algn="l">
              <a:buNone/>
            </a:pPr>
            <a:r>
              <a:rPr lang="en-US" sz="1600" dirty="0"/>
              <a:t>In that case, we know the network portion of the subnet will occupy these bits:</a:t>
            </a:r>
          </a:p>
          <a:p>
            <a:pPr marL="0" indent="0">
              <a:buNone/>
            </a:pPr>
            <a:endParaRPr lang="en-NG" sz="1600" dirty="0"/>
          </a:p>
        </p:txBody>
      </p:sp>
      <p:pic>
        <p:nvPicPr>
          <p:cNvPr id="6" name="Picture 5">
            <a:extLst>
              <a:ext uri="{FF2B5EF4-FFF2-40B4-BE49-F238E27FC236}">
                <a16:creationId xmlns:a16="http://schemas.microsoft.com/office/drawing/2014/main" id="{ABEC9FF5-D0B1-004E-8EBB-738D0AF4E7C9}"/>
              </a:ext>
            </a:extLst>
          </p:cNvPr>
          <p:cNvPicPr>
            <a:picLocks noChangeAspect="1"/>
          </p:cNvPicPr>
          <p:nvPr/>
        </p:nvPicPr>
        <p:blipFill>
          <a:blip r:embed="rId2"/>
          <a:stretch>
            <a:fillRect/>
          </a:stretch>
        </p:blipFill>
        <p:spPr>
          <a:xfrm>
            <a:off x="2209775" y="5008310"/>
            <a:ext cx="6819950" cy="1714513"/>
          </a:xfrm>
          <a:prstGeom prst="rect">
            <a:avLst/>
          </a:prstGeom>
        </p:spPr>
      </p:pic>
    </p:spTree>
    <p:extLst>
      <p:ext uri="{BB962C8B-B14F-4D97-AF65-F5344CB8AC3E}">
        <p14:creationId xmlns:p14="http://schemas.microsoft.com/office/powerpoint/2010/main" val="2975356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37BD3-F81A-ADBA-0BD3-79914F654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295A4-7821-575C-0750-3541A5272F70}"/>
              </a:ext>
            </a:extLst>
          </p:cNvPr>
          <p:cNvSpPr>
            <a:spLocks noGrp="1"/>
          </p:cNvSpPr>
          <p:nvPr>
            <p:ph type="title"/>
          </p:nvPr>
        </p:nvSpPr>
        <p:spPr>
          <a:xfrm>
            <a:off x="399143" y="687641"/>
            <a:ext cx="11029616" cy="1000123"/>
          </a:xfrm>
        </p:spPr>
        <p:txBody>
          <a:bodyPr/>
          <a:lstStyle/>
          <a:p>
            <a:r>
              <a:rPr lang="en-US" b="1" i="0" dirty="0">
                <a:solidFill>
                  <a:srgbClr val="1B2733"/>
                </a:solidFill>
                <a:effectLst/>
                <a:latin typeface="Arial" panose="020B0604020202020204" pitchFamily="34" charset="0"/>
              </a:rPr>
              <a:t>How to Subnet in IPv4</a:t>
            </a: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E5F70A80-6A0D-A67B-13B3-0BEC7ABB9EFB}"/>
              </a:ext>
            </a:extLst>
          </p:cNvPr>
          <p:cNvSpPr>
            <a:spLocks noGrp="1"/>
          </p:cNvSpPr>
          <p:nvPr>
            <p:ph idx="1"/>
          </p:nvPr>
        </p:nvSpPr>
        <p:spPr>
          <a:xfrm>
            <a:off x="399143" y="2697955"/>
            <a:ext cx="10715625" cy="1462089"/>
          </a:xfrm>
        </p:spPr>
        <p:txBody>
          <a:bodyPr>
            <a:noAutofit/>
          </a:bodyPr>
          <a:lstStyle/>
          <a:p>
            <a:pPr algn="l">
              <a:buNone/>
            </a:pPr>
            <a:r>
              <a:rPr lang="en-US" sz="1600" dirty="0"/>
              <a:t>Let's reverse engineer this last octet to determine the network portion of the address or what the subnet is for this address.</a:t>
            </a:r>
          </a:p>
          <a:p>
            <a:pPr algn="l">
              <a:buNone/>
            </a:pPr>
            <a:r>
              <a:rPr lang="en-US" sz="1600" dirty="0"/>
              <a:t>Here's what we want to do:</a:t>
            </a:r>
          </a:p>
          <a:p>
            <a:pPr marL="0" indent="0" algn="l">
              <a:buNone/>
            </a:pPr>
            <a:r>
              <a:rPr lang="en-US" sz="1600" dirty="0"/>
              <a:t>	Determine the number of allowed subnets using the /27 network mask</a:t>
            </a:r>
          </a:p>
          <a:p>
            <a:pPr marL="0" indent="0" algn="l">
              <a:buNone/>
            </a:pPr>
            <a:r>
              <a:rPr lang="en-US" sz="1600" dirty="0"/>
              <a:t>	Determine what subnet the address lies in</a:t>
            </a:r>
          </a:p>
          <a:p>
            <a:pPr algn="l"/>
            <a:r>
              <a:rPr lang="en-US" sz="1600" dirty="0"/>
              <a:t>Here's an example:</a:t>
            </a:r>
          </a:p>
          <a:p>
            <a:pPr algn="l"/>
            <a:endParaRPr lang="en-US" sz="1600" dirty="0"/>
          </a:p>
          <a:p>
            <a:pPr marL="0" indent="0">
              <a:buNone/>
            </a:pPr>
            <a:endParaRPr lang="en-NG" sz="1600" dirty="0"/>
          </a:p>
        </p:txBody>
      </p:sp>
      <p:pic>
        <p:nvPicPr>
          <p:cNvPr id="5" name="Picture 4">
            <a:extLst>
              <a:ext uri="{FF2B5EF4-FFF2-40B4-BE49-F238E27FC236}">
                <a16:creationId xmlns:a16="http://schemas.microsoft.com/office/drawing/2014/main" id="{5589DFF0-5414-E393-A6CF-72F2B9E556A8}"/>
              </a:ext>
            </a:extLst>
          </p:cNvPr>
          <p:cNvPicPr>
            <a:picLocks noChangeAspect="1"/>
          </p:cNvPicPr>
          <p:nvPr/>
        </p:nvPicPr>
        <p:blipFill>
          <a:blip r:embed="rId2"/>
          <a:stretch>
            <a:fillRect/>
          </a:stretch>
        </p:blipFill>
        <p:spPr>
          <a:xfrm>
            <a:off x="1819249" y="4160044"/>
            <a:ext cx="6791375" cy="1771663"/>
          </a:xfrm>
          <a:prstGeom prst="rect">
            <a:avLst/>
          </a:prstGeom>
        </p:spPr>
      </p:pic>
      <p:sp>
        <p:nvSpPr>
          <p:cNvPr id="7" name="TextBox 6">
            <a:extLst>
              <a:ext uri="{FF2B5EF4-FFF2-40B4-BE49-F238E27FC236}">
                <a16:creationId xmlns:a16="http://schemas.microsoft.com/office/drawing/2014/main" id="{E3ACE161-E8D7-4D05-5F3E-F508F8E27660}"/>
              </a:ext>
            </a:extLst>
          </p:cNvPr>
          <p:cNvSpPr txBox="1"/>
          <p:nvPr/>
        </p:nvSpPr>
        <p:spPr>
          <a:xfrm>
            <a:off x="628650" y="6213221"/>
            <a:ext cx="9686925" cy="338554"/>
          </a:xfrm>
          <a:prstGeom prst="rect">
            <a:avLst/>
          </a:prstGeom>
          <a:noFill/>
        </p:spPr>
        <p:txBody>
          <a:bodyPr wrap="square" rtlCol="0">
            <a:spAutoFit/>
          </a:bodyPr>
          <a:lstStyle/>
          <a:p>
            <a:r>
              <a:rPr lang="en-US" sz="1600" dirty="0">
                <a:solidFill>
                  <a:schemeClr val="tx1">
                    <a:lumMod val="75000"/>
                    <a:lumOff val="25000"/>
                  </a:schemeClr>
                </a:solidFill>
              </a:rPr>
              <a:t>**This gives us eight possible subnets with the /27 mask.</a:t>
            </a:r>
            <a:endParaRPr lang="en-NG" sz="1600" dirty="0">
              <a:solidFill>
                <a:schemeClr val="tx1">
                  <a:lumMod val="75000"/>
                  <a:lumOff val="25000"/>
                </a:schemeClr>
              </a:solidFill>
            </a:endParaRPr>
          </a:p>
        </p:txBody>
      </p:sp>
    </p:spTree>
    <p:extLst>
      <p:ext uri="{BB962C8B-B14F-4D97-AF65-F5344CB8AC3E}">
        <p14:creationId xmlns:p14="http://schemas.microsoft.com/office/powerpoint/2010/main" val="17960644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1378B-8751-86BC-88A5-AB0204738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AA793-2BC5-EAC2-4EFE-51A25ADBDE8D}"/>
              </a:ext>
            </a:extLst>
          </p:cNvPr>
          <p:cNvSpPr>
            <a:spLocks noGrp="1"/>
          </p:cNvSpPr>
          <p:nvPr>
            <p:ph type="title"/>
          </p:nvPr>
        </p:nvSpPr>
        <p:spPr>
          <a:xfrm>
            <a:off x="399143" y="687641"/>
            <a:ext cx="11029616" cy="1000123"/>
          </a:xfrm>
        </p:spPr>
        <p:txBody>
          <a:bodyPr/>
          <a:lstStyle/>
          <a:p>
            <a:r>
              <a:rPr lang="en-US" b="1" i="0" dirty="0">
                <a:solidFill>
                  <a:srgbClr val="1B2733"/>
                </a:solidFill>
                <a:effectLst/>
                <a:latin typeface="Arial" panose="020B0604020202020204" pitchFamily="34" charset="0"/>
              </a:rPr>
              <a:t>How to Subnet in IPv4</a:t>
            </a: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964FC153-0969-8047-66BD-8E0FB08E1428}"/>
              </a:ext>
            </a:extLst>
          </p:cNvPr>
          <p:cNvSpPr>
            <a:spLocks noGrp="1"/>
          </p:cNvSpPr>
          <p:nvPr>
            <p:ph idx="1"/>
          </p:nvPr>
        </p:nvSpPr>
        <p:spPr>
          <a:xfrm>
            <a:off x="399143" y="2697955"/>
            <a:ext cx="10715625" cy="1462089"/>
          </a:xfrm>
        </p:spPr>
        <p:txBody>
          <a:bodyPr>
            <a:noAutofit/>
          </a:bodyPr>
          <a:lstStyle/>
          <a:p>
            <a:pPr algn="l">
              <a:buNone/>
            </a:pPr>
            <a:r>
              <a:rPr lang="en-US" sz="1600" dirty="0"/>
              <a:t>Let's reverse engineer this last octet to determine the network portion of the address or what the subnet is for this address.</a:t>
            </a:r>
          </a:p>
          <a:p>
            <a:pPr algn="l">
              <a:buNone/>
            </a:pPr>
            <a:r>
              <a:rPr lang="en-US" sz="1600" dirty="0"/>
              <a:t>Here's what we want to do:</a:t>
            </a:r>
          </a:p>
          <a:p>
            <a:pPr marL="0" indent="0" algn="l">
              <a:buNone/>
            </a:pPr>
            <a:r>
              <a:rPr lang="en-US" sz="1600" dirty="0"/>
              <a:t>	1, Determine the number of allowed subnets using the /27 network mask</a:t>
            </a:r>
          </a:p>
          <a:p>
            <a:pPr marL="0" indent="0" algn="l">
              <a:buNone/>
            </a:pPr>
            <a:r>
              <a:rPr lang="en-US" sz="1600" dirty="0"/>
              <a:t>	2, Determine what subnet the address lies in</a:t>
            </a:r>
          </a:p>
          <a:p>
            <a:pPr algn="l"/>
            <a:r>
              <a:rPr lang="en-US" sz="1600" dirty="0"/>
              <a:t>Here's an example:</a:t>
            </a:r>
          </a:p>
          <a:p>
            <a:pPr algn="l"/>
            <a:endParaRPr lang="en-US" sz="1600" dirty="0"/>
          </a:p>
          <a:p>
            <a:pPr marL="0" indent="0">
              <a:buNone/>
            </a:pPr>
            <a:endParaRPr lang="en-NG" sz="1600" dirty="0"/>
          </a:p>
        </p:txBody>
      </p:sp>
      <p:pic>
        <p:nvPicPr>
          <p:cNvPr id="5" name="Picture 4">
            <a:extLst>
              <a:ext uri="{FF2B5EF4-FFF2-40B4-BE49-F238E27FC236}">
                <a16:creationId xmlns:a16="http://schemas.microsoft.com/office/drawing/2014/main" id="{47B6302C-D98C-FDFE-C169-B5207DF7A25D}"/>
              </a:ext>
            </a:extLst>
          </p:cNvPr>
          <p:cNvPicPr>
            <a:picLocks noChangeAspect="1"/>
          </p:cNvPicPr>
          <p:nvPr/>
        </p:nvPicPr>
        <p:blipFill>
          <a:blip r:embed="rId2"/>
          <a:stretch>
            <a:fillRect/>
          </a:stretch>
        </p:blipFill>
        <p:spPr>
          <a:xfrm>
            <a:off x="1819249" y="4160044"/>
            <a:ext cx="6791375" cy="1771663"/>
          </a:xfrm>
          <a:prstGeom prst="rect">
            <a:avLst/>
          </a:prstGeom>
        </p:spPr>
      </p:pic>
      <p:sp>
        <p:nvSpPr>
          <p:cNvPr id="7" name="TextBox 6">
            <a:extLst>
              <a:ext uri="{FF2B5EF4-FFF2-40B4-BE49-F238E27FC236}">
                <a16:creationId xmlns:a16="http://schemas.microsoft.com/office/drawing/2014/main" id="{AB52E582-86DC-1A2D-4A71-A3A0BAC79B19}"/>
              </a:ext>
            </a:extLst>
          </p:cNvPr>
          <p:cNvSpPr txBox="1"/>
          <p:nvPr/>
        </p:nvSpPr>
        <p:spPr>
          <a:xfrm>
            <a:off x="628650" y="6213221"/>
            <a:ext cx="9686925" cy="338554"/>
          </a:xfrm>
          <a:prstGeom prst="rect">
            <a:avLst/>
          </a:prstGeom>
          <a:noFill/>
        </p:spPr>
        <p:txBody>
          <a:bodyPr wrap="square" rtlCol="0">
            <a:spAutoFit/>
          </a:bodyPr>
          <a:lstStyle/>
          <a:p>
            <a:r>
              <a:rPr lang="en-US" sz="1600" dirty="0">
                <a:solidFill>
                  <a:schemeClr val="tx1">
                    <a:lumMod val="75000"/>
                    <a:lumOff val="25000"/>
                  </a:schemeClr>
                </a:solidFill>
              </a:rPr>
              <a:t>**This gives us eight possible subnets with the /27 mask.</a:t>
            </a:r>
            <a:endParaRPr lang="en-NG" sz="1600" dirty="0">
              <a:solidFill>
                <a:schemeClr val="tx1">
                  <a:lumMod val="75000"/>
                  <a:lumOff val="25000"/>
                </a:schemeClr>
              </a:solidFill>
            </a:endParaRPr>
          </a:p>
        </p:txBody>
      </p:sp>
    </p:spTree>
    <p:extLst>
      <p:ext uri="{BB962C8B-B14F-4D97-AF65-F5344CB8AC3E}">
        <p14:creationId xmlns:p14="http://schemas.microsoft.com/office/powerpoint/2010/main" val="32847003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2E9DA-2A4B-61FE-EB23-56847B04B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EA593-D675-753D-A5B8-7A26116E722A}"/>
              </a:ext>
            </a:extLst>
          </p:cNvPr>
          <p:cNvSpPr>
            <a:spLocks noGrp="1"/>
          </p:cNvSpPr>
          <p:nvPr>
            <p:ph type="title"/>
          </p:nvPr>
        </p:nvSpPr>
        <p:spPr>
          <a:xfrm>
            <a:off x="399143" y="687641"/>
            <a:ext cx="11029616" cy="1000123"/>
          </a:xfrm>
        </p:spPr>
        <p:txBody>
          <a:bodyPr/>
          <a:lstStyle/>
          <a:p>
            <a:r>
              <a:rPr lang="en-US" b="1" i="0" dirty="0">
                <a:solidFill>
                  <a:srgbClr val="1B2733"/>
                </a:solidFill>
                <a:effectLst/>
                <a:latin typeface="Arial" panose="020B0604020202020204" pitchFamily="34" charset="0"/>
              </a:rPr>
              <a:t>How to Subnet in IPv4</a:t>
            </a: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8550AC83-F446-C6F5-5CF9-F8F8372082E3}"/>
              </a:ext>
            </a:extLst>
          </p:cNvPr>
          <p:cNvSpPr>
            <a:spLocks noGrp="1"/>
          </p:cNvSpPr>
          <p:nvPr>
            <p:ph idx="1"/>
          </p:nvPr>
        </p:nvSpPr>
        <p:spPr>
          <a:xfrm>
            <a:off x="399143" y="4238623"/>
            <a:ext cx="5477782" cy="1462089"/>
          </a:xfrm>
        </p:spPr>
        <p:txBody>
          <a:bodyPr>
            <a:noAutofit/>
          </a:bodyPr>
          <a:lstStyle/>
          <a:p>
            <a:pPr algn="l">
              <a:buNone/>
            </a:pPr>
            <a:r>
              <a:rPr lang="en-US" sz="1600" dirty="0"/>
              <a:t>How to determine what subnet your IP address lives</a:t>
            </a:r>
          </a:p>
          <a:p>
            <a:pPr algn="l">
              <a:buNone/>
            </a:pPr>
            <a:r>
              <a:rPr lang="en-US" sz="1600" dirty="0"/>
              <a:t>Now, let's find the subnet address where this IP address resides.</a:t>
            </a:r>
          </a:p>
          <a:p>
            <a:pPr algn="l">
              <a:buNone/>
            </a:pPr>
            <a:r>
              <a:rPr lang="en-US" sz="1600" dirty="0"/>
              <a:t>Remember that the IP address is </a:t>
            </a:r>
            <a:r>
              <a:rPr lang="en-US" sz="1600" b="1" dirty="0"/>
              <a:t>43.17.255.71</a:t>
            </a:r>
          </a:p>
          <a:p>
            <a:pPr algn="l"/>
            <a:r>
              <a:rPr lang="en-US" sz="1600" dirty="0"/>
              <a:t>We are only looking at the last octet because the first three octets are the network portion.</a:t>
            </a:r>
          </a:p>
          <a:p>
            <a:pPr marL="0" indent="0" algn="l">
              <a:buNone/>
            </a:pPr>
            <a:r>
              <a:rPr lang="en-US" sz="1600" dirty="0"/>
              <a:t>43.17.255.71</a:t>
            </a:r>
          </a:p>
          <a:p>
            <a:pPr marL="0" indent="0" algn="l">
              <a:buNone/>
            </a:pPr>
            <a:endParaRPr lang="en-US" sz="1600" dirty="0"/>
          </a:p>
          <a:p>
            <a:pPr marL="0" indent="0" algn="l">
              <a:buNone/>
            </a:pPr>
            <a:r>
              <a:rPr lang="en-US" sz="1600" dirty="0"/>
              <a:t>We just have to take a look at our table again. 71 falls above the 43.17.255.64 subnet and below the 43.17.255.96 subnet. </a:t>
            </a:r>
          </a:p>
          <a:p>
            <a:pPr marL="0" indent="0" algn="l">
              <a:buNone/>
            </a:pPr>
            <a:r>
              <a:rPr lang="en-US" sz="1600" dirty="0"/>
              <a:t>So it belongs in the 43.17.255.64 subnet.</a:t>
            </a:r>
          </a:p>
          <a:p>
            <a:pPr marL="0" indent="0" algn="l">
              <a:buNone/>
            </a:pPr>
            <a:br>
              <a:rPr lang="en-US" sz="1600" dirty="0"/>
            </a:br>
            <a:r>
              <a:rPr lang="en-US" sz="1600" dirty="0"/>
              <a:t>We now have the subnet for 43.17.255.71: </a:t>
            </a:r>
            <a:r>
              <a:rPr lang="en-US" sz="1600" b="1" dirty="0"/>
              <a:t>43.17.255.64</a:t>
            </a:r>
            <a:r>
              <a:rPr lang="en-US" sz="1600" dirty="0"/>
              <a:t>.</a:t>
            </a:r>
          </a:p>
          <a:p>
            <a:pPr marL="0" indent="0" algn="l">
              <a:buNone/>
            </a:pPr>
            <a:endParaRPr lang="en-US" sz="1600" dirty="0"/>
          </a:p>
          <a:p>
            <a:pPr marL="0" indent="0" algn="l">
              <a:buNone/>
            </a:pPr>
            <a:endParaRPr lang="en-US" sz="1600" dirty="0"/>
          </a:p>
          <a:p>
            <a:pPr algn="l"/>
            <a:endParaRPr lang="en-US" sz="1600" dirty="0"/>
          </a:p>
          <a:p>
            <a:pPr marL="0" indent="0">
              <a:buNone/>
            </a:pPr>
            <a:endParaRPr lang="en-NG" sz="1600" dirty="0"/>
          </a:p>
        </p:txBody>
      </p:sp>
      <p:pic>
        <p:nvPicPr>
          <p:cNvPr id="8" name="Picture 7">
            <a:extLst>
              <a:ext uri="{FF2B5EF4-FFF2-40B4-BE49-F238E27FC236}">
                <a16:creationId xmlns:a16="http://schemas.microsoft.com/office/drawing/2014/main" id="{B0F150E4-932E-C171-FAD9-4F2F588C5F25}"/>
              </a:ext>
            </a:extLst>
          </p:cNvPr>
          <p:cNvPicPr>
            <a:picLocks noChangeAspect="1"/>
          </p:cNvPicPr>
          <p:nvPr/>
        </p:nvPicPr>
        <p:blipFill>
          <a:blip r:embed="rId2"/>
          <a:stretch>
            <a:fillRect/>
          </a:stretch>
        </p:blipFill>
        <p:spPr>
          <a:xfrm>
            <a:off x="5913951" y="2483348"/>
            <a:ext cx="5729312" cy="3317392"/>
          </a:xfrm>
          <a:prstGeom prst="rect">
            <a:avLst/>
          </a:prstGeom>
        </p:spPr>
      </p:pic>
    </p:spTree>
    <p:extLst>
      <p:ext uri="{BB962C8B-B14F-4D97-AF65-F5344CB8AC3E}">
        <p14:creationId xmlns:p14="http://schemas.microsoft.com/office/powerpoint/2010/main" val="15613336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90B40-D0D3-5755-24E8-CD8936C67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34583-0749-1FA7-44FB-A35F2952ACA9}"/>
              </a:ext>
            </a:extLst>
          </p:cNvPr>
          <p:cNvSpPr>
            <a:spLocks noGrp="1"/>
          </p:cNvSpPr>
          <p:nvPr>
            <p:ph type="title"/>
          </p:nvPr>
        </p:nvSpPr>
        <p:spPr>
          <a:xfrm>
            <a:off x="480106" y="1297241"/>
            <a:ext cx="11029616" cy="1000123"/>
          </a:xfrm>
        </p:spPr>
        <p:txBody>
          <a:bodyPr>
            <a:normAutofit fontScale="90000"/>
          </a:bodyPr>
          <a:lstStyle/>
          <a:p>
            <a:r>
              <a:rPr lang="en-US" dirty="0"/>
              <a:t>Classless Inter-Domain Routing (CIDR) Notation</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FBE2205B-797E-87DE-A864-A0569A2B8819}"/>
              </a:ext>
            </a:extLst>
          </p:cNvPr>
          <p:cNvSpPr>
            <a:spLocks noGrp="1"/>
          </p:cNvSpPr>
          <p:nvPr>
            <p:ph idx="1"/>
          </p:nvPr>
        </p:nvSpPr>
        <p:spPr>
          <a:xfrm>
            <a:off x="399143" y="2697955"/>
            <a:ext cx="10715625" cy="1462089"/>
          </a:xfrm>
        </p:spPr>
        <p:txBody>
          <a:bodyPr>
            <a:noAutofit/>
          </a:bodyPr>
          <a:lstStyle/>
          <a:p>
            <a:r>
              <a:rPr lang="en-US" sz="1600" dirty="0"/>
              <a:t>CIDR (Classless Inter-Domain Routing) is a method used to efficiently allocate IP addresses on a network. CIDR allows network administrators to create subnets by allocating IP addresses based on size and need. This enhances the security, organization, and efficiency of the network. </a:t>
            </a:r>
          </a:p>
          <a:p>
            <a:r>
              <a:rPr lang="en-US" sz="1600" b="0" i="0" dirty="0">
                <a:solidFill>
                  <a:srgbClr val="1B2733"/>
                </a:solidFill>
                <a:effectLst/>
                <a:latin typeface="Source Sans Pro" panose="020B0503030403020204" pitchFamily="34" charset="0"/>
              </a:rPr>
              <a:t> CIDR also incorporates concepts such as IP addresses, subnetting, and route table management — all of which we will go over in detail. But first, let’s delve into CIDR notation and all its benefits.</a:t>
            </a:r>
            <a:r>
              <a:rPr lang="en-US" sz="1600" dirty="0"/>
              <a:t>	</a:t>
            </a:r>
          </a:p>
          <a:p>
            <a:pPr marL="0" indent="0">
              <a:buNone/>
            </a:pPr>
            <a:endParaRPr lang="en-NG" sz="1600" dirty="0"/>
          </a:p>
        </p:txBody>
      </p:sp>
    </p:spTree>
    <p:extLst>
      <p:ext uri="{BB962C8B-B14F-4D97-AF65-F5344CB8AC3E}">
        <p14:creationId xmlns:p14="http://schemas.microsoft.com/office/powerpoint/2010/main" val="6051290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13851-E4A1-70C5-C727-A70720CE7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3795FC-7E92-C4AD-7F25-5B3E2403F707}"/>
              </a:ext>
            </a:extLst>
          </p:cNvPr>
          <p:cNvSpPr>
            <a:spLocks noGrp="1"/>
          </p:cNvSpPr>
          <p:nvPr>
            <p:ph type="title"/>
          </p:nvPr>
        </p:nvSpPr>
        <p:spPr>
          <a:xfrm>
            <a:off x="480106" y="1297241"/>
            <a:ext cx="11029616" cy="1000123"/>
          </a:xfrm>
        </p:spPr>
        <p:txBody>
          <a:bodyPr>
            <a:normAutofit fontScale="90000"/>
          </a:bodyPr>
          <a:lstStyle/>
          <a:p>
            <a:r>
              <a:rPr lang="en-US" dirty="0"/>
              <a:t>Classless Inter-Domain Routing (CIDR) Notation</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3E0291D5-764F-4418-0C53-33C955C64EFD}"/>
              </a:ext>
            </a:extLst>
          </p:cNvPr>
          <p:cNvSpPr>
            <a:spLocks noGrp="1"/>
          </p:cNvSpPr>
          <p:nvPr>
            <p:ph idx="1"/>
          </p:nvPr>
        </p:nvSpPr>
        <p:spPr>
          <a:xfrm>
            <a:off x="399143" y="2697955"/>
            <a:ext cx="10715625" cy="1462089"/>
          </a:xfrm>
        </p:spPr>
        <p:txBody>
          <a:bodyPr>
            <a:noAutofit/>
          </a:bodyPr>
          <a:lstStyle/>
          <a:p>
            <a:pPr algn="just"/>
            <a:r>
              <a:rPr lang="en-US" sz="1600" b="0" i="0" dirty="0">
                <a:solidFill>
                  <a:srgbClr val="1B2733"/>
                </a:solidFill>
                <a:effectLst/>
                <a:latin typeface="Source Sans Pro" panose="020B0503030403020204" pitchFamily="34" charset="0"/>
              </a:rPr>
              <a:t> CIDR notation is a concise method to represent an IP address and its associated network prefix. The core part signifies the network prefix, while the CIDR suffix determines the variation or available addresses.</a:t>
            </a:r>
          </a:p>
          <a:p>
            <a:pPr algn="just"/>
            <a:r>
              <a:rPr lang="en-US" sz="1600" b="0" i="0" dirty="0">
                <a:solidFill>
                  <a:srgbClr val="1B2733"/>
                </a:solidFill>
                <a:effectLst/>
                <a:latin typeface="Source Sans Pro" panose="020B0503030403020204" pitchFamily="34" charset="0"/>
              </a:rPr>
              <a:t>All IPv4 addresses are 32 bits, which can be broken up into 4 bytes, so the CIDR suffix informs the reader how many bits are already allocated. The full form of CIDR suffix will never be higher than 32 since that would be larger than the IP address itself.</a:t>
            </a:r>
          </a:p>
          <a:p>
            <a:pPr marL="0" indent="0">
              <a:buNone/>
            </a:pPr>
            <a:r>
              <a:rPr lang="en-US" sz="1600" dirty="0"/>
              <a:t>	</a:t>
            </a:r>
          </a:p>
          <a:p>
            <a:pPr marL="0" indent="0">
              <a:buNone/>
            </a:pPr>
            <a:endParaRPr lang="en-NG" sz="1600" dirty="0"/>
          </a:p>
        </p:txBody>
      </p:sp>
    </p:spTree>
    <p:extLst>
      <p:ext uri="{BB962C8B-B14F-4D97-AF65-F5344CB8AC3E}">
        <p14:creationId xmlns:p14="http://schemas.microsoft.com/office/powerpoint/2010/main" val="8209993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69230-C15B-1660-47F6-AE0937E95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EA936-8274-3C67-8DAA-F0C6644DF381}"/>
              </a:ext>
            </a:extLst>
          </p:cNvPr>
          <p:cNvSpPr>
            <a:spLocks noGrp="1"/>
          </p:cNvSpPr>
          <p:nvPr>
            <p:ph type="title"/>
          </p:nvPr>
        </p:nvSpPr>
        <p:spPr>
          <a:xfrm>
            <a:off x="480106" y="1297241"/>
            <a:ext cx="11029616" cy="1000123"/>
          </a:xfrm>
        </p:spPr>
        <p:txBody>
          <a:bodyPr>
            <a:normAutofit fontScale="90000"/>
          </a:bodyPr>
          <a:lstStyle/>
          <a:p>
            <a:r>
              <a:rPr lang="en-US" dirty="0"/>
              <a:t>CIDR Notation - SYNTAX</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47903CF5-04E2-BFAC-B2BE-91A733B469B6}"/>
              </a:ext>
            </a:extLst>
          </p:cNvPr>
          <p:cNvSpPr>
            <a:spLocks noGrp="1"/>
          </p:cNvSpPr>
          <p:nvPr>
            <p:ph idx="1"/>
          </p:nvPr>
        </p:nvSpPr>
        <p:spPr>
          <a:xfrm>
            <a:off x="480106" y="3269455"/>
            <a:ext cx="10715625" cy="1462089"/>
          </a:xfrm>
        </p:spPr>
        <p:txBody>
          <a:bodyPr>
            <a:noAutofit/>
          </a:bodyPr>
          <a:lstStyle/>
          <a:p>
            <a:pPr marL="0" indent="0" algn="just">
              <a:buNone/>
            </a:pPr>
            <a:r>
              <a:rPr lang="en-NG" sz="1600" dirty="0">
                <a:solidFill>
                  <a:srgbClr val="1B2733"/>
                </a:solidFill>
                <a:latin typeface="Source Sans Pro" panose="020B0503030403020204" pitchFamily="34" charset="0"/>
              </a:rPr>
              <a:t>192.168.1.0/24</a:t>
            </a:r>
          </a:p>
          <a:p>
            <a:pPr algn="just"/>
            <a:r>
              <a:rPr lang="en-US" sz="1600" dirty="0">
                <a:solidFill>
                  <a:srgbClr val="1B2733"/>
                </a:solidFill>
                <a:latin typeface="Source Sans Pro" panose="020B0503030403020204" pitchFamily="34" charset="0"/>
              </a:rPr>
              <a:t>IP Address: Everything before the slash is the network IP address. All IP addresses will be a variation of the 192.168.1.X, where X is the host.</a:t>
            </a:r>
          </a:p>
          <a:p>
            <a:pPr algn="just"/>
            <a:r>
              <a:rPr lang="en-US" sz="1600" dirty="0">
                <a:solidFill>
                  <a:srgbClr val="1B2733"/>
                </a:solidFill>
                <a:latin typeface="Source Sans Pro" panose="020B0503030403020204" pitchFamily="34" charset="0"/>
              </a:rPr>
              <a:t>CIDR Notation: The slash and everything after it is the CIDR notation. The 24 represents the number of bits that are allocated to the IP addresses. Find the difference between 32 and 24 to determine how many bits are available for allocation.</a:t>
            </a:r>
          </a:p>
          <a:p>
            <a:pPr algn="just"/>
            <a:r>
              <a:rPr lang="en-US" sz="1600" dirty="0">
                <a:solidFill>
                  <a:srgbClr val="1B2733"/>
                </a:solidFill>
                <a:latin typeface="Source Sans Pro" panose="020B0503030403020204" pitchFamily="34" charset="0"/>
              </a:rPr>
              <a:t>Prefix: The network prefix is 192.168.1. These three octets are reserved and will remain unchanged throughout the IP allocation process.</a:t>
            </a:r>
          </a:p>
          <a:p>
            <a:pPr algn="just"/>
            <a:r>
              <a:rPr lang="en-US" sz="1600" dirty="0">
                <a:solidFill>
                  <a:srgbClr val="1B2733"/>
                </a:solidFill>
                <a:latin typeface="Source Sans Pro" panose="020B0503030403020204" pitchFamily="34" charset="0"/>
              </a:rPr>
              <a:t>Host: The host, part of the IP address ("0" in this example), is the section that identifies specific devices within the network. In this case, the last 8 bits (as determined by the "/24" CIDR notation) are available for different hosts on this network, allowing for 256 unique host addresses (2^8 = 256).</a:t>
            </a:r>
          </a:p>
          <a:p>
            <a:pPr marL="0" indent="0">
              <a:buNone/>
            </a:pPr>
            <a:r>
              <a:rPr lang="en-US" sz="1600" dirty="0"/>
              <a:t>	</a:t>
            </a:r>
          </a:p>
          <a:p>
            <a:pPr marL="0" indent="0">
              <a:buNone/>
            </a:pPr>
            <a:endParaRPr lang="en-NG" sz="1600" dirty="0"/>
          </a:p>
        </p:txBody>
      </p:sp>
    </p:spTree>
    <p:extLst>
      <p:ext uri="{BB962C8B-B14F-4D97-AF65-F5344CB8AC3E}">
        <p14:creationId xmlns:p14="http://schemas.microsoft.com/office/powerpoint/2010/main" val="2303148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0335D-42C7-4BF8-8719-084ED9AF7A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E396DF-9153-9249-01F8-30B595076944}"/>
              </a:ext>
            </a:extLst>
          </p:cNvPr>
          <p:cNvSpPr>
            <a:spLocks noGrp="1"/>
          </p:cNvSpPr>
          <p:nvPr>
            <p:ph type="title"/>
          </p:nvPr>
        </p:nvSpPr>
        <p:spPr>
          <a:xfrm>
            <a:off x="480106" y="1297241"/>
            <a:ext cx="11029616" cy="1000123"/>
          </a:xfrm>
        </p:spPr>
        <p:txBody>
          <a:bodyPr>
            <a:normAutofit fontScale="90000"/>
          </a:bodyPr>
          <a:lstStyle/>
          <a:p>
            <a:r>
              <a:rPr lang="en-US" dirty="0"/>
              <a:t>CIDR Notation - SYNTAX</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831170D9-E812-4F16-465A-AE0BD00805CA}"/>
              </a:ext>
            </a:extLst>
          </p:cNvPr>
          <p:cNvSpPr>
            <a:spLocks noGrp="1"/>
          </p:cNvSpPr>
          <p:nvPr>
            <p:ph idx="1"/>
          </p:nvPr>
        </p:nvSpPr>
        <p:spPr>
          <a:xfrm>
            <a:off x="480106" y="3269455"/>
            <a:ext cx="10715625" cy="1462089"/>
          </a:xfrm>
        </p:spPr>
        <p:txBody>
          <a:bodyPr>
            <a:noAutofit/>
          </a:bodyPr>
          <a:lstStyle/>
          <a:p>
            <a:pPr marL="0" indent="0" algn="just">
              <a:buNone/>
            </a:pPr>
            <a:r>
              <a:rPr lang="en-NG" sz="1600" dirty="0">
                <a:solidFill>
                  <a:srgbClr val="1B2733"/>
                </a:solidFill>
                <a:latin typeface="Source Sans Pro" panose="020B0503030403020204" pitchFamily="34" charset="0"/>
              </a:rPr>
              <a:t>192.168.1.0/24</a:t>
            </a:r>
          </a:p>
          <a:p>
            <a:pPr algn="l">
              <a:buNone/>
            </a:pPr>
            <a:r>
              <a:rPr lang="en-US" sz="1600" b="0" i="0" dirty="0">
                <a:solidFill>
                  <a:srgbClr val="1B2733"/>
                </a:solidFill>
                <a:effectLst/>
                <a:latin typeface="Source Sans Pro" panose="020B0503030403020204" pitchFamily="34" charset="0"/>
              </a:rPr>
              <a:t>To bring the point home, the available IP addresses for this CIDR notation would be:</a:t>
            </a:r>
          </a:p>
          <a:p>
            <a:pPr algn="l">
              <a:buFont typeface="Arial" panose="020B0604020202020204" pitchFamily="34" charset="0"/>
              <a:buChar char="•"/>
            </a:pPr>
            <a:r>
              <a:rPr lang="en-US" sz="1600" b="0" i="0" dirty="0">
                <a:solidFill>
                  <a:srgbClr val="1B2733"/>
                </a:solidFill>
                <a:effectLst/>
                <a:latin typeface="Source Sans Pro" panose="020B0503030403020204" pitchFamily="34" charset="0"/>
              </a:rPr>
              <a:t>192.168.1.0</a:t>
            </a:r>
          </a:p>
          <a:p>
            <a:pPr algn="l">
              <a:buFont typeface="Arial" panose="020B0604020202020204" pitchFamily="34" charset="0"/>
              <a:buChar char="•"/>
            </a:pPr>
            <a:r>
              <a:rPr lang="en-US" sz="1600" b="0" i="0" dirty="0">
                <a:solidFill>
                  <a:srgbClr val="1B2733"/>
                </a:solidFill>
                <a:effectLst/>
                <a:latin typeface="Source Sans Pro" panose="020B0503030403020204" pitchFamily="34" charset="0"/>
              </a:rPr>
              <a:t>192.168.1.1</a:t>
            </a:r>
          </a:p>
          <a:p>
            <a:pPr algn="l">
              <a:buFont typeface="Arial" panose="020B0604020202020204" pitchFamily="34" charset="0"/>
              <a:buChar char="•"/>
            </a:pPr>
            <a:r>
              <a:rPr lang="en-US" sz="1600" b="0" i="0" dirty="0">
                <a:solidFill>
                  <a:srgbClr val="1B2733"/>
                </a:solidFill>
                <a:effectLst/>
                <a:latin typeface="Source Sans Pro" panose="020B0503030403020204" pitchFamily="34" charset="0"/>
              </a:rPr>
              <a:t>…</a:t>
            </a:r>
          </a:p>
          <a:p>
            <a:pPr algn="l">
              <a:buFont typeface="Arial" panose="020B0604020202020204" pitchFamily="34" charset="0"/>
              <a:buChar char="•"/>
            </a:pPr>
            <a:r>
              <a:rPr lang="en-US" sz="1600" b="0" i="0" dirty="0">
                <a:solidFill>
                  <a:srgbClr val="1B2733"/>
                </a:solidFill>
                <a:effectLst/>
                <a:latin typeface="Source Sans Pro" panose="020B0503030403020204" pitchFamily="34" charset="0"/>
              </a:rPr>
              <a:t>192.168.1.254</a:t>
            </a:r>
          </a:p>
          <a:p>
            <a:pPr algn="l">
              <a:buFont typeface="Arial" panose="020B0604020202020204" pitchFamily="34" charset="0"/>
              <a:buChar char="•"/>
            </a:pPr>
            <a:r>
              <a:rPr lang="en-US" sz="1600" b="0" i="0" dirty="0">
                <a:solidFill>
                  <a:srgbClr val="1B2733"/>
                </a:solidFill>
                <a:effectLst/>
                <a:latin typeface="Source Sans Pro" panose="020B0503030403020204" pitchFamily="34" charset="0"/>
              </a:rPr>
              <a:t>192.168.1.255</a:t>
            </a:r>
          </a:p>
          <a:p>
            <a:pPr marL="0" indent="0" algn="l">
              <a:buNone/>
            </a:pPr>
            <a:r>
              <a:rPr lang="en-US" sz="1600" b="0" i="0" dirty="0">
                <a:solidFill>
                  <a:srgbClr val="1B2733"/>
                </a:solidFill>
                <a:effectLst/>
                <a:latin typeface="Source Sans Pro" panose="020B0503030403020204" pitchFamily="34" charset="0"/>
              </a:rPr>
              <a:t>This is calculated by taking the CIDR suffix, subtracting it by 32, and then raising 2 to the power of that number.</a:t>
            </a:r>
          </a:p>
          <a:p>
            <a:pPr marL="0" indent="0" algn="l">
              <a:buNone/>
            </a:pPr>
            <a:r>
              <a:rPr lang="en-US" sz="1600" b="0" i="0" dirty="0">
                <a:solidFill>
                  <a:srgbClr val="1B2733"/>
                </a:solidFill>
                <a:effectLst/>
                <a:latin typeface="Source Sans Pro" panose="020B0503030403020204" pitchFamily="34" charset="0"/>
              </a:rPr>
              <a:t>Example: 32-24 = 8. 2^8 = 256. With a zero-based index, that is why it ends at 255. Therefore, there are 255 available IP addresses in this CIDR notation.</a:t>
            </a:r>
          </a:p>
          <a:p>
            <a:pPr marL="0" indent="0">
              <a:buNone/>
            </a:pPr>
            <a:r>
              <a:rPr lang="en-US" sz="1600" dirty="0"/>
              <a:t>	</a:t>
            </a:r>
          </a:p>
          <a:p>
            <a:pPr marL="0" indent="0">
              <a:buNone/>
            </a:pPr>
            <a:endParaRPr lang="en-NG" sz="1600" dirty="0"/>
          </a:p>
        </p:txBody>
      </p:sp>
    </p:spTree>
    <p:extLst>
      <p:ext uri="{BB962C8B-B14F-4D97-AF65-F5344CB8AC3E}">
        <p14:creationId xmlns:p14="http://schemas.microsoft.com/office/powerpoint/2010/main" val="28675042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34834-DAC3-9811-C4A7-4338BD337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422E0-D107-7664-2909-39987A44A165}"/>
              </a:ext>
            </a:extLst>
          </p:cNvPr>
          <p:cNvSpPr>
            <a:spLocks noGrp="1"/>
          </p:cNvSpPr>
          <p:nvPr>
            <p:ph type="title"/>
          </p:nvPr>
        </p:nvSpPr>
        <p:spPr>
          <a:xfrm>
            <a:off x="480106" y="1297241"/>
            <a:ext cx="11029616" cy="926847"/>
          </a:xfrm>
        </p:spPr>
        <p:txBody>
          <a:bodyPr>
            <a:normAutofit fontScale="90000"/>
          </a:bodyPr>
          <a:lstStyle/>
          <a:p>
            <a:r>
              <a:rPr lang="en-US" dirty="0"/>
              <a:t>What are the Benefits of CIDR Notation?</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3A0873F1-B552-D3A7-6FDA-8CBB36CB41F5}"/>
              </a:ext>
            </a:extLst>
          </p:cNvPr>
          <p:cNvSpPr>
            <a:spLocks noGrp="1"/>
          </p:cNvSpPr>
          <p:nvPr>
            <p:ph idx="1"/>
          </p:nvPr>
        </p:nvSpPr>
        <p:spPr>
          <a:xfrm>
            <a:off x="480106" y="1760664"/>
            <a:ext cx="10715625" cy="1462089"/>
          </a:xfrm>
        </p:spPr>
        <p:txBody>
          <a:bodyPr>
            <a:noAutofit/>
          </a:bodyPr>
          <a:lstStyle/>
          <a:p>
            <a:pPr algn="just"/>
            <a:r>
              <a:rPr lang="en-US" sz="1600" dirty="0">
                <a:solidFill>
                  <a:srgbClr val="1B2733"/>
                </a:solidFill>
                <a:latin typeface="Source Sans Pro" panose="020B0503030403020204" pitchFamily="34" charset="0"/>
              </a:rPr>
              <a:t>CIDR notation reduces the size of your routing table by grouping IP addresses by similar prefixes. CIDR’s convenient notation reduces the complexity of IP allocation and frees up network engineer’s time to work on other issues. </a:t>
            </a:r>
          </a:p>
          <a:p>
            <a:pPr algn="just"/>
            <a:r>
              <a:rPr lang="en-US" sz="1600" dirty="0">
                <a:solidFill>
                  <a:srgbClr val="1B2733"/>
                </a:solidFill>
                <a:latin typeface="Source Sans Pro" panose="020B0503030403020204" pitchFamily="34" charset="0"/>
              </a:rPr>
              <a:t>It also facilitates Variable Length Subnet Masking (VLSM), which allows administrators to create subnets of varying sizes based on CIDR blocks. Ultimately, CIDR notations' core benefits rest on its ability to conveniently illustrate IP allocation.	</a:t>
            </a:r>
          </a:p>
          <a:p>
            <a:endParaRPr lang="en-NG" sz="1600" dirty="0"/>
          </a:p>
        </p:txBody>
      </p:sp>
    </p:spTree>
    <p:extLst>
      <p:ext uri="{BB962C8B-B14F-4D97-AF65-F5344CB8AC3E}">
        <p14:creationId xmlns:p14="http://schemas.microsoft.com/office/powerpoint/2010/main" val="34959450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6E50-B9F5-BB8D-02A9-5DD630096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E8BE9-AAA1-BB06-9536-4441DCA16DD2}"/>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4906250A-F048-DFE9-20A5-90AF3E566DB3}"/>
              </a:ext>
            </a:extLst>
          </p:cNvPr>
          <p:cNvSpPr>
            <a:spLocks noGrp="1"/>
          </p:cNvSpPr>
          <p:nvPr>
            <p:ph idx="1"/>
          </p:nvPr>
        </p:nvSpPr>
        <p:spPr>
          <a:xfrm>
            <a:off x="480106" y="1760664"/>
            <a:ext cx="10715625" cy="1462089"/>
          </a:xfrm>
        </p:spPr>
        <p:txBody>
          <a:bodyPr>
            <a:noAutofit/>
          </a:bodyPr>
          <a:lstStyle/>
          <a:p>
            <a:pPr algn="just"/>
            <a:r>
              <a:rPr lang="en-US" sz="1600" b="0" i="0" dirty="0">
                <a:solidFill>
                  <a:srgbClr val="3B3B3B"/>
                </a:solidFill>
                <a:effectLst/>
                <a:latin typeface="Roboto" panose="02000000000000000000" pitchFamily="2" charset="0"/>
              </a:rPr>
              <a:t>To understand what </a:t>
            </a:r>
            <a:r>
              <a:rPr lang="en-US" sz="1600" b="1" i="0" dirty="0">
                <a:solidFill>
                  <a:srgbClr val="3B3B3B"/>
                </a:solidFill>
                <a:effectLst/>
                <a:latin typeface="Roboto" panose="02000000000000000000" pitchFamily="2" charset="0"/>
              </a:rPr>
              <a:t>Variable Length Subnet Masking (VLSM)</a:t>
            </a:r>
            <a:r>
              <a:rPr lang="en-US" sz="1600" b="0" i="0" dirty="0">
                <a:solidFill>
                  <a:srgbClr val="3B3B3B"/>
                </a:solidFill>
                <a:effectLst/>
                <a:latin typeface="Roboto" panose="02000000000000000000" pitchFamily="2" charset="0"/>
              </a:rPr>
              <a:t> is, let's go through a business example. Suppose a company has bought the IP address range 37.1.1.0/24 (256 addresses). The company has 5 offices, as shown in figure 1 below:</a:t>
            </a:r>
          </a:p>
          <a:p>
            <a:pPr algn="just"/>
            <a:endParaRPr lang="en-US" sz="1600" dirty="0">
              <a:solidFill>
                <a:srgbClr val="3B3B3B"/>
              </a:solidFill>
              <a:latin typeface="Roboto" panose="02000000000000000000" pitchFamily="2" charset="0"/>
            </a:endParaRPr>
          </a:p>
          <a:p>
            <a:pPr algn="just"/>
            <a:endParaRPr lang="en-NG" sz="1600" dirty="0"/>
          </a:p>
        </p:txBody>
      </p:sp>
      <p:pic>
        <p:nvPicPr>
          <p:cNvPr id="5" name="Picture 4">
            <a:extLst>
              <a:ext uri="{FF2B5EF4-FFF2-40B4-BE49-F238E27FC236}">
                <a16:creationId xmlns:a16="http://schemas.microsoft.com/office/drawing/2014/main" id="{847F9ABE-9770-5C7B-10D8-2B40E518D38D}"/>
              </a:ext>
            </a:extLst>
          </p:cNvPr>
          <p:cNvPicPr>
            <a:picLocks noChangeAspect="1"/>
          </p:cNvPicPr>
          <p:nvPr/>
        </p:nvPicPr>
        <p:blipFill>
          <a:blip r:embed="rId2"/>
          <a:stretch>
            <a:fillRect/>
          </a:stretch>
        </p:blipFill>
        <p:spPr>
          <a:xfrm>
            <a:off x="2590774" y="2409809"/>
            <a:ext cx="7096177" cy="4381532"/>
          </a:xfrm>
          <a:prstGeom prst="rect">
            <a:avLst/>
          </a:prstGeom>
        </p:spPr>
      </p:pic>
    </p:spTree>
    <p:extLst>
      <p:ext uri="{BB962C8B-B14F-4D97-AF65-F5344CB8AC3E}">
        <p14:creationId xmlns:p14="http://schemas.microsoft.com/office/powerpoint/2010/main" val="34360391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8A80F-4352-E784-28F0-AFCA75F44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1A2FE-5E7D-B92E-C486-BDCC87E3EC05}"/>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6DA6D972-1EF9-1AB5-F292-2B39F936CD48}"/>
              </a:ext>
            </a:extLst>
          </p:cNvPr>
          <p:cNvSpPr>
            <a:spLocks noGrp="1"/>
          </p:cNvSpPr>
          <p:nvPr>
            <p:ph idx="1"/>
          </p:nvPr>
        </p:nvSpPr>
        <p:spPr>
          <a:xfrm>
            <a:off x="422955" y="1579688"/>
            <a:ext cx="10715625" cy="1462089"/>
          </a:xfrm>
        </p:spPr>
        <p:txBody>
          <a:bodyPr>
            <a:noAutofit/>
          </a:bodyPr>
          <a:lstStyle/>
          <a:p>
            <a:pPr algn="just"/>
            <a:r>
              <a:rPr lang="en-US" sz="1600" b="0" i="0" dirty="0">
                <a:solidFill>
                  <a:srgbClr val="3B3B3B"/>
                </a:solidFill>
                <a:effectLst/>
                <a:latin typeface="Roboto" panose="02000000000000000000" pitchFamily="2" charset="0"/>
              </a:rPr>
              <a:t>We are tasked to subnet the 37.1.1.0/24 IP address block and assign each office an IP subnet. Let's see what the two ways to do this are.</a:t>
            </a:r>
          </a:p>
          <a:p>
            <a:pPr algn="just"/>
            <a:r>
              <a:rPr lang="en-US" sz="1600" b="0" i="0" dirty="0">
                <a:solidFill>
                  <a:srgbClr val="3B3B3B"/>
                </a:solidFill>
                <a:effectLst/>
                <a:latin typeface="Roboto" panose="02000000000000000000" pitchFamily="2" charset="0"/>
              </a:rPr>
              <a:t>The first approach to this task is to divide the 256-address block into four equal-sized subnets. This technique is called </a:t>
            </a:r>
            <a:r>
              <a:rPr lang="en-US" sz="1600" b="1" i="0" dirty="0">
                <a:solidFill>
                  <a:srgbClr val="3B3B3B"/>
                </a:solidFill>
                <a:effectLst/>
                <a:latin typeface="Roboto" panose="02000000000000000000" pitchFamily="2" charset="0"/>
              </a:rPr>
              <a:t>Fixed Length Subnet Mask (FLSM)</a:t>
            </a:r>
            <a:r>
              <a:rPr lang="en-US" sz="1600" b="0" i="0" dirty="0">
                <a:solidFill>
                  <a:srgbClr val="3B3B3B"/>
                </a:solidFill>
                <a:effectLst/>
                <a:latin typeface="Roboto" panose="02000000000000000000" pitchFamily="2" charset="0"/>
              </a:rPr>
              <a:t>. The benefit of this approach is that all subnets have the same subnet mask, which makes the process very straightforward and less prone to errors. Figure 2 below illustrates this example.</a:t>
            </a:r>
          </a:p>
          <a:p>
            <a:pPr algn="just"/>
            <a:endParaRPr lang="en-US" sz="1600" dirty="0">
              <a:solidFill>
                <a:srgbClr val="3B3B3B"/>
              </a:solidFill>
              <a:latin typeface="Roboto" panose="02000000000000000000" pitchFamily="2" charset="0"/>
            </a:endParaRPr>
          </a:p>
          <a:p>
            <a:pPr algn="just"/>
            <a:endParaRPr lang="en-NG" sz="1600" dirty="0"/>
          </a:p>
        </p:txBody>
      </p:sp>
      <p:pic>
        <p:nvPicPr>
          <p:cNvPr id="6" name="Picture 5">
            <a:extLst>
              <a:ext uri="{FF2B5EF4-FFF2-40B4-BE49-F238E27FC236}">
                <a16:creationId xmlns:a16="http://schemas.microsoft.com/office/drawing/2014/main" id="{B6FB2F11-DAED-B514-970D-39245EF6BED0}"/>
              </a:ext>
            </a:extLst>
          </p:cNvPr>
          <p:cNvPicPr>
            <a:picLocks noChangeAspect="1"/>
          </p:cNvPicPr>
          <p:nvPr/>
        </p:nvPicPr>
        <p:blipFill>
          <a:blip r:embed="rId2"/>
          <a:stretch>
            <a:fillRect/>
          </a:stretch>
        </p:blipFill>
        <p:spPr>
          <a:xfrm>
            <a:off x="3955245" y="2731780"/>
            <a:ext cx="5253059" cy="4126220"/>
          </a:xfrm>
          <a:prstGeom prst="rect">
            <a:avLst/>
          </a:prstGeom>
        </p:spPr>
      </p:pic>
    </p:spTree>
    <p:extLst>
      <p:ext uri="{BB962C8B-B14F-4D97-AF65-F5344CB8AC3E}">
        <p14:creationId xmlns:p14="http://schemas.microsoft.com/office/powerpoint/2010/main" val="8374288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5C1C8-33C3-69D1-1ED0-46BA59AEB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A0994-0D2C-B495-E1B9-ABDF0D63A055}"/>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03F871FB-E13E-B4CF-7F5B-F0CFF342F3A9}"/>
              </a:ext>
            </a:extLst>
          </p:cNvPr>
          <p:cNvSpPr>
            <a:spLocks noGrp="1"/>
          </p:cNvSpPr>
          <p:nvPr>
            <p:ph idx="1"/>
          </p:nvPr>
        </p:nvSpPr>
        <p:spPr>
          <a:xfrm>
            <a:off x="422955" y="1579688"/>
            <a:ext cx="10715625" cy="1462089"/>
          </a:xfrm>
        </p:spPr>
        <p:txBody>
          <a:bodyPr>
            <a:noAutofit/>
          </a:bodyPr>
          <a:lstStyle/>
          <a:p>
            <a:pPr algn="just"/>
            <a:r>
              <a:rPr lang="en-US" sz="1600" dirty="0">
                <a:solidFill>
                  <a:srgbClr val="3B3B3B"/>
                </a:solidFill>
                <a:latin typeface="Roboto" panose="02000000000000000000" pitchFamily="2" charset="0"/>
              </a:rPr>
              <a:t>However, this method results in a significant waste of IP addresses. For example, office-4 has only 10 users, but we assign a subnet with 64 IP addresses. Hence, 54 addresses sit unused. From the company's point of view, this is a bad use of resources</a:t>
            </a:r>
          </a:p>
          <a:p>
            <a:pPr algn="just"/>
            <a:endParaRPr lang="en-NG" sz="1600" dirty="0"/>
          </a:p>
        </p:txBody>
      </p:sp>
    </p:spTree>
    <p:extLst>
      <p:ext uri="{BB962C8B-B14F-4D97-AF65-F5344CB8AC3E}">
        <p14:creationId xmlns:p14="http://schemas.microsoft.com/office/powerpoint/2010/main" val="25971507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E6ADE-9465-02F7-3C71-BBEDD70F0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D4933-F5D8-662F-777E-A5D091303C6D}"/>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1EB42AA1-406D-04C7-0EDB-A082B254A669}"/>
              </a:ext>
            </a:extLst>
          </p:cNvPr>
          <p:cNvSpPr>
            <a:spLocks noGrp="1"/>
          </p:cNvSpPr>
          <p:nvPr>
            <p:ph idx="1"/>
          </p:nvPr>
        </p:nvSpPr>
        <p:spPr>
          <a:xfrm>
            <a:off x="422955" y="1579688"/>
            <a:ext cx="10715625" cy="1462089"/>
          </a:xfrm>
        </p:spPr>
        <p:txBody>
          <a:bodyPr>
            <a:noAutofit/>
          </a:bodyPr>
          <a:lstStyle/>
          <a:p>
            <a:pPr marL="0" indent="0" algn="just">
              <a:buNone/>
            </a:pPr>
            <a:r>
              <a:rPr lang="en-US" sz="1600" b="0" i="0" dirty="0">
                <a:solidFill>
                  <a:srgbClr val="3B3B3B"/>
                </a:solidFill>
                <a:effectLst/>
                <a:latin typeface="Roboto" panose="02000000000000000000" pitchFamily="2" charset="0"/>
              </a:rPr>
              <a:t>VLSM stands for </a:t>
            </a:r>
            <a:r>
              <a:rPr lang="en-US" sz="1600" b="1" i="0" dirty="0">
                <a:solidFill>
                  <a:srgbClr val="3B3B3B"/>
                </a:solidFill>
                <a:effectLst/>
                <a:latin typeface="Roboto" panose="02000000000000000000" pitchFamily="2" charset="0"/>
              </a:rPr>
              <a:t>Variable Length Subnet Mask</a:t>
            </a:r>
            <a:r>
              <a:rPr lang="en-US" sz="1600" b="0" i="0" dirty="0">
                <a:solidFill>
                  <a:srgbClr val="3B3B3B"/>
                </a:solidFill>
                <a:effectLst/>
                <a:latin typeface="Roboto" panose="02000000000000000000" pitchFamily="2" charset="0"/>
              </a:rPr>
              <a:t>. VLSM is a subnetting technique that allows network admins to allocate IP addresses more efficiently using different subnet masks for different network segments. It provides greater flexibility in assigning IP addresses by creating subnets of varying sizes based on the specific needs and number of hosts in each subnet. This technique </a:t>
            </a:r>
            <a:r>
              <a:rPr lang="en-US" sz="1600" b="1" i="0" dirty="0">
                <a:solidFill>
                  <a:srgbClr val="3B3B3B"/>
                </a:solidFill>
                <a:effectLst/>
                <a:latin typeface="Roboto" panose="02000000000000000000" pitchFamily="2" charset="0"/>
              </a:rPr>
              <a:t>helps reduce the waste of IP addresses </a:t>
            </a:r>
            <a:r>
              <a:rPr lang="en-US" sz="1600" b="0" i="0" dirty="0">
                <a:solidFill>
                  <a:srgbClr val="3B3B3B"/>
                </a:solidFill>
                <a:effectLst/>
                <a:latin typeface="Roboto" panose="02000000000000000000" pitchFamily="2" charset="0"/>
              </a:rPr>
              <a:t>and better uses the available IP space.</a:t>
            </a:r>
            <a:endParaRPr lang="en-NG" sz="1600" dirty="0"/>
          </a:p>
        </p:txBody>
      </p:sp>
      <p:pic>
        <p:nvPicPr>
          <p:cNvPr id="5" name="Picture 4">
            <a:extLst>
              <a:ext uri="{FF2B5EF4-FFF2-40B4-BE49-F238E27FC236}">
                <a16:creationId xmlns:a16="http://schemas.microsoft.com/office/drawing/2014/main" id="{887A0CBA-BF59-7249-0AB4-C8472B7E4598}"/>
              </a:ext>
            </a:extLst>
          </p:cNvPr>
          <p:cNvPicPr>
            <a:picLocks noChangeAspect="1"/>
          </p:cNvPicPr>
          <p:nvPr/>
        </p:nvPicPr>
        <p:blipFill>
          <a:blip r:embed="rId2"/>
          <a:stretch>
            <a:fillRect/>
          </a:stretch>
        </p:blipFill>
        <p:spPr>
          <a:xfrm>
            <a:off x="3143250" y="2805095"/>
            <a:ext cx="4857772" cy="3812524"/>
          </a:xfrm>
          <a:prstGeom prst="rect">
            <a:avLst/>
          </a:prstGeom>
        </p:spPr>
      </p:pic>
    </p:spTree>
    <p:extLst>
      <p:ext uri="{BB962C8B-B14F-4D97-AF65-F5344CB8AC3E}">
        <p14:creationId xmlns:p14="http://schemas.microsoft.com/office/powerpoint/2010/main" val="2203272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07280-959A-CB2D-D0E3-8BA1354850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5878B-CB18-4B4E-DBDB-0BA5280FC85A}"/>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BB0212B1-CC46-2BCA-A1C8-8888E077E6D7}"/>
              </a:ext>
            </a:extLst>
          </p:cNvPr>
          <p:cNvSpPr>
            <a:spLocks noGrp="1"/>
          </p:cNvSpPr>
          <p:nvPr>
            <p:ph idx="1"/>
          </p:nvPr>
        </p:nvSpPr>
        <p:spPr>
          <a:xfrm>
            <a:off x="551543" y="2660775"/>
            <a:ext cx="7197046" cy="1462089"/>
          </a:xfrm>
        </p:spPr>
        <p:txBody>
          <a:bodyPr>
            <a:noAutofit/>
          </a:bodyPr>
          <a:lstStyle/>
          <a:p>
            <a:pPr algn="just"/>
            <a:r>
              <a:rPr lang="en-US" sz="1600" b="0" i="0" dirty="0">
                <a:solidFill>
                  <a:srgbClr val="3B3B3B"/>
                </a:solidFill>
                <a:effectLst/>
                <a:latin typeface="Roboto" panose="02000000000000000000" pitchFamily="2" charset="0"/>
              </a:rPr>
              <a:t>Notice that using VLSM, we are left with 112 free IP addresses that we can allocate to another location in the future. Compared to the FLSM approach, this method is much more efficient. The main idea is that VLSM allows us to divide an IP address space into subnets of varying sizes based on the specific requirements of each office. This helps to minimize the waste of IP addresses, as each subnet is assigned only the necessary number of IPs instead of using fixed-size subnets that may be too large or too small for the purpose.</a:t>
            </a:r>
          </a:p>
          <a:p>
            <a:pPr algn="just"/>
            <a:r>
              <a:rPr lang="en-US" sz="1600" b="0" i="0" dirty="0">
                <a:solidFill>
                  <a:srgbClr val="3B3B3B"/>
                </a:solidFill>
                <a:effectLst/>
                <a:latin typeface="Roboto" panose="02000000000000000000" pitchFamily="2" charset="0"/>
              </a:rPr>
              <a:t>On the other hand, the only downside of this approach is its complexity. The VLSM subnetting method requires more advanced planning, design, and administration than the FLSM approach. If we do not carefully plan in advance how we subnet our blocks of IP addresses, we can end up with IP address fragmentation, meaning some ranges of IP addresses may not be contiguous (more on this in the next lessons).</a:t>
            </a:r>
            <a:endParaRPr lang="en-NG" sz="1600" dirty="0"/>
          </a:p>
        </p:txBody>
      </p:sp>
    </p:spTree>
    <p:extLst>
      <p:ext uri="{BB962C8B-B14F-4D97-AF65-F5344CB8AC3E}">
        <p14:creationId xmlns:p14="http://schemas.microsoft.com/office/powerpoint/2010/main" val="13479211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5D318-176D-86BB-3659-3AAF69A24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4597B-4CD0-07E5-2270-8E5C26630DB7}"/>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pic>
        <p:nvPicPr>
          <p:cNvPr id="7" name="Picture 6">
            <a:extLst>
              <a:ext uri="{FF2B5EF4-FFF2-40B4-BE49-F238E27FC236}">
                <a16:creationId xmlns:a16="http://schemas.microsoft.com/office/drawing/2014/main" id="{69264151-B739-E2C9-CAED-EDAC1450BB82}"/>
              </a:ext>
            </a:extLst>
          </p:cNvPr>
          <p:cNvPicPr>
            <a:picLocks noChangeAspect="1"/>
          </p:cNvPicPr>
          <p:nvPr/>
        </p:nvPicPr>
        <p:blipFill>
          <a:blip r:embed="rId2"/>
          <a:srcRect b="2693"/>
          <a:stretch/>
        </p:blipFill>
        <p:spPr>
          <a:xfrm>
            <a:off x="1155108" y="1700200"/>
            <a:ext cx="8593756" cy="3957650"/>
          </a:xfrm>
          <a:prstGeom prst="rect">
            <a:avLst/>
          </a:prstGeom>
        </p:spPr>
      </p:pic>
    </p:spTree>
    <p:extLst>
      <p:ext uri="{BB962C8B-B14F-4D97-AF65-F5344CB8AC3E}">
        <p14:creationId xmlns:p14="http://schemas.microsoft.com/office/powerpoint/2010/main" val="36098157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08BD-7936-D4F7-D159-884F978BC30C}"/>
              </a:ext>
            </a:extLst>
          </p:cNvPr>
          <p:cNvSpPr>
            <a:spLocks noGrp="1"/>
          </p:cNvSpPr>
          <p:nvPr>
            <p:ph type="title"/>
          </p:nvPr>
        </p:nvSpPr>
        <p:spPr/>
        <p:txBody>
          <a:bodyPr/>
          <a:lstStyle/>
          <a:p>
            <a:endParaRPr lang="en-NG" dirty="0"/>
          </a:p>
        </p:txBody>
      </p:sp>
      <p:sp>
        <p:nvSpPr>
          <p:cNvPr id="3" name="Content Placeholder 2">
            <a:extLst>
              <a:ext uri="{FF2B5EF4-FFF2-40B4-BE49-F238E27FC236}">
                <a16:creationId xmlns:a16="http://schemas.microsoft.com/office/drawing/2014/main" id="{05F06389-9314-1228-85B9-9459D28C804D}"/>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192711687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21145</TotalTime>
  <Words>3806</Words>
  <Application>Microsoft Office PowerPoint</Application>
  <PresentationFormat>Widescreen</PresentationFormat>
  <Paragraphs>273</Paragraphs>
  <Slides>62</Slides>
  <Notes>0</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62</vt:i4>
      </vt:variant>
    </vt:vector>
  </HeadingPairs>
  <TitlesOfParts>
    <vt:vector size="72" baseType="lpstr">
      <vt:lpstr>Arial</vt:lpstr>
      <vt:lpstr>Calibri</vt:lpstr>
      <vt:lpstr>Euclid Circular</vt:lpstr>
      <vt:lpstr>Franklin Gothic Book</vt:lpstr>
      <vt:lpstr>Franklin Gothic Demi</vt:lpstr>
      <vt:lpstr>Inter</vt:lpstr>
      <vt:lpstr>Roboto</vt:lpstr>
      <vt:lpstr>Source Sans Pro</vt:lpstr>
      <vt:lpstr>Wingdings 2</vt:lpstr>
      <vt:lpstr>DividendVTI</vt:lpstr>
      <vt:lpstr>ALTSCHOOL OF Cybersecurity (BARAKA 2025)</vt:lpstr>
      <vt:lpstr>Refresher-  Last week</vt:lpstr>
      <vt:lpstr>MONTH 2 -  WEEK 3</vt:lpstr>
      <vt:lpstr>Understanding Internet Protocol v4 (IPV4) and Structure </vt:lpstr>
      <vt:lpstr>Internet protocol</vt:lpstr>
      <vt:lpstr>Internet protocol V4 – IPV4</vt:lpstr>
      <vt:lpstr>How Does IPv4 Work?</vt:lpstr>
      <vt:lpstr>How Does IPv4 Work?</vt:lpstr>
      <vt:lpstr>How Does IPv4 Work?</vt:lpstr>
      <vt:lpstr>How Does IPv4 Work?</vt:lpstr>
      <vt:lpstr>STRUCTURE OF Internet protocol V4 – IPV4</vt:lpstr>
      <vt:lpstr>STRUCTURE OF Internet protocol V4 – IPV4</vt:lpstr>
      <vt:lpstr>STRUCTURE OF Internet protocol V4 – IPV4</vt:lpstr>
      <vt:lpstr>STRUCTURE OF Internet protocol V4 – IPV4</vt:lpstr>
      <vt:lpstr>STRUCTURE OF Internet protocol V4 – IPV4</vt:lpstr>
      <vt:lpstr>Understanding Binary Format in IP addresses  </vt:lpstr>
      <vt:lpstr>STRUCTURE OF Internet protocol V4 – IPV4</vt:lpstr>
      <vt:lpstr>Subnet and IPv4 Addresses  </vt:lpstr>
      <vt:lpstr>IP ADDRESS subnetTING</vt:lpstr>
      <vt:lpstr>IP ADDRESS subnetTING</vt:lpstr>
      <vt:lpstr>IP ADDRESS subnetTING</vt:lpstr>
      <vt:lpstr>IP ADDRESS subnetTING</vt:lpstr>
      <vt:lpstr>a subnet</vt:lpstr>
      <vt:lpstr>IP ADDRESS subnetTING</vt:lpstr>
      <vt:lpstr>IP ADDRESS subnetTING</vt:lpstr>
      <vt:lpstr>IP ADDRESS subnetTING</vt:lpstr>
      <vt:lpstr>IP ADDRESS subnetTING</vt:lpstr>
      <vt:lpstr>IP ADDRESS subnetTING</vt:lpstr>
      <vt:lpstr>Subnet and IPv4 Addresses  </vt:lpstr>
      <vt:lpstr>Refresher-  Last CLASS (DAY 1)</vt:lpstr>
      <vt:lpstr>MONTH 2 -  WEEK 3 (DAY 2)</vt:lpstr>
      <vt:lpstr>IP ADDRESS subnetTING</vt:lpstr>
      <vt:lpstr>IP ADDRESS subnetTING</vt:lpstr>
      <vt:lpstr>IP ADDRESS subnetTING</vt:lpstr>
      <vt:lpstr>What are IP Address Classes?</vt:lpstr>
      <vt:lpstr>IP Address Classes</vt:lpstr>
      <vt:lpstr>IP Address Classes</vt:lpstr>
      <vt:lpstr>IP Address Classes AND SUBNET MASK</vt:lpstr>
      <vt:lpstr>IP Address Classes AND SUBNET MASK</vt:lpstr>
      <vt:lpstr>IP Address Classes AND SUBNET MASK</vt:lpstr>
      <vt:lpstr>IP Address Classes AND SUBNET MASK</vt:lpstr>
      <vt:lpstr>IP Address Classes AND SUBNET MASK –CLASS B</vt:lpstr>
      <vt:lpstr>IP Address Classes AND SUBNET MASK –CLASS B</vt:lpstr>
      <vt:lpstr>IP Address Classes AND SUBNET MASK –CLASS C</vt:lpstr>
      <vt:lpstr>IP Address Classes AND SUBNET MASK –CLASS C</vt:lpstr>
      <vt:lpstr>IP Address Classes AND SUBNET MASK –CLASS C</vt:lpstr>
      <vt:lpstr>How to Subnet in IPv4 </vt:lpstr>
      <vt:lpstr>How to Subnet in IPv4 </vt:lpstr>
      <vt:lpstr>How to Subnet in IPv4 </vt:lpstr>
      <vt:lpstr>How to Subnet in IPv4 </vt:lpstr>
      <vt:lpstr>Classless Inter-Domain Routing (CIDR) Notation  </vt:lpstr>
      <vt:lpstr>Classless Inter-Domain Routing (CIDR) Notation  </vt:lpstr>
      <vt:lpstr>CIDR Notation - SYNTAX  </vt:lpstr>
      <vt:lpstr>CIDR Notation - SYNTAX  </vt:lpstr>
      <vt:lpstr>What are the Benefits of CIDR Notation?   </vt:lpstr>
      <vt:lpstr>Variable Length Subnet Masking (VLSM)    </vt:lpstr>
      <vt:lpstr>Variable Length Subnet Masking (VLSM)    </vt:lpstr>
      <vt:lpstr>Variable Length Subnet Masking (VLSM)    </vt:lpstr>
      <vt:lpstr>Variable Length Subnet Masking (VLSM)    </vt:lpstr>
      <vt:lpstr>Variable Length Subnet Masking (VLSM)    </vt:lpstr>
      <vt:lpstr>Variable Length Subnet Masking (VLSM)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11</cp:revision>
  <dcterms:created xsi:type="dcterms:W3CDTF">2025-03-19T13:29:09Z</dcterms:created>
  <dcterms:modified xsi:type="dcterms:W3CDTF">2025-04-23T13:36:10Z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