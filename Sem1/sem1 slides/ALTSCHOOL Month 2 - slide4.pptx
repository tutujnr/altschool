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31"/>
  </p:notesMasterIdLst>
  <p:sldIdLst>
    <p:sldId id="257" r:id="rId5"/>
    <p:sldId id="260" r:id="rId6"/>
    <p:sldId id="359" r:id="rId7"/>
    <p:sldId id="302" r:id="rId8"/>
    <p:sldId id="285" r:id="rId9"/>
    <p:sldId id="362" r:id="rId10"/>
    <p:sldId id="363" r:id="rId11"/>
    <p:sldId id="366" r:id="rId12"/>
    <p:sldId id="367" r:id="rId13"/>
    <p:sldId id="368" r:id="rId14"/>
    <p:sldId id="369" r:id="rId15"/>
    <p:sldId id="365" r:id="rId16"/>
    <p:sldId id="370" r:id="rId17"/>
    <p:sldId id="364" r:id="rId18"/>
    <p:sldId id="372" r:id="rId19"/>
    <p:sldId id="371" r:id="rId20"/>
    <p:sldId id="373" r:id="rId21"/>
    <p:sldId id="374" r:id="rId22"/>
    <p:sldId id="360" r:id="rId23"/>
    <p:sldId id="375" r:id="rId24"/>
    <p:sldId id="376" r:id="rId25"/>
    <p:sldId id="377" r:id="rId26"/>
    <p:sldId id="379" r:id="rId27"/>
    <p:sldId id="380" r:id="rId28"/>
    <p:sldId id="381" r:id="rId29"/>
    <p:sldId id="382" r:id="rId30"/>
    <p:sldId id="383" r:id="rId31"/>
    <p:sldId id="384" r:id="rId32"/>
    <p:sldId id="385" r:id="rId33"/>
    <p:sldId id="386" r:id="rId34"/>
    <p:sldId id="387" r:id="rId35"/>
    <p:sldId id="388" r:id="rId36"/>
    <p:sldId id="389" r:id="rId37"/>
    <p:sldId id="390" r:id="rId38"/>
    <p:sldId id="392" r:id="rId39"/>
    <p:sldId id="393" r:id="rId40"/>
    <p:sldId id="394" r:id="rId41"/>
    <p:sldId id="396" r:id="rId42"/>
    <p:sldId id="397" r:id="rId43"/>
    <p:sldId id="398" r:id="rId44"/>
    <p:sldId id="399" r:id="rId45"/>
    <p:sldId id="400" r:id="rId46"/>
    <p:sldId id="401" r:id="rId47"/>
    <p:sldId id="402" r:id="rId48"/>
    <p:sldId id="403" r:id="rId49"/>
    <p:sldId id="405" r:id="rId50"/>
    <p:sldId id="407" r:id="rId51"/>
    <p:sldId id="410" r:id="rId52"/>
    <p:sldId id="404" r:id="rId53"/>
    <p:sldId id="268" r:id="rId54"/>
    <p:sldId id="296" r:id="rId55"/>
    <p:sldId id="297" r:id="rId56"/>
    <p:sldId id="298" r:id="rId57"/>
    <p:sldId id="300" r:id="rId58"/>
    <p:sldId id="408" r:id="rId59"/>
    <p:sldId id="409" r:id="rId60"/>
    <p:sldId id="411" r:id="rId61"/>
    <p:sldId id="412" r:id="rId62"/>
    <p:sldId id="413" r:id="rId63"/>
    <p:sldId id="414" r:id="rId64"/>
    <p:sldId id="415" r:id="rId65"/>
    <p:sldId id="416" r:id="rId66"/>
    <p:sldId id="417" r:id="rId67"/>
    <p:sldId id="418" r:id="rId68"/>
    <p:sldId id="419" r:id="rId69"/>
    <p:sldId id="420" r:id="rId70"/>
    <p:sldId id="421" r:id="rId71"/>
    <p:sldId id="422" r:id="rId72"/>
    <p:sldId id="423" r:id="rId73"/>
    <p:sldId id="424" r:id="rId74"/>
    <p:sldId id="425" r:id="rId75"/>
    <p:sldId id="426" r:id="rId76"/>
    <p:sldId id="427" r:id="rId77"/>
    <p:sldId id="428" r:id="rId78"/>
    <p:sldId id="429" r:id="rId79"/>
    <p:sldId id="430" r:id="rId80"/>
    <p:sldId id="431" r:id="rId81"/>
    <p:sldId id="432" r:id="rId82"/>
    <p:sldId id="433" r:id="rId83"/>
    <p:sldId id="434" r:id="rId84"/>
    <p:sldId id="435" r:id="rId85"/>
    <p:sldId id="436" r:id="rId86"/>
    <p:sldId id="315" r:id="rId87"/>
    <p:sldId id="316" r:id="rId88"/>
    <p:sldId id="321" r:id="rId89"/>
    <p:sldId id="320" r:id="rId90"/>
    <p:sldId id="322" r:id="rId91"/>
    <p:sldId id="325" r:id="rId92"/>
    <p:sldId id="323" r:id="rId93"/>
    <p:sldId id="324" r:id="rId94"/>
    <p:sldId id="326" r:id="rId95"/>
    <p:sldId id="327" r:id="rId96"/>
    <p:sldId id="328" r:id="rId97"/>
    <p:sldId id="329" r:id="rId98"/>
    <p:sldId id="330" r:id="rId99"/>
    <p:sldId id="331" r:id="rId100"/>
    <p:sldId id="332" r:id="rId101"/>
    <p:sldId id="333" r:id="rId102"/>
    <p:sldId id="334" r:id="rId103"/>
    <p:sldId id="335" r:id="rId104"/>
    <p:sldId id="336" r:id="rId105"/>
    <p:sldId id="337" r:id="rId106"/>
    <p:sldId id="338" r:id="rId107"/>
    <p:sldId id="339" r:id="rId108"/>
    <p:sldId id="340" r:id="rId109"/>
    <p:sldId id="341" r:id="rId110"/>
    <p:sldId id="342" r:id="rId111"/>
    <p:sldId id="343" r:id="rId112"/>
    <p:sldId id="344" r:id="rId113"/>
    <p:sldId id="345" r:id="rId114"/>
    <p:sldId id="346" r:id="rId115"/>
    <p:sldId id="353" r:id="rId116"/>
    <p:sldId id="352" r:id="rId117"/>
    <p:sldId id="347" r:id="rId118"/>
    <p:sldId id="348" r:id="rId119"/>
    <p:sldId id="349" r:id="rId120"/>
    <p:sldId id="350" r:id="rId121"/>
    <p:sldId id="351" r:id="rId122"/>
    <p:sldId id="354" r:id="rId123"/>
    <p:sldId id="355" r:id="rId124"/>
    <p:sldId id="356" r:id="rId125"/>
    <p:sldId id="357" r:id="rId126"/>
    <p:sldId id="358" r:id="rId127"/>
    <p:sldId id="406" r:id="rId128"/>
    <p:sldId id="395" r:id="rId129"/>
    <p:sldId id="391" r:id="rId1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luwafemi Adebiyi" initials="OA" lastIdx="2" clrIdx="0">
    <p:extLst>
      <p:ext uri="{19B8F6BF-5375-455C-9EA6-DF929625EA0E}">
        <p15:presenceInfo xmlns:p15="http://schemas.microsoft.com/office/powerpoint/2012/main" userId="f65f69e90005f56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0" autoAdjust="0"/>
    <p:restoredTop sz="94619" autoAdjust="0"/>
  </p:normalViewPr>
  <p:slideViewPr>
    <p:cSldViewPr snapToGrid="0">
      <p:cViewPr varScale="1">
        <p:scale>
          <a:sx n="66" d="100"/>
          <a:sy n="66" d="100"/>
        </p:scale>
        <p:origin x="75" y="9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slide" Target="slides/slide124.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viewProps" Target="viewProp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theme" Target="theme/theme1.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notesMaster" Target="notesMasters/notesMaster1.xml"/><Relationship Id="rId136" Type="http://schemas.openxmlformats.org/officeDocument/2006/relationships/tableStyles" Target="tableStyle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commentAuthors" Target="commentAuthor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0A6AAE-D760-4905-BBB9-3B016A7B6822}" type="datetimeFigureOut">
              <a:rPr lang="en-NG" smtClean="0"/>
              <a:t>09/04/2025</a:t>
            </a:fld>
            <a:endParaRPr lang="en-N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44F6D5-FFE7-49F7-9D51-00EE85B0B2CE}" type="slidenum">
              <a:rPr lang="en-NG" smtClean="0"/>
              <a:t>‹#›</a:t>
            </a:fld>
            <a:endParaRPr lang="en-NG"/>
          </a:p>
        </p:txBody>
      </p:sp>
    </p:spTree>
    <p:extLst>
      <p:ext uri="{BB962C8B-B14F-4D97-AF65-F5344CB8AC3E}">
        <p14:creationId xmlns:p14="http://schemas.microsoft.com/office/powerpoint/2010/main" val="2961241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G" dirty="0"/>
          </a:p>
        </p:txBody>
      </p:sp>
      <p:sp>
        <p:nvSpPr>
          <p:cNvPr id="4" name="Slide Number Placeholder 3"/>
          <p:cNvSpPr>
            <a:spLocks noGrp="1"/>
          </p:cNvSpPr>
          <p:nvPr>
            <p:ph type="sldNum" sz="quarter" idx="5"/>
          </p:nvPr>
        </p:nvSpPr>
        <p:spPr/>
        <p:txBody>
          <a:bodyPr/>
          <a:lstStyle/>
          <a:p>
            <a:fld id="{A544F6D5-FFE7-49F7-9D51-00EE85B0B2CE}" type="slidenum">
              <a:rPr lang="en-NG" smtClean="0"/>
              <a:t>13</a:t>
            </a:fld>
            <a:endParaRPr lang="en-NG"/>
          </a:p>
        </p:txBody>
      </p:sp>
    </p:spTree>
    <p:extLst>
      <p:ext uri="{BB962C8B-B14F-4D97-AF65-F5344CB8AC3E}">
        <p14:creationId xmlns:p14="http://schemas.microsoft.com/office/powerpoint/2010/main" val="1737489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394D1-3046-F088-12B9-7DE2F0A25B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74494D-8B7D-8B6C-77B1-408467C23F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E35EB5-D32B-31EF-7064-4575C857DF52}"/>
              </a:ext>
            </a:extLst>
          </p:cNvPr>
          <p:cNvSpPr>
            <a:spLocks noGrp="1"/>
          </p:cNvSpPr>
          <p:nvPr>
            <p:ph type="body" idx="1"/>
          </p:nvPr>
        </p:nvSpPr>
        <p:spPr/>
        <p:txBody>
          <a:bodyPr/>
          <a:lstStyle/>
          <a:p>
            <a:endParaRPr lang="en-NG" dirty="0"/>
          </a:p>
        </p:txBody>
      </p:sp>
      <p:sp>
        <p:nvSpPr>
          <p:cNvPr id="4" name="Slide Number Placeholder 3">
            <a:extLst>
              <a:ext uri="{FF2B5EF4-FFF2-40B4-BE49-F238E27FC236}">
                <a16:creationId xmlns:a16="http://schemas.microsoft.com/office/drawing/2014/main" id="{10481934-1EC8-7EF5-9C8B-781AD821B972}"/>
              </a:ext>
            </a:extLst>
          </p:cNvPr>
          <p:cNvSpPr>
            <a:spLocks noGrp="1"/>
          </p:cNvSpPr>
          <p:nvPr>
            <p:ph type="sldNum" sz="quarter" idx="5"/>
          </p:nvPr>
        </p:nvSpPr>
        <p:spPr/>
        <p:txBody>
          <a:bodyPr/>
          <a:lstStyle/>
          <a:p>
            <a:fld id="{A544F6D5-FFE7-49F7-9D51-00EE85B0B2CE}" type="slidenum">
              <a:rPr lang="en-NG" smtClean="0"/>
              <a:t>83</a:t>
            </a:fld>
            <a:endParaRPr lang="en-NG"/>
          </a:p>
        </p:txBody>
      </p:sp>
    </p:spTree>
    <p:extLst>
      <p:ext uri="{BB962C8B-B14F-4D97-AF65-F5344CB8AC3E}">
        <p14:creationId xmlns:p14="http://schemas.microsoft.com/office/powerpoint/2010/main" val="5431367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0D7A7-1ADD-D7AC-1A44-762DF954E3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3BB03A-E18E-7C93-86D3-01E5EC52D5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DC5313-ED91-1908-12F4-5E720AEE77AE}"/>
              </a:ext>
            </a:extLst>
          </p:cNvPr>
          <p:cNvSpPr>
            <a:spLocks noGrp="1"/>
          </p:cNvSpPr>
          <p:nvPr>
            <p:ph type="body" idx="1"/>
          </p:nvPr>
        </p:nvSpPr>
        <p:spPr/>
        <p:txBody>
          <a:bodyPr/>
          <a:lstStyle/>
          <a:p>
            <a:endParaRPr lang="en-NG" dirty="0"/>
          </a:p>
        </p:txBody>
      </p:sp>
      <p:sp>
        <p:nvSpPr>
          <p:cNvPr id="4" name="Slide Number Placeholder 3">
            <a:extLst>
              <a:ext uri="{FF2B5EF4-FFF2-40B4-BE49-F238E27FC236}">
                <a16:creationId xmlns:a16="http://schemas.microsoft.com/office/drawing/2014/main" id="{80136FA9-2C13-7393-395C-4C8BADF9026C}"/>
              </a:ext>
            </a:extLst>
          </p:cNvPr>
          <p:cNvSpPr>
            <a:spLocks noGrp="1"/>
          </p:cNvSpPr>
          <p:nvPr>
            <p:ph type="sldNum" sz="quarter" idx="5"/>
          </p:nvPr>
        </p:nvSpPr>
        <p:spPr/>
        <p:txBody>
          <a:bodyPr/>
          <a:lstStyle/>
          <a:p>
            <a:fld id="{A544F6D5-FFE7-49F7-9D51-00EE85B0B2CE}" type="slidenum">
              <a:rPr lang="en-NG" smtClean="0"/>
              <a:t>84</a:t>
            </a:fld>
            <a:endParaRPr lang="en-NG"/>
          </a:p>
        </p:txBody>
      </p:sp>
    </p:spTree>
    <p:extLst>
      <p:ext uri="{BB962C8B-B14F-4D97-AF65-F5344CB8AC3E}">
        <p14:creationId xmlns:p14="http://schemas.microsoft.com/office/powerpoint/2010/main" val="28799059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64A26-D676-1773-4219-5292A737EC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B65B41-BE65-4198-E5B7-D9C82575B7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2F43EF-298C-F4D2-BCF4-8699E151F627}"/>
              </a:ext>
            </a:extLst>
          </p:cNvPr>
          <p:cNvSpPr>
            <a:spLocks noGrp="1"/>
          </p:cNvSpPr>
          <p:nvPr>
            <p:ph type="body" idx="1"/>
          </p:nvPr>
        </p:nvSpPr>
        <p:spPr/>
        <p:txBody>
          <a:bodyPr/>
          <a:lstStyle/>
          <a:p>
            <a:endParaRPr lang="en-NG" dirty="0"/>
          </a:p>
        </p:txBody>
      </p:sp>
      <p:sp>
        <p:nvSpPr>
          <p:cNvPr id="4" name="Slide Number Placeholder 3">
            <a:extLst>
              <a:ext uri="{FF2B5EF4-FFF2-40B4-BE49-F238E27FC236}">
                <a16:creationId xmlns:a16="http://schemas.microsoft.com/office/drawing/2014/main" id="{88DFE836-2C61-7001-384A-2F3B608D93A9}"/>
              </a:ext>
            </a:extLst>
          </p:cNvPr>
          <p:cNvSpPr>
            <a:spLocks noGrp="1"/>
          </p:cNvSpPr>
          <p:nvPr>
            <p:ph type="sldNum" sz="quarter" idx="5"/>
          </p:nvPr>
        </p:nvSpPr>
        <p:spPr/>
        <p:txBody>
          <a:bodyPr/>
          <a:lstStyle/>
          <a:p>
            <a:fld id="{A544F6D5-FFE7-49F7-9D51-00EE85B0B2CE}" type="slidenum">
              <a:rPr lang="en-NG" smtClean="0"/>
              <a:t>86</a:t>
            </a:fld>
            <a:endParaRPr lang="en-NG"/>
          </a:p>
        </p:txBody>
      </p:sp>
    </p:spTree>
    <p:extLst>
      <p:ext uri="{BB962C8B-B14F-4D97-AF65-F5344CB8AC3E}">
        <p14:creationId xmlns:p14="http://schemas.microsoft.com/office/powerpoint/2010/main" val="2362200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E2FB0-0464-94AD-2E7F-C687120A59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7DB382-F305-72CC-E392-DECE327766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EBFB18-0A39-4DE6-43E1-1B8FAF6C3CD9}"/>
              </a:ext>
            </a:extLst>
          </p:cNvPr>
          <p:cNvSpPr>
            <a:spLocks noGrp="1"/>
          </p:cNvSpPr>
          <p:nvPr>
            <p:ph type="body" idx="1"/>
          </p:nvPr>
        </p:nvSpPr>
        <p:spPr/>
        <p:txBody>
          <a:bodyPr/>
          <a:lstStyle/>
          <a:p>
            <a:endParaRPr lang="en-NG" dirty="0"/>
          </a:p>
        </p:txBody>
      </p:sp>
      <p:sp>
        <p:nvSpPr>
          <p:cNvPr id="4" name="Slide Number Placeholder 3">
            <a:extLst>
              <a:ext uri="{FF2B5EF4-FFF2-40B4-BE49-F238E27FC236}">
                <a16:creationId xmlns:a16="http://schemas.microsoft.com/office/drawing/2014/main" id="{44E09B68-BE33-B0D0-33CA-E6F33BAC1F2C}"/>
              </a:ext>
            </a:extLst>
          </p:cNvPr>
          <p:cNvSpPr>
            <a:spLocks noGrp="1"/>
          </p:cNvSpPr>
          <p:nvPr>
            <p:ph type="sldNum" sz="quarter" idx="5"/>
          </p:nvPr>
        </p:nvSpPr>
        <p:spPr/>
        <p:txBody>
          <a:bodyPr/>
          <a:lstStyle/>
          <a:p>
            <a:fld id="{A544F6D5-FFE7-49F7-9D51-00EE85B0B2CE}" type="slidenum">
              <a:rPr lang="en-NG" smtClean="0"/>
              <a:t>87</a:t>
            </a:fld>
            <a:endParaRPr lang="en-NG"/>
          </a:p>
        </p:txBody>
      </p:sp>
    </p:spTree>
    <p:extLst>
      <p:ext uri="{BB962C8B-B14F-4D97-AF65-F5344CB8AC3E}">
        <p14:creationId xmlns:p14="http://schemas.microsoft.com/office/powerpoint/2010/main" val="1211550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D597B-6088-518D-BA5C-DCED374803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8961D5-E0E2-900B-24E3-A39DCFB0A8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87742A-722A-E4DC-35BE-969DAE11EA58}"/>
              </a:ext>
            </a:extLst>
          </p:cNvPr>
          <p:cNvSpPr>
            <a:spLocks noGrp="1"/>
          </p:cNvSpPr>
          <p:nvPr>
            <p:ph type="body" idx="1"/>
          </p:nvPr>
        </p:nvSpPr>
        <p:spPr/>
        <p:txBody>
          <a:bodyPr/>
          <a:lstStyle/>
          <a:p>
            <a:endParaRPr lang="en-NG" dirty="0"/>
          </a:p>
        </p:txBody>
      </p:sp>
      <p:sp>
        <p:nvSpPr>
          <p:cNvPr id="4" name="Slide Number Placeholder 3">
            <a:extLst>
              <a:ext uri="{FF2B5EF4-FFF2-40B4-BE49-F238E27FC236}">
                <a16:creationId xmlns:a16="http://schemas.microsoft.com/office/drawing/2014/main" id="{48AC1F44-919E-DB4E-692F-D9902ADF949E}"/>
              </a:ext>
            </a:extLst>
          </p:cNvPr>
          <p:cNvSpPr>
            <a:spLocks noGrp="1"/>
          </p:cNvSpPr>
          <p:nvPr>
            <p:ph type="sldNum" sz="quarter" idx="5"/>
          </p:nvPr>
        </p:nvSpPr>
        <p:spPr/>
        <p:txBody>
          <a:bodyPr/>
          <a:lstStyle/>
          <a:p>
            <a:fld id="{A544F6D5-FFE7-49F7-9D51-00EE85B0B2CE}" type="slidenum">
              <a:rPr lang="en-NG" smtClean="0"/>
              <a:t>88</a:t>
            </a:fld>
            <a:endParaRPr lang="en-NG"/>
          </a:p>
        </p:txBody>
      </p:sp>
    </p:spTree>
    <p:extLst>
      <p:ext uri="{BB962C8B-B14F-4D97-AF65-F5344CB8AC3E}">
        <p14:creationId xmlns:p14="http://schemas.microsoft.com/office/powerpoint/2010/main" val="7648629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68FDA-96CF-74E3-3C29-ED825209C6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EE68F3-EE52-C75B-1EDE-7DD5F889AE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6732DC-6EAA-E5AB-B05B-2A3ABD5ABDC3}"/>
              </a:ext>
            </a:extLst>
          </p:cNvPr>
          <p:cNvSpPr>
            <a:spLocks noGrp="1"/>
          </p:cNvSpPr>
          <p:nvPr>
            <p:ph type="body" idx="1"/>
          </p:nvPr>
        </p:nvSpPr>
        <p:spPr/>
        <p:txBody>
          <a:bodyPr/>
          <a:lstStyle/>
          <a:p>
            <a:endParaRPr lang="en-NG" dirty="0"/>
          </a:p>
        </p:txBody>
      </p:sp>
      <p:sp>
        <p:nvSpPr>
          <p:cNvPr id="4" name="Slide Number Placeholder 3">
            <a:extLst>
              <a:ext uri="{FF2B5EF4-FFF2-40B4-BE49-F238E27FC236}">
                <a16:creationId xmlns:a16="http://schemas.microsoft.com/office/drawing/2014/main" id="{E3E1E49B-BB2E-7C2B-79AF-FF0E319B1B01}"/>
              </a:ext>
            </a:extLst>
          </p:cNvPr>
          <p:cNvSpPr>
            <a:spLocks noGrp="1"/>
          </p:cNvSpPr>
          <p:nvPr>
            <p:ph type="sldNum" sz="quarter" idx="5"/>
          </p:nvPr>
        </p:nvSpPr>
        <p:spPr/>
        <p:txBody>
          <a:bodyPr/>
          <a:lstStyle/>
          <a:p>
            <a:fld id="{A544F6D5-FFE7-49F7-9D51-00EE85B0B2CE}" type="slidenum">
              <a:rPr lang="en-NG" smtClean="0"/>
              <a:t>89</a:t>
            </a:fld>
            <a:endParaRPr lang="en-NG"/>
          </a:p>
        </p:txBody>
      </p:sp>
    </p:spTree>
    <p:extLst>
      <p:ext uri="{BB962C8B-B14F-4D97-AF65-F5344CB8AC3E}">
        <p14:creationId xmlns:p14="http://schemas.microsoft.com/office/powerpoint/2010/main" val="21695182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G" dirty="0"/>
          </a:p>
        </p:txBody>
      </p:sp>
      <p:sp>
        <p:nvSpPr>
          <p:cNvPr id="4" name="Slide Number Placeholder 3"/>
          <p:cNvSpPr>
            <a:spLocks noGrp="1"/>
          </p:cNvSpPr>
          <p:nvPr>
            <p:ph type="sldNum" sz="quarter" idx="5"/>
          </p:nvPr>
        </p:nvSpPr>
        <p:spPr/>
        <p:txBody>
          <a:bodyPr/>
          <a:lstStyle/>
          <a:p>
            <a:fld id="{A544F6D5-FFE7-49F7-9D51-00EE85B0B2CE}" type="slidenum">
              <a:rPr lang="en-NG" smtClean="0"/>
              <a:t>93</a:t>
            </a:fld>
            <a:endParaRPr lang="en-NG"/>
          </a:p>
        </p:txBody>
      </p:sp>
    </p:spTree>
    <p:extLst>
      <p:ext uri="{BB962C8B-B14F-4D97-AF65-F5344CB8AC3E}">
        <p14:creationId xmlns:p14="http://schemas.microsoft.com/office/powerpoint/2010/main" val="38758959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4/9/2025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pic>
        <p:nvPicPr>
          <p:cNvPr id="11" name="Picture 10">
            <a:extLst>
              <a:ext uri="{FF2B5EF4-FFF2-40B4-BE49-F238E27FC236}">
                <a16:creationId xmlns:a16="http://schemas.microsoft.com/office/drawing/2014/main" id="{0F384564-48B7-3DF6-C1B7-7858DDE3FC6B}"/>
              </a:ext>
            </a:extLst>
          </p:cNvPr>
          <p:cNvPicPr>
            <a:picLocks noChangeAspect="1"/>
          </p:cNvPicPr>
          <p:nvPr userDrawn="1"/>
        </p:nvPicPr>
        <p:blipFill>
          <a:blip r:embed="rId2"/>
          <a:stretch>
            <a:fillRect/>
          </a:stretch>
        </p:blipFill>
        <p:spPr>
          <a:xfrm>
            <a:off x="11029474" y="598099"/>
            <a:ext cx="715992" cy="715992"/>
          </a:xfrm>
          <a:prstGeom prst="rect">
            <a:avLst/>
          </a:prstGeom>
        </p:spPr>
      </p:pic>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4/9/2025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pic>
        <p:nvPicPr>
          <p:cNvPr id="7" name="Picture 6">
            <a:extLst>
              <a:ext uri="{FF2B5EF4-FFF2-40B4-BE49-F238E27FC236}">
                <a16:creationId xmlns:a16="http://schemas.microsoft.com/office/drawing/2014/main" id="{1437CCE9-8823-992F-B1CF-23DB1FE90D61}"/>
              </a:ext>
            </a:extLst>
          </p:cNvPr>
          <p:cNvPicPr>
            <a:picLocks noChangeAspect="1"/>
          </p:cNvPicPr>
          <p:nvPr userDrawn="1"/>
        </p:nvPicPr>
        <p:blipFill>
          <a:blip r:embed="rId2"/>
          <a:stretch>
            <a:fillRect/>
          </a:stretch>
        </p:blipFill>
        <p:spPr>
          <a:xfrm>
            <a:off x="11007305" y="689156"/>
            <a:ext cx="668547" cy="668547"/>
          </a:xfrm>
          <a:prstGeom prst="rect">
            <a:avLst/>
          </a:prstGeom>
        </p:spPr>
      </p:pic>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4/9/2025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4/9/2025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4/9/2025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4/9/2025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4/9/2025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4/9/2025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4/9/2025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4/9/2025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4/9/2025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4/9/2025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1475013"/>
          </a:xfrm>
        </p:spPr>
        <p:txBody>
          <a:bodyPr>
            <a:normAutofit/>
          </a:bodyPr>
          <a:lstStyle/>
          <a:p>
            <a:r>
              <a:rPr lang="en-US" dirty="0"/>
              <a:t>ALTSCHOOL OF Cybersecurity (BARAKA 2025)</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1194" y="2495445"/>
            <a:ext cx="10993546" cy="468233"/>
          </a:xfrm>
        </p:spPr>
        <p:txBody>
          <a:bodyPr>
            <a:normAutofit/>
          </a:bodyPr>
          <a:lstStyle/>
          <a:p>
            <a:r>
              <a:rPr lang="en-US" b="1" dirty="0">
                <a:solidFill>
                  <a:schemeClr val="tx1"/>
                </a:solidFill>
              </a:rPr>
              <a:t>MONTH 2 – WEEK 5</a:t>
            </a: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pic>
        <p:nvPicPr>
          <p:cNvPr id="5" name="Picture 4">
            <a:extLst>
              <a:ext uri="{FF2B5EF4-FFF2-40B4-BE49-F238E27FC236}">
                <a16:creationId xmlns:a16="http://schemas.microsoft.com/office/drawing/2014/main" id="{6D88CAB6-26D2-B72B-9B46-D93B44FBD551}"/>
              </a:ext>
            </a:extLst>
          </p:cNvPr>
          <p:cNvPicPr>
            <a:picLocks noChangeAspect="1"/>
          </p:cNvPicPr>
          <p:nvPr/>
        </p:nvPicPr>
        <p:blipFill>
          <a:blip r:embed="rId3"/>
          <a:stretch>
            <a:fillRect/>
          </a:stretch>
        </p:blipFill>
        <p:spPr>
          <a:xfrm>
            <a:off x="10887519" y="616528"/>
            <a:ext cx="723290" cy="723290"/>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E03CE-9B7A-7575-D1AE-EC88DB4F5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3A1CB3-A7D8-CE49-50E3-8E39ABBBF34A}"/>
              </a:ext>
            </a:extLst>
          </p:cNvPr>
          <p:cNvSpPr>
            <a:spLocks noGrp="1"/>
          </p:cNvSpPr>
          <p:nvPr>
            <p:ph type="title"/>
          </p:nvPr>
        </p:nvSpPr>
        <p:spPr/>
        <p:txBody>
          <a:bodyPr/>
          <a:lstStyle/>
          <a:p>
            <a:r>
              <a:rPr lang="en-US" dirty="0"/>
              <a:t>REFRESHER – LAST WEEK</a:t>
            </a:r>
            <a:endParaRPr lang="en-NG" dirty="0"/>
          </a:p>
        </p:txBody>
      </p:sp>
      <p:sp>
        <p:nvSpPr>
          <p:cNvPr id="4" name="Content Placeholder 2">
            <a:extLst>
              <a:ext uri="{FF2B5EF4-FFF2-40B4-BE49-F238E27FC236}">
                <a16:creationId xmlns:a16="http://schemas.microsoft.com/office/drawing/2014/main" id="{0D3DFEA1-A9A8-6C33-EC12-92C625EFB1B5}"/>
              </a:ext>
            </a:extLst>
          </p:cNvPr>
          <p:cNvSpPr>
            <a:spLocks noGrp="1"/>
          </p:cNvSpPr>
          <p:nvPr>
            <p:ph idx="1"/>
          </p:nvPr>
        </p:nvSpPr>
        <p:spPr>
          <a:xfrm>
            <a:off x="623498" y="2668929"/>
            <a:ext cx="11029950" cy="3633787"/>
          </a:xfrm>
        </p:spPr>
        <p:txBody>
          <a:bodyPr>
            <a:normAutofit/>
          </a:bodyPr>
          <a:lstStyle/>
          <a:p>
            <a:r>
              <a:rPr lang="en-US" dirty="0"/>
              <a:t>Overview Legal Frameworks</a:t>
            </a:r>
          </a:p>
          <a:p>
            <a:pPr lvl="1"/>
            <a:r>
              <a:rPr lang="en-US" dirty="0"/>
              <a:t>Introduction to key Legislation and Regulations (GDPR, HIPAA, CCPA, etc.)</a:t>
            </a:r>
          </a:p>
          <a:p>
            <a:pPr lvl="2"/>
            <a:r>
              <a:rPr lang="en-US" dirty="0">
                <a:solidFill>
                  <a:schemeClr val="tx1"/>
                </a:solidFill>
                <a:latin typeface="Roboto" panose="02000000000000000000" pitchFamily="2" charset="0"/>
              </a:rPr>
              <a:t>Importance of Data Protection and Privacy Laws</a:t>
            </a:r>
          </a:p>
          <a:p>
            <a:pPr lvl="2"/>
            <a:r>
              <a:rPr lang="en-US" dirty="0"/>
              <a:t>The growing need for compliance in a digital world</a:t>
            </a:r>
            <a:r>
              <a:rPr lang="en-US" dirty="0">
                <a:solidFill>
                  <a:schemeClr val="tx1"/>
                </a:solidFill>
                <a:latin typeface="Roboto" panose="02000000000000000000" pitchFamily="2" charset="0"/>
              </a:rPr>
              <a:t> </a:t>
            </a:r>
          </a:p>
          <a:p>
            <a:pPr lvl="2"/>
            <a:r>
              <a:rPr lang="en-US" dirty="0"/>
              <a:t>Understanding Data Privacy &amp; Security Regulation</a:t>
            </a:r>
          </a:p>
          <a:p>
            <a:pPr lvl="1"/>
            <a:r>
              <a:rPr lang="en-US" dirty="0"/>
              <a:t>Compliance Requirements and Standards</a:t>
            </a:r>
          </a:p>
          <a:p>
            <a:pPr lvl="1"/>
            <a:r>
              <a:rPr lang="en-US" dirty="0"/>
              <a:t>Intellectual Property and Copyright Laws</a:t>
            </a:r>
          </a:p>
          <a:p>
            <a:r>
              <a:rPr lang="en-US" dirty="0"/>
              <a:t>Ethical Hacking </a:t>
            </a:r>
          </a:p>
          <a:p>
            <a:pPr lvl="1"/>
            <a:r>
              <a:rPr lang="en-US" dirty="0"/>
              <a:t>Introduction to Ethical Hacking</a:t>
            </a:r>
          </a:p>
          <a:p>
            <a:pPr marL="324000" lvl="1" indent="0">
              <a:buNone/>
            </a:pPr>
            <a:endParaRPr lang="en-US" dirty="0"/>
          </a:p>
          <a:p>
            <a:pPr lvl="2"/>
            <a:endParaRPr lang="en-US" dirty="0"/>
          </a:p>
          <a:p>
            <a:endParaRPr lang="en-NG" dirty="0"/>
          </a:p>
        </p:txBody>
      </p:sp>
    </p:spTree>
    <p:extLst>
      <p:ext uri="{BB962C8B-B14F-4D97-AF65-F5344CB8AC3E}">
        <p14:creationId xmlns:p14="http://schemas.microsoft.com/office/powerpoint/2010/main" val="3025113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089BF-CABF-F169-6BD1-FB7399D70A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AAA0DC-C434-B3B4-0363-3B35ABFDD03A}"/>
              </a:ext>
            </a:extLst>
          </p:cNvPr>
          <p:cNvSpPr>
            <a:spLocks noGrp="1"/>
          </p:cNvSpPr>
          <p:nvPr>
            <p:ph type="title"/>
          </p:nvPr>
        </p:nvSpPr>
        <p:spPr/>
        <p:txBody>
          <a:bodyPr/>
          <a:lstStyle/>
          <a:p>
            <a:r>
              <a:rPr lang="en-US" dirty="0"/>
              <a:t>Month 2 -  WEEK 5 (Day 1)</a:t>
            </a:r>
            <a:endParaRPr lang="en-NG" dirty="0"/>
          </a:p>
        </p:txBody>
      </p:sp>
      <p:sp>
        <p:nvSpPr>
          <p:cNvPr id="4" name="Content Placeholder 2">
            <a:extLst>
              <a:ext uri="{FF2B5EF4-FFF2-40B4-BE49-F238E27FC236}">
                <a16:creationId xmlns:a16="http://schemas.microsoft.com/office/drawing/2014/main" id="{9900875B-7EFA-237A-A995-A93013DF59DC}"/>
              </a:ext>
            </a:extLst>
          </p:cNvPr>
          <p:cNvSpPr>
            <a:spLocks noGrp="1"/>
          </p:cNvSpPr>
          <p:nvPr>
            <p:ph idx="1"/>
          </p:nvPr>
        </p:nvSpPr>
        <p:spPr>
          <a:xfrm>
            <a:off x="623498" y="2668929"/>
            <a:ext cx="11029950" cy="3633787"/>
          </a:xfrm>
        </p:spPr>
        <p:txBody>
          <a:bodyPr>
            <a:normAutofit fontScale="85000" lnSpcReduction="20000"/>
          </a:bodyPr>
          <a:lstStyle/>
          <a:p>
            <a:r>
              <a:rPr lang="en-US" dirty="0"/>
              <a:t>Risk Management</a:t>
            </a:r>
          </a:p>
          <a:p>
            <a:pPr lvl="1"/>
            <a:r>
              <a:rPr lang="en-US" dirty="0"/>
              <a:t>Overview of Identifying Risk and Type of Risk</a:t>
            </a:r>
          </a:p>
          <a:p>
            <a:pPr lvl="1"/>
            <a:r>
              <a:rPr lang="en-US" dirty="0"/>
              <a:t>Risk Identification Techniques</a:t>
            </a:r>
          </a:p>
          <a:p>
            <a:pPr lvl="1"/>
            <a:r>
              <a:rPr lang="en-US" dirty="0"/>
              <a:t>Accessing Risk and Prioritizing Risk</a:t>
            </a:r>
          </a:p>
          <a:p>
            <a:pPr lvl="1"/>
            <a:r>
              <a:rPr lang="en-US" dirty="0"/>
              <a:t>Mitigating Risk Monitoring and Communicating in Risk Management</a:t>
            </a:r>
          </a:p>
          <a:p>
            <a:pPr lvl="1"/>
            <a:r>
              <a:rPr lang="en-US" dirty="0"/>
              <a:t>Risk Management Frameworks – Overview</a:t>
            </a:r>
          </a:p>
          <a:p>
            <a:pPr lvl="1"/>
            <a:r>
              <a:rPr lang="en-US" dirty="0"/>
              <a:t>Importance of Risk Management Frameworks and Primary Components of RMFs</a:t>
            </a:r>
          </a:p>
          <a:p>
            <a:pPr lvl="1"/>
            <a:r>
              <a:rPr lang="en-US" dirty="0"/>
              <a:t>Top Risk Management Frameworks Today.</a:t>
            </a:r>
          </a:p>
          <a:p>
            <a:pPr lvl="1"/>
            <a:r>
              <a:rPr lang="en-US" dirty="0"/>
              <a:t>Benefits of Risk Management Frameworks and Framing your Risks</a:t>
            </a:r>
          </a:p>
          <a:p>
            <a:r>
              <a:rPr lang="en-US" dirty="0"/>
              <a:t>Introducing Key Legislations and Regulations, Compliance Requirements and Standards</a:t>
            </a:r>
          </a:p>
          <a:p>
            <a:pPr lvl="1"/>
            <a:r>
              <a:rPr lang="en-US" dirty="0"/>
              <a:t>Introduction to Key legislations and Regulations (GDPR, HIPAA, NDPA, CCPA, </a:t>
            </a:r>
            <a:r>
              <a:rPr lang="en-US" dirty="0" err="1"/>
              <a:t>etc</a:t>
            </a:r>
            <a:r>
              <a:rPr lang="en-US" dirty="0"/>
              <a:t>)</a:t>
            </a:r>
          </a:p>
          <a:p>
            <a:pPr lvl="1"/>
            <a:r>
              <a:rPr lang="en-US" dirty="0"/>
              <a:t>Compliance Requirements and Standards</a:t>
            </a:r>
          </a:p>
          <a:p>
            <a:pPr lvl="1"/>
            <a:r>
              <a:rPr lang="en-US" dirty="0"/>
              <a:t>Examples of Cybersecurity Standards (ISO 27001, PCIDSS, NIST)</a:t>
            </a:r>
          </a:p>
          <a:p>
            <a:pPr marL="324000" lvl="1" indent="0">
              <a:buNone/>
            </a:pPr>
            <a:endParaRPr lang="en-US" dirty="0"/>
          </a:p>
          <a:p>
            <a:pPr lvl="2"/>
            <a:endParaRPr lang="en-US" dirty="0"/>
          </a:p>
          <a:p>
            <a:endParaRPr lang="en-NG" dirty="0"/>
          </a:p>
        </p:txBody>
      </p:sp>
    </p:spTree>
    <p:extLst>
      <p:ext uri="{BB962C8B-B14F-4D97-AF65-F5344CB8AC3E}">
        <p14:creationId xmlns:p14="http://schemas.microsoft.com/office/powerpoint/2010/main" val="84187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44FD3-15E9-5865-B87C-64743D0622C4}"/>
              </a:ext>
            </a:extLst>
          </p:cNvPr>
          <p:cNvSpPr>
            <a:spLocks noGrp="1"/>
          </p:cNvSpPr>
          <p:nvPr>
            <p:ph type="title"/>
          </p:nvPr>
        </p:nvSpPr>
        <p:spPr/>
        <p:txBody>
          <a:bodyPr/>
          <a:lstStyle/>
          <a:p>
            <a:r>
              <a:rPr lang="en-US" dirty="0"/>
              <a:t>Risk Management</a:t>
            </a:r>
          </a:p>
        </p:txBody>
      </p:sp>
      <p:sp>
        <p:nvSpPr>
          <p:cNvPr id="3" name="Text Placeholder 2">
            <a:extLst>
              <a:ext uri="{FF2B5EF4-FFF2-40B4-BE49-F238E27FC236}">
                <a16:creationId xmlns:a16="http://schemas.microsoft.com/office/drawing/2014/main" id="{97FBB6EF-E130-3B34-984F-FA630B728165}"/>
              </a:ext>
            </a:extLst>
          </p:cNvPr>
          <p:cNvSpPr>
            <a:spLocks noGrp="1"/>
          </p:cNvSpPr>
          <p:nvPr>
            <p:ph type="body" idx="1"/>
          </p:nvPr>
        </p:nvSpPr>
        <p:spPr/>
        <p:txBody>
          <a:bodyPr/>
          <a:lstStyle/>
          <a:p>
            <a:endParaRPr lang="en-NG" dirty="0"/>
          </a:p>
        </p:txBody>
      </p:sp>
    </p:spTree>
    <p:extLst>
      <p:ext uri="{BB962C8B-B14F-4D97-AF65-F5344CB8AC3E}">
        <p14:creationId xmlns:p14="http://schemas.microsoft.com/office/powerpoint/2010/main" val="2971973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BA21D-8631-283B-8B42-2104876966E4}"/>
              </a:ext>
            </a:extLst>
          </p:cNvPr>
          <p:cNvSpPr>
            <a:spLocks noGrp="1"/>
          </p:cNvSpPr>
          <p:nvPr>
            <p:ph type="title"/>
          </p:nvPr>
        </p:nvSpPr>
        <p:spPr>
          <a:xfrm>
            <a:off x="581192" y="702156"/>
            <a:ext cx="11029616" cy="1000123"/>
          </a:xfrm>
        </p:spPr>
        <p:txBody>
          <a:bodyPr/>
          <a:lstStyle/>
          <a:p>
            <a:r>
              <a:rPr lang="en-US" dirty="0"/>
              <a:t>RISK</a:t>
            </a:r>
            <a:endParaRPr lang="en-NG" dirty="0"/>
          </a:p>
        </p:txBody>
      </p:sp>
      <p:sp>
        <p:nvSpPr>
          <p:cNvPr id="3" name="Content Placeholder 2">
            <a:extLst>
              <a:ext uri="{FF2B5EF4-FFF2-40B4-BE49-F238E27FC236}">
                <a16:creationId xmlns:a16="http://schemas.microsoft.com/office/drawing/2014/main" id="{37AB3EED-2183-FAC7-C646-2CA488D91A79}"/>
              </a:ext>
            </a:extLst>
          </p:cNvPr>
          <p:cNvSpPr>
            <a:spLocks noGrp="1"/>
          </p:cNvSpPr>
          <p:nvPr>
            <p:ph idx="1"/>
          </p:nvPr>
        </p:nvSpPr>
        <p:spPr>
          <a:xfrm>
            <a:off x="581192" y="2918293"/>
            <a:ext cx="7464378" cy="3237551"/>
          </a:xfrm>
        </p:spPr>
        <p:txBody>
          <a:bodyPr>
            <a:normAutofit/>
          </a:bodyPr>
          <a:lstStyle/>
          <a:p>
            <a:pPr marL="0" indent="0">
              <a:buNone/>
            </a:pPr>
            <a:r>
              <a:rPr lang="en-US" dirty="0"/>
              <a:t>Risk can be defined as a probability of the occurrence of a threat or an event that may damage, or cause loss or have other negative impact either from internal or external liabilities.</a:t>
            </a:r>
          </a:p>
          <a:p>
            <a:endParaRPr lang="en-US" dirty="0"/>
          </a:p>
          <a:p>
            <a:endParaRPr lang="en-US" dirty="0"/>
          </a:p>
          <a:p>
            <a:endParaRPr lang="en-NG" dirty="0"/>
          </a:p>
        </p:txBody>
      </p:sp>
      <p:pic>
        <p:nvPicPr>
          <p:cNvPr id="2050" name="Picture 2" descr="What is a Risk? 10 definitions from ...">
            <a:extLst>
              <a:ext uri="{FF2B5EF4-FFF2-40B4-BE49-F238E27FC236}">
                <a16:creationId xmlns:a16="http://schemas.microsoft.com/office/drawing/2014/main" id="{76926294-54CA-81B3-B2A7-805985084F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3607" y="2832443"/>
            <a:ext cx="3494941" cy="1957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1330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765C8-8505-4FE5-B370-FF8BD353A3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A5F82B-2EEC-7C97-A6B4-CE91CBA6D3CD}"/>
              </a:ext>
            </a:extLst>
          </p:cNvPr>
          <p:cNvSpPr>
            <a:spLocks noGrp="1"/>
          </p:cNvSpPr>
          <p:nvPr>
            <p:ph type="title"/>
          </p:nvPr>
        </p:nvSpPr>
        <p:spPr>
          <a:xfrm>
            <a:off x="581192" y="702156"/>
            <a:ext cx="11029616" cy="1000123"/>
          </a:xfrm>
        </p:spPr>
        <p:txBody>
          <a:bodyPr/>
          <a:lstStyle/>
          <a:p>
            <a:r>
              <a:rPr lang="en-US" dirty="0"/>
              <a:t>RISK MANAGEMENT</a:t>
            </a:r>
            <a:endParaRPr lang="en-NG" dirty="0"/>
          </a:p>
        </p:txBody>
      </p:sp>
      <p:sp>
        <p:nvSpPr>
          <p:cNvPr id="3" name="Content Placeholder 2">
            <a:extLst>
              <a:ext uri="{FF2B5EF4-FFF2-40B4-BE49-F238E27FC236}">
                <a16:creationId xmlns:a16="http://schemas.microsoft.com/office/drawing/2014/main" id="{1644AC08-D490-E05F-3BD7-E8D441C10D0F}"/>
              </a:ext>
            </a:extLst>
          </p:cNvPr>
          <p:cNvSpPr>
            <a:spLocks noGrp="1"/>
          </p:cNvSpPr>
          <p:nvPr>
            <p:ph idx="1"/>
          </p:nvPr>
        </p:nvSpPr>
        <p:spPr>
          <a:xfrm>
            <a:off x="581192" y="2918293"/>
            <a:ext cx="7464378" cy="3237551"/>
          </a:xfrm>
        </p:spPr>
        <p:txBody>
          <a:bodyPr>
            <a:normAutofit/>
          </a:bodyPr>
          <a:lstStyle/>
          <a:p>
            <a:pPr marL="0" indent="0">
              <a:buNone/>
            </a:pPr>
            <a:r>
              <a:rPr lang="en-US" dirty="0"/>
              <a:t>Risk management is the process of identifying, assessing, and mitigating risks that could impact an organization's objectives. It helps businesses minimize threats while maximizing opportunities.</a:t>
            </a:r>
          </a:p>
          <a:p>
            <a:pPr>
              <a:buNone/>
            </a:pPr>
            <a:r>
              <a:rPr lang="en-US" dirty="0"/>
              <a:t>In Cybersecurity security, risk management involves protecting systems, data, and networks from cyber threats. </a:t>
            </a:r>
          </a:p>
          <a:p>
            <a:endParaRPr lang="en-US" dirty="0"/>
          </a:p>
          <a:p>
            <a:endParaRPr lang="en-US" dirty="0"/>
          </a:p>
          <a:p>
            <a:endParaRPr lang="en-NG" dirty="0"/>
          </a:p>
        </p:txBody>
      </p:sp>
      <p:pic>
        <p:nvPicPr>
          <p:cNvPr id="4" name="Picture 2">
            <a:extLst>
              <a:ext uri="{FF2B5EF4-FFF2-40B4-BE49-F238E27FC236}">
                <a16:creationId xmlns:a16="http://schemas.microsoft.com/office/drawing/2014/main" id="{7D7780FA-345E-2964-E38B-E943CEE82E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2409" y="2457156"/>
            <a:ext cx="3166797" cy="2998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550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C9AB1-CAC7-D0F3-0DBC-721D83D3D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CCCDF6-0342-999E-B127-917F4569AE57}"/>
              </a:ext>
            </a:extLst>
          </p:cNvPr>
          <p:cNvSpPr>
            <a:spLocks noGrp="1"/>
          </p:cNvSpPr>
          <p:nvPr>
            <p:ph type="title"/>
          </p:nvPr>
        </p:nvSpPr>
        <p:spPr>
          <a:xfrm>
            <a:off x="581192" y="702156"/>
            <a:ext cx="11029616" cy="1000123"/>
          </a:xfrm>
        </p:spPr>
        <p:txBody>
          <a:bodyPr/>
          <a:lstStyle/>
          <a:p>
            <a:r>
              <a:rPr lang="en-US" dirty="0"/>
              <a:t>TYPES OF RISK</a:t>
            </a:r>
            <a:endParaRPr lang="en-NG" dirty="0"/>
          </a:p>
        </p:txBody>
      </p:sp>
      <p:sp>
        <p:nvSpPr>
          <p:cNvPr id="3" name="Content Placeholder 2">
            <a:extLst>
              <a:ext uri="{FF2B5EF4-FFF2-40B4-BE49-F238E27FC236}">
                <a16:creationId xmlns:a16="http://schemas.microsoft.com/office/drawing/2014/main" id="{FE2C6D62-28AD-03B7-4DF5-4A8D827DF2B7}"/>
              </a:ext>
            </a:extLst>
          </p:cNvPr>
          <p:cNvSpPr>
            <a:spLocks noGrp="1"/>
          </p:cNvSpPr>
          <p:nvPr>
            <p:ph idx="1"/>
          </p:nvPr>
        </p:nvSpPr>
        <p:spPr>
          <a:xfrm>
            <a:off x="581192" y="2529087"/>
            <a:ext cx="7464378" cy="3237551"/>
          </a:xfrm>
        </p:spPr>
        <p:txBody>
          <a:bodyPr>
            <a:normAutofit/>
          </a:bodyPr>
          <a:lstStyle/>
          <a:p>
            <a:r>
              <a:rPr lang="en-US" b="1" dirty="0"/>
              <a:t>Strategic Risks</a:t>
            </a:r>
            <a:br>
              <a:rPr lang="en-US" dirty="0"/>
            </a:br>
            <a:r>
              <a:rPr lang="en-US" dirty="0"/>
              <a:t>These are risks that arise from an organization’s business strategy and objectives. For example, entering a new market or launching a new product may have strategic risks associated with them.</a:t>
            </a:r>
          </a:p>
          <a:p>
            <a:endParaRPr lang="en-NG" dirty="0"/>
          </a:p>
        </p:txBody>
      </p:sp>
      <p:pic>
        <p:nvPicPr>
          <p:cNvPr id="3074" name="Picture 2" descr="What Is Risk Management &amp; Why Is It ...">
            <a:extLst>
              <a:ext uri="{FF2B5EF4-FFF2-40B4-BE49-F238E27FC236}">
                <a16:creationId xmlns:a16="http://schemas.microsoft.com/office/drawing/2014/main" id="{B1BFE7EB-3F06-01F9-59D3-523F1DE0FD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1858" y="3444240"/>
            <a:ext cx="3028950"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9742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6932E-7CA4-B8B9-D8A7-0DE414755A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434BCA-3F24-A78E-4536-C96493E78EF6}"/>
              </a:ext>
            </a:extLst>
          </p:cNvPr>
          <p:cNvSpPr>
            <a:spLocks noGrp="1"/>
          </p:cNvSpPr>
          <p:nvPr>
            <p:ph type="title"/>
          </p:nvPr>
        </p:nvSpPr>
        <p:spPr>
          <a:xfrm>
            <a:off x="581192" y="702156"/>
            <a:ext cx="11029616" cy="1000123"/>
          </a:xfrm>
        </p:spPr>
        <p:txBody>
          <a:bodyPr/>
          <a:lstStyle/>
          <a:p>
            <a:r>
              <a:rPr lang="en-US" dirty="0"/>
              <a:t>TYPES OF RISK</a:t>
            </a:r>
            <a:endParaRPr lang="en-NG" dirty="0"/>
          </a:p>
        </p:txBody>
      </p:sp>
      <p:sp>
        <p:nvSpPr>
          <p:cNvPr id="3" name="Content Placeholder 2">
            <a:extLst>
              <a:ext uri="{FF2B5EF4-FFF2-40B4-BE49-F238E27FC236}">
                <a16:creationId xmlns:a16="http://schemas.microsoft.com/office/drawing/2014/main" id="{39D414EB-BCE0-56EF-DB0E-183BE30D972D}"/>
              </a:ext>
            </a:extLst>
          </p:cNvPr>
          <p:cNvSpPr>
            <a:spLocks noGrp="1"/>
          </p:cNvSpPr>
          <p:nvPr>
            <p:ph idx="1"/>
          </p:nvPr>
        </p:nvSpPr>
        <p:spPr>
          <a:xfrm>
            <a:off x="581192" y="2355585"/>
            <a:ext cx="7464378" cy="3237551"/>
          </a:xfrm>
        </p:spPr>
        <p:txBody>
          <a:bodyPr>
            <a:normAutofit/>
          </a:bodyPr>
          <a:lstStyle/>
          <a:p>
            <a:r>
              <a:rPr lang="en-US" b="1" dirty="0"/>
              <a:t>Operational Risks</a:t>
            </a:r>
            <a:br>
              <a:rPr lang="en-US" dirty="0"/>
            </a:br>
            <a:r>
              <a:rPr lang="en-US" dirty="0"/>
              <a:t>These are risks that arise from an organization’s day-to-day activities and processes. Examples include technology failures, employee errors or supply chain disruptions.</a:t>
            </a:r>
            <a:endParaRPr lang="en-NG" dirty="0"/>
          </a:p>
        </p:txBody>
      </p:sp>
      <p:pic>
        <p:nvPicPr>
          <p:cNvPr id="3074" name="Picture 2" descr="What Is Risk Management &amp; Why Is It ...">
            <a:extLst>
              <a:ext uri="{FF2B5EF4-FFF2-40B4-BE49-F238E27FC236}">
                <a16:creationId xmlns:a16="http://schemas.microsoft.com/office/drawing/2014/main" id="{AA90F035-92A1-7C14-0A8C-4614DEDC5B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1858" y="3444240"/>
            <a:ext cx="3028950"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30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EE39A-1349-98CB-9606-3F6BDCCAE7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BC61BC-D97F-6951-F76D-857CF3E6B79E}"/>
              </a:ext>
            </a:extLst>
          </p:cNvPr>
          <p:cNvSpPr>
            <a:spLocks noGrp="1"/>
          </p:cNvSpPr>
          <p:nvPr>
            <p:ph type="title"/>
          </p:nvPr>
        </p:nvSpPr>
        <p:spPr>
          <a:xfrm>
            <a:off x="581192" y="702156"/>
            <a:ext cx="11029616" cy="1000123"/>
          </a:xfrm>
        </p:spPr>
        <p:txBody>
          <a:bodyPr/>
          <a:lstStyle/>
          <a:p>
            <a:r>
              <a:rPr lang="en-US" dirty="0"/>
              <a:t>TYPES OF RISK</a:t>
            </a:r>
            <a:endParaRPr lang="en-NG" dirty="0"/>
          </a:p>
        </p:txBody>
      </p:sp>
      <p:sp>
        <p:nvSpPr>
          <p:cNvPr id="3" name="Content Placeholder 2">
            <a:extLst>
              <a:ext uri="{FF2B5EF4-FFF2-40B4-BE49-F238E27FC236}">
                <a16:creationId xmlns:a16="http://schemas.microsoft.com/office/drawing/2014/main" id="{E025F89F-DC17-DF00-A86D-5C7A31D67A53}"/>
              </a:ext>
            </a:extLst>
          </p:cNvPr>
          <p:cNvSpPr>
            <a:spLocks noGrp="1"/>
          </p:cNvSpPr>
          <p:nvPr>
            <p:ph idx="1"/>
          </p:nvPr>
        </p:nvSpPr>
        <p:spPr>
          <a:xfrm>
            <a:off x="651530" y="2369653"/>
            <a:ext cx="7464378" cy="3237551"/>
          </a:xfrm>
        </p:spPr>
        <p:txBody>
          <a:bodyPr>
            <a:normAutofit/>
          </a:bodyPr>
          <a:lstStyle/>
          <a:p>
            <a:r>
              <a:rPr lang="en-US" b="1" dirty="0"/>
              <a:t>Financial Risks</a:t>
            </a:r>
            <a:br>
              <a:rPr lang="en-US" dirty="0"/>
            </a:br>
            <a:r>
              <a:rPr lang="en-US" dirty="0"/>
              <a:t>These are risks that arise from an organization’s financial operations and management. Examples include credit risk, market risk and liquidity risk.</a:t>
            </a:r>
            <a:endParaRPr lang="en-NG" dirty="0"/>
          </a:p>
        </p:txBody>
      </p:sp>
      <p:pic>
        <p:nvPicPr>
          <p:cNvPr id="3074" name="Picture 2" descr="What Is Risk Management &amp; Why Is It ...">
            <a:extLst>
              <a:ext uri="{FF2B5EF4-FFF2-40B4-BE49-F238E27FC236}">
                <a16:creationId xmlns:a16="http://schemas.microsoft.com/office/drawing/2014/main" id="{AA444EDC-6449-9C2D-2B5D-85308C0BC6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1858" y="3444240"/>
            <a:ext cx="3028950"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5659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B68B9-B669-0BED-A688-E65C5D7A66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985376-E595-0197-883E-6EA29654549D}"/>
              </a:ext>
            </a:extLst>
          </p:cNvPr>
          <p:cNvSpPr>
            <a:spLocks noGrp="1"/>
          </p:cNvSpPr>
          <p:nvPr>
            <p:ph type="title"/>
          </p:nvPr>
        </p:nvSpPr>
        <p:spPr>
          <a:xfrm>
            <a:off x="581192" y="702156"/>
            <a:ext cx="11029616" cy="1000123"/>
          </a:xfrm>
        </p:spPr>
        <p:txBody>
          <a:bodyPr/>
          <a:lstStyle/>
          <a:p>
            <a:r>
              <a:rPr lang="en-US" dirty="0"/>
              <a:t>TYPES OF RISK</a:t>
            </a:r>
            <a:endParaRPr lang="en-NG" dirty="0"/>
          </a:p>
        </p:txBody>
      </p:sp>
      <p:sp>
        <p:nvSpPr>
          <p:cNvPr id="3" name="Content Placeholder 2">
            <a:extLst>
              <a:ext uri="{FF2B5EF4-FFF2-40B4-BE49-F238E27FC236}">
                <a16:creationId xmlns:a16="http://schemas.microsoft.com/office/drawing/2014/main" id="{775ECF92-23E6-06EB-05C7-1A82F304BB76}"/>
              </a:ext>
            </a:extLst>
          </p:cNvPr>
          <p:cNvSpPr>
            <a:spLocks noGrp="1"/>
          </p:cNvSpPr>
          <p:nvPr>
            <p:ph idx="1"/>
          </p:nvPr>
        </p:nvSpPr>
        <p:spPr>
          <a:xfrm>
            <a:off x="651530" y="2369653"/>
            <a:ext cx="7464378" cy="3237551"/>
          </a:xfrm>
        </p:spPr>
        <p:txBody>
          <a:bodyPr>
            <a:normAutofit/>
          </a:bodyPr>
          <a:lstStyle/>
          <a:p>
            <a:r>
              <a:rPr lang="en-US" b="1" dirty="0"/>
              <a:t>Legal/Compliance Risks</a:t>
            </a:r>
            <a:br>
              <a:rPr lang="en-US" dirty="0"/>
            </a:br>
            <a:r>
              <a:rPr lang="en-US" dirty="0"/>
              <a:t>These are risks that arise from an organization’s failure to comply with laws, regulations or industry standards. Examples include contract disputes, intellectual property disputes, employment law violations, data privacy violations or noncompliance with environmental regulations..</a:t>
            </a:r>
            <a:endParaRPr lang="en-NG" dirty="0"/>
          </a:p>
        </p:txBody>
      </p:sp>
      <p:pic>
        <p:nvPicPr>
          <p:cNvPr id="3074" name="Picture 2" descr="What Is Risk Management &amp; Why Is It ...">
            <a:extLst>
              <a:ext uri="{FF2B5EF4-FFF2-40B4-BE49-F238E27FC236}">
                <a16:creationId xmlns:a16="http://schemas.microsoft.com/office/drawing/2014/main" id="{570168FB-EAD5-C49A-F770-1C3EDFFAC3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1858" y="3444240"/>
            <a:ext cx="3028950"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4334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C02D6-D9F4-3AB5-5E0D-43079CC444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C67335-6DF6-E6CD-BF9C-21A88771B0FA}"/>
              </a:ext>
            </a:extLst>
          </p:cNvPr>
          <p:cNvSpPr>
            <a:spLocks noGrp="1"/>
          </p:cNvSpPr>
          <p:nvPr>
            <p:ph type="title"/>
          </p:nvPr>
        </p:nvSpPr>
        <p:spPr>
          <a:xfrm>
            <a:off x="581192" y="702156"/>
            <a:ext cx="11029616" cy="1000123"/>
          </a:xfrm>
        </p:spPr>
        <p:txBody>
          <a:bodyPr/>
          <a:lstStyle/>
          <a:p>
            <a:r>
              <a:rPr lang="en-US" dirty="0"/>
              <a:t>TYPES OF RISK</a:t>
            </a:r>
            <a:endParaRPr lang="en-NG" dirty="0"/>
          </a:p>
        </p:txBody>
      </p:sp>
      <p:sp>
        <p:nvSpPr>
          <p:cNvPr id="3" name="Content Placeholder 2">
            <a:extLst>
              <a:ext uri="{FF2B5EF4-FFF2-40B4-BE49-F238E27FC236}">
                <a16:creationId xmlns:a16="http://schemas.microsoft.com/office/drawing/2014/main" id="{0A3810CD-FC4C-C15B-D8C5-5BDA85C71DE0}"/>
              </a:ext>
            </a:extLst>
          </p:cNvPr>
          <p:cNvSpPr>
            <a:spLocks noGrp="1"/>
          </p:cNvSpPr>
          <p:nvPr>
            <p:ph idx="1"/>
          </p:nvPr>
        </p:nvSpPr>
        <p:spPr>
          <a:xfrm>
            <a:off x="651530" y="2369653"/>
            <a:ext cx="7464378" cy="3237551"/>
          </a:xfrm>
        </p:spPr>
        <p:txBody>
          <a:bodyPr>
            <a:normAutofit/>
          </a:bodyPr>
          <a:lstStyle/>
          <a:p>
            <a:r>
              <a:rPr lang="en-US" b="1" dirty="0"/>
              <a:t>Reputational Risks</a:t>
            </a:r>
            <a:br>
              <a:rPr lang="en-US" dirty="0"/>
            </a:br>
            <a:r>
              <a:rPr lang="en-US" dirty="0"/>
              <a:t>These are risks that arise from damage to an organization’s reputation, image or brand. Examples include product recalls, lawsuits or negative media coverage.</a:t>
            </a:r>
            <a:endParaRPr lang="en-NG" dirty="0"/>
          </a:p>
        </p:txBody>
      </p:sp>
      <p:pic>
        <p:nvPicPr>
          <p:cNvPr id="3074" name="Picture 2" descr="What Is Risk Management &amp; Why Is It ...">
            <a:extLst>
              <a:ext uri="{FF2B5EF4-FFF2-40B4-BE49-F238E27FC236}">
                <a16:creationId xmlns:a16="http://schemas.microsoft.com/office/drawing/2014/main" id="{14259A7B-3F06-13BE-E66B-DDD6E920C5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1858" y="3444240"/>
            <a:ext cx="3028950"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0879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2B4BD-187A-48E0-2855-8FB4FCE1E1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A3A736-9943-664E-C023-E545DC8A24C9}"/>
              </a:ext>
            </a:extLst>
          </p:cNvPr>
          <p:cNvSpPr>
            <a:spLocks noGrp="1"/>
          </p:cNvSpPr>
          <p:nvPr>
            <p:ph type="title"/>
          </p:nvPr>
        </p:nvSpPr>
        <p:spPr>
          <a:xfrm>
            <a:off x="581192" y="702156"/>
            <a:ext cx="11029616" cy="1000123"/>
          </a:xfrm>
        </p:spPr>
        <p:txBody>
          <a:bodyPr/>
          <a:lstStyle/>
          <a:p>
            <a:r>
              <a:rPr lang="en-US" dirty="0"/>
              <a:t>RISK Identification Techniques</a:t>
            </a:r>
            <a:endParaRPr lang="en-NG" dirty="0"/>
          </a:p>
        </p:txBody>
      </p:sp>
      <p:sp>
        <p:nvSpPr>
          <p:cNvPr id="3" name="Content Placeholder 2">
            <a:extLst>
              <a:ext uri="{FF2B5EF4-FFF2-40B4-BE49-F238E27FC236}">
                <a16:creationId xmlns:a16="http://schemas.microsoft.com/office/drawing/2014/main" id="{31E67EE0-6760-7112-43EB-8687075DE31C}"/>
              </a:ext>
            </a:extLst>
          </p:cNvPr>
          <p:cNvSpPr>
            <a:spLocks noGrp="1"/>
          </p:cNvSpPr>
          <p:nvPr>
            <p:ph idx="1"/>
          </p:nvPr>
        </p:nvSpPr>
        <p:spPr>
          <a:xfrm>
            <a:off x="581192" y="2918293"/>
            <a:ext cx="7464378" cy="3237551"/>
          </a:xfrm>
        </p:spPr>
        <p:txBody>
          <a:bodyPr>
            <a:normAutofit/>
          </a:bodyPr>
          <a:lstStyle/>
          <a:p>
            <a:r>
              <a:rPr lang="en-US" dirty="0"/>
              <a:t>Brainstorming</a:t>
            </a:r>
          </a:p>
          <a:p>
            <a:pPr marL="576000" lvl="2">
              <a:lnSpc>
                <a:spcPct val="110000"/>
              </a:lnSpc>
            </a:pPr>
            <a:r>
              <a:rPr lang="en-US" sz="1600" dirty="0"/>
              <a:t>This is the act of gathering team members to think about and discuss a subject and to form solutions to any identified problems. This kind of meeting allows a team to speculate on ideas, discuss facts and look at a project's future. You can use brainstorming to identify, analyze and address potential risks by hearing from people who work at the front end of the business. Team members may have a better understanding of how the business operates from the ground level and can share their own perspectives of the company's risks</a:t>
            </a:r>
          </a:p>
          <a:p>
            <a:endParaRPr lang="en-NG" dirty="0"/>
          </a:p>
        </p:txBody>
      </p:sp>
      <p:pic>
        <p:nvPicPr>
          <p:cNvPr id="11266" name="Picture 2" descr="Risk Management Lifecycle: 5 Steps to a ...">
            <a:extLst>
              <a:ext uri="{FF2B5EF4-FFF2-40B4-BE49-F238E27FC236}">
                <a16:creationId xmlns:a16="http://schemas.microsoft.com/office/drawing/2014/main" id="{C569EC60-0A92-1C9E-13AA-41180EAACD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3906" y="2441009"/>
            <a:ext cx="2905196" cy="2970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38019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ABC22-97B6-8952-32C0-7DA3B27396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94EA82-1CDA-3ED0-A2AF-F3FD29895A2F}"/>
              </a:ext>
            </a:extLst>
          </p:cNvPr>
          <p:cNvSpPr>
            <a:spLocks noGrp="1"/>
          </p:cNvSpPr>
          <p:nvPr>
            <p:ph type="title"/>
          </p:nvPr>
        </p:nvSpPr>
        <p:spPr>
          <a:xfrm>
            <a:off x="581192" y="702156"/>
            <a:ext cx="11029616" cy="1000123"/>
          </a:xfrm>
        </p:spPr>
        <p:txBody>
          <a:bodyPr/>
          <a:lstStyle/>
          <a:p>
            <a:r>
              <a:rPr lang="en-US" dirty="0"/>
              <a:t>RISK Identification Techniques</a:t>
            </a:r>
            <a:endParaRPr lang="en-NG" dirty="0"/>
          </a:p>
        </p:txBody>
      </p:sp>
      <p:sp>
        <p:nvSpPr>
          <p:cNvPr id="3" name="Content Placeholder 2">
            <a:extLst>
              <a:ext uri="{FF2B5EF4-FFF2-40B4-BE49-F238E27FC236}">
                <a16:creationId xmlns:a16="http://schemas.microsoft.com/office/drawing/2014/main" id="{F18DC6EE-4C74-1BD0-0B5A-7898CB371589}"/>
              </a:ext>
            </a:extLst>
          </p:cNvPr>
          <p:cNvSpPr>
            <a:spLocks noGrp="1"/>
          </p:cNvSpPr>
          <p:nvPr>
            <p:ph idx="1"/>
          </p:nvPr>
        </p:nvSpPr>
        <p:spPr>
          <a:xfrm>
            <a:off x="581192" y="2918293"/>
            <a:ext cx="7464378" cy="3237551"/>
          </a:xfrm>
        </p:spPr>
        <p:txBody>
          <a:bodyPr>
            <a:normAutofit/>
          </a:bodyPr>
          <a:lstStyle/>
          <a:p>
            <a:r>
              <a:rPr lang="en-US" dirty="0"/>
              <a:t>Stakeholder interviews</a:t>
            </a:r>
          </a:p>
          <a:p>
            <a:pPr marL="576000" lvl="2">
              <a:lnSpc>
                <a:spcPct val="110000"/>
              </a:lnSpc>
            </a:pPr>
            <a:r>
              <a:rPr lang="en-US" sz="1600" dirty="0"/>
              <a:t>Stakeholders are the people who have an interest in your project or business, and interviewing them may help you better understand what they believe are the biggest risks. Stakeholders often have invested significant resources, whether it be time, money, labor or all three, into your business. They understand risk from an outsider's perspective as an investor, not a laborer or leader. </a:t>
            </a:r>
          </a:p>
          <a:p>
            <a:endParaRPr lang="en-NG" dirty="0"/>
          </a:p>
        </p:txBody>
      </p:sp>
      <p:pic>
        <p:nvPicPr>
          <p:cNvPr id="11266" name="Picture 2" descr="Risk Management Lifecycle: 5 Steps to a ...">
            <a:extLst>
              <a:ext uri="{FF2B5EF4-FFF2-40B4-BE49-F238E27FC236}">
                <a16:creationId xmlns:a16="http://schemas.microsoft.com/office/drawing/2014/main" id="{4747DCEA-527B-5CE5-378E-66C95F8792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3906" y="2441009"/>
            <a:ext cx="2905196" cy="2970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41519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386C5-4766-F49A-83E9-4FF95D8CAF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C956BC-0CB6-15BF-33E3-66FCE108F104}"/>
              </a:ext>
            </a:extLst>
          </p:cNvPr>
          <p:cNvSpPr>
            <a:spLocks noGrp="1"/>
          </p:cNvSpPr>
          <p:nvPr>
            <p:ph type="title"/>
          </p:nvPr>
        </p:nvSpPr>
        <p:spPr>
          <a:xfrm>
            <a:off x="581192" y="702156"/>
            <a:ext cx="11029616" cy="1000123"/>
          </a:xfrm>
        </p:spPr>
        <p:txBody>
          <a:bodyPr/>
          <a:lstStyle/>
          <a:p>
            <a:r>
              <a:rPr lang="en-US" dirty="0"/>
              <a:t>RISK Identification Techniques</a:t>
            </a:r>
            <a:endParaRPr lang="en-NG" dirty="0"/>
          </a:p>
        </p:txBody>
      </p:sp>
      <p:sp>
        <p:nvSpPr>
          <p:cNvPr id="3" name="Content Placeholder 2">
            <a:extLst>
              <a:ext uri="{FF2B5EF4-FFF2-40B4-BE49-F238E27FC236}">
                <a16:creationId xmlns:a16="http://schemas.microsoft.com/office/drawing/2014/main" id="{07F4CFDC-8CDD-7E30-814C-55A41BF0BF66}"/>
              </a:ext>
            </a:extLst>
          </p:cNvPr>
          <p:cNvSpPr>
            <a:spLocks noGrp="1"/>
          </p:cNvSpPr>
          <p:nvPr>
            <p:ph idx="1"/>
          </p:nvPr>
        </p:nvSpPr>
        <p:spPr>
          <a:xfrm>
            <a:off x="581192" y="2918293"/>
            <a:ext cx="7464378" cy="3237551"/>
          </a:xfrm>
        </p:spPr>
        <p:txBody>
          <a:bodyPr>
            <a:normAutofit/>
          </a:bodyPr>
          <a:lstStyle/>
          <a:p>
            <a:r>
              <a:rPr lang="en-US" b="1" dirty="0"/>
              <a:t>The NGT, or nominal group technique</a:t>
            </a:r>
            <a:r>
              <a:rPr lang="en-US" dirty="0"/>
              <a:t>, is another method of brainstorming that offers a more in-depth approach to the subject. Participants write their own ideas about the challenge without discussing it directly with other group members. Then, a senior member of the team asks each participant for their thoughts, which are written on a chart or whiteboard with overlapping items removed.. </a:t>
            </a:r>
          </a:p>
          <a:p>
            <a:endParaRPr lang="en-US" dirty="0"/>
          </a:p>
          <a:p>
            <a:endParaRPr lang="en-NG" dirty="0"/>
          </a:p>
        </p:txBody>
      </p:sp>
      <p:pic>
        <p:nvPicPr>
          <p:cNvPr id="11266" name="Picture 2" descr="Risk Management Lifecycle: 5 Steps to a ...">
            <a:extLst>
              <a:ext uri="{FF2B5EF4-FFF2-40B4-BE49-F238E27FC236}">
                <a16:creationId xmlns:a16="http://schemas.microsoft.com/office/drawing/2014/main" id="{7D0AF340-7AD4-8A99-C45C-DFB07DB939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3906" y="2441009"/>
            <a:ext cx="2905196" cy="2970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9682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91569-E253-5EC4-F17A-F55F60CF36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8EB667-CD22-1F73-2856-8F7837DA9AB5}"/>
              </a:ext>
            </a:extLst>
          </p:cNvPr>
          <p:cNvSpPr>
            <a:spLocks noGrp="1"/>
          </p:cNvSpPr>
          <p:nvPr>
            <p:ph type="title"/>
          </p:nvPr>
        </p:nvSpPr>
        <p:spPr>
          <a:xfrm>
            <a:off x="581192" y="702156"/>
            <a:ext cx="11029616" cy="1000123"/>
          </a:xfrm>
        </p:spPr>
        <p:txBody>
          <a:bodyPr/>
          <a:lstStyle/>
          <a:p>
            <a:r>
              <a:rPr lang="en-US" dirty="0"/>
              <a:t>RISK Identification Techniques</a:t>
            </a:r>
            <a:endParaRPr lang="en-NG" dirty="0"/>
          </a:p>
        </p:txBody>
      </p:sp>
      <p:sp>
        <p:nvSpPr>
          <p:cNvPr id="3" name="Content Placeholder 2">
            <a:extLst>
              <a:ext uri="{FF2B5EF4-FFF2-40B4-BE49-F238E27FC236}">
                <a16:creationId xmlns:a16="http://schemas.microsoft.com/office/drawing/2014/main" id="{2CF0EE5C-EA15-0AAF-DC7D-1B633F07CB6E}"/>
              </a:ext>
            </a:extLst>
          </p:cNvPr>
          <p:cNvSpPr>
            <a:spLocks noGrp="1"/>
          </p:cNvSpPr>
          <p:nvPr>
            <p:ph idx="1"/>
          </p:nvPr>
        </p:nvSpPr>
        <p:spPr>
          <a:xfrm>
            <a:off x="581192" y="2388410"/>
            <a:ext cx="7464378" cy="3237551"/>
          </a:xfrm>
        </p:spPr>
        <p:txBody>
          <a:bodyPr>
            <a:normAutofit/>
          </a:bodyPr>
          <a:lstStyle/>
          <a:p>
            <a:endParaRPr lang="en-US" dirty="0"/>
          </a:p>
          <a:p>
            <a:r>
              <a:rPr lang="en-US" dirty="0"/>
              <a:t>Affinity diagram </a:t>
            </a:r>
          </a:p>
          <a:p>
            <a:pPr lvl="1"/>
            <a:r>
              <a:rPr lang="en-US" dirty="0"/>
              <a:t>An affinity diagram is a diagram that organizes data into categories based on their similarities. Ask each team member to write what they believe are potential project or company risks and file each response under a few categories. For example, you can have financial, practical or safety risks as categories. This helps separate the risks into categories for individual review and helps organize the feedback you receive. From there, the team can prioritize each risk and address it.</a:t>
            </a:r>
          </a:p>
          <a:p>
            <a:endParaRPr lang="en-NG" dirty="0"/>
          </a:p>
        </p:txBody>
      </p:sp>
      <p:pic>
        <p:nvPicPr>
          <p:cNvPr id="11266" name="Picture 2" descr="Risk Management Lifecycle: 5 Steps to a ...">
            <a:extLst>
              <a:ext uri="{FF2B5EF4-FFF2-40B4-BE49-F238E27FC236}">
                <a16:creationId xmlns:a16="http://schemas.microsoft.com/office/drawing/2014/main" id="{3F27BC86-BF88-FA7C-B61D-78B775BF0E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3906" y="2441009"/>
            <a:ext cx="2905196" cy="2970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17860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D3884-D61E-AF8C-8BF3-F4007840CF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ED61EE-EB45-27F8-333E-6699218D0028}"/>
              </a:ext>
            </a:extLst>
          </p:cNvPr>
          <p:cNvSpPr>
            <a:spLocks noGrp="1"/>
          </p:cNvSpPr>
          <p:nvPr>
            <p:ph type="title"/>
          </p:nvPr>
        </p:nvSpPr>
        <p:spPr>
          <a:xfrm>
            <a:off x="581192" y="702156"/>
            <a:ext cx="11029616" cy="1000123"/>
          </a:xfrm>
        </p:spPr>
        <p:txBody>
          <a:bodyPr/>
          <a:lstStyle/>
          <a:p>
            <a:r>
              <a:rPr lang="en-US" dirty="0"/>
              <a:t>RISK Identification Techniques</a:t>
            </a:r>
            <a:endParaRPr lang="en-NG" dirty="0"/>
          </a:p>
        </p:txBody>
      </p:sp>
      <p:sp>
        <p:nvSpPr>
          <p:cNvPr id="3" name="Content Placeholder 2">
            <a:extLst>
              <a:ext uri="{FF2B5EF4-FFF2-40B4-BE49-F238E27FC236}">
                <a16:creationId xmlns:a16="http://schemas.microsoft.com/office/drawing/2014/main" id="{B464C00B-3E4F-C5D3-1236-7EFF34D1CA73}"/>
              </a:ext>
            </a:extLst>
          </p:cNvPr>
          <p:cNvSpPr>
            <a:spLocks noGrp="1"/>
          </p:cNvSpPr>
          <p:nvPr>
            <p:ph idx="1"/>
          </p:nvPr>
        </p:nvSpPr>
        <p:spPr>
          <a:xfrm>
            <a:off x="581192" y="2918293"/>
            <a:ext cx="7464378" cy="3237551"/>
          </a:xfrm>
        </p:spPr>
        <p:txBody>
          <a:bodyPr>
            <a:normAutofit/>
          </a:bodyPr>
          <a:lstStyle/>
          <a:p>
            <a:pPr algn="l"/>
            <a:r>
              <a:rPr lang="en-US" dirty="0"/>
              <a:t>Root cause analysis</a:t>
            </a:r>
          </a:p>
          <a:p>
            <a:pPr lvl="1"/>
            <a:r>
              <a:rPr lang="en-US" sz="1700" dirty="0"/>
              <a:t>A root cause analysis is an investigation of previous project risks and how they relate to one another and the current project. The root cause can be anything from financial challenges to outdated equipment or poor-quality materials. Finding the root cause can allow the team to identify common challenges in the project or business and minimize them for greater project efficiency</a:t>
            </a:r>
          </a:p>
          <a:p>
            <a:endParaRPr lang="en-NG" dirty="0"/>
          </a:p>
        </p:txBody>
      </p:sp>
      <p:pic>
        <p:nvPicPr>
          <p:cNvPr id="11266" name="Picture 2" descr="Risk Management Lifecycle: 5 Steps to a ...">
            <a:extLst>
              <a:ext uri="{FF2B5EF4-FFF2-40B4-BE49-F238E27FC236}">
                <a16:creationId xmlns:a16="http://schemas.microsoft.com/office/drawing/2014/main" id="{F1455E69-452C-5873-9A96-B3288EF960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3906" y="2441009"/>
            <a:ext cx="2905196" cy="2970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1215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3D04D-8D08-64AC-8DF4-D18D934EB5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D771F2-A6EB-C13E-8ADF-745C58B8D4A0}"/>
              </a:ext>
            </a:extLst>
          </p:cNvPr>
          <p:cNvSpPr>
            <a:spLocks noGrp="1"/>
          </p:cNvSpPr>
          <p:nvPr>
            <p:ph type="title"/>
          </p:nvPr>
        </p:nvSpPr>
        <p:spPr>
          <a:xfrm>
            <a:off x="581192" y="702156"/>
            <a:ext cx="11029616" cy="1000123"/>
          </a:xfrm>
        </p:spPr>
        <p:txBody>
          <a:bodyPr/>
          <a:lstStyle/>
          <a:p>
            <a:r>
              <a:rPr lang="en-US" dirty="0"/>
              <a:t>RISK Identification Techniques</a:t>
            </a:r>
            <a:endParaRPr lang="en-NG" dirty="0"/>
          </a:p>
        </p:txBody>
      </p:sp>
      <p:sp>
        <p:nvSpPr>
          <p:cNvPr id="3" name="Content Placeholder 2">
            <a:extLst>
              <a:ext uri="{FF2B5EF4-FFF2-40B4-BE49-F238E27FC236}">
                <a16:creationId xmlns:a16="http://schemas.microsoft.com/office/drawing/2014/main" id="{1858EA01-3FCF-16E2-FD7A-01D86356F08F}"/>
              </a:ext>
            </a:extLst>
          </p:cNvPr>
          <p:cNvSpPr>
            <a:spLocks noGrp="1"/>
          </p:cNvSpPr>
          <p:nvPr>
            <p:ph idx="1"/>
          </p:nvPr>
        </p:nvSpPr>
        <p:spPr>
          <a:xfrm>
            <a:off x="581192" y="2918293"/>
            <a:ext cx="7464378" cy="3237551"/>
          </a:xfrm>
        </p:spPr>
        <p:txBody>
          <a:bodyPr>
            <a:normAutofit/>
          </a:bodyPr>
          <a:lstStyle/>
          <a:p>
            <a:pPr algn="l"/>
            <a:r>
              <a:rPr lang="en-US" dirty="0"/>
              <a:t>SWOT analysis</a:t>
            </a:r>
          </a:p>
          <a:p>
            <a:pPr lvl="1"/>
            <a:r>
              <a:rPr lang="en-US" sz="1700" dirty="0"/>
              <a:t> SWOT, or strengths, weaknesses, opportunities and threats analysis, is a great way to understand a project's or business's risks alongside other important factors. A thorough SWOT analysis can show investors why a business or project is worthy of investment and helps the team better understand their efficacy in reaching goals. A SWOT analysis examines four factors:</a:t>
            </a:r>
            <a:endParaRPr lang="en-NG" sz="1700" dirty="0"/>
          </a:p>
        </p:txBody>
      </p:sp>
      <p:pic>
        <p:nvPicPr>
          <p:cNvPr id="11266" name="Picture 2" descr="Risk Management Lifecycle: 5 Steps to a ...">
            <a:extLst>
              <a:ext uri="{FF2B5EF4-FFF2-40B4-BE49-F238E27FC236}">
                <a16:creationId xmlns:a16="http://schemas.microsoft.com/office/drawing/2014/main" id="{8B1C6EB1-81DB-0C11-54F7-A17A689C5D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3906" y="2441009"/>
            <a:ext cx="2905196" cy="2970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1741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AD84C-C231-5D01-E968-E29BE33180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A6BE3-0F33-BD10-A613-1EC18585152C}"/>
              </a:ext>
            </a:extLst>
          </p:cNvPr>
          <p:cNvSpPr>
            <a:spLocks noGrp="1"/>
          </p:cNvSpPr>
          <p:nvPr>
            <p:ph type="title"/>
          </p:nvPr>
        </p:nvSpPr>
        <p:spPr>
          <a:xfrm>
            <a:off x="581192" y="702156"/>
            <a:ext cx="11029616" cy="1000123"/>
          </a:xfrm>
        </p:spPr>
        <p:txBody>
          <a:bodyPr/>
          <a:lstStyle/>
          <a:p>
            <a:r>
              <a:rPr lang="en-US" dirty="0"/>
              <a:t>RISK Identification Techniques</a:t>
            </a:r>
            <a:endParaRPr lang="en-NG" dirty="0"/>
          </a:p>
        </p:txBody>
      </p:sp>
      <p:sp>
        <p:nvSpPr>
          <p:cNvPr id="3" name="Content Placeholder 2">
            <a:extLst>
              <a:ext uri="{FF2B5EF4-FFF2-40B4-BE49-F238E27FC236}">
                <a16:creationId xmlns:a16="http://schemas.microsoft.com/office/drawing/2014/main" id="{87DA2F81-FE64-AF78-E001-73B37F8142E7}"/>
              </a:ext>
            </a:extLst>
          </p:cNvPr>
          <p:cNvSpPr>
            <a:spLocks noGrp="1"/>
          </p:cNvSpPr>
          <p:nvPr>
            <p:ph idx="1"/>
          </p:nvPr>
        </p:nvSpPr>
        <p:spPr>
          <a:xfrm>
            <a:off x="581192" y="2918293"/>
            <a:ext cx="7464378" cy="3237551"/>
          </a:xfrm>
        </p:spPr>
        <p:txBody>
          <a:bodyPr>
            <a:normAutofit fontScale="92500" lnSpcReduction="20000"/>
          </a:bodyPr>
          <a:lstStyle/>
          <a:p>
            <a:pPr algn="l"/>
            <a:r>
              <a:rPr lang="en-US" sz="2000" dirty="0"/>
              <a:t>SWOT analysis</a:t>
            </a:r>
          </a:p>
          <a:p>
            <a:pPr algn="l">
              <a:buFont typeface="Arial" panose="020B0604020202020204" pitchFamily="34" charset="0"/>
              <a:buChar char="•"/>
            </a:pPr>
            <a:r>
              <a:rPr lang="en-US" sz="2000" dirty="0"/>
              <a:t>Strengths: Areas where the team excels and how they relate to projects.</a:t>
            </a:r>
          </a:p>
          <a:p>
            <a:pPr algn="l">
              <a:buFont typeface="Arial" panose="020B0604020202020204" pitchFamily="34" charset="0"/>
              <a:buChar char="•"/>
            </a:pPr>
            <a:r>
              <a:rPr lang="en-US" sz="2000" dirty="0"/>
              <a:t>Weaknesses: Areas where the team can improve to increase productivity and efficiency.</a:t>
            </a:r>
          </a:p>
          <a:p>
            <a:pPr algn="l">
              <a:buFont typeface="Arial" panose="020B0604020202020204" pitchFamily="34" charset="0"/>
              <a:buChar char="•"/>
            </a:pPr>
            <a:r>
              <a:rPr lang="en-US" sz="2000" dirty="0"/>
              <a:t>Opportunities: Areas where the team or business can improve or expand.</a:t>
            </a:r>
          </a:p>
          <a:p>
            <a:pPr algn="l">
              <a:buFont typeface="Arial" panose="020B0604020202020204" pitchFamily="34" charset="0"/>
              <a:buChar char="•"/>
            </a:pPr>
            <a:r>
              <a:rPr lang="en-US" sz="2000" dirty="0"/>
              <a:t>Threats: Areas of risk for the project or business and how the team can minimize those risks.</a:t>
            </a:r>
          </a:p>
          <a:p>
            <a:pPr lvl="1"/>
            <a:endParaRPr lang="en-NG" sz="1700" dirty="0"/>
          </a:p>
        </p:txBody>
      </p:sp>
      <p:pic>
        <p:nvPicPr>
          <p:cNvPr id="11266" name="Picture 2" descr="Risk Management Lifecycle: 5 Steps to a ...">
            <a:extLst>
              <a:ext uri="{FF2B5EF4-FFF2-40B4-BE49-F238E27FC236}">
                <a16:creationId xmlns:a16="http://schemas.microsoft.com/office/drawing/2014/main" id="{0F225AC0-1F72-1962-8C60-9EE10730A5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3906" y="2441009"/>
            <a:ext cx="2905196" cy="2970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2514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8EFF9-0140-8F35-10F5-3948BC318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6DFBF9-91AE-8F02-633C-F027A4001D4F}"/>
              </a:ext>
            </a:extLst>
          </p:cNvPr>
          <p:cNvSpPr>
            <a:spLocks noGrp="1"/>
          </p:cNvSpPr>
          <p:nvPr>
            <p:ph type="title"/>
          </p:nvPr>
        </p:nvSpPr>
        <p:spPr>
          <a:xfrm>
            <a:off x="581192" y="702156"/>
            <a:ext cx="11029616" cy="1000123"/>
          </a:xfrm>
        </p:spPr>
        <p:txBody>
          <a:bodyPr>
            <a:normAutofit fontScale="90000"/>
          </a:bodyPr>
          <a:lstStyle/>
          <a:p>
            <a:r>
              <a:rPr lang="en-US" dirty="0"/>
              <a:t>Accessing Risk and Prioritizing Risk</a:t>
            </a:r>
            <a:br>
              <a:rPr lang="en-US" dirty="0"/>
            </a:br>
            <a:br>
              <a:rPr lang="en-US" dirty="0"/>
            </a:br>
            <a:endParaRPr lang="en-NG" dirty="0"/>
          </a:p>
        </p:txBody>
      </p:sp>
      <p:sp>
        <p:nvSpPr>
          <p:cNvPr id="3" name="Content Placeholder 2">
            <a:extLst>
              <a:ext uri="{FF2B5EF4-FFF2-40B4-BE49-F238E27FC236}">
                <a16:creationId xmlns:a16="http://schemas.microsoft.com/office/drawing/2014/main" id="{FF6A2B24-C94D-BB69-F340-B9CE2883A08B}"/>
              </a:ext>
            </a:extLst>
          </p:cNvPr>
          <p:cNvSpPr>
            <a:spLocks noGrp="1"/>
          </p:cNvSpPr>
          <p:nvPr>
            <p:ph idx="1"/>
          </p:nvPr>
        </p:nvSpPr>
        <p:spPr>
          <a:xfrm>
            <a:off x="581192" y="1801838"/>
            <a:ext cx="10949626" cy="1974165"/>
          </a:xfrm>
        </p:spPr>
        <p:txBody>
          <a:bodyPr>
            <a:normAutofit/>
          </a:bodyPr>
          <a:lstStyle/>
          <a:p>
            <a:pPr marL="0" indent="0">
              <a:buNone/>
            </a:pPr>
            <a:r>
              <a:rPr lang="en-US" dirty="0"/>
              <a:t>A risk matrix is used during risk assessment to define the level of risk by considering the category of probability or likelihood against the category of consequence severity..</a:t>
            </a:r>
          </a:p>
          <a:p>
            <a:pPr marL="0" indent="0">
              <a:buNone/>
            </a:pPr>
            <a:endParaRPr lang="en-US" dirty="0"/>
          </a:p>
          <a:p>
            <a:endParaRPr lang="en-US" dirty="0"/>
          </a:p>
          <a:p>
            <a:endParaRPr lang="en-US" dirty="0"/>
          </a:p>
          <a:p>
            <a:endParaRPr lang="en-NG" dirty="0"/>
          </a:p>
        </p:txBody>
      </p:sp>
      <p:pic>
        <p:nvPicPr>
          <p:cNvPr id="5126" name="Picture 6">
            <a:extLst>
              <a:ext uri="{FF2B5EF4-FFF2-40B4-BE49-F238E27FC236}">
                <a16:creationId xmlns:a16="http://schemas.microsoft.com/office/drawing/2014/main" id="{8132EC1D-45AC-045A-D130-5CB46E3639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413" y="2617526"/>
            <a:ext cx="9753600" cy="4133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4146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D1C9A-F8E8-5A5E-929E-D3B799E927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58D5EB-3326-2F83-6CDD-672EE40C67E3}"/>
              </a:ext>
            </a:extLst>
          </p:cNvPr>
          <p:cNvSpPr>
            <a:spLocks noGrp="1"/>
          </p:cNvSpPr>
          <p:nvPr>
            <p:ph type="title"/>
          </p:nvPr>
        </p:nvSpPr>
        <p:spPr>
          <a:xfrm>
            <a:off x="581192" y="702156"/>
            <a:ext cx="11029616" cy="1000123"/>
          </a:xfrm>
        </p:spPr>
        <p:txBody>
          <a:bodyPr/>
          <a:lstStyle/>
          <a:p>
            <a:r>
              <a:rPr lang="en-US" dirty="0"/>
              <a:t>RISK Management Frameworks – Overview</a:t>
            </a:r>
            <a:endParaRPr lang="en-NG" dirty="0"/>
          </a:p>
        </p:txBody>
      </p:sp>
      <p:sp>
        <p:nvSpPr>
          <p:cNvPr id="3" name="Content Placeholder 2">
            <a:extLst>
              <a:ext uri="{FF2B5EF4-FFF2-40B4-BE49-F238E27FC236}">
                <a16:creationId xmlns:a16="http://schemas.microsoft.com/office/drawing/2014/main" id="{9DABFC01-67BB-5868-EE4B-4AF8EFDE4A37}"/>
              </a:ext>
            </a:extLst>
          </p:cNvPr>
          <p:cNvSpPr>
            <a:spLocks noGrp="1"/>
          </p:cNvSpPr>
          <p:nvPr>
            <p:ph idx="1"/>
          </p:nvPr>
        </p:nvSpPr>
        <p:spPr>
          <a:xfrm>
            <a:off x="581192" y="2918293"/>
            <a:ext cx="7464378" cy="3237551"/>
          </a:xfrm>
        </p:spPr>
        <p:txBody>
          <a:bodyPr>
            <a:normAutofit/>
          </a:bodyPr>
          <a:lstStyle/>
          <a:p>
            <a:pPr algn="l"/>
            <a:r>
              <a:rPr lang="en-US" sz="2000" dirty="0"/>
              <a:t>Identify, assess, and prioritize risks.</a:t>
            </a:r>
          </a:p>
          <a:p>
            <a:pPr algn="l"/>
            <a:r>
              <a:rPr lang="en-US" sz="2000" dirty="0"/>
              <a:t>Implement effective risk mitigation strategies.</a:t>
            </a:r>
          </a:p>
          <a:p>
            <a:pPr algn="l"/>
            <a:r>
              <a:rPr lang="en-US" sz="2000" dirty="0"/>
              <a:t>Ensure compliance with legal, regulatory, and industry standards.</a:t>
            </a:r>
          </a:p>
          <a:p>
            <a:pPr algn="l"/>
            <a:r>
              <a:rPr lang="en-US" sz="2000" dirty="0"/>
              <a:t>Enhance decision-making through risk-informed insights.</a:t>
            </a:r>
          </a:p>
          <a:p>
            <a:pPr algn="l"/>
            <a:r>
              <a:rPr lang="en-US" sz="2000" dirty="0"/>
              <a:t>Protect organizational assets, data, and reputation.</a:t>
            </a:r>
            <a:endParaRPr lang="en-NG" sz="1700" dirty="0"/>
          </a:p>
        </p:txBody>
      </p:sp>
      <p:pic>
        <p:nvPicPr>
          <p:cNvPr id="11266" name="Picture 2" descr="Risk Management Lifecycle: 5 Steps to a ...">
            <a:extLst>
              <a:ext uri="{FF2B5EF4-FFF2-40B4-BE49-F238E27FC236}">
                <a16:creationId xmlns:a16="http://schemas.microsoft.com/office/drawing/2014/main" id="{4663F12C-47AD-21CB-1E89-EDDF234E08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3906" y="2441009"/>
            <a:ext cx="2905196" cy="2970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31847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E4194-7F77-2815-1696-F6854A5264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A7786A-55CF-4510-624E-C7A978A34006}"/>
              </a:ext>
            </a:extLst>
          </p:cNvPr>
          <p:cNvSpPr>
            <a:spLocks noGrp="1"/>
          </p:cNvSpPr>
          <p:nvPr>
            <p:ph type="title"/>
          </p:nvPr>
        </p:nvSpPr>
        <p:spPr>
          <a:xfrm>
            <a:off x="581192" y="702156"/>
            <a:ext cx="11029616" cy="1000123"/>
          </a:xfrm>
        </p:spPr>
        <p:txBody>
          <a:bodyPr/>
          <a:lstStyle/>
          <a:p>
            <a:r>
              <a:rPr lang="en-US" dirty="0"/>
              <a:t>RISK Management Frameworks – Overview</a:t>
            </a:r>
            <a:endParaRPr lang="en-NG" dirty="0"/>
          </a:p>
        </p:txBody>
      </p:sp>
      <p:sp>
        <p:nvSpPr>
          <p:cNvPr id="3" name="Content Placeholder 2">
            <a:extLst>
              <a:ext uri="{FF2B5EF4-FFF2-40B4-BE49-F238E27FC236}">
                <a16:creationId xmlns:a16="http://schemas.microsoft.com/office/drawing/2014/main" id="{8007DD15-028D-A2EE-0E70-EE74DE1ECEA7}"/>
              </a:ext>
            </a:extLst>
          </p:cNvPr>
          <p:cNvSpPr>
            <a:spLocks noGrp="1"/>
          </p:cNvSpPr>
          <p:nvPr>
            <p:ph idx="1"/>
          </p:nvPr>
        </p:nvSpPr>
        <p:spPr>
          <a:xfrm>
            <a:off x="581192" y="2441009"/>
            <a:ext cx="7464378" cy="3237551"/>
          </a:xfrm>
        </p:spPr>
        <p:txBody>
          <a:bodyPr>
            <a:normAutofit fontScale="85000" lnSpcReduction="20000"/>
          </a:bodyPr>
          <a:lstStyle/>
          <a:p>
            <a:pPr>
              <a:buNone/>
            </a:pPr>
            <a:r>
              <a:rPr lang="en-US" sz="2100" dirty="0"/>
              <a:t>Step 1: Risk Identification</a:t>
            </a:r>
          </a:p>
          <a:p>
            <a:pPr>
              <a:buFont typeface="Arial" panose="020B0604020202020204" pitchFamily="34" charset="0"/>
              <a:buChar char="•"/>
            </a:pPr>
            <a:r>
              <a:rPr lang="en-US" sz="2100" dirty="0"/>
              <a:t>Identify potential risks that could impact the organization.</a:t>
            </a:r>
          </a:p>
          <a:p>
            <a:pPr>
              <a:buFont typeface="Arial" panose="020B0604020202020204" pitchFamily="34" charset="0"/>
              <a:buChar char="•"/>
            </a:pPr>
            <a:r>
              <a:rPr lang="en-US" sz="2100" dirty="0"/>
              <a:t>Categorize risks into relevant domains:</a:t>
            </a:r>
          </a:p>
          <a:p>
            <a:pPr marL="742950" lvl="1" indent="-285750">
              <a:buFont typeface="Arial" panose="020B0604020202020204" pitchFamily="34" charset="0"/>
              <a:buChar char="•"/>
            </a:pPr>
            <a:r>
              <a:rPr lang="en-US" sz="2100" dirty="0"/>
              <a:t>Strategic Risks – Business decisions, market changes.</a:t>
            </a:r>
          </a:p>
          <a:p>
            <a:pPr marL="742950" lvl="1" indent="-285750">
              <a:buFont typeface="Arial" panose="020B0604020202020204" pitchFamily="34" charset="0"/>
              <a:buChar char="•"/>
            </a:pPr>
            <a:r>
              <a:rPr lang="en-US" sz="2100" dirty="0"/>
              <a:t>Operational Risks – Process failures, human errors.</a:t>
            </a:r>
          </a:p>
          <a:p>
            <a:pPr marL="742950" lvl="1" indent="-285750">
              <a:buFont typeface="Arial" panose="020B0604020202020204" pitchFamily="34" charset="0"/>
              <a:buChar char="•"/>
            </a:pPr>
            <a:r>
              <a:rPr lang="en-US" sz="2100" dirty="0"/>
              <a:t>Financial Risks – Budget constraints, fraud.</a:t>
            </a:r>
          </a:p>
          <a:p>
            <a:pPr marL="742950" lvl="1" indent="-285750">
              <a:buFont typeface="Arial" panose="020B0604020202020204" pitchFamily="34" charset="0"/>
              <a:buChar char="•"/>
            </a:pPr>
            <a:r>
              <a:rPr lang="en-US" sz="2100" dirty="0"/>
              <a:t>Compliance Risks – Legal, regulatory, contractual.</a:t>
            </a:r>
          </a:p>
          <a:p>
            <a:pPr marL="742950" lvl="1" indent="-285750">
              <a:buFont typeface="Arial" panose="020B0604020202020204" pitchFamily="34" charset="0"/>
              <a:buChar char="•"/>
            </a:pPr>
            <a:r>
              <a:rPr lang="en-US" sz="2100" dirty="0"/>
              <a:t>Technology Risks – Cyber threats, system failures.</a:t>
            </a:r>
          </a:p>
          <a:p>
            <a:pPr marL="742950" lvl="1" indent="-285750">
              <a:buFont typeface="Arial" panose="020B0604020202020204" pitchFamily="34" charset="0"/>
              <a:buChar char="•"/>
            </a:pPr>
            <a:r>
              <a:rPr lang="en-US" sz="2100" dirty="0"/>
              <a:t>Environmental Risks – Natural disasters, geopolitical issues.</a:t>
            </a:r>
          </a:p>
        </p:txBody>
      </p:sp>
      <p:pic>
        <p:nvPicPr>
          <p:cNvPr id="8194" name="Picture 2" descr="Risk Management Framework | Pro ...">
            <a:extLst>
              <a:ext uri="{FF2B5EF4-FFF2-40B4-BE49-F238E27FC236}">
                <a16:creationId xmlns:a16="http://schemas.microsoft.com/office/drawing/2014/main" id="{B17E8C19-0A0A-6C24-6B1A-4239BAB94B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8471" y="2107571"/>
            <a:ext cx="3498100" cy="3498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77161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82903-7AF9-3AD1-0098-FFE0115B27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3F6A9C-CB13-4897-E70C-E547AC36D5FE}"/>
              </a:ext>
            </a:extLst>
          </p:cNvPr>
          <p:cNvSpPr>
            <a:spLocks noGrp="1"/>
          </p:cNvSpPr>
          <p:nvPr>
            <p:ph type="title"/>
          </p:nvPr>
        </p:nvSpPr>
        <p:spPr>
          <a:xfrm>
            <a:off x="581192" y="702156"/>
            <a:ext cx="11029616" cy="1000123"/>
          </a:xfrm>
        </p:spPr>
        <p:txBody>
          <a:bodyPr/>
          <a:lstStyle/>
          <a:p>
            <a:r>
              <a:rPr lang="en-US" dirty="0"/>
              <a:t>RISK Management Frameworks – Overview</a:t>
            </a:r>
            <a:endParaRPr lang="en-NG" dirty="0"/>
          </a:p>
        </p:txBody>
      </p:sp>
      <p:sp>
        <p:nvSpPr>
          <p:cNvPr id="3" name="Content Placeholder 2">
            <a:extLst>
              <a:ext uri="{FF2B5EF4-FFF2-40B4-BE49-F238E27FC236}">
                <a16:creationId xmlns:a16="http://schemas.microsoft.com/office/drawing/2014/main" id="{45DB1137-EB78-21F8-533C-B8BA7B6184BC}"/>
              </a:ext>
            </a:extLst>
          </p:cNvPr>
          <p:cNvSpPr>
            <a:spLocks noGrp="1"/>
          </p:cNvSpPr>
          <p:nvPr>
            <p:ph idx="1"/>
          </p:nvPr>
        </p:nvSpPr>
        <p:spPr>
          <a:xfrm>
            <a:off x="581192" y="2441009"/>
            <a:ext cx="7464378" cy="3237551"/>
          </a:xfrm>
        </p:spPr>
        <p:txBody>
          <a:bodyPr>
            <a:normAutofit/>
          </a:bodyPr>
          <a:lstStyle/>
          <a:p>
            <a:pPr>
              <a:buNone/>
            </a:pPr>
            <a:r>
              <a:rPr lang="en-US" b="1" dirty="0"/>
              <a:t>Step 2: Risk Assessment</a:t>
            </a:r>
          </a:p>
          <a:p>
            <a:pPr>
              <a:buFont typeface="Arial" panose="020B0604020202020204" pitchFamily="34" charset="0"/>
              <a:buChar char="•"/>
            </a:pPr>
            <a:r>
              <a:rPr lang="en-US" dirty="0"/>
              <a:t>Evaluate risks based on:</a:t>
            </a:r>
          </a:p>
          <a:p>
            <a:pPr marL="742950" lvl="1" indent="-285750">
              <a:buFont typeface="Arial" panose="020B0604020202020204" pitchFamily="34" charset="0"/>
              <a:buChar char="•"/>
            </a:pPr>
            <a:r>
              <a:rPr lang="en-US" b="1" dirty="0"/>
              <a:t>Likelihood</a:t>
            </a:r>
            <a:r>
              <a:rPr lang="en-US" dirty="0"/>
              <a:t> (Probability of occurrence: Low, Medium, High).</a:t>
            </a:r>
          </a:p>
          <a:p>
            <a:pPr marL="742950" lvl="1" indent="-285750">
              <a:buFont typeface="Arial" panose="020B0604020202020204" pitchFamily="34" charset="0"/>
              <a:buChar char="•"/>
            </a:pPr>
            <a:r>
              <a:rPr lang="en-US" b="1" dirty="0"/>
              <a:t>Impact</a:t>
            </a:r>
            <a:r>
              <a:rPr lang="en-US" dirty="0"/>
              <a:t> (Effect on business: Low, Medium, High).</a:t>
            </a:r>
          </a:p>
          <a:p>
            <a:pPr marL="742950" lvl="1" indent="-285750">
              <a:buFont typeface="Arial" panose="020B0604020202020204" pitchFamily="34" charset="0"/>
              <a:buChar char="•"/>
            </a:pPr>
            <a:r>
              <a:rPr lang="en-US" b="1" dirty="0"/>
              <a:t>Risk Score</a:t>
            </a:r>
            <a:r>
              <a:rPr lang="en-US" dirty="0"/>
              <a:t> = Likelihood × Impact.</a:t>
            </a:r>
          </a:p>
          <a:p>
            <a:pPr>
              <a:buFont typeface="Arial" panose="020B0604020202020204" pitchFamily="34" charset="0"/>
              <a:buChar char="•"/>
            </a:pPr>
            <a:r>
              <a:rPr lang="en-US" dirty="0"/>
              <a:t>Use a Risk Matrix to classify risks as </a:t>
            </a:r>
            <a:r>
              <a:rPr lang="en-US" b="1" dirty="0"/>
              <a:t>Low, Moderate, High, or Critical</a:t>
            </a:r>
            <a:r>
              <a:rPr lang="en-US" dirty="0"/>
              <a:t>.</a:t>
            </a:r>
          </a:p>
        </p:txBody>
      </p:sp>
      <p:pic>
        <p:nvPicPr>
          <p:cNvPr id="7170" name="Picture 2" descr="Risk Management Framework | Pro ...">
            <a:extLst>
              <a:ext uri="{FF2B5EF4-FFF2-40B4-BE49-F238E27FC236}">
                <a16:creationId xmlns:a16="http://schemas.microsoft.com/office/drawing/2014/main" id="{57244877-80D8-764B-2EF2-6FBB0C8C05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77692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8E102-7347-0119-6258-EDF50FCCFD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A290A4-C981-2BFF-F060-A3966D1FC58F}"/>
              </a:ext>
            </a:extLst>
          </p:cNvPr>
          <p:cNvSpPr>
            <a:spLocks noGrp="1"/>
          </p:cNvSpPr>
          <p:nvPr>
            <p:ph type="title"/>
          </p:nvPr>
        </p:nvSpPr>
        <p:spPr>
          <a:xfrm>
            <a:off x="581192" y="702156"/>
            <a:ext cx="11029616" cy="1000123"/>
          </a:xfrm>
        </p:spPr>
        <p:txBody>
          <a:bodyPr/>
          <a:lstStyle/>
          <a:p>
            <a:r>
              <a:rPr lang="en-US" dirty="0"/>
              <a:t>RISK Management Frameworks – Overview</a:t>
            </a:r>
            <a:endParaRPr lang="en-NG" dirty="0"/>
          </a:p>
        </p:txBody>
      </p:sp>
      <p:sp>
        <p:nvSpPr>
          <p:cNvPr id="3" name="Content Placeholder 2">
            <a:extLst>
              <a:ext uri="{FF2B5EF4-FFF2-40B4-BE49-F238E27FC236}">
                <a16:creationId xmlns:a16="http://schemas.microsoft.com/office/drawing/2014/main" id="{F828CEA3-CBD1-0ECD-8E08-754409F2FB81}"/>
              </a:ext>
            </a:extLst>
          </p:cNvPr>
          <p:cNvSpPr>
            <a:spLocks noGrp="1"/>
          </p:cNvSpPr>
          <p:nvPr>
            <p:ph idx="1"/>
          </p:nvPr>
        </p:nvSpPr>
        <p:spPr>
          <a:xfrm>
            <a:off x="581192" y="2441009"/>
            <a:ext cx="7464378" cy="3237551"/>
          </a:xfrm>
        </p:spPr>
        <p:txBody>
          <a:bodyPr>
            <a:normAutofit/>
          </a:bodyPr>
          <a:lstStyle/>
          <a:p>
            <a:pPr>
              <a:buNone/>
            </a:pPr>
            <a:r>
              <a:rPr lang="en-US" b="1" dirty="0"/>
              <a:t>Step 3: Risk Mitigation &amp; Response</a:t>
            </a:r>
          </a:p>
          <a:p>
            <a:pPr>
              <a:buNone/>
            </a:pPr>
            <a:r>
              <a:rPr lang="en-US" dirty="0"/>
              <a:t>Develop strategies to handle risks:</a:t>
            </a:r>
          </a:p>
          <a:p>
            <a:pPr>
              <a:buFont typeface="+mj-lt"/>
              <a:buAutoNum type="arabicPeriod"/>
            </a:pPr>
            <a:r>
              <a:rPr lang="en-US" b="1" dirty="0"/>
              <a:t>Avoid</a:t>
            </a:r>
            <a:r>
              <a:rPr lang="en-US" dirty="0"/>
              <a:t> – Eliminate activities that generate the risk.</a:t>
            </a:r>
          </a:p>
          <a:p>
            <a:pPr>
              <a:buFont typeface="+mj-lt"/>
              <a:buAutoNum type="arabicPeriod"/>
            </a:pPr>
            <a:r>
              <a:rPr lang="en-US" b="1" dirty="0"/>
              <a:t>Reduce</a:t>
            </a:r>
            <a:r>
              <a:rPr lang="en-US" dirty="0"/>
              <a:t> – Implement controls to lower likelihood/impact.</a:t>
            </a:r>
          </a:p>
          <a:p>
            <a:pPr>
              <a:buFont typeface="+mj-lt"/>
              <a:buAutoNum type="arabicPeriod"/>
            </a:pPr>
            <a:r>
              <a:rPr lang="en-US" b="1" dirty="0"/>
              <a:t>Transfer</a:t>
            </a:r>
            <a:r>
              <a:rPr lang="en-US" dirty="0"/>
              <a:t> – Shift risk via insurance or outsourcing.</a:t>
            </a:r>
          </a:p>
          <a:p>
            <a:pPr>
              <a:buFont typeface="+mj-lt"/>
              <a:buAutoNum type="arabicPeriod"/>
            </a:pPr>
            <a:r>
              <a:rPr lang="en-US" b="1" dirty="0"/>
              <a:t>Accept</a:t>
            </a:r>
            <a:r>
              <a:rPr lang="en-US" dirty="0"/>
              <a:t> – Acknowledge the risk if impact is manageable.</a:t>
            </a:r>
          </a:p>
        </p:txBody>
      </p:sp>
      <p:pic>
        <p:nvPicPr>
          <p:cNvPr id="4" name="Picture 2" descr="Risk Management Framework | Pro ...">
            <a:extLst>
              <a:ext uri="{FF2B5EF4-FFF2-40B4-BE49-F238E27FC236}">
                <a16:creationId xmlns:a16="http://schemas.microsoft.com/office/drawing/2014/main" id="{C59CD24B-AF5D-28A6-0509-1F6F577924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33984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AF231-FBB8-3C2C-E57E-3FE8DA14A6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BFEF8-DBA0-06D5-4B2A-0C4C283120F9}"/>
              </a:ext>
            </a:extLst>
          </p:cNvPr>
          <p:cNvSpPr>
            <a:spLocks noGrp="1"/>
          </p:cNvSpPr>
          <p:nvPr>
            <p:ph type="title"/>
          </p:nvPr>
        </p:nvSpPr>
        <p:spPr>
          <a:xfrm>
            <a:off x="581192" y="702156"/>
            <a:ext cx="11029616" cy="1000123"/>
          </a:xfrm>
        </p:spPr>
        <p:txBody>
          <a:bodyPr/>
          <a:lstStyle/>
          <a:p>
            <a:r>
              <a:rPr lang="en-US" dirty="0"/>
              <a:t>RISK Management Frameworks – Overview</a:t>
            </a:r>
            <a:endParaRPr lang="en-NG" dirty="0"/>
          </a:p>
        </p:txBody>
      </p:sp>
      <p:sp>
        <p:nvSpPr>
          <p:cNvPr id="3" name="Content Placeholder 2">
            <a:extLst>
              <a:ext uri="{FF2B5EF4-FFF2-40B4-BE49-F238E27FC236}">
                <a16:creationId xmlns:a16="http://schemas.microsoft.com/office/drawing/2014/main" id="{1113418F-48DF-5E35-A860-6A8657918051}"/>
              </a:ext>
            </a:extLst>
          </p:cNvPr>
          <p:cNvSpPr>
            <a:spLocks noGrp="1"/>
          </p:cNvSpPr>
          <p:nvPr>
            <p:ph idx="1"/>
          </p:nvPr>
        </p:nvSpPr>
        <p:spPr>
          <a:xfrm>
            <a:off x="581192" y="2441009"/>
            <a:ext cx="7464378" cy="3237551"/>
          </a:xfrm>
        </p:spPr>
        <p:txBody>
          <a:bodyPr>
            <a:normAutofit/>
          </a:bodyPr>
          <a:lstStyle/>
          <a:p>
            <a:pPr>
              <a:buNone/>
            </a:pPr>
            <a:r>
              <a:rPr lang="en-US" b="1" dirty="0"/>
              <a:t>Step 4: Risk Monitoring &amp; Reporting</a:t>
            </a:r>
          </a:p>
          <a:p>
            <a:pPr>
              <a:buFont typeface="Arial" panose="020B0604020202020204" pitchFamily="34" charset="0"/>
              <a:buChar char="•"/>
            </a:pPr>
            <a:r>
              <a:rPr lang="en-US" dirty="0"/>
              <a:t>Continuously monitor risks through Key Risk Indicators (KRIs).</a:t>
            </a:r>
          </a:p>
          <a:p>
            <a:pPr>
              <a:buFont typeface="Arial" panose="020B0604020202020204" pitchFamily="34" charset="0"/>
              <a:buChar char="•"/>
            </a:pPr>
            <a:r>
              <a:rPr lang="en-US" dirty="0"/>
              <a:t>Establish periodic risk assessments (monthly, quarterly, annually).</a:t>
            </a:r>
          </a:p>
          <a:p>
            <a:pPr>
              <a:buFont typeface="Arial" panose="020B0604020202020204" pitchFamily="34" charset="0"/>
              <a:buChar char="•"/>
            </a:pPr>
            <a:r>
              <a:rPr lang="en-US" dirty="0"/>
              <a:t>Document risk management activities in risk registers.</a:t>
            </a:r>
          </a:p>
          <a:p>
            <a:pPr>
              <a:buFont typeface="Arial" panose="020B0604020202020204" pitchFamily="34" charset="0"/>
              <a:buChar char="•"/>
            </a:pPr>
            <a:r>
              <a:rPr lang="en-US" dirty="0"/>
              <a:t>Report risks to senior management and stakeholders.</a:t>
            </a:r>
          </a:p>
        </p:txBody>
      </p:sp>
      <p:pic>
        <p:nvPicPr>
          <p:cNvPr id="4" name="Picture 2" descr="Risk Management Framework | Pro ...">
            <a:extLst>
              <a:ext uri="{FF2B5EF4-FFF2-40B4-BE49-F238E27FC236}">
                <a16:creationId xmlns:a16="http://schemas.microsoft.com/office/drawing/2014/main" id="{E8BBAEA5-F7BD-5CA6-6A46-AEE135D60A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56952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42C4D-231B-FAE7-DF77-2E7433D717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2935CD-328D-CE91-4344-CE2B3E982394}"/>
              </a:ext>
            </a:extLst>
          </p:cNvPr>
          <p:cNvSpPr>
            <a:spLocks noGrp="1"/>
          </p:cNvSpPr>
          <p:nvPr>
            <p:ph type="title"/>
          </p:nvPr>
        </p:nvSpPr>
        <p:spPr>
          <a:xfrm>
            <a:off x="467602" y="1088363"/>
            <a:ext cx="11029616" cy="1000123"/>
          </a:xfrm>
        </p:spPr>
        <p:txBody>
          <a:bodyPr>
            <a:normAutofit fontScale="90000"/>
          </a:bodyPr>
          <a:lstStyle/>
          <a:p>
            <a:r>
              <a:rPr lang="en-US" dirty="0"/>
              <a:t>Importance of Risk Management Frameworks and Primary Components of RMFs</a:t>
            </a:r>
            <a:br>
              <a:rPr lang="en-US" dirty="0"/>
            </a:br>
            <a:endParaRPr lang="en-NG" dirty="0"/>
          </a:p>
        </p:txBody>
      </p:sp>
      <p:sp>
        <p:nvSpPr>
          <p:cNvPr id="3" name="Content Placeholder 2">
            <a:extLst>
              <a:ext uri="{FF2B5EF4-FFF2-40B4-BE49-F238E27FC236}">
                <a16:creationId xmlns:a16="http://schemas.microsoft.com/office/drawing/2014/main" id="{BD54A6DC-A52B-2978-D404-620E9A9C224C}"/>
              </a:ext>
            </a:extLst>
          </p:cNvPr>
          <p:cNvSpPr>
            <a:spLocks noGrp="1"/>
          </p:cNvSpPr>
          <p:nvPr>
            <p:ph idx="1"/>
          </p:nvPr>
        </p:nvSpPr>
        <p:spPr>
          <a:xfrm>
            <a:off x="581192" y="2441009"/>
            <a:ext cx="7464378" cy="3237551"/>
          </a:xfrm>
        </p:spPr>
        <p:txBody>
          <a:bodyPr>
            <a:normAutofit/>
          </a:bodyPr>
          <a:lstStyle/>
          <a:p>
            <a:pPr>
              <a:buNone/>
            </a:pPr>
            <a:r>
              <a:rPr lang="en-US" b="1" dirty="0"/>
              <a:t>Enhances Decision-Making</a:t>
            </a:r>
          </a:p>
          <a:p>
            <a:pPr>
              <a:buFont typeface="Arial" panose="020B0604020202020204" pitchFamily="34" charset="0"/>
              <a:buChar char="•"/>
            </a:pPr>
            <a:r>
              <a:rPr lang="en-US" dirty="0"/>
              <a:t>Provides a structured approach for evaluating risks before making strategic or operational decisions.</a:t>
            </a:r>
          </a:p>
          <a:p>
            <a:pPr>
              <a:buFont typeface="Arial" panose="020B0604020202020204" pitchFamily="34" charset="0"/>
              <a:buChar char="•"/>
            </a:pPr>
            <a:r>
              <a:rPr lang="en-US" dirty="0"/>
              <a:t>Helps leadership weigh risk against potential rewards.</a:t>
            </a:r>
          </a:p>
        </p:txBody>
      </p:sp>
      <p:pic>
        <p:nvPicPr>
          <p:cNvPr id="4" name="Picture 2" descr="Risk Management Framework | Pro ...">
            <a:extLst>
              <a:ext uri="{FF2B5EF4-FFF2-40B4-BE49-F238E27FC236}">
                <a16:creationId xmlns:a16="http://schemas.microsoft.com/office/drawing/2014/main" id="{2A0E9232-AADF-E0F1-9380-CB8A8EA08B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17993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ADF96-A8E7-D0EA-DDCF-0EC72C60D3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1D55B0-EF7D-A7F5-FE86-E911EA2277EA}"/>
              </a:ext>
            </a:extLst>
          </p:cNvPr>
          <p:cNvSpPr>
            <a:spLocks noGrp="1"/>
          </p:cNvSpPr>
          <p:nvPr>
            <p:ph type="title"/>
          </p:nvPr>
        </p:nvSpPr>
        <p:spPr>
          <a:xfrm>
            <a:off x="467602" y="1088363"/>
            <a:ext cx="11029616" cy="1000123"/>
          </a:xfrm>
        </p:spPr>
        <p:txBody>
          <a:bodyPr>
            <a:normAutofit fontScale="90000"/>
          </a:bodyPr>
          <a:lstStyle/>
          <a:p>
            <a:r>
              <a:rPr lang="en-US" dirty="0"/>
              <a:t>Importance of Risk Management Frameworks and Primary Components of RMFs</a:t>
            </a:r>
            <a:br>
              <a:rPr lang="en-US" dirty="0"/>
            </a:br>
            <a:endParaRPr lang="en-NG" dirty="0"/>
          </a:p>
        </p:txBody>
      </p:sp>
      <p:sp>
        <p:nvSpPr>
          <p:cNvPr id="3" name="Content Placeholder 2">
            <a:extLst>
              <a:ext uri="{FF2B5EF4-FFF2-40B4-BE49-F238E27FC236}">
                <a16:creationId xmlns:a16="http://schemas.microsoft.com/office/drawing/2014/main" id="{C5BBF076-F381-7E41-CE79-7E07BC64AA4B}"/>
              </a:ext>
            </a:extLst>
          </p:cNvPr>
          <p:cNvSpPr>
            <a:spLocks noGrp="1"/>
          </p:cNvSpPr>
          <p:nvPr>
            <p:ph idx="1"/>
          </p:nvPr>
        </p:nvSpPr>
        <p:spPr>
          <a:xfrm>
            <a:off x="581192" y="2441009"/>
            <a:ext cx="7464378" cy="3237551"/>
          </a:xfrm>
        </p:spPr>
        <p:txBody>
          <a:bodyPr>
            <a:normAutofit/>
          </a:bodyPr>
          <a:lstStyle/>
          <a:p>
            <a:pPr>
              <a:buNone/>
            </a:pPr>
            <a:r>
              <a:rPr lang="en-US" b="1" dirty="0"/>
              <a:t>Improves Compliance &amp; Regulatory Adherence</a:t>
            </a:r>
          </a:p>
          <a:p>
            <a:pPr>
              <a:buFont typeface="Arial" panose="020B0604020202020204" pitchFamily="34" charset="0"/>
              <a:buChar char="•"/>
            </a:pPr>
            <a:r>
              <a:rPr lang="en-US" dirty="0"/>
              <a:t>Ensures compliance with industry standards and legal requirements (e.g., </a:t>
            </a:r>
            <a:r>
              <a:rPr lang="en-US" b="1" dirty="0"/>
              <a:t>ISO 31000, NIST 800-37, COSO ERM, GDPR, PCI-DSS</a:t>
            </a:r>
            <a:r>
              <a:rPr lang="en-US" dirty="0"/>
              <a:t>).</a:t>
            </a:r>
          </a:p>
          <a:p>
            <a:pPr>
              <a:buFont typeface="Arial" panose="020B0604020202020204" pitchFamily="34" charset="0"/>
              <a:buChar char="•"/>
            </a:pPr>
            <a:r>
              <a:rPr lang="en-US" dirty="0"/>
              <a:t>Reduces the risk of legal penalties and reputational damage.</a:t>
            </a:r>
          </a:p>
        </p:txBody>
      </p:sp>
      <p:pic>
        <p:nvPicPr>
          <p:cNvPr id="4" name="Picture 2" descr="Risk Management Framework | Pro ...">
            <a:extLst>
              <a:ext uri="{FF2B5EF4-FFF2-40B4-BE49-F238E27FC236}">
                <a16:creationId xmlns:a16="http://schemas.microsoft.com/office/drawing/2014/main" id="{95636861-3022-22CA-C23A-B11440F2B9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81991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3E783-E3D6-74F4-AE31-AED3AA1380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0A918-BFED-3F89-FF5F-32A37D6AD6BC}"/>
              </a:ext>
            </a:extLst>
          </p:cNvPr>
          <p:cNvSpPr>
            <a:spLocks noGrp="1"/>
          </p:cNvSpPr>
          <p:nvPr>
            <p:ph type="title"/>
          </p:nvPr>
        </p:nvSpPr>
        <p:spPr>
          <a:xfrm>
            <a:off x="467602" y="1088363"/>
            <a:ext cx="11029616" cy="1000123"/>
          </a:xfrm>
        </p:spPr>
        <p:txBody>
          <a:bodyPr>
            <a:normAutofit fontScale="90000"/>
          </a:bodyPr>
          <a:lstStyle/>
          <a:p>
            <a:r>
              <a:rPr lang="en-US" dirty="0"/>
              <a:t>Importance of Risk Management Frameworks and Primary Components of RMFs</a:t>
            </a:r>
            <a:br>
              <a:rPr lang="en-US" dirty="0"/>
            </a:br>
            <a:endParaRPr lang="en-NG" dirty="0"/>
          </a:p>
        </p:txBody>
      </p:sp>
      <p:sp>
        <p:nvSpPr>
          <p:cNvPr id="3" name="Content Placeholder 2">
            <a:extLst>
              <a:ext uri="{FF2B5EF4-FFF2-40B4-BE49-F238E27FC236}">
                <a16:creationId xmlns:a16="http://schemas.microsoft.com/office/drawing/2014/main" id="{A8159DAC-CF32-8DBF-178B-D1B2C4F10DF6}"/>
              </a:ext>
            </a:extLst>
          </p:cNvPr>
          <p:cNvSpPr>
            <a:spLocks noGrp="1"/>
          </p:cNvSpPr>
          <p:nvPr>
            <p:ph idx="1"/>
          </p:nvPr>
        </p:nvSpPr>
        <p:spPr>
          <a:xfrm>
            <a:off x="581192" y="2441009"/>
            <a:ext cx="7464378" cy="3237551"/>
          </a:xfrm>
        </p:spPr>
        <p:txBody>
          <a:bodyPr>
            <a:normAutofit/>
          </a:bodyPr>
          <a:lstStyle/>
          <a:p>
            <a:pPr>
              <a:buNone/>
            </a:pPr>
            <a:r>
              <a:rPr lang="en-US" b="1" dirty="0"/>
              <a:t>Protects Organizational Assets &amp; Reputation</a:t>
            </a:r>
          </a:p>
          <a:p>
            <a:pPr>
              <a:buFont typeface="Arial" panose="020B0604020202020204" pitchFamily="34" charset="0"/>
              <a:buChar char="•"/>
            </a:pPr>
            <a:r>
              <a:rPr lang="en-US" dirty="0"/>
              <a:t>Safeguards financial, intellectual, human, and digital assets from threats such as cyberattacks, fraud, or operational failures.</a:t>
            </a:r>
          </a:p>
          <a:p>
            <a:pPr>
              <a:buFont typeface="Arial" panose="020B0604020202020204" pitchFamily="34" charset="0"/>
              <a:buChar char="•"/>
            </a:pPr>
            <a:r>
              <a:rPr lang="en-US" dirty="0"/>
              <a:t>Maintains customer trust by proactively managing risks.</a:t>
            </a:r>
          </a:p>
        </p:txBody>
      </p:sp>
      <p:pic>
        <p:nvPicPr>
          <p:cNvPr id="4" name="Picture 2" descr="Risk Management Framework | Pro ...">
            <a:extLst>
              <a:ext uri="{FF2B5EF4-FFF2-40B4-BE49-F238E27FC236}">
                <a16:creationId xmlns:a16="http://schemas.microsoft.com/office/drawing/2014/main" id="{8B18EA8B-929D-0D01-C749-5551FEFCFE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13225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D2F59-8F97-2DF0-802D-E9ABC88788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16AC2A-ED3A-43C4-26DF-F10CE6FAFF7F}"/>
              </a:ext>
            </a:extLst>
          </p:cNvPr>
          <p:cNvSpPr>
            <a:spLocks noGrp="1"/>
          </p:cNvSpPr>
          <p:nvPr>
            <p:ph type="title"/>
          </p:nvPr>
        </p:nvSpPr>
        <p:spPr>
          <a:xfrm>
            <a:off x="467602" y="1088363"/>
            <a:ext cx="11029616" cy="1000123"/>
          </a:xfrm>
        </p:spPr>
        <p:txBody>
          <a:bodyPr>
            <a:normAutofit fontScale="90000"/>
          </a:bodyPr>
          <a:lstStyle/>
          <a:p>
            <a:r>
              <a:rPr lang="en-US" dirty="0"/>
              <a:t>Importance of Risk Management Frameworks and Primary Components of RMFs</a:t>
            </a:r>
            <a:br>
              <a:rPr lang="en-US" dirty="0"/>
            </a:br>
            <a:endParaRPr lang="en-NG" dirty="0"/>
          </a:p>
        </p:txBody>
      </p:sp>
      <p:sp>
        <p:nvSpPr>
          <p:cNvPr id="3" name="Content Placeholder 2">
            <a:extLst>
              <a:ext uri="{FF2B5EF4-FFF2-40B4-BE49-F238E27FC236}">
                <a16:creationId xmlns:a16="http://schemas.microsoft.com/office/drawing/2014/main" id="{6DC69DA9-76BD-025B-9D31-A2C0DB916B53}"/>
              </a:ext>
            </a:extLst>
          </p:cNvPr>
          <p:cNvSpPr>
            <a:spLocks noGrp="1"/>
          </p:cNvSpPr>
          <p:nvPr>
            <p:ph idx="1"/>
          </p:nvPr>
        </p:nvSpPr>
        <p:spPr>
          <a:xfrm>
            <a:off x="581192" y="2441009"/>
            <a:ext cx="7464378" cy="3237551"/>
          </a:xfrm>
        </p:spPr>
        <p:txBody>
          <a:bodyPr>
            <a:normAutofit/>
          </a:bodyPr>
          <a:lstStyle/>
          <a:p>
            <a:pPr>
              <a:buNone/>
            </a:pPr>
            <a:r>
              <a:rPr lang="en-US" b="1" dirty="0"/>
              <a:t>Enhances Business Resilience &amp; Continuity</a:t>
            </a:r>
          </a:p>
          <a:p>
            <a:pPr>
              <a:buFont typeface="Arial" panose="020B0604020202020204" pitchFamily="34" charset="0"/>
              <a:buChar char="•"/>
            </a:pPr>
            <a:r>
              <a:rPr lang="en-US" dirty="0"/>
              <a:t>Prepares organizations to handle disruptions (e.g., cyber incidents, natural disasters, financial crises).</a:t>
            </a:r>
          </a:p>
          <a:p>
            <a:pPr>
              <a:buFont typeface="Arial" panose="020B0604020202020204" pitchFamily="34" charset="0"/>
              <a:buChar char="•"/>
            </a:pPr>
            <a:r>
              <a:rPr lang="en-US" dirty="0"/>
              <a:t>Ensures continuity of operations through risk mitigation and contingency planning.</a:t>
            </a:r>
          </a:p>
        </p:txBody>
      </p:sp>
      <p:pic>
        <p:nvPicPr>
          <p:cNvPr id="4" name="Picture 2" descr="Risk Management Framework | Pro ...">
            <a:extLst>
              <a:ext uri="{FF2B5EF4-FFF2-40B4-BE49-F238E27FC236}">
                <a16:creationId xmlns:a16="http://schemas.microsoft.com/office/drawing/2014/main" id="{0BE218DF-594C-66D3-CBF6-2089175D20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73181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98429-7F55-7099-5A01-823634BD51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0F80A1-EFE7-85F7-6A77-710BACD082D0}"/>
              </a:ext>
            </a:extLst>
          </p:cNvPr>
          <p:cNvSpPr>
            <a:spLocks noGrp="1"/>
          </p:cNvSpPr>
          <p:nvPr>
            <p:ph type="title"/>
          </p:nvPr>
        </p:nvSpPr>
        <p:spPr>
          <a:xfrm>
            <a:off x="467602" y="1088363"/>
            <a:ext cx="11029616" cy="1000123"/>
          </a:xfrm>
        </p:spPr>
        <p:txBody>
          <a:bodyPr>
            <a:normAutofit fontScale="90000"/>
          </a:bodyPr>
          <a:lstStyle/>
          <a:p>
            <a:r>
              <a:rPr lang="en-US" dirty="0"/>
              <a:t>Importance of Risk Management Frameworks and Primary Components of RMFs</a:t>
            </a:r>
            <a:br>
              <a:rPr lang="en-US" dirty="0"/>
            </a:br>
            <a:endParaRPr lang="en-NG" dirty="0"/>
          </a:p>
        </p:txBody>
      </p:sp>
      <p:sp>
        <p:nvSpPr>
          <p:cNvPr id="3" name="Content Placeholder 2">
            <a:extLst>
              <a:ext uri="{FF2B5EF4-FFF2-40B4-BE49-F238E27FC236}">
                <a16:creationId xmlns:a16="http://schemas.microsoft.com/office/drawing/2014/main" id="{AA0B723E-92EA-A776-99D4-5BEEF917BCED}"/>
              </a:ext>
            </a:extLst>
          </p:cNvPr>
          <p:cNvSpPr>
            <a:spLocks noGrp="1"/>
          </p:cNvSpPr>
          <p:nvPr>
            <p:ph idx="1"/>
          </p:nvPr>
        </p:nvSpPr>
        <p:spPr>
          <a:xfrm>
            <a:off x="581192" y="2441009"/>
            <a:ext cx="7464378" cy="3237551"/>
          </a:xfrm>
        </p:spPr>
        <p:txBody>
          <a:bodyPr>
            <a:normAutofit/>
          </a:bodyPr>
          <a:lstStyle/>
          <a:p>
            <a:pPr>
              <a:buNone/>
            </a:pPr>
            <a:r>
              <a:rPr lang="en-US" b="1" dirty="0"/>
              <a:t>Reduces Financial Losses</a:t>
            </a:r>
          </a:p>
          <a:p>
            <a:pPr>
              <a:buFont typeface="Arial" panose="020B0604020202020204" pitchFamily="34" charset="0"/>
              <a:buChar char="•"/>
            </a:pPr>
            <a:r>
              <a:rPr lang="en-US" dirty="0"/>
              <a:t>Identifies financial risks (e.g., fraud, investment risks, budget overruns) and implements controls to minimize monetary impact.</a:t>
            </a:r>
          </a:p>
          <a:p>
            <a:pPr>
              <a:buFont typeface="Arial" panose="020B0604020202020204" pitchFamily="34" charset="0"/>
              <a:buChar char="•"/>
            </a:pPr>
            <a:r>
              <a:rPr lang="en-US" dirty="0"/>
              <a:t>Supports cost-effective risk mitigation strategies.</a:t>
            </a:r>
          </a:p>
        </p:txBody>
      </p:sp>
      <p:pic>
        <p:nvPicPr>
          <p:cNvPr id="4" name="Picture 2" descr="Risk Management Framework | Pro ...">
            <a:extLst>
              <a:ext uri="{FF2B5EF4-FFF2-40B4-BE49-F238E27FC236}">
                <a16:creationId xmlns:a16="http://schemas.microsoft.com/office/drawing/2014/main" id="{9873F8D5-705C-811F-B6D5-286EBC1571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70235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C2806-FFAC-6D1B-02CD-FFDB23F9D1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F8230-BC57-60A3-9B2A-2A2E48034412}"/>
              </a:ext>
            </a:extLst>
          </p:cNvPr>
          <p:cNvSpPr>
            <a:spLocks noGrp="1"/>
          </p:cNvSpPr>
          <p:nvPr>
            <p:ph type="title"/>
          </p:nvPr>
        </p:nvSpPr>
        <p:spPr>
          <a:xfrm>
            <a:off x="467602" y="1088363"/>
            <a:ext cx="11029616" cy="1000123"/>
          </a:xfrm>
        </p:spPr>
        <p:txBody>
          <a:bodyPr>
            <a:normAutofit fontScale="90000"/>
          </a:bodyPr>
          <a:lstStyle/>
          <a:p>
            <a:r>
              <a:rPr lang="en-US" dirty="0"/>
              <a:t>Importance of Risk Management Frameworks and Primary Components of RMFs</a:t>
            </a:r>
            <a:br>
              <a:rPr lang="en-US" dirty="0"/>
            </a:br>
            <a:endParaRPr lang="en-NG" dirty="0"/>
          </a:p>
        </p:txBody>
      </p:sp>
      <p:sp>
        <p:nvSpPr>
          <p:cNvPr id="3" name="Content Placeholder 2">
            <a:extLst>
              <a:ext uri="{FF2B5EF4-FFF2-40B4-BE49-F238E27FC236}">
                <a16:creationId xmlns:a16="http://schemas.microsoft.com/office/drawing/2014/main" id="{0C5995DF-E40A-7741-98FF-94DF7D13BCD6}"/>
              </a:ext>
            </a:extLst>
          </p:cNvPr>
          <p:cNvSpPr>
            <a:spLocks noGrp="1"/>
          </p:cNvSpPr>
          <p:nvPr>
            <p:ph idx="1"/>
          </p:nvPr>
        </p:nvSpPr>
        <p:spPr>
          <a:xfrm>
            <a:off x="581192" y="2441009"/>
            <a:ext cx="7464378" cy="3237551"/>
          </a:xfrm>
        </p:spPr>
        <p:txBody>
          <a:bodyPr>
            <a:normAutofit/>
          </a:bodyPr>
          <a:lstStyle/>
          <a:p>
            <a:pPr>
              <a:buNone/>
            </a:pPr>
            <a:r>
              <a:rPr lang="en-US" b="1" dirty="0"/>
              <a:t>Strengthens Cybersecurity &amp; IT Governance</a:t>
            </a:r>
          </a:p>
          <a:p>
            <a:pPr>
              <a:buFont typeface="Arial" panose="020B0604020202020204" pitchFamily="34" charset="0"/>
              <a:buChar char="•"/>
            </a:pPr>
            <a:r>
              <a:rPr lang="en-US" dirty="0"/>
              <a:t>Essential for protecting </a:t>
            </a:r>
            <a:r>
              <a:rPr lang="en-US" b="1" dirty="0"/>
              <a:t>data, IT infrastructure, and digital assets</a:t>
            </a:r>
            <a:r>
              <a:rPr lang="en-US" dirty="0"/>
              <a:t> against cyber threats.</a:t>
            </a:r>
          </a:p>
          <a:p>
            <a:pPr>
              <a:buFont typeface="Arial" panose="020B0604020202020204" pitchFamily="34" charset="0"/>
              <a:buChar char="•"/>
            </a:pPr>
            <a:r>
              <a:rPr lang="en-US" dirty="0"/>
              <a:t>Helps in implementing security controls (e.g., firewalls, encryption, access controls) aligned with regulatory standards like </a:t>
            </a:r>
            <a:r>
              <a:rPr lang="en-US" b="1" dirty="0"/>
              <a:t>NIST, ISO 27001, CIS Controls</a:t>
            </a:r>
            <a:r>
              <a:rPr lang="en-US" dirty="0"/>
              <a:t>.</a:t>
            </a:r>
          </a:p>
        </p:txBody>
      </p:sp>
      <p:pic>
        <p:nvPicPr>
          <p:cNvPr id="4" name="Picture 2" descr="Risk Management Framework | Pro ...">
            <a:extLst>
              <a:ext uri="{FF2B5EF4-FFF2-40B4-BE49-F238E27FC236}">
                <a16:creationId xmlns:a16="http://schemas.microsoft.com/office/drawing/2014/main" id="{0F10AC00-27F8-AEDD-0E21-948863EB1A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39171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159DE-123F-D960-1D88-6486E3A975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BA68B1-B018-7EC9-47E5-4197E08F4934}"/>
              </a:ext>
            </a:extLst>
          </p:cNvPr>
          <p:cNvSpPr>
            <a:spLocks noGrp="1"/>
          </p:cNvSpPr>
          <p:nvPr>
            <p:ph type="title"/>
          </p:nvPr>
        </p:nvSpPr>
        <p:spPr>
          <a:xfrm>
            <a:off x="467602" y="1088363"/>
            <a:ext cx="11029616" cy="1000123"/>
          </a:xfrm>
        </p:spPr>
        <p:txBody>
          <a:bodyPr>
            <a:normAutofit fontScale="90000"/>
          </a:bodyPr>
          <a:lstStyle/>
          <a:p>
            <a:r>
              <a:rPr lang="en-US" dirty="0"/>
              <a:t>Importance of Risk Management Frameworks and Primary Components of RMFs</a:t>
            </a:r>
            <a:br>
              <a:rPr lang="en-US" dirty="0"/>
            </a:br>
            <a:endParaRPr lang="en-NG" dirty="0"/>
          </a:p>
        </p:txBody>
      </p:sp>
      <p:sp>
        <p:nvSpPr>
          <p:cNvPr id="3" name="Content Placeholder 2">
            <a:extLst>
              <a:ext uri="{FF2B5EF4-FFF2-40B4-BE49-F238E27FC236}">
                <a16:creationId xmlns:a16="http://schemas.microsoft.com/office/drawing/2014/main" id="{133467E0-A384-53F5-D5F7-4F94DAB4E5A2}"/>
              </a:ext>
            </a:extLst>
          </p:cNvPr>
          <p:cNvSpPr>
            <a:spLocks noGrp="1"/>
          </p:cNvSpPr>
          <p:nvPr>
            <p:ph idx="1"/>
          </p:nvPr>
        </p:nvSpPr>
        <p:spPr>
          <a:xfrm>
            <a:off x="581192" y="2441009"/>
            <a:ext cx="7464378" cy="3237551"/>
          </a:xfrm>
        </p:spPr>
        <p:txBody>
          <a:bodyPr>
            <a:normAutofit/>
          </a:bodyPr>
          <a:lstStyle/>
          <a:p>
            <a:pPr>
              <a:buNone/>
            </a:pPr>
            <a:r>
              <a:rPr lang="en-US" b="1" dirty="0"/>
              <a:t>Fosters a Risk-Aware Culture</a:t>
            </a:r>
          </a:p>
          <a:p>
            <a:pPr>
              <a:buFont typeface="Arial" panose="020B0604020202020204" pitchFamily="34" charset="0"/>
              <a:buChar char="•"/>
            </a:pPr>
            <a:r>
              <a:rPr lang="en-US" dirty="0"/>
              <a:t>Encourages proactive risk identification at all organizational levels.</a:t>
            </a:r>
          </a:p>
          <a:p>
            <a:pPr>
              <a:buFont typeface="Arial" panose="020B0604020202020204" pitchFamily="34" charset="0"/>
              <a:buChar char="•"/>
            </a:pPr>
            <a:r>
              <a:rPr lang="en-US" dirty="0"/>
              <a:t>Empowers employees to make informed decisions about risk exposure in their daily activities.</a:t>
            </a:r>
          </a:p>
        </p:txBody>
      </p:sp>
      <p:pic>
        <p:nvPicPr>
          <p:cNvPr id="4" name="Picture 2" descr="Risk Management Framework | Pro ...">
            <a:extLst>
              <a:ext uri="{FF2B5EF4-FFF2-40B4-BE49-F238E27FC236}">
                <a16:creationId xmlns:a16="http://schemas.microsoft.com/office/drawing/2014/main" id="{4CE100FD-C2A5-C0DA-2F92-DE52F537FC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00290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DD2DA-59CA-EB28-5758-E06FC4D44C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6AD0A3-BC6E-6CC0-A71E-BF89B924DD3E}"/>
              </a:ext>
            </a:extLst>
          </p:cNvPr>
          <p:cNvSpPr>
            <a:spLocks noGrp="1"/>
          </p:cNvSpPr>
          <p:nvPr>
            <p:ph type="title"/>
          </p:nvPr>
        </p:nvSpPr>
        <p:spPr>
          <a:xfrm>
            <a:off x="467602" y="1088363"/>
            <a:ext cx="11029616" cy="1000123"/>
          </a:xfrm>
        </p:spPr>
        <p:txBody>
          <a:bodyPr>
            <a:normAutofit fontScale="90000"/>
          </a:bodyPr>
          <a:lstStyle/>
          <a:p>
            <a:r>
              <a:rPr lang="en-US" dirty="0"/>
              <a:t>Importance of Risk Management Frameworks and Primary Components of RMFs</a:t>
            </a:r>
            <a:br>
              <a:rPr lang="en-US" dirty="0"/>
            </a:br>
            <a:endParaRPr lang="en-NG" dirty="0"/>
          </a:p>
        </p:txBody>
      </p:sp>
      <p:sp>
        <p:nvSpPr>
          <p:cNvPr id="3" name="Content Placeholder 2">
            <a:extLst>
              <a:ext uri="{FF2B5EF4-FFF2-40B4-BE49-F238E27FC236}">
                <a16:creationId xmlns:a16="http://schemas.microsoft.com/office/drawing/2014/main" id="{7271DE20-B60A-D196-6CEA-09434C4EA838}"/>
              </a:ext>
            </a:extLst>
          </p:cNvPr>
          <p:cNvSpPr>
            <a:spLocks noGrp="1"/>
          </p:cNvSpPr>
          <p:nvPr>
            <p:ph idx="1"/>
          </p:nvPr>
        </p:nvSpPr>
        <p:spPr>
          <a:xfrm>
            <a:off x="581192" y="2441009"/>
            <a:ext cx="7464378" cy="3237551"/>
          </a:xfrm>
        </p:spPr>
        <p:txBody>
          <a:bodyPr>
            <a:normAutofit/>
          </a:bodyPr>
          <a:lstStyle/>
          <a:p>
            <a:pPr>
              <a:buNone/>
            </a:pPr>
            <a:r>
              <a:rPr lang="en-US" b="1" dirty="0"/>
              <a:t>Enables Continuous Monitoring &amp; Improvement</a:t>
            </a:r>
          </a:p>
          <a:p>
            <a:pPr>
              <a:buFont typeface="Arial" panose="020B0604020202020204" pitchFamily="34" charset="0"/>
              <a:buChar char="•"/>
            </a:pPr>
            <a:r>
              <a:rPr lang="en-US" dirty="0"/>
              <a:t>Establishes a </a:t>
            </a:r>
            <a:r>
              <a:rPr lang="en-US" b="1" dirty="0"/>
              <a:t>risk register and key risk indicators (KRIs)</a:t>
            </a:r>
            <a:r>
              <a:rPr lang="en-US" dirty="0"/>
              <a:t> for ongoing monitoring.</a:t>
            </a:r>
          </a:p>
          <a:p>
            <a:pPr>
              <a:buFont typeface="Arial" panose="020B0604020202020204" pitchFamily="34" charset="0"/>
              <a:buChar char="•"/>
            </a:pPr>
            <a:r>
              <a:rPr lang="en-US" dirty="0"/>
              <a:t>Allows organizations to adapt risk strategies based on evolving threats.</a:t>
            </a:r>
          </a:p>
        </p:txBody>
      </p:sp>
      <p:pic>
        <p:nvPicPr>
          <p:cNvPr id="4" name="Picture 2" descr="Risk Management Framework | Pro ...">
            <a:extLst>
              <a:ext uri="{FF2B5EF4-FFF2-40B4-BE49-F238E27FC236}">
                <a16:creationId xmlns:a16="http://schemas.microsoft.com/office/drawing/2014/main" id="{3F474001-DC5F-96E5-6CC3-6A28C96F6E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89602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F2D25-B60C-AA0B-A4CC-48B420C766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DAC44C-9EF4-2169-593E-26463F9AC7EB}"/>
              </a:ext>
            </a:extLst>
          </p:cNvPr>
          <p:cNvSpPr>
            <a:spLocks noGrp="1"/>
          </p:cNvSpPr>
          <p:nvPr>
            <p:ph type="title"/>
          </p:nvPr>
        </p:nvSpPr>
        <p:spPr>
          <a:xfrm>
            <a:off x="467602" y="1088363"/>
            <a:ext cx="11029616" cy="1000123"/>
          </a:xfrm>
        </p:spPr>
        <p:txBody>
          <a:bodyPr>
            <a:normAutofit fontScale="90000"/>
          </a:bodyPr>
          <a:lstStyle/>
          <a:p>
            <a:r>
              <a:rPr lang="en-US" dirty="0"/>
              <a:t>Importance of Risk Management Frameworks and Primary Components of RMFs</a:t>
            </a:r>
            <a:br>
              <a:rPr lang="en-US" dirty="0"/>
            </a:br>
            <a:endParaRPr lang="en-NG" dirty="0"/>
          </a:p>
        </p:txBody>
      </p:sp>
      <p:sp>
        <p:nvSpPr>
          <p:cNvPr id="3" name="Content Placeholder 2">
            <a:extLst>
              <a:ext uri="{FF2B5EF4-FFF2-40B4-BE49-F238E27FC236}">
                <a16:creationId xmlns:a16="http://schemas.microsoft.com/office/drawing/2014/main" id="{8A10D072-2DE0-F226-6C62-5014B8582E4A}"/>
              </a:ext>
            </a:extLst>
          </p:cNvPr>
          <p:cNvSpPr>
            <a:spLocks noGrp="1"/>
          </p:cNvSpPr>
          <p:nvPr>
            <p:ph idx="1"/>
          </p:nvPr>
        </p:nvSpPr>
        <p:spPr>
          <a:xfrm>
            <a:off x="581192" y="2441009"/>
            <a:ext cx="7464378" cy="3237551"/>
          </a:xfrm>
        </p:spPr>
        <p:txBody>
          <a:bodyPr>
            <a:normAutofit/>
          </a:bodyPr>
          <a:lstStyle/>
          <a:p>
            <a:pPr>
              <a:buNone/>
            </a:pPr>
            <a:r>
              <a:rPr lang="en-US" b="1" dirty="0"/>
              <a:t>Supports Strategic Growth &amp; Innovation</a:t>
            </a:r>
          </a:p>
          <a:p>
            <a:pPr>
              <a:buFont typeface="Arial" panose="020B0604020202020204" pitchFamily="34" charset="0"/>
              <a:buChar char="•"/>
            </a:pPr>
            <a:r>
              <a:rPr lang="en-US" dirty="0"/>
              <a:t>Enables businesses to take </a:t>
            </a:r>
            <a:r>
              <a:rPr lang="en-US" b="1" dirty="0"/>
              <a:t>calculated risks</a:t>
            </a:r>
            <a:r>
              <a:rPr lang="en-US" dirty="0"/>
              <a:t> in new ventures (e.g., entering new markets, adopting new technologies).</a:t>
            </a:r>
          </a:p>
          <a:p>
            <a:pPr>
              <a:buFont typeface="Arial" panose="020B0604020202020204" pitchFamily="34" charset="0"/>
              <a:buChar char="•"/>
            </a:pPr>
            <a:r>
              <a:rPr lang="en-US" dirty="0"/>
              <a:t>Ensures that risks associated with growth are identified and managed.</a:t>
            </a:r>
          </a:p>
        </p:txBody>
      </p:sp>
      <p:pic>
        <p:nvPicPr>
          <p:cNvPr id="4" name="Picture 2" descr="Risk Management Framework | Pro ...">
            <a:extLst>
              <a:ext uri="{FF2B5EF4-FFF2-40B4-BE49-F238E27FC236}">
                <a16:creationId xmlns:a16="http://schemas.microsoft.com/office/drawing/2014/main" id="{E72F66BA-D2E0-BF65-7781-BAA7DA1715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47821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1D5C6-32E7-9C1D-9266-F3DE69A03C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89AE71-BD1C-B8CA-88A5-71E627A02A26}"/>
              </a:ext>
            </a:extLst>
          </p:cNvPr>
          <p:cNvSpPr>
            <a:spLocks noGrp="1"/>
          </p:cNvSpPr>
          <p:nvPr>
            <p:ph type="title"/>
          </p:nvPr>
        </p:nvSpPr>
        <p:spPr>
          <a:xfrm>
            <a:off x="467602" y="1088363"/>
            <a:ext cx="11029616" cy="1000123"/>
          </a:xfrm>
        </p:spPr>
        <p:txBody>
          <a:bodyPr>
            <a:normAutofit fontScale="90000"/>
          </a:bodyPr>
          <a:lstStyle/>
          <a:p>
            <a:r>
              <a:rPr lang="en-US" dirty="0"/>
              <a:t>Importance of Risk Management Frameworks and Primary Components of RMFs</a:t>
            </a:r>
            <a:br>
              <a:rPr lang="en-US" dirty="0"/>
            </a:br>
            <a:endParaRPr lang="en-NG" dirty="0"/>
          </a:p>
        </p:txBody>
      </p:sp>
      <p:sp>
        <p:nvSpPr>
          <p:cNvPr id="3" name="Content Placeholder 2">
            <a:extLst>
              <a:ext uri="{FF2B5EF4-FFF2-40B4-BE49-F238E27FC236}">
                <a16:creationId xmlns:a16="http://schemas.microsoft.com/office/drawing/2014/main" id="{72F5F912-CA22-7328-FFE2-D9C9A6706F03}"/>
              </a:ext>
            </a:extLst>
          </p:cNvPr>
          <p:cNvSpPr>
            <a:spLocks noGrp="1"/>
          </p:cNvSpPr>
          <p:nvPr>
            <p:ph idx="1"/>
          </p:nvPr>
        </p:nvSpPr>
        <p:spPr>
          <a:xfrm>
            <a:off x="581192" y="2441009"/>
            <a:ext cx="7464378" cy="3237551"/>
          </a:xfrm>
        </p:spPr>
        <p:txBody>
          <a:bodyPr>
            <a:normAutofit/>
          </a:bodyPr>
          <a:lstStyle/>
          <a:p>
            <a:pPr>
              <a:buNone/>
            </a:pPr>
            <a:r>
              <a:rPr lang="en-US" b="1" dirty="0"/>
              <a:t>Builds Investor &amp; Stakeholder Confidence</a:t>
            </a:r>
          </a:p>
          <a:p>
            <a:pPr>
              <a:buFont typeface="Arial" panose="020B0604020202020204" pitchFamily="34" charset="0"/>
              <a:buChar char="•"/>
            </a:pPr>
            <a:r>
              <a:rPr lang="en-US" dirty="0"/>
              <a:t>Demonstrates to investors, board members, and stakeholders that risks are </a:t>
            </a:r>
            <a:r>
              <a:rPr lang="en-US" b="1" dirty="0"/>
              <a:t>actively managed</a:t>
            </a:r>
            <a:r>
              <a:rPr lang="en-US" dirty="0"/>
              <a:t>.</a:t>
            </a:r>
          </a:p>
          <a:p>
            <a:pPr>
              <a:buFont typeface="Arial" panose="020B0604020202020204" pitchFamily="34" charset="0"/>
              <a:buChar char="•"/>
            </a:pPr>
            <a:r>
              <a:rPr lang="en-US" dirty="0"/>
              <a:t>Enhances credibility and supports sustainable business operations.</a:t>
            </a:r>
          </a:p>
        </p:txBody>
      </p:sp>
      <p:pic>
        <p:nvPicPr>
          <p:cNvPr id="4" name="Picture 2" descr="Risk Management Framework | Pro ...">
            <a:extLst>
              <a:ext uri="{FF2B5EF4-FFF2-40B4-BE49-F238E27FC236}">
                <a16:creationId xmlns:a16="http://schemas.microsoft.com/office/drawing/2014/main" id="{D799334B-B2A3-F789-D411-2D9A3EE692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5516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961CD-7EC7-B14F-5461-4AA426913E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96DCCE-EA42-F08F-3ED1-9BDCBA9AC035}"/>
              </a:ext>
            </a:extLst>
          </p:cNvPr>
          <p:cNvSpPr>
            <a:spLocks noGrp="1"/>
          </p:cNvSpPr>
          <p:nvPr>
            <p:ph type="title"/>
          </p:nvPr>
        </p:nvSpPr>
        <p:spPr>
          <a:xfrm>
            <a:off x="467602" y="1088363"/>
            <a:ext cx="11029616" cy="1000123"/>
          </a:xfrm>
        </p:spPr>
        <p:txBody>
          <a:bodyPr>
            <a:normAutofit/>
          </a:bodyPr>
          <a:lstStyle/>
          <a:p>
            <a:r>
              <a:rPr lang="en-US" dirty="0"/>
              <a:t>TOP -  Risk Management Frameworks</a:t>
            </a:r>
            <a:endParaRPr lang="en-NG" dirty="0"/>
          </a:p>
        </p:txBody>
      </p:sp>
      <p:sp>
        <p:nvSpPr>
          <p:cNvPr id="3" name="Content Placeholder 2">
            <a:extLst>
              <a:ext uri="{FF2B5EF4-FFF2-40B4-BE49-F238E27FC236}">
                <a16:creationId xmlns:a16="http://schemas.microsoft.com/office/drawing/2014/main" id="{38003736-BD30-F6CF-4E23-3082625A17CA}"/>
              </a:ext>
            </a:extLst>
          </p:cNvPr>
          <p:cNvSpPr>
            <a:spLocks noGrp="1"/>
          </p:cNvSpPr>
          <p:nvPr>
            <p:ph idx="1"/>
          </p:nvPr>
        </p:nvSpPr>
        <p:spPr>
          <a:xfrm>
            <a:off x="581192" y="2441009"/>
            <a:ext cx="7464378" cy="3237551"/>
          </a:xfrm>
        </p:spPr>
        <p:txBody>
          <a:bodyPr>
            <a:normAutofit fontScale="92500" lnSpcReduction="20000"/>
          </a:bodyPr>
          <a:lstStyle/>
          <a:p>
            <a:pPr>
              <a:buNone/>
            </a:pPr>
            <a:r>
              <a:rPr lang="en-US" b="1" dirty="0"/>
              <a:t>NIST Risk Management Framework (RMF)</a:t>
            </a:r>
          </a:p>
          <a:p>
            <a:pPr>
              <a:buNone/>
            </a:pPr>
            <a:r>
              <a:rPr lang="en-US" b="1" dirty="0"/>
              <a:t>Best For:</a:t>
            </a:r>
            <a:r>
              <a:rPr lang="en-US" dirty="0"/>
              <a:t> Cybersecurity, IT Governance, Government &amp; Defense Organizations</a:t>
            </a:r>
          </a:p>
          <a:p>
            <a:pPr>
              <a:buFont typeface="Arial" panose="020B0604020202020204" pitchFamily="34" charset="0"/>
              <a:buChar char="•"/>
            </a:pPr>
            <a:r>
              <a:rPr lang="en-US" dirty="0"/>
              <a:t>Developed by the </a:t>
            </a:r>
            <a:r>
              <a:rPr lang="en-US" b="1" dirty="0"/>
              <a:t>National Institute of Standards and Technology (NIST)</a:t>
            </a:r>
            <a:r>
              <a:rPr lang="en-US" dirty="0"/>
              <a:t>.</a:t>
            </a:r>
          </a:p>
          <a:p>
            <a:pPr>
              <a:buFont typeface="Arial" panose="020B0604020202020204" pitchFamily="34" charset="0"/>
              <a:buChar char="•"/>
            </a:pPr>
            <a:r>
              <a:rPr lang="en-US" dirty="0"/>
              <a:t>Integrates security, privacy, and cyber risk management into organizational processes.</a:t>
            </a:r>
          </a:p>
          <a:p>
            <a:pPr>
              <a:buFont typeface="Arial" panose="020B0604020202020204" pitchFamily="34" charset="0"/>
              <a:buChar char="•"/>
            </a:pPr>
            <a:r>
              <a:rPr lang="en-US" dirty="0"/>
              <a:t>Follows a </a:t>
            </a:r>
            <a:r>
              <a:rPr lang="en-US" b="1" dirty="0"/>
              <a:t>7-step process</a:t>
            </a:r>
            <a:r>
              <a:rPr lang="en-US" dirty="0"/>
              <a:t>: Categorize, Select, Implement, Assess, Authorize, Monitor, and Improve.</a:t>
            </a:r>
          </a:p>
          <a:p>
            <a:pPr>
              <a:buFont typeface="Arial" panose="020B0604020202020204" pitchFamily="34" charset="0"/>
              <a:buChar char="•"/>
            </a:pPr>
            <a:r>
              <a:rPr lang="en-US" dirty="0"/>
              <a:t>Used in </a:t>
            </a:r>
            <a:r>
              <a:rPr lang="en-US" b="1" dirty="0"/>
              <a:t>U.S. federal agencies, defense, and critical infrastructure organizations</a:t>
            </a:r>
            <a:r>
              <a:rPr lang="en-US" dirty="0"/>
              <a:t>.</a:t>
            </a:r>
          </a:p>
          <a:p>
            <a:pPr>
              <a:buFont typeface="Arial" panose="020B0604020202020204" pitchFamily="34" charset="0"/>
              <a:buChar char="•"/>
            </a:pPr>
            <a:r>
              <a:rPr lang="en-US" dirty="0"/>
              <a:t>Supports compliance with </a:t>
            </a:r>
            <a:r>
              <a:rPr lang="en-US" b="1" dirty="0"/>
              <a:t>NIST 800-37, NIST 800-53, and FISMA regulations</a:t>
            </a:r>
            <a:r>
              <a:rPr lang="en-US" dirty="0"/>
              <a:t>.</a:t>
            </a:r>
          </a:p>
          <a:p>
            <a:pPr>
              <a:buFont typeface="Arial" panose="020B0604020202020204" pitchFamily="34" charset="0"/>
              <a:buChar char="•"/>
            </a:pPr>
            <a:r>
              <a:rPr lang="en-US" dirty="0"/>
              <a:t> </a:t>
            </a:r>
            <a:r>
              <a:rPr lang="en-US" b="1" dirty="0"/>
              <a:t>Popular in:</a:t>
            </a:r>
            <a:r>
              <a:rPr lang="en-US" dirty="0"/>
              <a:t> Government, military, healthcare, IT, cloud security.</a:t>
            </a:r>
          </a:p>
        </p:txBody>
      </p:sp>
      <p:pic>
        <p:nvPicPr>
          <p:cNvPr id="9218" name="Picture 2" descr="Popular Cybersecurity Framework | NIST">
            <a:extLst>
              <a:ext uri="{FF2B5EF4-FFF2-40B4-BE49-F238E27FC236}">
                <a16:creationId xmlns:a16="http://schemas.microsoft.com/office/drawing/2014/main" id="{0A33F4A9-6B5E-5379-36B1-2AF17CE547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5110" y="2304687"/>
            <a:ext cx="3187384" cy="2981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13035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6BC41-D3B9-98BD-F79C-CB21F9F96D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FF960E-52AB-D71A-8B25-31910E470980}"/>
              </a:ext>
            </a:extLst>
          </p:cNvPr>
          <p:cNvSpPr>
            <a:spLocks noGrp="1"/>
          </p:cNvSpPr>
          <p:nvPr>
            <p:ph type="title"/>
          </p:nvPr>
        </p:nvSpPr>
        <p:spPr>
          <a:xfrm>
            <a:off x="467602" y="1088363"/>
            <a:ext cx="11029616" cy="1000123"/>
          </a:xfrm>
        </p:spPr>
        <p:txBody>
          <a:bodyPr>
            <a:normAutofit/>
          </a:bodyPr>
          <a:lstStyle/>
          <a:p>
            <a:r>
              <a:rPr lang="en-US" dirty="0"/>
              <a:t>TOP -  Risk Management Frameworks</a:t>
            </a:r>
            <a:endParaRPr lang="en-NG" dirty="0"/>
          </a:p>
        </p:txBody>
      </p:sp>
      <p:sp>
        <p:nvSpPr>
          <p:cNvPr id="3" name="Content Placeholder 2">
            <a:extLst>
              <a:ext uri="{FF2B5EF4-FFF2-40B4-BE49-F238E27FC236}">
                <a16:creationId xmlns:a16="http://schemas.microsoft.com/office/drawing/2014/main" id="{B731A7DC-F83B-0D10-6F79-618E3F5A1053}"/>
              </a:ext>
            </a:extLst>
          </p:cNvPr>
          <p:cNvSpPr>
            <a:spLocks noGrp="1"/>
          </p:cNvSpPr>
          <p:nvPr>
            <p:ph idx="1"/>
          </p:nvPr>
        </p:nvSpPr>
        <p:spPr>
          <a:xfrm>
            <a:off x="581192" y="2441009"/>
            <a:ext cx="7464378" cy="3237551"/>
          </a:xfrm>
        </p:spPr>
        <p:txBody>
          <a:bodyPr>
            <a:normAutofit fontScale="92500"/>
          </a:bodyPr>
          <a:lstStyle/>
          <a:p>
            <a:pPr>
              <a:buNone/>
            </a:pPr>
            <a:r>
              <a:rPr lang="en-US" b="1" dirty="0"/>
              <a:t>ISO 31000: Risk Management Standard</a:t>
            </a:r>
          </a:p>
          <a:p>
            <a:pPr>
              <a:buNone/>
            </a:pPr>
            <a:r>
              <a:rPr lang="en-US" b="1" dirty="0"/>
              <a:t>Best For:</a:t>
            </a:r>
            <a:r>
              <a:rPr lang="en-US" dirty="0"/>
              <a:t> Enterprise Risk Management (ERM), General Business Risk Management</a:t>
            </a:r>
          </a:p>
          <a:p>
            <a:pPr>
              <a:buFont typeface="Arial" panose="020B0604020202020204" pitchFamily="34" charset="0"/>
              <a:buChar char="•"/>
            </a:pPr>
            <a:r>
              <a:rPr lang="en-US" dirty="0"/>
              <a:t>Developed by the </a:t>
            </a:r>
            <a:r>
              <a:rPr lang="en-US" b="1" dirty="0"/>
              <a:t>International Organization for Standardization (ISO)</a:t>
            </a:r>
            <a:r>
              <a:rPr lang="en-US" dirty="0"/>
              <a:t>.</a:t>
            </a:r>
          </a:p>
          <a:p>
            <a:pPr>
              <a:buFont typeface="Arial" panose="020B0604020202020204" pitchFamily="34" charset="0"/>
              <a:buChar char="•"/>
            </a:pPr>
            <a:r>
              <a:rPr lang="en-US" dirty="0"/>
              <a:t>Provides </a:t>
            </a:r>
            <a:r>
              <a:rPr lang="en-US" b="1" dirty="0"/>
              <a:t>principles, framework, and processes</a:t>
            </a:r>
            <a:r>
              <a:rPr lang="en-US" dirty="0"/>
              <a:t> for managing risks across various sectors.</a:t>
            </a:r>
          </a:p>
          <a:p>
            <a:pPr>
              <a:buFont typeface="Arial" panose="020B0604020202020204" pitchFamily="34" charset="0"/>
              <a:buChar char="•"/>
            </a:pPr>
            <a:r>
              <a:rPr lang="en-US" dirty="0"/>
              <a:t>Focuses on </a:t>
            </a:r>
            <a:r>
              <a:rPr lang="en-US" b="1" dirty="0"/>
              <a:t>risk identification, analysis, evaluation, treatment, and monitoring</a:t>
            </a:r>
            <a:r>
              <a:rPr lang="en-US" dirty="0"/>
              <a:t>.</a:t>
            </a:r>
          </a:p>
          <a:p>
            <a:pPr>
              <a:buFont typeface="Arial" panose="020B0604020202020204" pitchFamily="34" charset="0"/>
              <a:buChar char="•"/>
            </a:pPr>
            <a:r>
              <a:rPr lang="en-US" dirty="0"/>
              <a:t>Adaptable to multiple industries, including </a:t>
            </a:r>
            <a:r>
              <a:rPr lang="en-US" b="1" dirty="0"/>
              <a:t>finance, healthcare, and manufacturing</a:t>
            </a:r>
            <a:r>
              <a:rPr lang="en-US" dirty="0"/>
              <a:t>.</a:t>
            </a:r>
          </a:p>
          <a:p>
            <a:r>
              <a:rPr lang="en-US" b="1" dirty="0"/>
              <a:t>Popular in:</a:t>
            </a:r>
            <a:r>
              <a:rPr lang="en-US" dirty="0"/>
              <a:t> Corporate risk management, finance, supply chain, strategic planning.</a:t>
            </a:r>
          </a:p>
        </p:txBody>
      </p:sp>
      <p:pic>
        <p:nvPicPr>
          <p:cNvPr id="9218" name="Picture 2" descr="Popular Cybersecurity Framework | NIST">
            <a:extLst>
              <a:ext uri="{FF2B5EF4-FFF2-40B4-BE49-F238E27FC236}">
                <a16:creationId xmlns:a16="http://schemas.microsoft.com/office/drawing/2014/main" id="{0479747E-B0DD-68F0-4B14-7E8289CBA2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5110" y="2304687"/>
            <a:ext cx="3187384" cy="2981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99188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ED12E-9B2A-CCFA-EBD4-1F1F97974F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0DF80-B724-4CB3-E1A2-58C4420CDD7A}"/>
              </a:ext>
            </a:extLst>
          </p:cNvPr>
          <p:cNvSpPr>
            <a:spLocks noGrp="1"/>
          </p:cNvSpPr>
          <p:nvPr>
            <p:ph type="title"/>
          </p:nvPr>
        </p:nvSpPr>
        <p:spPr>
          <a:xfrm>
            <a:off x="467602" y="1088363"/>
            <a:ext cx="11029616" cy="1000123"/>
          </a:xfrm>
        </p:spPr>
        <p:txBody>
          <a:bodyPr>
            <a:normAutofit/>
          </a:bodyPr>
          <a:lstStyle/>
          <a:p>
            <a:r>
              <a:rPr lang="en-US" dirty="0"/>
              <a:t>TOP -  Risk Management Frameworks</a:t>
            </a:r>
            <a:endParaRPr lang="en-NG" dirty="0"/>
          </a:p>
        </p:txBody>
      </p:sp>
      <p:sp>
        <p:nvSpPr>
          <p:cNvPr id="3" name="Content Placeholder 2">
            <a:extLst>
              <a:ext uri="{FF2B5EF4-FFF2-40B4-BE49-F238E27FC236}">
                <a16:creationId xmlns:a16="http://schemas.microsoft.com/office/drawing/2014/main" id="{495C58AB-A475-C4F7-F8EB-552CE2BA76E7}"/>
              </a:ext>
            </a:extLst>
          </p:cNvPr>
          <p:cNvSpPr>
            <a:spLocks noGrp="1"/>
          </p:cNvSpPr>
          <p:nvPr>
            <p:ph idx="1"/>
          </p:nvPr>
        </p:nvSpPr>
        <p:spPr>
          <a:xfrm>
            <a:off x="581192" y="2441009"/>
            <a:ext cx="7464378" cy="3237551"/>
          </a:xfrm>
        </p:spPr>
        <p:txBody>
          <a:bodyPr>
            <a:normAutofit fontScale="92500"/>
          </a:bodyPr>
          <a:lstStyle/>
          <a:p>
            <a:pPr>
              <a:buNone/>
            </a:pPr>
            <a:r>
              <a:rPr lang="en-US" b="1" dirty="0"/>
              <a:t>COSO ERM (Enterprise Risk Management) Framework</a:t>
            </a:r>
          </a:p>
          <a:p>
            <a:pPr>
              <a:buNone/>
            </a:pPr>
            <a:r>
              <a:rPr lang="en-US" b="1" dirty="0"/>
              <a:t>Best For:</a:t>
            </a:r>
            <a:r>
              <a:rPr lang="en-US" dirty="0"/>
              <a:t> Governance, Financial Risk, Corporate Strategy</a:t>
            </a:r>
          </a:p>
          <a:p>
            <a:pPr>
              <a:buFont typeface="Arial" panose="020B0604020202020204" pitchFamily="34" charset="0"/>
              <a:buChar char="•"/>
            </a:pPr>
            <a:r>
              <a:rPr lang="en-US" dirty="0"/>
              <a:t>Developed by the </a:t>
            </a:r>
            <a:r>
              <a:rPr lang="en-US" b="1" dirty="0"/>
              <a:t>Committee of Sponsoring Organizations of the Treadway Commission (COSO)</a:t>
            </a:r>
            <a:r>
              <a:rPr lang="en-US" dirty="0"/>
              <a:t>.</a:t>
            </a:r>
          </a:p>
          <a:p>
            <a:pPr>
              <a:buFont typeface="Arial" panose="020B0604020202020204" pitchFamily="34" charset="0"/>
              <a:buChar char="•"/>
            </a:pPr>
            <a:r>
              <a:rPr lang="en-US" dirty="0"/>
              <a:t>Focuses on </a:t>
            </a:r>
            <a:r>
              <a:rPr lang="en-US" b="1" dirty="0"/>
              <a:t>governance, risk assessment, control, information, and monitoring</a:t>
            </a:r>
            <a:r>
              <a:rPr lang="en-US" dirty="0"/>
              <a:t>.</a:t>
            </a:r>
          </a:p>
          <a:p>
            <a:pPr>
              <a:buFont typeface="Arial" panose="020B0604020202020204" pitchFamily="34" charset="0"/>
              <a:buChar char="•"/>
            </a:pPr>
            <a:r>
              <a:rPr lang="en-US" dirty="0"/>
              <a:t>Helps organizations </a:t>
            </a:r>
            <a:r>
              <a:rPr lang="en-US" b="1" dirty="0"/>
              <a:t>align risk management with business objectives</a:t>
            </a:r>
            <a:r>
              <a:rPr lang="en-US" dirty="0"/>
              <a:t>.</a:t>
            </a:r>
          </a:p>
          <a:p>
            <a:pPr>
              <a:buFont typeface="Arial" panose="020B0604020202020204" pitchFamily="34" charset="0"/>
              <a:buChar char="•"/>
            </a:pPr>
            <a:r>
              <a:rPr lang="en-US" dirty="0"/>
              <a:t>Supports </a:t>
            </a:r>
            <a:r>
              <a:rPr lang="en-US" b="1" dirty="0"/>
              <a:t>Sarbanes-Oxley Act (SOX) compliance</a:t>
            </a:r>
            <a:r>
              <a:rPr lang="en-US" dirty="0"/>
              <a:t>.</a:t>
            </a:r>
          </a:p>
          <a:p>
            <a:r>
              <a:rPr lang="en-US" b="1" dirty="0"/>
              <a:t>Popular in:</a:t>
            </a:r>
            <a:r>
              <a:rPr lang="en-US" dirty="0"/>
              <a:t> Public companies, financial institutions, governance, corporate risk strategy</a:t>
            </a:r>
          </a:p>
        </p:txBody>
      </p:sp>
      <p:pic>
        <p:nvPicPr>
          <p:cNvPr id="9218" name="Picture 2" descr="Popular Cybersecurity Framework | NIST">
            <a:extLst>
              <a:ext uri="{FF2B5EF4-FFF2-40B4-BE49-F238E27FC236}">
                <a16:creationId xmlns:a16="http://schemas.microsoft.com/office/drawing/2014/main" id="{407B6949-F2E9-1632-76B1-57EC57687C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5110" y="2304687"/>
            <a:ext cx="3187384" cy="2981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14034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E8FEE-69FA-1094-9EA2-94218813C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1D68F9-9943-C60A-8222-C052025B2182}"/>
              </a:ext>
            </a:extLst>
          </p:cNvPr>
          <p:cNvSpPr>
            <a:spLocks noGrp="1"/>
          </p:cNvSpPr>
          <p:nvPr>
            <p:ph type="title"/>
          </p:nvPr>
        </p:nvSpPr>
        <p:spPr>
          <a:xfrm>
            <a:off x="467602" y="1088363"/>
            <a:ext cx="11029616" cy="1000123"/>
          </a:xfrm>
        </p:spPr>
        <p:txBody>
          <a:bodyPr>
            <a:normAutofit/>
          </a:bodyPr>
          <a:lstStyle/>
          <a:p>
            <a:r>
              <a:rPr lang="en-US" dirty="0"/>
              <a:t>TOP -  Risk Management Frameworks</a:t>
            </a:r>
            <a:endParaRPr lang="en-NG" dirty="0"/>
          </a:p>
        </p:txBody>
      </p:sp>
      <p:sp>
        <p:nvSpPr>
          <p:cNvPr id="3" name="Content Placeholder 2">
            <a:extLst>
              <a:ext uri="{FF2B5EF4-FFF2-40B4-BE49-F238E27FC236}">
                <a16:creationId xmlns:a16="http://schemas.microsoft.com/office/drawing/2014/main" id="{E9237ACE-3978-D1A5-C2C4-9743EBA48756}"/>
              </a:ext>
            </a:extLst>
          </p:cNvPr>
          <p:cNvSpPr>
            <a:spLocks noGrp="1"/>
          </p:cNvSpPr>
          <p:nvPr>
            <p:ph idx="1"/>
          </p:nvPr>
        </p:nvSpPr>
        <p:spPr>
          <a:xfrm>
            <a:off x="581192" y="2441009"/>
            <a:ext cx="7464378" cy="3237551"/>
          </a:xfrm>
        </p:spPr>
        <p:txBody>
          <a:bodyPr>
            <a:normAutofit/>
          </a:bodyPr>
          <a:lstStyle/>
          <a:p>
            <a:pPr>
              <a:buNone/>
            </a:pPr>
            <a:r>
              <a:rPr lang="en-US" b="1" dirty="0"/>
              <a:t>FAIR (Factor Analysis of Information Risk) Framework</a:t>
            </a:r>
          </a:p>
          <a:p>
            <a:pPr>
              <a:buNone/>
            </a:pPr>
            <a:r>
              <a:rPr lang="en-US" b="1" dirty="0"/>
              <a:t>Best For:</a:t>
            </a:r>
            <a:r>
              <a:rPr lang="en-US" dirty="0"/>
              <a:t> Cyber Risk Quantification, Financial Risk Modeling</a:t>
            </a:r>
          </a:p>
          <a:p>
            <a:pPr>
              <a:buFont typeface="Arial" panose="020B0604020202020204" pitchFamily="34" charset="0"/>
              <a:buChar char="•"/>
            </a:pPr>
            <a:r>
              <a:rPr lang="en-US" dirty="0"/>
              <a:t>A </a:t>
            </a:r>
            <a:r>
              <a:rPr lang="en-US" b="1" dirty="0"/>
              <a:t>quantitative risk management framework</a:t>
            </a:r>
            <a:r>
              <a:rPr lang="en-US" dirty="0"/>
              <a:t> focused on cybersecurity.</a:t>
            </a:r>
          </a:p>
          <a:p>
            <a:pPr>
              <a:buFont typeface="Arial" panose="020B0604020202020204" pitchFamily="34" charset="0"/>
              <a:buChar char="•"/>
            </a:pPr>
            <a:r>
              <a:rPr lang="en-US" dirty="0"/>
              <a:t>Helps organizations </a:t>
            </a:r>
            <a:r>
              <a:rPr lang="en-US" b="1" dirty="0"/>
              <a:t>financially quantify</a:t>
            </a:r>
            <a:r>
              <a:rPr lang="en-US" dirty="0"/>
              <a:t> cybersecurity risks.</a:t>
            </a:r>
          </a:p>
          <a:p>
            <a:pPr>
              <a:buFont typeface="Arial" panose="020B0604020202020204" pitchFamily="34" charset="0"/>
              <a:buChar char="•"/>
            </a:pPr>
            <a:r>
              <a:rPr lang="en-US" dirty="0"/>
              <a:t>Aligns with </a:t>
            </a:r>
            <a:r>
              <a:rPr lang="en-US" b="1" dirty="0"/>
              <a:t>NIST, ISO 27001, and COSO ERM</a:t>
            </a:r>
            <a:r>
              <a:rPr lang="en-US" dirty="0"/>
              <a:t> for cyber risk management.</a:t>
            </a:r>
          </a:p>
          <a:p>
            <a:pPr marL="0" indent="0">
              <a:buNone/>
            </a:pPr>
            <a:r>
              <a:rPr lang="en-US" b="1" dirty="0"/>
              <a:t>Popular in:</a:t>
            </a:r>
            <a:r>
              <a:rPr lang="en-US" dirty="0"/>
              <a:t> Cybersecurity, insurance, financial risk management.</a:t>
            </a:r>
          </a:p>
        </p:txBody>
      </p:sp>
      <p:pic>
        <p:nvPicPr>
          <p:cNvPr id="9218" name="Picture 2" descr="Popular Cybersecurity Framework | NIST">
            <a:extLst>
              <a:ext uri="{FF2B5EF4-FFF2-40B4-BE49-F238E27FC236}">
                <a16:creationId xmlns:a16="http://schemas.microsoft.com/office/drawing/2014/main" id="{6C102FC6-3150-13C8-7FA0-E8FAD9C16C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5110" y="2304687"/>
            <a:ext cx="3187384" cy="2981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28973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97A83-8EB9-EBDF-160E-2FAC8FE10C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13C2CA-31DE-C746-F8B5-7A99A288507A}"/>
              </a:ext>
            </a:extLst>
          </p:cNvPr>
          <p:cNvSpPr>
            <a:spLocks noGrp="1"/>
          </p:cNvSpPr>
          <p:nvPr>
            <p:ph type="title"/>
          </p:nvPr>
        </p:nvSpPr>
        <p:spPr>
          <a:xfrm>
            <a:off x="467602" y="1088363"/>
            <a:ext cx="11029616" cy="1000123"/>
          </a:xfrm>
        </p:spPr>
        <p:txBody>
          <a:bodyPr>
            <a:normAutofit/>
          </a:bodyPr>
          <a:lstStyle/>
          <a:p>
            <a:r>
              <a:rPr lang="en-US" dirty="0"/>
              <a:t>TOP -  Risk Management Frameworks</a:t>
            </a:r>
            <a:endParaRPr lang="en-NG" dirty="0"/>
          </a:p>
        </p:txBody>
      </p:sp>
      <p:sp>
        <p:nvSpPr>
          <p:cNvPr id="3" name="Content Placeholder 2">
            <a:extLst>
              <a:ext uri="{FF2B5EF4-FFF2-40B4-BE49-F238E27FC236}">
                <a16:creationId xmlns:a16="http://schemas.microsoft.com/office/drawing/2014/main" id="{C4C64D98-44AC-65F0-09B1-571F33D35C33}"/>
              </a:ext>
            </a:extLst>
          </p:cNvPr>
          <p:cNvSpPr>
            <a:spLocks noGrp="1"/>
          </p:cNvSpPr>
          <p:nvPr>
            <p:ph idx="1"/>
          </p:nvPr>
        </p:nvSpPr>
        <p:spPr>
          <a:xfrm>
            <a:off x="581192" y="2441009"/>
            <a:ext cx="7464378" cy="3237551"/>
          </a:xfrm>
        </p:spPr>
        <p:txBody>
          <a:bodyPr>
            <a:normAutofit/>
          </a:bodyPr>
          <a:lstStyle/>
          <a:p>
            <a:pPr>
              <a:buNone/>
            </a:pPr>
            <a:r>
              <a:rPr lang="en-US" b="1" dirty="0"/>
              <a:t>ISO/IEC 27005 (Information Security Risk Management)</a:t>
            </a:r>
          </a:p>
          <a:p>
            <a:pPr>
              <a:buNone/>
            </a:pPr>
            <a:r>
              <a:rPr lang="en-US" b="1" dirty="0"/>
              <a:t>Best For:</a:t>
            </a:r>
            <a:r>
              <a:rPr lang="en-US" dirty="0"/>
              <a:t> Information Security, IT Governance</a:t>
            </a:r>
          </a:p>
          <a:p>
            <a:pPr>
              <a:buFont typeface="Arial" panose="020B0604020202020204" pitchFamily="34" charset="0"/>
              <a:buChar char="•"/>
            </a:pPr>
            <a:r>
              <a:rPr lang="en-US" dirty="0"/>
              <a:t>A subset of </a:t>
            </a:r>
            <a:r>
              <a:rPr lang="en-US" b="1" dirty="0"/>
              <a:t>ISO 27001</a:t>
            </a:r>
            <a:r>
              <a:rPr lang="en-US" dirty="0"/>
              <a:t>, focusing specifically on </a:t>
            </a:r>
            <a:r>
              <a:rPr lang="en-US" b="1" dirty="0"/>
              <a:t>information security risks</a:t>
            </a:r>
            <a:r>
              <a:rPr lang="en-US" dirty="0"/>
              <a:t>.</a:t>
            </a:r>
          </a:p>
          <a:p>
            <a:pPr>
              <a:buFont typeface="Arial" panose="020B0604020202020204" pitchFamily="34" charset="0"/>
              <a:buChar char="•"/>
            </a:pPr>
            <a:r>
              <a:rPr lang="en-US" dirty="0"/>
              <a:t>Provides a systematic approach for </a:t>
            </a:r>
            <a:r>
              <a:rPr lang="en-US" b="1" dirty="0"/>
              <a:t>risk assessment and treatment</a:t>
            </a:r>
            <a:r>
              <a:rPr lang="en-US" dirty="0"/>
              <a:t> in IT environments.</a:t>
            </a:r>
          </a:p>
          <a:p>
            <a:pPr>
              <a:buFont typeface="Arial" panose="020B0604020202020204" pitchFamily="34" charset="0"/>
              <a:buChar char="•"/>
            </a:pPr>
            <a:r>
              <a:rPr lang="en-US" dirty="0"/>
              <a:t>Commonly used alongside </a:t>
            </a:r>
            <a:r>
              <a:rPr lang="en-US" b="1" dirty="0"/>
              <a:t>ISO 27001</a:t>
            </a:r>
            <a:r>
              <a:rPr lang="en-US" dirty="0"/>
              <a:t> to build an </a:t>
            </a:r>
            <a:r>
              <a:rPr lang="en-US" b="1" dirty="0"/>
              <a:t>Information Security Management System (ISMS)</a:t>
            </a:r>
            <a:r>
              <a:rPr lang="en-US" dirty="0"/>
              <a:t>.</a:t>
            </a:r>
          </a:p>
          <a:p>
            <a:pPr marL="0" indent="0">
              <a:buNone/>
            </a:pPr>
            <a:r>
              <a:rPr lang="en-US" b="1" dirty="0"/>
              <a:t>Popular in:</a:t>
            </a:r>
            <a:r>
              <a:rPr lang="en-US" dirty="0"/>
              <a:t> IT security, cybersecurity, compliance, governance.</a:t>
            </a:r>
          </a:p>
        </p:txBody>
      </p:sp>
      <p:pic>
        <p:nvPicPr>
          <p:cNvPr id="9218" name="Picture 2" descr="Popular Cybersecurity Framework | NIST">
            <a:extLst>
              <a:ext uri="{FF2B5EF4-FFF2-40B4-BE49-F238E27FC236}">
                <a16:creationId xmlns:a16="http://schemas.microsoft.com/office/drawing/2014/main" id="{0DE81CD8-8F39-56D0-0465-AAF04D661B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5110" y="2304687"/>
            <a:ext cx="3187384" cy="2981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9081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1CC1F-5117-F9A0-8AE7-74B9052C5C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02E66F-8253-4655-653B-915E14D5DF21}"/>
              </a:ext>
            </a:extLst>
          </p:cNvPr>
          <p:cNvSpPr>
            <a:spLocks noGrp="1"/>
          </p:cNvSpPr>
          <p:nvPr>
            <p:ph type="title"/>
          </p:nvPr>
        </p:nvSpPr>
        <p:spPr>
          <a:xfrm>
            <a:off x="467602" y="1088363"/>
            <a:ext cx="11029616" cy="1000123"/>
          </a:xfrm>
        </p:spPr>
        <p:txBody>
          <a:bodyPr>
            <a:normAutofit/>
          </a:bodyPr>
          <a:lstStyle/>
          <a:p>
            <a:r>
              <a:rPr lang="en-US" dirty="0"/>
              <a:t>TOP -  Risk Management Frameworks</a:t>
            </a:r>
            <a:endParaRPr lang="en-NG" dirty="0"/>
          </a:p>
        </p:txBody>
      </p:sp>
      <p:sp>
        <p:nvSpPr>
          <p:cNvPr id="3" name="Content Placeholder 2">
            <a:extLst>
              <a:ext uri="{FF2B5EF4-FFF2-40B4-BE49-F238E27FC236}">
                <a16:creationId xmlns:a16="http://schemas.microsoft.com/office/drawing/2014/main" id="{ECC415A9-8B80-66B8-30AF-7987B6E269E9}"/>
              </a:ext>
            </a:extLst>
          </p:cNvPr>
          <p:cNvSpPr>
            <a:spLocks noGrp="1"/>
          </p:cNvSpPr>
          <p:nvPr>
            <p:ph idx="1"/>
          </p:nvPr>
        </p:nvSpPr>
        <p:spPr>
          <a:xfrm>
            <a:off x="581192" y="2441009"/>
            <a:ext cx="7464378" cy="3237551"/>
          </a:xfrm>
        </p:spPr>
        <p:txBody>
          <a:bodyPr>
            <a:normAutofit/>
          </a:bodyPr>
          <a:lstStyle/>
          <a:p>
            <a:pPr>
              <a:buNone/>
            </a:pPr>
            <a:r>
              <a:rPr lang="en-US" b="1" dirty="0"/>
              <a:t>ISO/IEC 27005 (Information Security Risk Management)</a:t>
            </a:r>
          </a:p>
          <a:p>
            <a:pPr>
              <a:buNone/>
            </a:pPr>
            <a:r>
              <a:rPr lang="en-US" b="1" dirty="0"/>
              <a:t>Best For:</a:t>
            </a:r>
            <a:r>
              <a:rPr lang="en-US" dirty="0"/>
              <a:t> Information Security, IT Governance</a:t>
            </a:r>
          </a:p>
          <a:p>
            <a:pPr>
              <a:buFont typeface="Arial" panose="020B0604020202020204" pitchFamily="34" charset="0"/>
              <a:buChar char="•"/>
            </a:pPr>
            <a:r>
              <a:rPr lang="en-US" dirty="0"/>
              <a:t>A subset of </a:t>
            </a:r>
            <a:r>
              <a:rPr lang="en-US" b="1" dirty="0"/>
              <a:t>ISO 27001</a:t>
            </a:r>
            <a:r>
              <a:rPr lang="en-US" dirty="0"/>
              <a:t>, focusing specifically on </a:t>
            </a:r>
            <a:r>
              <a:rPr lang="en-US" b="1" dirty="0"/>
              <a:t>information security risks</a:t>
            </a:r>
            <a:r>
              <a:rPr lang="en-US" dirty="0"/>
              <a:t>.</a:t>
            </a:r>
          </a:p>
          <a:p>
            <a:pPr>
              <a:buFont typeface="Arial" panose="020B0604020202020204" pitchFamily="34" charset="0"/>
              <a:buChar char="•"/>
            </a:pPr>
            <a:r>
              <a:rPr lang="en-US" dirty="0"/>
              <a:t>Provides a systematic approach for </a:t>
            </a:r>
            <a:r>
              <a:rPr lang="en-US" b="1" dirty="0"/>
              <a:t>risk assessment and treatment</a:t>
            </a:r>
            <a:r>
              <a:rPr lang="en-US" dirty="0"/>
              <a:t> in IT environments.</a:t>
            </a:r>
          </a:p>
          <a:p>
            <a:pPr>
              <a:buFont typeface="Arial" panose="020B0604020202020204" pitchFamily="34" charset="0"/>
              <a:buChar char="•"/>
            </a:pPr>
            <a:r>
              <a:rPr lang="en-US" dirty="0"/>
              <a:t>Commonly used alongside </a:t>
            </a:r>
            <a:r>
              <a:rPr lang="en-US" b="1" dirty="0"/>
              <a:t>ISO 27001</a:t>
            </a:r>
            <a:r>
              <a:rPr lang="en-US" dirty="0"/>
              <a:t> to build an </a:t>
            </a:r>
            <a:r>
              <a:rPr lang="en-US" b="1" dirty="0"/>
              <a:t>Information Security Management System (ISMS)</a:t>
            </a:r>
            <a:r>
              <a:rPr lang="en-US" dirty="0"/>
              <a:t>.</a:t>
            </a:r>
          </a:p>
          <a:p>
            <a:pPr marL="0" indent="0">
              <a:buNone/>
            </a:pPr>
            <a:r>
              <a:rPr lang="en-US" b="1" dirty="0"/>
              <a:t>Popular in:</a:t>
            </a:r>
            <a:r>
              <a:rPr lang="en-US" dirty="0"/>
              <a:t> IT security, cybersecurity, compliance, governance.</a:t>
            </a:r>
          </a:p>
        </p:txBody>
      </p:sp>
      <p:pic>
        <p:nvPicPr>
          <p:cNvPr id="9218" name="Picture 2" descr="Popular Cybersecurity Framework | NIST">
            <a:extLst>
              <a:ext uri="{FF2B5EF4-FFF2-40B4-BE49-F238E27FC236}">
                <a16:creationId xmlns:a16="http://schemas.microsoft.com/office/drawing/2014/main" id="{B16C966F-03A0-3229-B771-4F62A7D6EF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5110" y="2304687"/>
            <a:ext cx="3187384" cy="2981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28500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99D83-2873-A0E9-AE8B-55E04F9D53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6E0D0C-DEE7-ADC8-37AF-8532D33F53D0}"/>
              </a:ext>
            </a:extLst>
          </p:cNvPr>
          <p:cNvSpPr>
            <a:spLocks noGrp="1"/>
          </p:cNvSpPr>
          <p:nvPr>
            <p:ph type="title"/>
          </p:nvPr>
        </p:nvSpPr>
        <p:spPr>
          <a:xfrm>
            <a:off x="467602" y="1088363"/>
            <a:ext cx="11029616" cy="1000123"/>
          </a:xfrm>
        </p:spPr>
        <p:txBody>
          <a:bodyPr>
            <a:normAutofit/>
          </a:bodyPr>
          <a:lstStyle/>
          <a:p>
            <a:r>
              <a:rPr lang="en-US" dirty="0"/>
              <a:t>TOP -  Risk Management Frameworks</a:t>
            </a:r>
            <a:endParaRPr lang="en-NG" dirty="0"/>
          </a:p>
        </p:txBody>
      </p:sp>
      <p:sp>
        <p:nvSpPr>
          <p:cNvPr id="3" name="Content Placeholder 2">
            <a:extLst>
              <a:ext uri="{FF2B5EF4-FFF2-40B4-BE49-F238E27FC236}">
                <a16:creationId xmlns:a16="http://schemas.microsoft.com/office/drawing/2014/main" id="{08AAFCC9-A93E-09EF-346D-12156138EEDB}"/>
              </a:ext>
            </a:extLst>
          </p:cNvPr>
          <p:cNvSpPr>
            <a:spLocks noGrp="1"/>
          </p:cNvSpPr>
          <p:nvPr>
            <p:ph idx="1"/>
          </p:nvPr>
        </p:nvSpPr>
        <p:spPr>
          <a:xfrm>
            <a:off x="581192" y="2441009"/>
            <a:ext cx="7464378" cy="3237551"/>
          </a:xfrm>
        </p:spPr>
        <p:txBody>
          <a:bodyPr>
            <a:normAutofit/>
          </a:bodyPr>
          <a:lstStyle/>
          <a:p>
            <a:pPr>
              <a:buNone/>
            </a:pPr>
            <a:r>
              <a:rPr lang="en-US" b="1" dirty="0"/>
              <a:t>OCTAVE (Operationally Critical Threat, Asset, and Vulnerability Evaluation)</a:t>
            </a:r>
          </a:p>
          <a:p>
            <a:pPr>
              <a:buNone/>
            </a:pPr>
            <a:r>
              <a:rPr lang="en-US" b="1" dirty="0"/>
              <a:t>Best For:</a:t>
            </a:r>
            <a:r>
              <a:rPr lang="en-US" dirty="0"/>
              <a:t> IT Risk Assessment, Cybersecurity in Enterprises</a:t>
            </a:r>
          </a:p>
          <a:p>
            <a:pPr>
              <a:buFont typeface="Arial" panose="020B0604020202020204" pitchFamily="34" charset="0"/>
              <a:buChar char="•"/>
            </a:pPr>
            <a:r>
              <a:rPr lang="en-US" dirty="0"/>
              <a:t>Developed by </a:t>
            </a:r>
            <a:r>
              <a:rPr lang="en-US" b="1" dirty="0"/>
              <a:t>CERT (Carnegie Mellon University)</a:t>
            </a:r>
            <a:r>
              <a:rPr lang="en-US" dirty="0"/>
              <a:t>.</a:t>
            </a:r>
          </a:p>
          <a:p>
            <a:pPr>
              <a:buFont typeface="Arial" panose="020B0604020202020204" pitchFamily="34" charset="0"/>
              <a:buChar char="•"/>
            </a:pPr>
            <a:r>
              <a:rPr lang="en-US" dirty="0"/>
              <a:t>Focuses on </a:t>
            </a:r>
            <a:r>
              <a:rPr lang="en-US" b="1" dirty="0"/>
              <a:t>asset-driven security risk assessment</a:t>
            </a:r>
            <a:r>
              <a:rPr lang="en-US" dirty="0"/>
              <a:t>.</a:t>
            </a:r>
          </a:p>
          <a:p>
            <a:pPr>
              <a:buFont typeface="Arial" panose="020B0604020202020204" pitchFamily="34" charset="0"/>
              <a:buChar char="•"/>
            </a:pPr>
            <a:r>
              <a:rPr lang="en-US" dirty="0"/>
              <a:t>Helps organizations </a:t>
            </a:r>
            <a:r>
              <a:rPr lang="en-US" b="1" dirty="0"/>
              <a:t>prioritize critical assets and threats</a:t>
            </a:r>
            <a:r>
              <a:rPr lang="en-US" dirty="0"/>
              <a:t>.</a:t>
            </a:r>
          </a:p>
          <a:p>
            <a:r>
              <a:rPr lang="en-US" b="1" dirty="0"/>
              <a:t>Popular in:</a:t>
            </a:r>
            <a:r>
              <a:rPr lang="en-US" dirty="0"/>
              <a:t> IT security, enterprises, operational risk management.</a:t>
            </a:r>
          </a:p>
        </p:txBody>
      </p:sp>
      <p:pic>
        <p:nvPicPr>
          <p:cNvPr id="9218" name="Picture 2" descr="Popular Cybersecurity Framework | NIST">
            <a:extLst>
              <a:ext uri="{FF2B5EF4-FFF2-40B4-BE49-F238E27FC236}">
                <a16:creationId xmlns:a16="http://schemas.microsoft.com/office/drawing/2014/main" id="{0FEB046A-F775-31C9-79CA-23447B81BD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5110" y="2304687"/>
            <a:ext cx="3187384" cy="2981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61134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933D7-B7C4-A62A-0C74-F5AB959222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8F9CB-2D94-5F77-B55B-0F63EAA987D7}"/>
              </a:ext>
            </a:extLst>
          </p:cNvPr>
          <p:cNvSpPr>
            <a:spLocks noGrp="1"/>
          </p:cNvSpPr>
          <p:nvPr>
            <p:ph type="title"/>
          </p:nvPr>
        </p:nvSpPr>
        <p:spPr>
          <a:xfrm>
            <a:off x="467602" y="1088363"/>
            <a:ext cx="11029616" cy="1000123"/>
          </a:xfrm>
        </p:spPr>
        <p:txBody>
          <a:bodyPr>
            <a:normAutofit/>
          </a:bodyPr>
          <a:lstStyle/>
          <a:p>
            <a:r>
              <a:rPr lang="en-US" dirty="0"/>
              <a:t>TOP -  Risk Management Frameworks</a:t>
            </a:r>
            <a:endParaRPr lang="en-NG" dirty="0"/>
          </a:p>
        </p:txBody>
      </p:sp>
      <p:sp>
        <p:nvSpPr>
          <p:cNvPr id="3" name="Content Placeholder 2">
            <a:extLst>
              <a:ext uri="{FF2B5EF4-FFF2-40B4-BE49-F238E27FC236}">
                <a16:creationId xmlns:a16="http://schemas.microsoft.com/office/drawing/2014/main" id="{112E87D1-0FC5-6029-3896-B945317B48A2}"/>
              </a:ext>
            </a:extLst>
          </p:cNvPr>
          <p:cNvSpPr>
            <a:spLocks noGrp="1"/>
          </p:cNvSpPr>
          <p:nvPr>
            <p:ph idx="1"/>
          </p:nvPr>
        </p:nvSpPr>
        <p:spPr>
          <a:xfrm>
            <a:off x="581192" y="2441009"/>
            <a:ext cx="7464378" cy="3237551"/>
          </a:xfrm>
        </p:spPr>
        <p:txBody>
          <a:bodyPr>
            <a:normAutofit/>
          </a:bodyPr>
          <a:lstStyle/>
          <a:p>
            <a:pPr>
              <a:buNone/>
            </a:pPr>
            <a:r>
              <a:rPr lang="en-US" b="1" dirty="0"/>
              <a:t>COBIT (Control Objectives for Information and Related Technologies)</a:t>
            </a:r>
          </a:p>
          <a:p>
            <a:pPr>
              <a:buNone/>
            </a:pPr>
            <a:r>
              <a:rPr lang="en-US" b="1" dirty="0"/>
              <a:t>Best For:</a:t>
            </a:r>
            <a:r>
              <a:rPr lang="en-US" dirty="0"/>
              <a:t> IT Risk Management, Governance, Compliance</a:t>
            </a:r>
          </a:p>
          <a:p>
            <a:pPr>
              <a:buFont typeface="Arial" panose="020B0604020202020204" pitchFamily="34" charset="0"/>
              <a:buChar char="•"/>
            </a:pPr>
            <a:r>
              <a:rPr lang="en-US" dirty="0"/>
              <a:t>Developed by </a:t>
            </a:r>
            <a:r>
              <a:rPr lang="en-US" b="1" dirty="0"/>
              <a:t>ISACA</a:t>
            </a:r>
            <a:r>
              <a:rPr lang="en-US" dirty="0"/>
              <a:t> for </a:t>
            </a:r>
            <a:r>
              <a:rPr lang="en-US" b="1" dirty="0"/>
              <a:t>IT governance and risk management</a:t>
            </a:r>
            <a:r>
              <a:rPr lang="en-US" dirty="0"/>
              <a:t>.</a:t>
            </a:r>
          </a:p>
          <a:p>
            <a:pPr>
              <a:buFont typeface="Arial" panose="020B0604020202020204" pitchFamily="34" charset="0"/>
              <a:buChar char="•"/>
            </a:pPr>
            <a:r>
              <a:rPr lang="en-US" dirty="0"/>
              <a:t>Provides guidelines for </a:t>
            </a:r>
            <a:r>
              <a:rPr lang="en-US" b="1" dirty="0"/>
              <a:t>IT risk assessment, internal controls, and compliance</a:t>
            </a:r>
            <a:r>
              <a:rPr lang="en-US" dirty="0"/>
              <a:t>.</a:t>
            </a:r>
          </a:p>
          <a:p>
            <a:pPr>
              <a:buFont typeface="Arial" panose="020B0604020202020204" pitchFamily="34" charset="0"/>
              <a:buChar char="•"/>
            </a:pPr>
            <a:r>
              <a:rPr lang="en-US" dirty="0"/>
              <a:t>Aligns IT with </a:t>
            </a:r>
            <a:r>
              <a:rPr lang="en-US" b="1" dirty="0"/>
              <a:t>business objectives</a:t>
            </a:r>
            <a:r>
              <a:rPr lang="en-US" dirty="0"/>
              <a:t> while managing </a:t>
            </a:r>
            <a:r>
              <a:rPr lang="en-US" b="1" dirty="0"/>
              <a:t>IT risks</a:t>
            </a:r>
            <a:r>
              <a:rPr lang="en-US" dirty="0"/>
              <a:t>.</a:t>
            </a:r>
          </a:p>
          <a:p>
            <a:r>
              <a:rPr lang="en-US" b="1" dirty="0"/>
              <a:t>Popular in:</a:t>
            </a:r>
            <a:r>
              <a:rPr lang="en-US" dirty="0"/>
              <a:t> IT governance, regulatory compliance, financial institutions.</a:t>
            </a:r>
          </a:p>
        </p:txBody>
      </p:sp>
      <p:pic>
        <p:nvPicPr>
          <p:cNvPr id="9218" name="Picture 2" descr="Popular Cybersecurity Framework | NIST">
            <a:extLst>
              <a:ext uri="{FF2B5EF4-FFF2-40B4-BE49-F238E27FC236}">
                <a16:creationId xmlns:a16="http://schemas.microsoft.com/office/drawing/2014/main" id="{83A058B8-8323-70F6-66A3-D9E033E7F6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5110" y="2304687"/>
            <a:ext cx="3187384" cy="2981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50280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FFC79-75CA-D7AB-C277-35489CE61B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EB88A7-18AB-1376-2C1C-11D4E11390CA}"/>
              </a:ext>
            </a:extLst>
          </p:cNvPr>
          <p:cNvSpPr>
            <a:spLocks noGrp="1"/>
          </p:cNvSpPr>
          <p:nvPr>
            <p:ph type="title"/>
          </p:nvPr>
        </p:nvSpPr>
        <p:spPr>
          <a:xfrm>
            <a:off x="467602" y="1088363"/>
            <a:ext cx="11029616" cy="1000123"/>
          </a:xfrm>
        </p:spPr>
        <p:txBody>
          <a:bodyPr>
            <a:normAutofit/>
          </a:bodyPr>
          <a:lstStyle/>
          <a:p>
            <a:r>
              <a:rPr lang="en-US" dirty="0"/>
              <a:t>TOP -  Risk Management Frameworks</a:t>
            </a:r>
            <a:endParaRPr lang="en-NG" dirty="0"/>
          </a:p>
        </p:txBody>
      </p:sp>
      <p:sp>
        <p:nvSpPr>
          <p:cNvPr id="3" name="Content Placeholder 2">
            <a:extLst>
              <a:ext uri="{FF2B5EF4-FFF2-40B4-BE49-F238E27FC236}">
                <a16:creationId xmlns:a16="http://schemas.microsoft.com/office/drawing/2014/main" id="{5FD74C33-1F0C-591F-9279-9C81A6A53B6F}"/>
              </a:ext>
            </a:extLst>
          </p:cNvPr>
          <p:cNvSpPr>
            <a:spLocks noGrp="1"/>
          </p:cNvSpPr>
          <p:nvPr>
            <p:ph idx="1"/>
          </p:nvPr>
        </p:nvSpPr>
        <p:spPr>
          <a:xfrm>
            <a:off x="581192" y="2441009"/>
            <a:ext cx="7464378" cy="3237551"/>
          </a:xfrm>
        </p:spPr>
        <p:txBody>
          <a:bodyPr>
            <a:normAutofit/>
          </a:bodyPr>
          <a:lstStyle/>
          <a:p>
            <a:pPr>
              <a:buNone/>
            </a:pPr>
            <a:r>
              <a:rPr lang="en-US" b="1" dirty="0"/>
              <a:t>Basel Framework (Basel II, III, IV) – Financial Risk Management</a:t>
            </a:r>
          </a:p>
          <a:p>
            <a:pPr>
              <a:buNone/>
            </a:pPr>
            <a:r>
              <a:rPr lang="en-US" b="1" dirty="0"/>
              <a:t>Best For:</a:t>
            </a:r>
            <a:r>
              <a:rPr lang="en-US" dirty="0"/>
              <a:t> Banking, Financial Institutions, Credit Risk Management</a:t>
            </a:r>
          </a:p>
          <a:p>
            <a:pPr>
              <a:buFont typeface="Arial" panose="020B0604020202020204" pitchFamily="34" charset="0"/>
              <a:buChar char="•"/>
            </a:pPr>
            <a:r>
              <a:rPr lang="en-US" dirty="0"/>
              <a:t>A risk framework developed by the </a:t>
            </a:r>
            <a:r>
              <a:rPr lang="en-US" b="1" dirty="0"/>
              <a:t>Bank for International Settlements (BIS)</a:t>
            </a:r>
            <a:r>
              <a:rPr lang="en-US" dirty="0"/>
              <a:t>.</a:t>
            </a:r>
          </a:p>
          <a:p>
            <a:pPr>
              <a:buFont typeface="Arial" panose="020B0604020202020204" pitchFamily="34" charset="0"/>
              <a:buChar char="•"/>
            </a:pPr>
            <a:r>
              <a:rPr lang="en-US" dirty="0"/>
              <a:t>Focuses on </a:t>
            </a:r>
            <a:r>
              <a:rPr lang="en-US" b="1" dirty="0"/>
              <a:t>credit risk, market risk, and operational risk</a:t>
            </a:r>
            <a:r>
              <a:rPr lang="en-US" dirty="0"/>
              <a:t> in financial institutions.</a:t>
            </a:r>
          </a:p>
          <a:p>
            <a:pPr>
              <a:buFont typeface="Arial" panose="020B0604020202020204" pitchFamily="34" charset="0"/>
              <a:buChar char="•"/>
            </a:pPr>
            <a:r>
              <a:rPr lang="en-US" dirty="0"/>
              <a:t>Used by </a:t>
            </a:r>
            <a:r>
              <a:rPr lang="en-US" b="1" dirty="0"/>
              <a:t>banks and financial institutions</a:t>
            </a:r>
            <a:r>
              <a:rPr lang="en-US" dirty="0"/>
              <a:t> to ensure financial stability.</a:t>
            </a:r>
          </a:p>
          <a:p>
            <a:r>
              <a:rPr lang="en-US" b="1" dirty="0"/>
              <a:t>Popular in:</a:t>
            </a:r>
            <a:r>
              <a:rPr lang="en-US" dirty="0"/>
              <a:t> Banking, finance, investment firms, risk compliance.</a:t>
            </a:r>
          </a:p>
        </p:txBody>
      </p:sp>
      <p:pic>
        <p:nvPicPr>
          <p:cNvPr id="9218" name="Picture 2" descr="Popular Cybersecurity Framework | NIST">
            <a:extLst>
              <a:ext uri="{FF2B5EF4-FFF2-40B4-BE49-F238E27FC236}">
                <a16:creationId xmlns:a16="http://schemas.microsoft.com/office/drawing/2014/main" id="{96B1DED7-2680-D3FA-B759-247FA78A37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5110" y="2304687"/>
            <a:ext cx="3187384" cy="2981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90071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C935E-71F3-626F-7200-1362DF9D1F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FB1CE8-2D51-CE94-2087-500A832B6DEC}"/>
              </a:ext>
            </a:extLst>
          </p:cNvPr>
          <p:cNvSpPr>
            <a:spLocks noGrp="1"/>
          </p:cNvSpPr>
          <p:nvPr>
            <p:ph type="title"/>
          </p:nvPr>
        </p:nvSpPr>
        <p:spPr>
          <a:xfrm>
            <a:off x="467602" y="1088363"/>
            <a:ext cx="11029616" cy="1000123"/>
          </a:xfrm>
        </p:spPr>
        <p:txBody>
          <a:bodyPr>
            <a:normAutofit/>
          </a:bodyPr>
          <a:lstStyle/>
          <a:p>
            <a:r>
              <a:rPr lang="en-US" dirty="0"/>
              <a:t>TOP -  Risk Management Frameworks</a:t>
            </a:r>
            <a:endParaRPr lang="en-NG" dirty="0"/>
          </a:p>
        </p:txBody>
      </p:sp>
      <p:sp>
        <p:nvSpPr>
          <p:cNvPr id="3" name="Content Placeholder 2">
            <a:extLst>
              <a:ext uri="{FF2B5EF4-FFF2-40B4-BE49-F238E27FC236}">
                <a16:creationId xmlns:a16="http://schemas.microsoft.com/office/drawing/2014/main" id="{92389435-24B2-07AF-99D5-A70E622604FE}"/>
              </a:ext>
            </a:extLst>
          </p:cNvPr>
          <p:cNvSpPr>
            <a:spLocks noGrp="1"/>
          </p:cNvSpPr>
          <p:nvPr>
            <p:ph idx="1"/>
          </p:nvPr>
        </p:nvSpPr>
        <p:spPr>
          <a:xfrm>
            <a:off x="581192" y="2441009"/>
            <a:ext cx="7464378" cy="3237551"/>
          </a:xfrm>
        </p:spPr>
        <p:txBody>
          <a:bodyPr>
            <a:normAutofit/>
          </a:bodyPr>
          <a:lstStyle/>
          <a:p>
            <a:pPr>
              <a:buNone/>
            </a:pPr>
            <a:r>
              <a:rPr lang="en-US" b="1" dirty="0"/>
              <a:t>RUST CSF (Common Security Framework)</a:t>
            </a:r>
          </a:p>
          <a:p>
            <a:pPr>
              <a:buNone/>
            </a:pPr>
            <a:r>
              <a:rPr lang="en-US" b="1" dirty="0"/>
              <a:t>Best For:</a:t>
            </a:r>
            <a:r>
              <a:rPr lang="en-US" dirty="0"/>
              <a:t> Healthcare, Data Security, HIPAA Compliance</a:t>
            </a:r>
          </a:p>
          <a:p>
            <a:pPr>
              <a:buFont typeface="Arial" panose="020B0604020202020204" pitchFamily="34" charset="0"/>
              <a:buChar char="•"/>
            </a:pPr>
            <a:r>
              <a:rPr lang="en-US" dirty="0"/>
              <a:t>Designed for </a:t>
            </a:r>
            <a:r>
              <a:rPr lang="en-US" b="1" dirty="0"/>
              <a:t>healthcare and other industries handling sensitive data</a:t>
            </a:r>
            <a:r>
              <a:rPr lang="en-US" dirty="0"/>
              <a:t>.</a:t>
            </a:r>
          </a:p>
          <a:p>
            <a:pPr>
              <a:buFont typeface="Arial" panose="020B0604020202020204" pitchFamily="34" charset="0"/>
              <a:buChar char="•"/>
            </a:pPr>
            <a:r>
              <a:rPr lang="en-US" dirty="0"/>
              <a:t>Aligns with </a:t>
            </a:r>
            <a:r>
              <a:rPr lang="en-US" b="1" dirty="0"/>
              <a:t>HIPAA, ISO 27001, NIST, and PCI-DSS</a:t>
            </a:r>
            <a:r>
              <a:rPr lang="en-US" dirty="0"/>
              <a:t> to create a unified security approach.</a:t>
            </a:r>
          </a:p>
          <a:p>
            <a:pPr>
              <a:buFont typeface="Arial" panose="020B0604020202020204" pitchFamily="34" charset="0"/>
              <a:buChar char="•"/>
            </a:pPr>
            <a:r>
              <a:rPr lang="en-US" dirty="0"/>
              <a:t>Helps organizations manage </a:t>
            </a:r>
            <a:r>
              <a:rPr lang="en-US" b="1" dirty="0"/>
              <a:t>compliance and cybersecurity risks</a:t>
            </a:r>
            <a:r>
              <a:rPr lang="en-US" dirty="0"/>
              <a:t>.</a:t>
            </a:r>
          </a:p>
          <a:p>
            <a:r>
              <a:rPr lang="en-US" b="1" dirty="0"/>
              <a:t>Popular in:</a:t>
            </a:r>
            <a:r>
              <a:rPr lang="en-US" dirty="0"/>
              <a:t> Healthcare, cloud computing, data security.</a:t>
            </a:r>
          </a:p>
        </p:txBody>
      </p:sp>
      <p:pic>
        <p:nvPicPr>
          <p:cNvPr id="9218" name="Picture 2" descr="Popular Cybersecurity Framework | NIST">
            <a:extLst>
              <a:ext uri="{FF2B5EF4-FFF2-40B4-BE49-F238E27FC236}">
                <a16:creationId xmlns:a16="http://schemas.microsoft.com/office/drawing/2014/main" id="{3C27BD8F-6B4D-8968-A4CA-ABC723940D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5110" y="2304687"/>
            <a:ext cx="3187384" cy="2981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75998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141F6-052D-4021-801D-3D6DB082BF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4AFBB-629E-4EAF-E193-FE6DA4BEDE50}"/>
              </a:ext>
            </a:extLst>
          </p:cNvPr>
          <p:cNvSpPr>
            <a:spLocks noGrp="1"/>
          </p:cNvSpPr>
          <p:nvPr>
            <p:ph type="title"/>
          </p:nvPr>
        </p:nvSpPr>
        <p:spPr>
          <a:xfrm>
            <a:off x="467602" y="1088363"/>
            <a:ext cx="11029616" cy="1000123"/>
          </a:xfrm>
        </p:spPr>
        <p:txBody>
          <a:bodyPr>
            <a:normAutofit/>
          </a:bodyPr>
          <a:lstStyle/>
          <a:p>
            <a:r>
              <a:rPr lang="en-US" dirty="0"/>
              <a:t>TOP -  Risk Management Frameworks</a:t>
            </a:r>
            <a:endParaRPr lang="en-NG" dirty="0"/>
          </a:p>
        </p:txBody>
      </p:sp>
      <p:sp>
        <p:nvSpPr>
          <p:cNvPr id="3" name="Content Placeholder 2">
            <a:extLst>
              <a:ext uri="{FF2B5EF4-FFF2-40B4-BE49-F238E27FC236}">
                <a16:creationId xmlns:a16="http://schemas.microsoft.com/office/drawing/2014/main" id="{011B00C7-0881-3061-6935-C437D229090D}"/>
              </a:ext>
            </a:extLst>
          </p:cNvPr>
          <p:cNvSpPr>
            <a:spLocks noGrp="1"/>
          </p:cNvSpPr>
          <p:nvPr>
            <p:ph idx="1"/>
          </p:nvPr>
        </p:nvSpPr>
        <p:spPr>
          <a:xfrm>
            <a:off x="581192" y="2441009"/>
            <a:ext cx="7464378" cy="3237551"/>
          </a:xfrm>
        </p:spPr>
        <p:txBody>
          <a:bodyPr>
            <a:normAutofit/>
          </a:bodyPr>
          <a:lstStyle/>
          <a:p>
            <a:pPr>
              <a:buNone/>
            </a:pPr>
            <a:r>
              <a:rPr lang="en-US" b="1" dirty="0"/>
              <a:t>ITIL (Information Technology Infrastructure Library) Risk Framework</a:t>
            </a:r>
          </a:p>
          <a:p>
            <a:pPr>
              <a:buNone/>
            </a:pPr>
            <a:r>
              <a:rPr lang="en-US" b="1" dirty="0"/>
              <a:t>Best For:</a:t>
            </a:r>
            <a:r>
              <a:rPr lang="en-US" dirty="0"/>
              <a:t> IT Service Management (ITSM), Business Continuity</a:t>
            </a:r>
          </a:p>
          <a:p>
            <a:pPr>
              <a:buFont typeface="Arial" panose="020B0604020202020204" pitchFamily="34" charset="0"/>
              <a:buChar char="•"/>
            </a:pPr>
            <a:r>
              <a:rPr lang="en-US" dirty="0"/>
              <a:t>A best-practice framework for </a:t>
            </a:r>
            <a:r>
              <a:rPr lang="en-US" b="1" dirty="0"/>
              <a:t>IT risk management and service delivery</a:t>
            </a:r>
            <a:r>
              <a:rPr lang="en-US" dirty="0"/>
              <a:t>.</a:t>
            </a:r>
          </a:p>
          <a:p>
            <a:pPr>
              <a:buFont typeface="Arial" panose="020B0604020202020204" pitchFamily="34" charset="0"/>
              <a:buChar char="•"/>
            </a:pPr>
            <a:r>
              <a:rPr lang="en-US" dirty="0"/>
              <a:t>Helps organizations align </a:t>
            </a:r>
            <a:r>
              <a:rPr lang="en-US" b="1" dirty="0"/>
              <a:t>IT services with business needs</a:t>
            </a:r>
            <a:r>
              <a:rPr lang="en-US" dirty="0"/>
              <a:t> while managing risk.</a:t>
            </a:r>
          </a:p>
          <a:p>
            <a:pPr>
              <a:buFont typeface="Arial" panose="020B0604020202020204" pitchFamily="34" charset="0"/>
              <a:buChar char="•"/>
            </a:pPr>
            <a:r>
              <a:rPr lang="en-US" dirty="0"/>
              <a:t>Often used in </a:t>
            </a:r>
            <a:r>
              <a:rPr lang="en-US" b="1" dirty="0"/>
              <a:t>ITIL-based IT Service Management (ITSM) systems</a:t>
            </a:r>
            <a:r>
              <a:rPr lang="en-US" dirty="0"/>
              <a:t>.</a:t>
            </a:r>
          </a:p>
          <a:p>
            <a:r>
              <a:rPr lang="en-US" b="1" dirty="0"/>
              <a:t>Popular in:</a:t>
            </a:r>
            <a:r>
              <a:rPr lang="en-US" dirty="0"/>
              <a:t> IT operations, service management, business continuity planning.</a:t>
            </a:r>
          </a:p>
        </p:txBody>
      </p:sp>
      <p:pic>
        <p:nvPicPr>
          <p:cNvPr id="9218" name="Picture 2" descr="Popular Cybersecurity Framework | NIST">
            <a:extLst>
              <a:ext uri="{FF2B5EF4-FFF2-40B4-BE49-F238E27FC236}">
                <a16:creationId xmlns:a16="http://schemas.microsoft.com/office/drawing/2014/main" id="{4BC59D04-C996-5B23-7A4B-EA56CF86A1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5110" y="2304687"/>
            <a:ext cx="3187384" cy="2981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87659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D75C4-AD12-87CE-8A98-12F2EE211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3D90A1-182A-4637-0322-E9DD3E9F0438}"/>
              </a:ext>
            </a:extLst>
          </p:cNvPr>
          <p:cNvSpPr>
            <a:spLocks noGrp="1"/>
          </p:cNvSpPr>
          <p:nvPr>
            <p:ph type="title"/>
          </p:nvPr>
        </p:nvSpPr>
        <p:spPr/>
        <p:txBody>
          <a:bodyPr/>
          <a:lstStyle/>
          <a:p>
            <a:r>
              <a:rPr lang="en-US" dirty="0"/>
              <a:t>Quick Refresher-  WEEK 5 (Day 1)</a:t>
            </a:r>
            <a:endParaRPr lang="en-NG" dirty="0"/>
          </a:p>
        </p:txBody>
      </p:sp>
      <p:sp>
        <p:nvSpPr>
          <p:cNvPr id="4" name="Content Placeholder 2">
            <a:extLst>
              <a:ext uri="{FF2B5EF4-FFF2-40B4-BE49-F238E27FC236}">
                <a16:creationId xmlns:a16="http://schemas.microsoft.com/office/drawing/2014/main" id="{AE0B9FCC-EA76-56DE-C2DB-432DFCFC3AA4}"/>
              </a:ext>
            </a:extLst>
          </p:cNvPr>
          <p:cNvSpPr>
            <a:spLocks noGrp="1"/>
          </p:cNvSpPr>
          <p:nvPr>
            <p:ph idx="1"/>
          </p:nvPr>
        </p:nvSpPr>
        <p:spPr>
          <a:xfrm>
            <a:off x="623498" y="2668929"/>
            <a:ext cx="11029950" cy="3633787"/>
          </a:xfrm>
        </p:spPr>
        <p:txBody>
          <a:bodyPr>
            <a:normAutofit/>
          </a:bodyPr>
          <a:lstStyle/>
          <a:p>
            <a:r>
              <a:rPr lang="en-US" dirty="0"/>
              <a:t>Risk Management</a:t>
            </a:r>
          </a:p>
          <a:p>
            <a:pPr lvl="1"/>
            <a:r>
              <a:rPr lang="en-US" dirty="0"/>
              <a:t>Overview of Identifying Risk and Type of Risk</a:t>
            </a:r>
          </a:p>
          <a:p>
            <a:pPr lvl="1"/>
            <a:r>
              <a:rPr lang="en-US" dirty="0"/>
              <a:t>Risk Identification Techniques</a:t>
            </a:r>
          </a:p>
          <a:p>
            <a:pPr lvl="1"/>
            <a:r>
              <a:rPr lang="en-US" dirty="0"/>
              <a:t>Accessing Risk and Prioritizing Risk</a:t>
            </a:r>
          </a:p>
          <a:p>
            <a:pPr lvl="1"/>
            <a:r>
              <a:rPr lang="en-US" dirty="0"/>
              <a:t>Mitigating Risk Monitoring and Communicating in Risk Management</a:t>
            </a:r>
          </a:p>
          <a:p>
            <a:pPr lvl="1"/>
            <a:r>
              <a:rPr lang="en-US" dirty="0"/>
              <a:t>Risk Management Frameworks – Overview</a:t>
            </a:r>
          </a:p>
          <a:p>
            <a:pPr lvl="1"/>
            <a:r>
              <a:rPr lang="en-US" dirty="0"/>
              <a:t>Importance of Risk Management Frameworks and Primary Components of RMFs</a:t>
            </a:r>
          </a:p>
          <a:p>
            <a:pPr lvl="1"/>
            <a:r>
              <a:rPr lang="en-US" dirty="0"/>
              <a:t>Top Risk Management Frameworks Today.</a:t>
            </a:r>
          </a:p>
          <a:p>
            <a:pPr lvl="1"/>
            <a:r>
              <a:rPr lang="en-US" dirty="0"/>
              <a:t>Benefits of Risk Management Frameworks and Framing your Risks</a:t>
            </a:r>
          </a:p>
          <a:p>
            <a:r>
              <a:rPr lang="en-US" dirty="0"/>
              <a:t>Introducing Key Legislations and Regulations, Compliance Requirements and Standards</a:t>
            </a:r>
          </a:p>
          <a:p>
            <a:pPr marL="324000" lvl="1" indent="0">
              <a:buNone/>
            </a:pPr>
            <a:endParaRPr lang="en-US" dirty="0"/>
          </a:p>
          <a:p>
            <a:pPr lvl="2"/>
            <a:endParaRPr lang="en-US" dirty="0"/>
          </a:p>
          <a:p>
            <a:endParaRPr lang="en-NG" dirty="0"/>
          </a:p>
        </p:txBody>
      </p:sp>
    </p:spTree>
    <p:extLst>
      <p:ext uri="{BB962C8B-B14F-4D97-AF65-F5344CB8AC3E}">
        <p14:creationId xmlns:p14="http://schemas.microsoft.com/office/powerpoint/2010/main" val="8093543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BD794-2BA1-380C-C4E2-A37899FE08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36B5B3-9793-5CD1-8EA3-D86EC2EF8C25}"/>
              </a:ext>
            </a:extLst>
          </p:cNvPr>
          <p:cNvSpPr>
            <a:spLocks noGrp="1"/>
          </p:cNvSpPr>
          <p:nvPr>
            <p:ph type="title"/>
          </p:nvPr>
        </p:nvSpPr>
        <p:spPr>
          <a:xfrm>
            <a:off x="581192" y="702156"/>
            <a:ext cx="11029616" cy="596873"/>
          </a:xfrm>
        </p:spPr>
        <p:txBody>
          <a:bodyPr/>
          <a:lstStyle/>
          <a:p>
            <a:r>
              <a:rPr lang="en-US" dirty="0"/>
              <a:t>Month 2 -  WEEK 5 (Day 2)</a:t>
            </a:r>
            <a:endParaRPr lang="en-NG" dirty="0"/>
          </a:p>
        </p:txBody>
      </p:sp>
      <p:sp>
        <p:nvSpPr>
          <p:cNvPr id="4" name="Content Placeholder 2">
            <a:extLst>
              <a:ext uri="{FF2B5EF4-FFF2-40B4-BE49-F238E27FC236}">
                <a16:creationId xmlns:a16="http://schemas.microsoft.com/office/drawing/2014/main" id="{9079F934-58C3-D06F-E777-84FA0E8745CE}"/>
              </a:ext>
            </a:extLst>
          </p:cNvPr>
          <p:cNvSpPr>
            <a:spLocks noGrp="1"/>
          </p:cNvSpPr>
          <p:nvPr>
            <p:ph idx="1"/>
          </p:nvPr>
        </p:nvSpPr>
        <p:spPr>
          <a:xfrm>
            <a:off x="580858" y="2683443"/>
            <a:ext cx="11029950" cy="3633787"/>
          </a:xfrm>
        </p:spPr>
        <p:txBody>
          <a:bodyPr>
            <a:noAutofit/>
          </a:bodyPr>
          <a:lstStyle/>
          <a:p>
            <a:r>
              <a:rPr lang="en-US" sz="2000" dirty="0"/>
              <a:t>Introducing Key Legislations and Regulations, Compliance Requirements and Standards</a:t>
            </a:r>
          </a:p>
          <a:p>
            <a:pPr lvl="1"/>
            <a:r>
              <a:rPr lang="en-US" sz="2000" dirty="0"/>
              <a:t>Introduction to Key legislations and Regulations (GDPR, HIPAA, NDPA, CCPA, </a:t>
            </a:r>
            <a:r>
              <a:rPr lang="en-US" sz="2000" dirty="0" err="1"/>
              <a:t>etc</a:t>
            </a:r>
            <a:r>
              <a:rPr lang="en-US" sz="2000" dirty="0"/>
              <a:t>)</a:t>
            </a:r>
          </a:p>
          <a:p>
            <a:pPr lvl="1"/>
            <a:r>
              <a:rPr lang="en-US" sz="2000" dirty="0"/>
              <a:t>Compliance Requirements and Standards</a:t>
            </a:r>
          </a:p>
          <a:p>
            <a:pPr lvl="1"/>
            <a:r>
              <a:rPr lang="en-US" sz="2000" dirty="0"/>
              <a:t>Examples of Cybersecurity Standards (ISO 27001, PCIDSS, NIST)</a:t>
            </a:r>
          </a:p>
          <a:p>
            <a:pPr lvl="1"/>
            <a:endParaRPr lang="en-US" sz="2000" dirty="0"/>
          </a:p>
          <a:p>
            <a:r>
              <a:rPr lang="en-US" sz="2000" dirty="0"/>
              <a:t>Cybersecurity Framework, CSF Core Function and Cybersecurity Legislations</a:t>
            </a:r>
          </a:p>
          <a:p>
            <a:pPr lvl="1"/>
            <a:r>
              <a:rPr lang="en-US" sz="2000" dirty="0"/>
              <a:t>Cybersecurity Framework</a:t>
            </a:r>
          </a:p>
          <a:p>
            <a:pPr lvl="1"/>
            <a:r>
              <a:rPr lang="en-US" sz="2000" dirty="0"/>
              <a:t>CSF Core Function</a:t>
            </a:r>
          </a:p>
          <a:p>
            <a:pPr lvl="1"/>
            <a:r>
              <a:rPr lang="en-US" sz="2000" dirty="0"/>
              <a:t>Cybersecurity Legislation</a:t>
            </a:r>
          </a:p>
          <a:p>
            <a:pPr lvl="1"/>
            <a:r>
              <a:rPr lang="en-US" sz="2000" dirty="0"/>
              <a:t>Intellectual Property and Copyright Law</a:t>
            </a:r>
          </a:p>
          <a:p>
            <a:pPr marL="324000" lvl="1" indent="0">
              <a:buNone/>
            </a:pPr>
            <a:endParaRPr lang="en-US" sz="2000" dirty="0"/>
          </a:p>
          <a:p>
            <a:pPr lvl="2"/>
            <a:endParaRPr lang="en-US" sz="2000" dirty="0"/>
          </a:p>
          <a:p>
            <a:endParaRPr lang="en-NG" sz="2000" dirty="0"/>
          </a:p>
        </p:txBody>
      </p:sp>
    </p:spTree>
    <p:extLst>
      <p:ext uri="{BB962C8B-B14F-4D97-AF65-F5344CB8AC3E}">
        <p14:creationId xmlns:p14="http://schemas.microsoft.com/office/powerpoint/2010/main" val="38001585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620F9-EBE4-259F-1D74-A7D5C5DE55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97F11D-842F-D9E8-5E8A-3C18562FA411}"/>
              </a:ext>
            </a:extLst>
          </p:cNvPr>
          <p:cNvSpPr>
            <a:spLocks noGrp="1"/>
          </p:cNvSpPr>
          <p:nvPr>
            <p:ph type="title"/>
          </p:nvPr>
        </p:nvSpPr>
        <p:spPr>
          <a:xfrm>
            <a:off x="581192" y="702156"/>
            <a:ext cx="11029616" cy="596873"/>
          </a:xfrm>
        </p:spPr>
        <p:txBody>
          <a:bodyPr/>
          <a:lstStyle/>
          <a:p>
            <a:r>
              <a:rPr lang="en-US" dirty="0"/>
              <a:t>Month 2 -  WEEK 5 (Day 2)</a:t>
            </a:r>
            <a:endParaRPr lang="en-NG" dirty="0"/>
          </a:p>
        </p:txBody>
      </p:sp>
      <p:sp>
        <p:nvSpPr>
          <p:cNvPr id="4" name="Content Placeholder 2">
            <a:extLst>
              <a:ext uri="{FF2B5EF4-FFF2-40B4-BE49-F238E27FC236}">
                <a16:creationId xmlns:a16="http://schemas.microsoft.com/office/drawing/2014/main" id="{F96BB4EE-34F6-A02F-B2D8-DCABCDA080C8}"/>
              </a:ext>
            </a:extLst>
          </p:cNvPr>
          <p:cNvSpPr>
            <a:spLocks noGrp="1"/>
          </p:cNvSpPr>
          <p:nvPr>
            <p:ph idx="1"/>
          </p:nvPr>
        </p:nvSpPr>
        <p:spPr>
          <a:xfrm>
            <a:off x="581192" y="3224213"/>
            <a:ext cx="11029950" cy="3633787"/>
          </a:xfrm>
        </p:spPr>
        <p:txBody>
          <a:bodyPr>
            <a:noAutofit/>
          </a:bodyPr>
          <a:lstStyle/>
          <a:p>
            <a:r>
              <a:rPr lang="en-US" sz="2000" dirty="0"/>
              <a:t>Ethical Hacking </a:t>
            </a:r>
          </a:p>
          <a:p>
            <a:pPr lvl="1"/>
            <a:r>
              <a:rPr lang="en-US" sz="2000" dirty="0"/>
              <a:t>Introduction to Ethical Hacking</a:t>
            </a:r>
          </a:p>
          <a:p>
            <a:pPr lvl="2"/>
            <a:r>
              <a:rPr lang="en-US" sz="2000" dirty="0">
                <a:solidFill>
                  <a:schemeClr val="tx1"/>
                </a:solidFill>
                <a:latin typeface="Roboto" panose="02000000000000000000" pitchFamily="2" charset="0"/>
              </a:rPr>
              <a:t>Fundamental Security and Hacking Concepts</a:t>
            </a:r>
            <a:endParaRPr lang="en-US" sz="2000" dirty="0"/>
          </a:p>
          <a:p>
            <a:r>
              <a:rPr lang="en-US" sz="2000" dirty="0"/>
              <a:t>Privacy and Data Protection Ethics, Cybesecurity Policy Development, Public Awareness and Advocacy</a:t>
            </a:r>
          </a:p>
          <a:p>
            <a:pPr marL="324000" lvl="1" indent="0">
              <a:buNone/>
            </a:pPr>
            <a:endParaRPr lang="en-US" sz="2000" dirty="0"/>
          </a:p>
          <a:p>
            <a:pPr marL="324000" lvl="1" indent="0">
              <a:buNone/>
            </a:pPr>
            <a:endParaRPr lang="en-US" sz="2000" dirty="0"/>
          </a:p>
          <a:p>
            <a:pPr lvl="2"/>
            <a:endParaRPr lang="en-US" sz="2000" dirty="0"/>
          </a:p>
          <a:p>
            <a:endParaRPr lang="en-NG" sz="2000" dirty="0"/>
          </a:p>
        </p:txBody>
      </p:sp>
    </p:spTree>
    <p:extLst>
      <p:ext uri="{BB962C8B-B14F-4D97-AF65-F5344CB8AC3E}">
        <p14:creationId xmlns:p14="http://schemas.microsoft.com/office/powerpoint/2010/main" val="41965207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5DF2F-9011-428E-8C3D-2E166E1067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C8A291-1A94-3612-F529-D5E672D70362}"/>
              </a:ext>
            </a:extLst>
          </p:cNvPr>
          <p:cNvSpPr>
            <a:spLocks noGrp="1"/>
          </p:cNvSpPr>
          <p:nvPr>
            <p:ph type="title"/>
          </p:nvPr>
        </p:nvSpPr>
        <p:spPr/>
        <p:txBody>
          <a:bodyPr>
            <a:normAutofit/>
          </a:bodyPr>
          <a:lstStyle/>
          <a:p>
            <a:r>
              <a:rPr lang="en-US" dirty="0"/>
              <a:t>Introducing Key Legislations and Regulations, Compliance Requirements and Standards</a:t>
            </a:r>
            <a:br>
              <a:rPr lang="en-US" dirty="0"/>
            </a:br>
            <a:endParaRPr lang="en-US" dirty="0"/>
          </a:p>
        </p:txBody>
      </p:sp>
      <p:sp>
        <p:nvSpPr>
          <p:cNvPr id="3" name="Text Placeholder 2">
            <a:extLst>
              <a:ext uri="{FF2B5EF4-FFF2-40B4-BE49-F238E27FC236}">
                <a16:creationId xmlns:a16="http://schemas.microsoft.com/office/drawing/2014/main" id="{95CD8D8C-A797-7BBD-F7FD-9F33F89C0A94}"/>
              </a:ext>
            </a:extLst>
          </p:cNvPr>
          <p:cNvSpPr>
            <a:spLocks noGrp="1"/>
          </p:cNvSpPr>
          <p:nvPr>
            <p:ph type="body" idx="1"/>
          </p:nvPr>
        </p:nvSpPr>
        <p:spPr/>
        <p:txBody>
          <a:bodyPr/>
          <a:lstStyle/>
          <a:p>
            <a:endParaRPr lang="en-NG" dirty="0"/>
          </a:p>
        </p:txBody>
      </p:sp>
    </p:spTree>
    <p:extLst>
      <p:ext uri="{BB962C8B-B14F-4D97-AF65-F5344CB8AC3E}">
        <p14:creationId xmlns:p14="http://schemas.microsoft.com/office/powerpoint/2010/main" val="40064475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27227-E3E5-C45A-9650-2883CA9DA059}"/>
              </a:ext>
            </a:extLst>
          </p:cNvPr>
          <p:cNvSpPr>
            <a:spLocks noGrp="1"/>
          </p:cNvSpPr>
          <p:nvPr>
            <p:ph type="title"/>
          </p:nvPr>
        </p:nvSpPr>
        <p:spPr/>
        <p:txBody>
          <a:bodyPr>
            <a:normAutofit/>
          </a:bodyPr>
          <a:lstStyle/>
          <a:p>
            <a:r>
              <a:rPr lang="en-US" dirty="0"/>
              <a:t>Introduction to key Legislation and Regulations</a:t>
            </a:r>
            <a:br>
              <a:rPr lang="en-US" dirty="0"/>
            </a:br>
            <a:endParaRPr lang="en-NG" dirty="0"/>
          </a:p>
        </p:txBody>
      </p:sp>
      <p:sp>
        <p:nvSpPr>
          <p:cNvPr id="3" name="Content Placeholder 2">
            <a:extLst>
              <a:ext uri="{FF2B5EF4-FFF2-40B4-BE49-F238E27FC236}">
                <a16:creationId xmlns:a16="http://schemas.microsoft.com/office/drawing/2014/main" id="{8F481F77-5707-B003-73EB-80CF5E43E97F}"/>
              </a:ext>
            </a:extLst>
          </p:cNvPr>
          <p:cNvSpPr>
            <a:spLocks noGrp="1"/>
          </p:cNvSpPr>
          <p:nvPr>
            <p:ph idx="1"/>
          </p:nvPr>
        </p:nvSpPr>
        <p:spPr>
          <a:xfrm>
            <a:off x="512181" y="2363868"/>
            <a:ext cx="5471692" cy="3634486"/>
          </a:xfrm>
        </p:spPr>
        <p:txBody>
          <a:bodyPr>
            <a:normAutofit/>
          </a:bodyPr>
          <a:lstStyle/>
          <a:p>
            <a:r>
              <a:rPr lang="en-US" sz="1800" b="1" dirty="0">
                <a:solidFill>
                  <a:schemeClr val="tx1"/>
                </a:solidFill>
                <a:latin typeface="Roboto" panose="02000000000000000000" pitchFamily="2" charset="0"/>
              </a:rPr>
              <a:t>Importance of Data Protection and Privacy Laws </a:t>
            </a:r>
            <a:r>
              <a:rPr lang="en-US" sz="1800" b="0" i="0" dirty="0">
                <a:solidFill>
                  <a:schemeClr val="tx1"/>
                </a:solidFill>
                <a:effectLst/>
                <a:latin typeface="Roboto" panose="02000000000000000000" pitchFamily="2" charset="0"/>
              </a:rPr>
              <a:t>- </a:t>
            </a:r>
          </a:p>
          <a:p>
            <a:pPr lvl="1"/>
            <a:r>
              <a:rPr lang="en-US" sz="1800" dirty="0"/>
              <a:t>Data protection and privacy laws are essential in today’s digital world, where vast amounts of personal and sensitive information are collected, stored, and processed by organizations. These laws help safeguard individuals' rights, ensure businesses handle data responsibly, and protect against cyber threats and data misuse.</a:t>
            </a:r>
            <a:endParaRPr lang="en-NG" sz="1800" dirty="0">
              <a:solidFill>
                <a:schemeClr val="tx1"/>
              </a:solidFill>
            </a:endParaRPr>
          </a:p>
        </p:txBody>
      </p:sp>
      <p:pic>
        <p:nvPicPr>
          <p:cNvPr id="1026" name="Picture 2" descr="data protection laws ...">
            <a:extLst>
              <a:ext uri="{FF2B5EF4-FFF2-40B4-BE49-F238E27FC236}">
                <a16:creationId xmlns:a16="http://schemas.microsoft.com/office/drawing/2014/main" id="{E014D3DF-021B-E102-BA96-446BFC9BC7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9565" y="2975353"/>
            <a:ext cx="4624114" cy="2312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13514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956E7-B111-4801-C366-8C3C816077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A7856A-389D-0085-20FB-969BFA745467}"/>
              </a:ext>
            </a:extLst>
          </p:cNvPr>
          <p:cNvSpPr>
            <a:spLocks noGrp="1"/>
          </p:cNvSpPr>
          <p:nvPr>
            <p:ph type="title"/>
          </p:nvPr>
        </p:nvSpPr>
        <p:spPr/>
        <p:txBody>
          <a:bodyPr>
            <a:normAutofit/>
          </a:bodyPr>
          <a:lstStyle/>
          <a:p>
            <a:r>
              <a:rPr lang="en-US" dirty="0"/>
              <a:t>Introduction to key Legislation and Regulations</a:t>
            </a:r>
            <a:br>
              <a:rPr lang="en-US" dirty="0"/>
            </a:br>
            <a:endParaRPr lang="en-NG" dirty="0"/>
          </a:p>
        </p:txBody>
      </p:sp>
      <p:sp>
        <p:nvSpPr>
          <p:cNvPr id="3" name="Content Placeholder 2">
            <a:extLst>
              <a:ext uri="{FF2B5EF4-FFF2-40B4-BE49-F238E27FC236}">
                <a16:creationId xmlns:a16="http://schemas.microsoft.com/office/drawing/2014/main" id="{88115C3A-0853-97C4-BBBD-7CC4F6271556}"/>
              </a:ext>
            </a:extLst>
          </p:cNvPr>
          <p:cNvSpPr>
            <a:spLocks noGrp="1"/>
          </p:cNvSpPr>
          <p:nvPr>
            <p:ph idx="1"/>
          </p:nvPr>
        </p:nvSpPr>
        <p:spPr>
          <a:xfrm>
            <a:off x="512181" y="2363868"/>
            <a:ext cx="5471692" cy="3634486"/>
          </a:xfrm>
        </p:spPr>
        <p:txBody>
          <a:bodyPr>
            <a:noAutofit/>
          </a:bodyPr>
          <a:lstStyle/>
          <a:p>
            <a:r>
              <a:rPr lang="en-US" sz="1800" b="1" dirty="0">
                <a:solidFill>
                  <a:schemeClr val="tx1"/>
                </a:solidFill>
                <a:latin typeface="Roboto" panose="02000000000000000000" pitchFamily="2" charset="0"/>
              </a:rPr>
              <a:t>The growing need for compliance in a digital world </a:t>
            </a:r>
            <a:r>
              <a:rPr lang="en-US" sz="1800" i="0" dirty="0">
                <a:solidFill>
                  <a:schemeClr val="tx1"/>
                </a:solidFill>
                <a:effectLst/>
                <a:latin typeface="Roboto" panose="02000000000000000000" pitchFamily="2" charset="0"/>
              </a:rPr>
              <a:t>- </a:t>
            </a:r>
          </a:p>
          <a:p>
            <a:pPr lvl="1"/>
            <a:r>
              <a:rPr lang="en-US" sz="1800" dirty="0"/>
              <a:t>In today’s fast-evolving digital landscape, the need for organizations to comply with data protection and privacy regulations has become more critical than ever. The rapid expansion of digital technologies, cloud computing, and global connectivity has resulted in an unprecedented volume of data being created, shared, and stored. This transformation presents significant risks, making regulatory compliance essential to safeguard sensitive information and ensure business continuity.</a:t>
            </a:r>
            <a:endParaRPr lang="en-NG" sz="1800" dirty="0">
              <a:solidFill>
                <a:schemeClr val="tx1"/>
              </a:solidFill>
            </a:endParaRPr>
          </a:p>
        </p:txBody>
      </p:sp>
      <p:pic>
        <p:nvPicPr>
          <p:cNvPr id="1026" name="Picture 2" descr="data protection laws ...">
            <a:extLst>
              <a:ext uri="{FF2B5EF4-FFF2-40B4-BE49-F238E27FC236}">
                <a16:creationId xmlns:a16="http://schemas.microsoft.com/office/drawing/2014/main" id="{0DFA6914-F896-C0BC-5434-F4A8917EAE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9565" y="2975353"/>
            <a:ext cx="4624114" cy="2312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51337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D472C-9297-6B04-8B38-789E39B144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28550D-8AC8-F045-5035-312D40E7045D}"/>
              </a:ext>
            </a:extLst>
          </p:cNvPr>
          <p:cNvSpPr>
            <a:spLocks noGrp="1"/>
          </p:cNvSpPr>
          <p:nvPr>
            <p:ph type="title"/>
          </p:nvPr>
        </p:nvSpPr>
        <p:spPr/>
        <p:txBody>
          <a:bodyPr>
            <a:normAutofit/>
          </a:bodyPr>
          <a:lstStyle/>
          <a:p>
            <a:r>
              <a:rPr lang="en-US" dirty="0"/>
              <a:t>Introduction to key Legislation and Regulations</a:t>
            </a:r>
            <a:br>
              <a:rPr lang="en-US" dirty="0"/>
            </a:br>
            <a:endParaRPr lang="en-NG" dirty="0"/>
          </a:p>
        </p:txBody>
      </p:sp>
      <p:sp>
        <p:nvSpPr>
          <p:cNvPr id="3" name="Content Placeholder 2">
            <a:extLst>
              <a:ext uri="{FF2B5EF4-FFF2-40B4-BE49-F238E27FC236}">
                <a16:creationId xmlns:a16="http://schemas.microsoft.com/office/drawing/2014/main" id="{32218638-0447-21E8-EAB2-12D8B4BA0819}"/>
              </a:ext>
            </a:extLst>
          </p:cNvPr>
          <p:cNvSpPr>
            <a:spLocks noGrp="1"/>
          </p:cNvSpPr>
          <p:nvPr>
            <p:ph idx="1"/>
          </p:nvPr>
        </p:nvSpPr>
        <p:spPr>
          <a:xfrm>
            <a:off x="512181" y="2363868"/>
            <a:ext cx="5471692" cy="3634486"/>
          </a:xfrm>
        </p:spPr>
        <p:txBody>
          <a:bodyPr>
            <a:normAutofit/>
          </a:bodyPr>
          <a:lstStyle/>
          <a:p>
            <a:r>
              <a:rPr lang="en-US" sz="1800" b="1" dirty="0">
                <a:solidFill>
                  <a:schemeClr val="tx1"/>
                </a:solidFill>
                <a:latin typeface="Roboto" panose="02000000000000000000" pitchFamily="2" charset="0"/>
              </a:rPr>
              <a:t>Understanding Data Privacy &amp; Security Regulation</a:t>
            </a:r>
            <a:r>
              <a:rPr lang="en-US" sz="1800" i="0" dirty="0">
                <a:solidFill>
                  <a:schemeClr val="tx1"/>
                </a:solidFill>
                <a:effectLst/>
                <a:latin typeface="Roboto" panose="02000000000000000000" pitchFamily="2" charset="0"/>
              </a:rPr>
              <a:t>- </a:t>
            </a:r>
            <a:endParaRPr lang="en-US" sz="1800" dirty="0">
              <a:solidFill>
                <a:schemeClr val="tx1"/>
              </a:solidFill>
              <a:latin typeface="Roboto" panose="02000000000000000000" pitchFamily="2" charset="0"/>
            </a:endParaRPr>
          </a:p>
          <a:p>
            <a:pPr lvl="1"/>
            <a:r>
              <a:rPr lang="en-US" sz="1800" b="1" dirty="0"/>
              <a:t>Data protection and privacy laws</a:t>
            </a:r>
            <a:r>
              <a:rPr lang="en-US" sz="1800" dirty="0"/>
              <a:t> are legal frameworks designed to regulate how personal and sensitive information is collected, processed, stored, shared, and secured by organizations. These laws aim to protect individuals’ rights to privacy while ensuring that businesses handle data responsibly and securely.</a:t>
            </a:r>
            <a:endParaRPr lang="en-NG" sz="1800" dirty="0">
              <a:solidFill>
                <a:schemeClr val="tx1"/>
              </a:solidFill>
            </a:endParaRPr>
          </a:p>
        </p:txBody>
      </p:sp>
      <p:pic>
        <p:nvPicPr>
          <p:cNvPr id="2050" name="Picture 2" descr="What is Data Privacy: Detailed Analysis, Legal Framework &amp; Examples">
            <a:extLst>
              <a:ext uri="{FF2B5EF4-FFF2-40B4-BE49-F238E27FC236}">
                <a16:creationId xmlns:a16="http://schemas.microsoft.com/office/drawing/2014/main" id="{9C24C11F-B91A-B40C-396D-A3B842E735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4214" y="2908718"/>
            <a:ext cx="2800360" cy="2800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16238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5C682-6166-F951-D61B-2FB92445E6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61A861-042C-3F18-2080-883C72C693C3}"/>
              </a:ext>
            </a:extLst>
          </p:cNvPr>
          <p:cNvSpPr>
            <a:spLocks noGrp="1"/>
          </p:cNvSpPr>
          <p:nvPr>
            <p:ph type="title"/>
          </p:nvPr>
        </p:nvSpPr>
        <p:spPr/>
        <p:txBody>
          <a:bodyPr>
            <a:normAutofit/>
          </a:bodyPr>
          <a:lstStyle/>
          <a:p>
            <a:r>
              <a:rPr lang="en-US" dirty="0"/>
              <a:t>Introduction to key Legislation and Regulations</a:t>
            </a:r>
            <a:br>
              <a:rPr lang="en-US" dirty="0"/>
            </a:br>
            <a:endParaRPr lang="en-NG" dirty="0"/>
          </a:p>
        </p:txBody>
      </p:sp>
      <p:sp>
        <p:nvSpPr>
          <p:cNvPr id="3" name="Content Placeholder 2">
            <a:extLst>
              <a:ext uri="{FF2B5EF4-FFF2-40B4-BE49-F238E27FC236}">
                <a16:creationId xmlns:a16="http://schemas.microsoft.com/office/drawing/2014/main" id="{25EF538E-3D0C-EAB9-2D13-64A3BEC62B80}"/>
              </a:ext>
            </a:extLst>
          </p:cNvPr>
          <p:cNvSpPr>
            <a:spLocks noGrp="1"/>
          </p:cNvSpPr>
          <p:nvPr>
            <p:ph idx="1"/>
          </p:nvPr>
        </p:nvSpPr>
        <p:spPr>
          <a:xfrm>
            <a:off x="512181" y="2363868"/>
            <a:ext cx="5471692" cy="3634486"/>
          </a:xfrm>
        </p:spPr>
        <p:txBody>
          <a:bodyPr>
            <a:normAutofit lnSpcReduction="10000"/>
          </a:bodyPr>
          <a:lstStyle/>
          <a:p>
            <a:pPr algn="just">
              <a:buNone/>
            </a:pPr>
            <a:r>
              <a:rPr lang="en-US" sz="1800" b="1" dirty="0"/>
              <a:t>Data Protection Laws</a:t>
            </a:r>
          </a:p>
          <a:p>
            <a:pPr algn="just">
              <a:buNone/>
            </a:pPr>
            <a:r>
              <a:rPr lang="en-US" sz="1800" dirty="0"/>
              <a:t>      Data protection laws govern the security and management o personal data to prevent unauthorized access, misuse, or breaches. They establish guidelines for:</a:t>
            </a:r>
          </a:p>
          <a:p>
            <a:pPr algn="just">
              <a:buFont typeface="Arial" panose="020B0604020202020204" pitchFamily="34" charset="0"/>
              <a:buChar char="•"/>
            </a:pPr>
            <a:r>
              <a:rPr lang="en-US" sz="1800" dirty="0"/>
              <a:t>How organizations collect and store data</a:t>
            </a:r>
          </a:p>
          <a:p>
            <a:pPr algn="just">
              <a:buFont typeface="Arial" panose="020B0604020202020204" pitchFamily="34" charset="0"/>
              <a:buChar char="•"/>
            </a:pPr>
            <a:r>
              <a:rPr lang="en-US" sz="1800" dirty="0"/>
              <a:t>Who can access the data</a:t>
            </a:r>
          </a:p>
          <a:p>
            <a:pPr algn="just">
              <a:buFont typeface="Arial" panose="020B0604020202020204" pitchFamily="34" charset="0"/>
              <a:buChar char="•"/>
            </a:pPr>
            <a:r>
              <a:rPr lang="en-US" sz="1800" dirty="0"/>
              <a:t>How data should be transferred and protected</a:t>
            </a:r>
          </a:p>
          <a:p>
            <a:pPr algn="just">
              <a:buFont typeface="Arial" panose="020B0604020202020204" pitchFamily="34" charset="0"/>
              <a:buChar char="•"/>
            </a:pPr>
            <a:r>
              <a:rPr lang="en-US" sz="1800" dirty="0"/>
              <a:t>The security measures required to prevent breaches</a:t>
            </a:r>
          </a:p>
          <a:p>
            <a:pPr marL="0" indent="0" algn="just">
              <a:buNone/>
            </a:pPr>
            <a:endParaRPr lang="en-NG" dirty="0">
              <a:solidFill>
                <a:schemeClr val="tx1"/>
              </a:solidFill>
            </a:endParaRPr>
          </a:p>
        </p:txBody>
      </p:sp>
      <p:pic>
        <p:nvPicPr>
          <p:cNvPr id="2050" name="Picture 2" descr="What is Data Privacy: Detailed Analysis, Legal Framework &amp; Examples">
            <a:extLst>
              <a:ext uri="{FF2B5EF4-FFF2-40B4-BE49-F238E27FC236}">
                <a16:creationId xmlns:a16="http://schemas.microsoft.com/office/drawing/2014/main" id="{F052D0A1-E10F-2FB5-1CE2-914E392DBD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4214" y="2908718"/>
            <a:ext cx="2800360" cy="2800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42718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D44C9-C444-D423-81D1-A580F1E0FE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906485-9DC5-9880-E9AD-888FB193EC23}"/>
              </a:ext>
            </a:extLst>
          </p:cNvPr>
          <p:cNvSpPr>
            <a:spLocks noGrp="1"/>
          </p:cNvSpPr>
          <p:nvPr>
            <p:ph type="title"/>
          </p:nvPr>
        </p:nvSpPr>
        <p:spPr/>
        <p:txBody>
          <a:bodyPr>
            <a:normAutofit/>
          </a:bodyPr>
          <a:lstStyle/>
          <a:p>
            <a:r>
              <a:rPr lang="en-US" dirty="0"/>
              <a:t>Introduction to key Legislation and Regulations</a:t>
            </a:r>
            <a:br>
              <a:rPr lang="en-US" dirty="0"/>
            </a:br>
            <a:endParaRPr lang="en-NG" dirty="0"/>
          </a:p>
        </p:txBody>
      </p:sp>
      <p:sp>
        <p:nvSpPr>
          <p:cNvPr id="3" name="Content Placeholder 2">
            <a:extLst>
              <a:ext uri="{FF2B5EF4-FFF2-40B4-BE49-F238E27FC236}">
                <a16:creationId xmlns:a16="http://schemas.microsoft.com/office/drawing/2014/main" id="{F0565001-7CCA-05E1-B0C1-135B3D6414F8}"/>
              </a:ext>
            </a:extLst>
          </p:cNvPr>
          <p:cNvSpPr>
            <a:spLocks noGrp="1"/>
          </p:cNvSpPr>
          <p:nvPr>
            <p:ph idx="1"/>
          </p:nvPr>
        </p:nvSpPr>
        <p:spPr>
          <a:xfrm>
            <a:off x="512181" y="2363868"/>
            <a:ext cx="5471692" cy="3634486"/>
          </a:xfrm>
        </p:spPr>
        <p:txBody>
          <a:bodyPr>
            <a:normAutofit/>
          </a:bodyPr>
          <a:lstStyle/>
          <a:p>
            <a:pPr algn="just">
              <a:buNone/>
            </a:pPr>
            <a:r>
              <a:rPr lang="en-US" b="1" dirty="0">
                <a:solidFill>
                  <a:schemeClr val="tx1"/>
                </a:solidFill>
                <a:latin typeface="Roboto" panose="02000000000000000000" pitchFamily="2" charset="0"/>
              </a:rPr>
              <a:t>Data Privacy Laws</a:t>
            </a:r>
          </a:p>
          <a:p>
            <a:pPr>
              <a:buNone/>
            </a:pPr>
            <a:r>
              <a:rPr lang="en-US" dirty="0"/>
              <a:t>      Data privacy laws focus on ensuring that individuals have control over their personal information. These laws define:</a:t>
            </a:r>
          </a:p>
          <a:p>
            <a:pPr>
              <a:buFont typeface="Arial" panose="020B0604020202020204" pitchFamily="34" charset="0"/>
              <a:buChar char="•"/>
            </a:pPr>
            <a:r>
              <a:rPr lang="en-US" dirty="0"/>
              <a:t>The rights of individuals over their data (e.g., access, deletion, rectification)</a:t>
            </a:r>
          </a:p>
          <a:p>
            <a:pPr>
              <a:buFont typeface="Arial" panose="020B0604020202020204" pitchFamily="34" charset="0"/>
              <a:buChar char="•"/>
            </a:pPr>
            <a:r>
              <a:rPr lang="en-US" dirty="0"/>
              <a:t>The obligations of organizations in obtaining consent and being transparent</a:t>
            </a:r>
          </a:p>
          <a:p>
            <a:pPr>
              <a:buFont typeface="Arial" panose="020B0604020202020204" pitchFamily="34" charset="0"/>
              <a:buChar char="•"/>
            </a:pPr>
            <a:r>
              <a:rPr lang="en-US" dirty="0"/>
              <a:t>How data can or cannot be shared with third parties</a:t>
            </a:r>
          </a:p>
          <a:p>
            <a:pPr marL="0" indent="0" algn="just">
              <a:buNone/>
            </a:pPr>
            <a:endParaRPr lang="en-NG" dirty="0">
              <a:solidFill>
                <a:schemeClr val="tx1"/>
              </a:solidFill>
            </a:endParaRPr>
          </a:p>
        </p:txBody>
      </p:sp>
      <p:pic>
        <p:nvPicPr>
          <p:cNvPr id="2050" name="Picture 2" descr="What is Data Privacy: Detailed Analysis, Legal Framework &amp; Examples">
            <a:extLst>
              <a:ext uri="{FF2B5EF4-FFF2-40B4-BE49-F238E27FC236}">
                <a16:creationId xmlns:a16="http://schemas.microsoft.com/office/drawing/2014/main" id="{992E0AB6-1A9B-6AC3-90B0-FBC4F05047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4214" y="2908718"/>
            <a:ext cx="2800360" cy="2800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49988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1DADA-10C4-BB93-40CD-489E21FACC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915CCE-35FB-B6D1-1B7B-9B44D963A0AE}"/>
              </a:ext>
            </a:extLst>
          </p:cNvPr>
          <p:cNvSpPr>
            <a:spLocks noGrp="1"/>
          </p:cNvSpPr>
          <p:nvPr>
            <p:ph type="title"/>
          </p:nvPr>
        </p:nvSpPr>
        <p:spPr>
          <a:xfrm>
            <a:off x="467602" y="1088363"/>
            <a:ext cx="11029616" cy="1000123"/>
          </a:xfrm>
        </p:spPr>
        <p:txBody>
          <a:bodyPr>
            <a:normAutofit/>
          </a:bodyPr>
          <a:lstStyle/>
          <a:p>
            <a:pPr>
              <a:buNone/>
            </a:pPr>
            <a:r>
              <a:rPr lang="en-US" b="1" dirty="0"/>
              <a:t>Importance of Data Protection in the Digital Age</a:t>
            </a:r>
          </a:p>
        </p:txBody>
      </p:sp>
      <p:sp>
        <p:nvSpPr>
          <p:cNvPr id="3" name="Content Placeholder 2">
            <a:extLst>
              <a:ext uri="{FF2B5EF4-FFF2-40B4-BE49-F238E27FC236}">
                <a16:creationId xmlns:a16="http://schemas.microsoft.com/office/drawing/2014/main" id="{E1E8BB81-BB4B-6D16-9D75-5006FA88255B}"/>
              </a:ext>
            </a:extLst>
          </p:cNvPr>
          <p:cNvSpPr>
            <a:spLocks noGrp="1"/>
          </p:cNvSpPr>
          <p:nvPr>
            <p:ph idx="1"/>
          </p:nvPr>
        </p:nvSpPr>
        <p:spPr>
          <a:xfrm>
            <a:off x="581192" y="2441009"/>
            <a:ext cx="7464378" cy="3237551"/>
          </a:xfrm>
        </p:spPr>
        <p:txBody>
          <a:bodyPr>
            <a:normAutofit/>
          </a:bodyPr>
          <a:lstStyle/>
          <a:p>
            <a:pPr>
              <a:buNone/>
            </a:pPr>
            <a:r>
              <a:rPr lang="en-US" b="1" dirty="0"/>
              <a:t>Protection of Personal Privacy</a:t>
            </a:r>
          </a:p>
          <a:p>
            <a:pPr>
              <a:buFont typeface="Arial" panose="020B0604020202020204" pitchFamily="34" charset="0"/>
              <a:buChar char="•"/>
            </a:pPr>
            <a:r>
              <a:rPr lang="en-US" dirty="0"/>
              <a:t>Individuals share vast amounts of personal data online (e.g., financial information, health records, browsing history).</a:t>
            </a:r>
          </a:p>
          <a:p>
            <a:pPr>
              <a:buFont typeface="Arial" panose="020B0604020202020204" pitchFamily="34" charset="0"/>
              <a:buChar char="•"/>
            </a:pPr>
            <a:r>
              <a:rPr lang="en-US" dirty="0"/>
              <a:t>Data protection laws ensure that individuals have control over how their data is collected, stored, and used.</a:t>
            </a:r>
          </a:p>
          <a:p>
            <a:pPr>
              <a:buFont typeface="Arial" panose="020B0604020202020204" pitchFamily="34" charset="0"/>
              <a:buChar char="•"/>
            </a:pPr>
            <a:r>
              <a:rPr lang="en-US" dirty="0"/>
              <a:t>Helps prevent identity theft, fraud, and unauthorized surveillance.</a:t>
            </a:r>
          </a:p>
        </p:txBody>
      </p:sp>
      <p:pic>
        <p:nvPicPr>
          <p:cNvPr id="1026" name="Picture 2" descr="What is Data Protection and Why is it ...">
            <a:extLst>
              <a:ext uri="{FF2B5EF4-FFF2-40B4-BE49-F238E27FC236}">
                <a16:creationId xmlns:a16="http://schemas.microsoft.com/office/drawing/2014/main" id="{593C0F21-F6F9-B021-06DB-7D9284C8D9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78800" y="2936409"/>
            <a:ext cx="2929164" cy="172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19016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902EA-A15C-8084-32ED-817CD8DEF3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81B40A-4C63-3B2B-6F36-F26E6245E65A}"/>
              </a:ext>
            </a:extLst>
          </p:cNvPr>
          <p:cNvSpPr>
            <a:spLocks noGrp="1"/>
          </p:cNvSpPr>
          <p:nvPr>
            <p:ph type="title"/>
          </p:nvPr>
        </p:nvSpPr>
        <p:spPr>
          <a:xfrm>
            <a:off x="467602" y="1088363"/>
            <a:ext cx="11029616" cy="1000123"/>
          </a:xfrm>
        </p:spPr>
        <p:txBody>
          <a:bodyPr>
            <a:normAutofit/>
          </a:bodyPr>
          <a:lstStyle/>
          <a:p>
            <a:pPr>
              <a:buNone/>
            </a:pPr>
            <a:r>
              <a:rPr lang="en-US" b="1" dirty="0"/>
              <a:t>Importance of Data Protection in the Digital Age</a:t>
            </a:r>
          </a:p>
        </p:txBody>
      </p:sp>
      <p:sp>
        <p:nvSpPr>
          <p:cNvPr id="3" name="Content Placeholder 2">
            <a:extLst>
              <a:ext uri="{FF2B5EF4-FFF2-40B4-BE49-F238E27FC236}">
                <a16:creationId xmlns:a16="http://schemas.microsoft.com/office/drawing/2014/main" id="{2BF50E97-0645-B7A4-710D-9BBA4150FC53}"/>
              </a:ext>
            </a:extLst>
          </p:cNvPr>
          <p:cNvSpPr>
            <a:spLocks noGrp="1"/>
          </p:cNvSpPr>
          <p:nvPr>
            <p:ph idx="1"/>
          </p:nvPr>
        </p:nvSpPr>
        <p:spPr>
          <a:xfrm>
            <a:off x="581192" y="2441009"/>
            <a:ext cx="7464378" cy="3237551"/>
          </a:xfrm>
        </p:spPr>
        <p:txBody>
          <a:bodyPr>
            <a:normAutofit/>
          </a:bodyPr>
          <a:lstStyle/>
          <a:p>
            <a:pPr>
              <a:buNone/>
            </a:pPr>
            <a:r>
              <a:rPr lang="en-US" b="1" dirty="0"/>
              <a:t>Compliance with Legal and Regulatory Requirements</a:t>
            </a:r>
          </a:p>
          <a:p>
            <a:pPr>
              <a:buFont typeface="Arial" panose="020B0604020202020204" pitchFamily="34" charset="0"/>
              <a:buChar char="•"/>
            </a:pPr>
            <a:r>
              <a:rPr lang="en-US" dirty="0"/>
              <a:t>Governments worldwide have enacted strict data protection laws (e.g., GDPR, HIPAA, NDPA, CCPA) to protect individuals.</a:t>
            </a:r>
          </a:p>
          <a:p>
            <a:pPr>
              <a:buFont typeface="Arial" panose="020B0604020202020204" pitchFamily="34" charset="0"/>
              <a:buChar char="•"/>
            </a:pPr>
            <a:r>
              <a:rPr lang="en-US" dirty="0"/>
              <a:t>Businesses must comply with these regulations to avoid heavy penalties and legal actions.</a:t>
            </a:r>
          </a:p>
          <a:p>
            <a:pPr>
              <a:buFont typeface="Arial" panose="020B0604020202020204" pitchFamily="34" charset="0"/>
              <a:buChar char="•"/>
            </a:pPr>
            <a:r>
              <a:rPr lang="en-US" dirty="0"/>
              <a:t>Non-compliance can result in financial losses, reputational damage, and even business shutdowns.</a:t>
            </a:r>
          </a:p>
        </p:txBody>
      </p:sp>
      <p:pic>
        <p:nvPicPr>
          <p:cNvPr id="1026" name="Picture 2" descr="What is Data Protection and Why is it ...">
            <a:extLst>
              <a:ext uri="{FF2B5EF4-FFF2-40B4-BE49-F238E27FC236}">
                <a16:creationId xmlns:a16="http://schemas.microsoft.com/office/drawing/2014/main" id="{927B1E2E-4227-92B9-80DC-940BF07BBF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78800" y="2936409"/>
            <a:ext cx="2929164" cy="172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54396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7C0DE-D73C-D96C-2F36-DDC0AD50EC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7701E8-8DEE-A207-ED36-E0FFBBC410BD}"/>
              </a:ext>
            </a:extLst>
          </p:cNvPr>
          <p:cNvSpPr>
            <a:spLocks noGrp="1"/>
          </p:cNvSpPr>
          <p:nvPr>
            <p:ph type="title"/>
          </p:nvPr>
        </p:nvSpPr>
        <p:spPr>
          <a:xfrm>
            <a:off x="467602" y="1088363"/>
            <a:ext cx="11029616" cy="1000123"/>
          </a:xfrm>
        </p:spPr>
        <p:txBody>
          <a:bodyPr>
            <a:normAutofit/>
          </a:bodyPr>
          <a:lstStyle/>
          <a:p>
            <a:pPr>
              <a:buNone/>
            </a:pPr>
            <a:r>
              <a:rPr lang="en-US" b="1" dirty="0"/>
              <a:t>Importance of Data Protection in the Digital Age</a:t>
            </a:r>
          </a:p>
        </p:txBody>
      </p:sp>
      <p:sp>
        <p:nvSpPr>
          <p:cNvPr id="3" name="Content Placeholder 2">
            <a:extLst>
              <a:ext uri="{FF2B5EF4-FFF2-40B4-BE49-F238E27FC236}">
                <a16:creationId xmlns:a16="http://schemas.microsoft.com/office/drawing/2014/main" id="{D65F511F-3EB1-EF33-0119-9BC5616BAD20}"/>
              </a:ext>
            </a:extLst>
          </p:cNvPr>
          <p:cNvSpPr>
            <a:spLocks noGrp="1"/>
          </p:cNvSpPr>
          <p:nvPr>
            <p:ph idx="1"/>
          </p:nvPr>
        </p:nvSpPr>
        <p:spPr>
          <a:xfrm>
            <a:off x="581192" y="2441009"/>
            <a:ext cx="7464378" cy="3237551"/>
          </a:xfrm>
        </p:spPr>
        <p:txBody>
          <a:bodyPr>
            <a:normAutofit/>
          </a:bodyPr>
          <a:lstStyle/>
          <a:p>
            <a:pPr>
              <a:buNone/>
            </a:pPr>
            <a:r>
              <a:rPr lang="en-US" b="1" dirty="0"/>
              <a:t>Preventing Financial Losses</a:t>
            </a:r>
          </a:p>
          <a:p>
            <a:pPr>
              <a:buFont typeface="Arial" panose="020B0604020202020204" pitchFamily="34" charset="0"/>
              <a:buChar char="•"/>
            </a:pPr>
            <a:r>
              <a:rPr lang="en-US" dirty="0"/>
              <a:t>Data breaches can lead to lawsuits, regulatory fines, and loss of business revenue.</a:t>
            </a:r>
          </a:p>
          <a:p>
            <a:pPr>
              <a:buFont typeface="Arial" panose="020B0604020202020204" pitchFamily="34" charset="0"/>
              <a:buChar char="•"/>
            </a:pPr>
            <a:r>
              <a:rPr lang="en-US" dirty="0"/>
              <a:t>Companies must invest in robust security measures to prevent costly incidents.</a:t>
            </a:r>
          </a:p>
          <a:p>
            <a:pPr>
              <a:buFont typeface="Arial" panose="020B0604020202020204" pitchFamily="34" charset="0"/>
              <a:buChar char="•"/>
            </a:pPr>
            <a:r>
              <a:rPr lang="en-US" dirty="0"/>
              <a:t>Ransomware attacks can cripple businesses, demanding hefty payouts</a:t>
            </a:r>
          </a:p>
        </p:txBody>
      </p:sp>
      <p:pic>
        <p:nvPicPr>
          <p:cNvPr id="1026" name="Picture 2" descr="What is Data Protection and Why is it ...">
            <a:extLst>
              <a:ext uri="{FF2B5EF4-FFF2-40B4-BE49-F238E27FC236}">
                <a16:creationId xmlns:a16="http://schemas.microsoft.com/office/drawing/2014/main" id="{35171B70-CC22-92D3-6741-4ACD3A75EB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78800" y="2936409"/>
            <a:ext cx="2929164" cy="172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43199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3AB22-19D5-2E23-5EE7-E46BB241ED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BA1DAD-4524-722F-724E-55305F16437E}"/>
              </a:ext>
            </a:extLst>
          </p:cNvPr>
          <p:cNvSpPr>
            <a:spLocks noGrp="1"/>
          </p:cNvSpPr>
          <p:nvPr>
            <p:ph type="title"/>
          </p:nvPr>
        </p:nvSpPr>
        <p:spPr>
          <a:xfrm>
            <a:off x="467602" y="1088363"/>
            <a:ext cx="11029616" cy="1000123"/>
          </a:xfrm>
        </p:spPr>
        <p:txBody>
          <a:bodyPr>
            <a:normAutofit/>
          </a:bodyPr>
          <a:lstStyle/>
          <a:p>
            <a:pPr>
              <a:buNone/>
            </a:pPr>
            <a:r>
              <a:rPr lang="en-US" b="1" dirty="0"/>
              <a:t>CYBERSECURITY REGULATIONS</a:t>
            </a:r>
          </a:p>
        </p:txBody>
      </p:sp>
      <p:sp>
        <p:nvSpPr>
          <p:cNvPr id="3" name="Content Placeholder 2">
            <a:extLst>
              <a:ext uri="{FF2B5EF4-FFF2-40B4-BE49-F238E27FC236}">
                <a16:creationId xmlns:a16="http://schemas.microsoft.com/office/drawing/2014/main" id="{0FAE2A76-3BC8-A1C0-8E8A-A8D504257E3C}"/>
              </a:ext>
            </a:extLst>
          </p:cNvPr>
          <p:cNvSpPr>
            <a:spLocks noGrp="1"/>
          </p:cNvSpPr>
          <p:nvPr>
            <p:ph idx="1"/>
          </p:nvPr>
        </p:nvSpPr>
        <p:spPr>
          <a:xfrm>
            <a:off x="581192" y="2441009"/>
            <a:ext cx="7464378" cy="3237551"/>
          </a:xfrm>
        </p:spPr>
        <p:txBody>
          <a:bodyPr>
            <a:normAutofit/>
          </a:bodyPr>
          <a:lstStyle/>
          <a:p>
            <a:r>
              <a:rPr lang="en-US" dirty="0"/>
              <a:t>Cybersecurity regulations are essential for protecting sensitive information, ensuring compliance, and mitigating cyber threats across industries. These regulations vary by region and industry but share common goals: data security, privacy, and risk management. Below are some of the most critical cybersecurity regulations worldwide:</a:t>
            </a:r>
          </a:p>
        </p:txBody>
      </p:sp>
      <p:pic>
        <p:nvPicPr>
          <p:cNvPr id="2050" name="Picture 2" descr="Cybersecurity Regulations: Burden or ...">
            <a:extLst>
              <a:ext uri="{FF2B5EF4-FFF2-40B4-BE49-F238E27FC236}">
                <a16:creationId xmlns:a16="http://schemas.microsoft.com/office/drawing/2014/main" id="{7BB83309-13F5-05BD-51A5-ECE25910A9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6767" y="3055014"/>
            <a:ext cx="3376482" cy="2162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05973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96B44-6AD5-7512-1A9B-5487F650FB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A8C332-8723-8CE8-E687-D13DF131EDD9}"/>
              </a:ext>
            </a:extLst>
          </p:cNvPr>
          <p:cNvSpPr>
            <a:spLocks noGrp="1"/>
          </p:cNvSpPr>
          <p:nvPr>
            <p:ph type="title"/>
          </p:nvPr>
        </p:nvSpPr>
        <p:spPr>
          <a:xfrm>
            <a:off x="467602" y="1088363"/>
            <a:ext cx="11029616" cy="1000123"/>
          </a:xfrm>
        </p:spPr>
        <p:txBody>
          <a:bodyPr>
            <a:normAutofit/>
          </a:bodyPr>
          <a:lstStyle/>
          <a:p>
            <a:pPr>
              <a:buNone/>
            </a:pPr>
            <a:r>
              <a:rPr lang="en-US" b="1" dirty="0"/>
              <a:t>GLOBAL CYBERSECURITY REGULATIONS</a:t>
            </a:r>
          </a:p>
        </p:txBody>
      </p:sp>
      <p:sp>
        <p:nvSpPr>
          <p:cNvPr id="3" name="Content Placeholder 2">
            <a:extLst>
              <a:ext uri="{FF2B5EF4-FFF2-40B4-BE49-F238E27FC236}">
                <a16:creationId xmlns:a16="http://schemas.microsoft.com/office/drawing/2014/main" id="{EBCC22C6-2FAE-F194-88C2-7F2653539D25}"/>
              </a:ext>
            </a:extLst>
          </p:cNvPr>
          <p:cNvSpPr>
            <a:spLocks noGrp="1"/>
          </p:cNvSpPr>
          <p:nvPr>
            <p:ph idx="1"/>
          </p:nvPr>
        </p:nvSpPr>
        <p:spPr>
          <a:xfrm>
            <a:off x="581192" y="2441009"/>
            <a:ext cx="7464378" cy="3237551"/>
          </a:xfrm>
        </p:spPr>
        <p:txBody>
          <a:bodyPr>
            <a:normAutofit/>
          </a:bodyPr>
          <a:lstStyle/>
          <a:p>
            <a:pPr>
              <a:buNone/>
            </a:pPr>
            <a:r>
              <a:rPr lang="en-US" b="1" dirty="0"/>
              <a:t>General Data Protection Regulation (GDPR) – EU</a:t>
            </a:r>
          </a:p>
          <a:p>
            <a:pPr>
              <a:buFont typeface="Arial" panose="020B0604020202020204" pitchFamily="34" charset="0"/>
              <a:buChar char="•"/>
            </a:pPr>
            <a:r>
              <a:rPr lang="en-US" dirty="0"/>
              <a:t>Focus: Data privacy and security for EU citizens.</a:t>
            </a:r>
          </a:p>
          <a:p>
            <a:pPr>
              <a:buFont typeface="Arial" panose="020B0604020202020204" pitchFamily="34" charset="0"/>
              <a:buChar char="•"/>
            </a:pPr>
            <a:r>
              <a:rPr lang="en-US" dirty="0"/>
              <a:t>Key Requirements:</a:t>
            </a:r>
          </a:p>
          <a:p>
            <a:pPr marL="742950" lvl="1" indent="-285750">
              <a:buFont typeface="Arial" panose="020B0604020202020204" pitchFamily="34" charset="0"/>
              <a:buChar char="•"/>
            </a:pPr>
            <a:r>
              <a:rPr lang="en-US" dirty="0"/>
              <a:t>Data protection by design and default.</a:t>
            </a:r>
          </a:p>
          <a:p>
            <a:pPr marL="742950" lvl="1" indent="-285750">
              <a:buFont typeface="Arial" panose="020B0604020202020204" pitchFamily="34" charset="0"/>
              <a:buChar char="•"/>
            </a:pPr>
            <a:r>
              <a:rPr lang="en-US" dirty="0"/>
              <a:t>Breach notification within 72 hours.</a:t>
            </a:r>
          </a:p>
          <a:p>
            <a:pPr marL="742950" lvl="1" indent="-285750">
              <a:buFont typeface="Arial" panose="020B0604020202020204" pitchFamily="34" charset="0"/>
              <a:buChar char="•"/>
            </a:pPr>
            <a:r>
              <a:rPr lang="en-US" dirty="0"/>
              <a:t>Heavy fines for non-compliance (up to €20M or 4% of global revenue).</a:t>
            </a:r>
          </a:p>
        </p:txBody>
      </p:sp>
      <p:pic>
        <p:nvPicPr>
          <p:cNvPr id="2050" name="Picture 2" descr="Cybersecurity Regulations: Burden or ...">
            <a:extLst>
              <a:ext uri="{FF2B5EF4-FFF2-40B4-BE49-F238E27FC236}">
                <a16:creationId xmlns:a16="http://schemas.microsoft.com/office/drawing/2014/main" id="{0D3D4141-6E96-9C9D-E017-1CADACFCC9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6767" y="3055014"/>
            <a:ext cx="3376482" cy="2162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70135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F670E-6684-629B-482C-B4419F2F44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959696-C445-304B-D629-3B681B38414D}"/>
              </a:ext>
            </a:extLst>
          </p:cNvPr>
          <p:cNvSpPr>
            <a:spLocks noGrp="1"/>
          </p:cNvSpPr>
          <p:nvPr>
            <p:ph type="title"/>
          </p:nvPr>
        </p:nvSpPr>
        <p:spPr>
          <a:xfrm>
            <a:off x="467602" y="1088363"/>
            <a:ext cx="11029616" cy="1000123"/>
          </a:xfrm>
        </p:spPr>
        <p:txBody>
          <a:bodyPr>
            <a:normAutofit/>
          </a:bodyPr>
          <a:lstStyle/>
          <a:p>
            <a:pPr>
              <a:buNone/>
            </a:pPr>
            <a:r>
              <a:rPr lang="en-US" b="1" dirty="0"/>
              <a:t>GLOBAL CYBERSECURITY REGULATIONS</a:t>
            </a:r>
          </a:p>
        </p:txBody>
      </p:sp>
      <p:sp>
        <p:nvSpPr>
          <p:cNvPr id="3" name="Content Placeholder 2">
            <a:extLst>
              <a:ext uri="{FF2B5EF4-FFF2-40B4-BE49-F238E27FC236}">
                <a16:creationId xmlns:a16="http://schemas.microsoft.com/office/drawing/2014/main" id="{F583F3BC-9AFA-6F02-C5BF-C8ECA0CC6748}"/>
              </a:ext>
            </a:extLst>
          </p:cNvPr>
          <p:cNvSpPr>
            <a:spLocks noGrp="1"/>
          </p:cNvSpPr>
          <p:nvPr>
            <p:ph idx="1"/>
          </p:nvPr>
        </p:nvSpPr>
        <p:spPr>
          <a:xfrm>
            <a:off x="581192" y="2441009"/>
            <a:ext cx="7464378" cy="3237551"/>
          </a:xfrm>
        </p:spPr>
        <p:txBody>
          <a:bodyPr>
            <a:normAutofit/>
          </a:bodyPr>
          <a:lstStyle/>
          <a:p>
            <a:pPr>
              <a:buNone/>
            </a:pPr>
            <a:r>
              <a:rPr lang="en-US" b="1" dirty="0"/>
              <a:t>ISO/IEC 27001 – International</a:t>
            </a:r>
          </a:p>
          <a:p>
            <a:pPr>
              <a:buFont typeface="Arial" panose="020B0604020202020204" pitchFamily="34" charset="0"/>
              <a:buChar char="•"/>
            </a:pPr>
            <a:r>
              <a:rPr lang="en-US" dirty="0"/>
              <a:t>Focus: Information security management systems (ISMS).</a:t>
            </a:r>
          </a:p>
          <a:p>
            <a:pPr>
              <a:buFont typeface="Arial" panose="020B0604020202020204" pitchFamily="34" charset="0"/>
              <a:buChar char="•"/>
            </a:pPr>
            <a:r>
              <a:rPr lang="en-US" dirty="0"/>
              <a:t>Key Requirements:</a:t>
            </a:r>
          </a:p>
          <a:p>
            <a:pPr marL="742950" lvl="1" indent="-285750">
              <a:buFont typeface="Arial" panose="020B0604020202020204" pitchFamily="34" charset="0"/>
              <a:buChar char="•"/>
            </a:pPr>
            <a:r>
              <a:rPr lang="en-US" dirty="0"/>
              <a:t>Risk-based approach to cybersecurity.</a:t>
            </a:r>
          </a:p>
          <a:p>
            <a:pPr marL="742950" lvl="1" indent="-285750">
              <a:buFont typeface="Arial" panose="020B0604020202020204" pitchFamily="34" charset="0"/>
              <a:buChar char="•"/>
            </a:pPr>
            <a:r>
              <a:rPr lang="en-US" dirty="0"/>
              <a:t>Security controls, policies, and audits.</a:t>
            </a:r>
          </a:p>
          <a:p>
            <a:pPr marL="742950" lvl="1" indent="-285750">
              <a:buFont typeface="Arial" panose="020B0604020202020204" pitchFamily="34" charset="0"/>
              <a:buChar char="•"/>
            </a:pPr>
            <a:r>
              <a:rPr lang="en-US" dirty="0"/>
              <a:t>Certification for organizations demonstrating compliance.</a:t>
            </a:r>
          </a:p>
        </p:txBody>
      </p:sp>
      <p:pic>
        <p:nvPicPr>
          <p:cNvPr id="2050" name="Picture 2" descr="Cybersecurity Regulations: Burden or ...">
            <a:extLst>
              <a:ext uri="{FF2B5EF4-FFF2-40B4-BE49-F238E27FC236}">
                <a16:creationId xmlns:a16="http://schemas.microsoft.com/office/drawing/2014/main" id="{2443C168-4143-AF5A-BD43-A772576E54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6767" y="3055014"/>
            <a:ext cx="3376482" cy="2162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64030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4C665-E8EC-7C50-1004-B48FEF54F2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CA4AB4-2B0A-E922-5631-135EF1C4B2C5}"/>
              </a:ext>
            </a:extLst>
          </p:cNvPr>
          <p:cNvSpPr>
            <a:spLocks noGrp="1"/>
          </p:cNvSpPr>
          <p:nvPr>
            <p:ph type="title"/>
          </p:nvPr>
        </p:nvSpPr>
        <p:spPr>
          <a:xfrm>
            <a:off x="467602" y="1088363"/>
            <a:ext cx="11029616" cy="1000123"/>
          </a:xfrm>
        </p:spPr>
        <p:txBody>
          <a:bodyPr>
            <a:normAutofit/>
          </a:bodyPr>
          <a:lstStyle/>
          <a:p>
            <a:pPr>
              <a:buNone/>
            </a:pPr>
            <a:r>
              <a:rPr lang="en-US" b="1" dirty="0"/>
              <a:t>INDUSTRY STANDARD -  CYBERSECURITY REGULATIONS</a:t>
            </a:r>
          </a:p>
        </p:txBody>
      </p:sp>
      <p:sp>
        <p:nvSpPr>
          <p:cNvPr id="3" name="Content Placeholder 2">
            <a:extLst>
              <a:ext uri="{FF2B5EF4-FFF2-40B4-BE49-F238E27FC236}">
                <a16:creationId xmlns:a16="http://schemas.microsoft.com/office/drawing/2014/main" id="{A11C314C-CF51-81AA-CD49-04E3072FC84C}"/>
              </a:ext>
            </a:extLst>
          </p:cNvPr>
          <p:cNvSpPr>
            <a:spLocks noGrp="1"/>
          </p:cNvSpPr>
          <p:nvPr>
            <p:ph idx="1"/>
          </p:nvPr>
        </p:nvSpPr>
        <p:spPr>
          <a:xfrm>
            <a:off x="581192" y="2441009"/>
            <a:ext cx="7464378" cy="3237551"/>
          </a:xfrm>
        </p:spPr>
        <p:txBody>
          <a:bodyPr>
            <a:normAutofit/>
          </a:bodyPr>
          <a:lstStyle/>
          <a:p>
            <a:pPr>
              <a:buNone/>
            </a:pPr>
            <a:r>
              <a:rPr lang="en-US" b="1" dirty="0"/>
              <a:t>Health Insurance Portability and Accountability Act (HIPAA) – USA</a:t>
            </a:r>
          </a:p>
          <a:p>
            <a:pPr>
              <a:buFont typeface="Arial" panose="020B0604020202020204" pitchFamily="34" charset="0"/>
              <a:buChar char="•"/>
            </a:pPr>
            <a:r>
              <a:rPr lang="en-US" dirty="0"/>
              <a:t>Focus: Protecting patient health information (PHI).</a:t>
            </a:r>
          </a:p>
          <a:p>
            <a:pPr>
              <a:buFont typeface="Arial" panose="020B0604020202020204" pitchFamily="34" charset="0"/>
              <a:buChar char="•"/>
            </a:pPr>
            <a:r>
              <a:rPr lang="en-US" dirty="0"/>
              <a:t>Key Requirements:</a:t>
            </a:r>
          </a:p>
          <a:p>
            <a:pPr marL="742950" lvl="1" indent="-285750">
              <a:buFont typeface="Arial" panose="020B0604020202020204" pitchFamily="34" charset="0"/>
              <a:buChar char="•"/>
            </a:pPr>
            <a:r>
              <a:rPr lang="en-US" dirty="0"/>
              <a:t>Security, privacy, and breach notification rules.</a:t>
            </a:r>
          </a:p>
          <a:p>
            <a:pPr marL="742950" lvl="1" indent="-285750">
              <a:buFont typeface="Arial" panose="020B0604020202020204" pitchFamily="34" charset="0"/>
              <a:buChar char="•"/>
            </a:pPr>
            <a:r>
              <a:rPr lang="en-US" dirty="0"/>
              <a:t>Encryption and access controls for PHI.</a:t>
            </a:r>
          </a:p>
          <a:p>
            <a:pPr marL="742950" lvl="1" indent="-285750">
              <a:buFont typeface="Arial" panose="020B0604020202020204" pitchFamily="34" charset="0"/>
              <a:buChar char="•"/>
            </a:pPr>
            <a:r>
              <a:rPr lang="en-US" dirty="0"/>
              <a:t>Strict penalties for violations.</a:t>
            </a:r>
          </a:p>
        </p:txBody>
      </p:sp>
      <p:pic>
        <p:nvPicPr>
          <p:cNvPr id="2050" name="Picture 2" descr="Cybersecurity Regulations: Burden or ...">
            <a:extLst>
              <a:ext uri="{FF2B5EF4-FFF2-40B4-BE49-F238E27FC236}">
                <a16:creationId xmlns:a16="http://schemas.microsoft.com/office/drawing/2014/main" id="{F8F3F097-8A78-DF0A-BBC2-8FCF16205B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6767" y="3055014"/>
            <a:ext cx="3376482" cy="2162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4428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E6F7F-7B78-EAFA-617F-ABB008F290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083BC4-17A0-D169-DBCF-E173CD23028F}"/>
              </a:ext>
            </a:extLst>
          </p:cNvPr>
          <p:cNvSpPr>
            <a:spLocks noGrp="1"/>
          </p:cNvSpPr>
          <p:nvPr>
            <p:ph type="title"/>
          </p:nvPr>
        </p:nvSpPr>
        <p:spPr>
          <a:xfrm>
            <a:off x="467602" y="1088363"/>
            <a:ext cx="11029616" cy="1000123"/>
          </a:xfrm>
        </p:spPr>
        <p:txBody>
          <a:bodyPr>
            <a:normAutofit/>
          </a:bodyPr>
          <a:lstStyle/>
          <a:p>
            <a:pPr>
              <a:buNone/>
            </a:pPr>
            <a:r>
              <a:rPr lang="en-US" b="1" dirty="0"/>
              <a:t>INDUSTRY STANDARD -  CYBERSECURITY REGULATIONS</a:t>
            </a:r>
          </a:p>
        </p:txBody>
      </p:sp>
      <p:sp>
        <p:nvSpPr>
          <p:cNvPr id="3" name="Content Placeholder 2">
            <a:extLst>
              <a:ext uri="{FF2B5EF4-FFF2-40B4-BE49-F238E27FC236}">
                <a16:creationId xmlns:a16="http://schemas.microsoft.com/office/drawing/2014/main" id="{4CF88777-4503-0C7C-E172-0626DE40AEC1}"/>
              </a:ext>
            </a:extLst>
          </p:cNvPr>
          <p:cNvSpPr>
            <a:spLocks noGrp="1"/>
          </p:cNvSpPr>
          <p:nvPr>
            <p:ph idx="1"/>
          </p:nvPr>
        </p:nvSpPr>
        <p:spPr>
          <a:xfrm>
            <a:off x="581192" y="2441009"/>
            <a:ext cx="7464378" cy="3237551"/>
          </a:xfrm>
        </p:spPr>
        <p:txBody>
          <a:bodyPr>
            <a:normAutofit/>
          </a:bodyPr>
          <a:lstStyle/>
          <a:p>
            <a:pPr>
              <a:buNone/>
            </a:pPr>
            <a:r>
              <a:rPr lang="en-US" b="1" dirty="0"/>
              <a:t>Payment Card Industry Data Security Standard (PCI-DSS) – Global</a:t>
            </a:r>
          </a:p>
          <a:p>
            <a:pPr>
              <a:buFont typeface="Arial" panose="020B0604020202020204" pitchFamily="34" charset="0"/>
              <a:buChar char="•"/>
            </a:pPr>
            <a:r>
              <a:rPr lang="en-US" dirty="0"/>
              <a:t>Focus: Protecting credit card transactions.</a:t>
            </a:r>
          </a:p>
          <a:p>
            <a:pPr>
              <a:buFont typeface="Arial" panose="020B0604020202020204" pitchFamily="34" charset="0"/>
              <a:buChar char="•"/>
            </a:pPr>
            <a:r>
              <a:rPr lang="en-US" dirty="0"/>
              <a:t>Key Requirements:</a:t>
            </a:r>
          </a:p>
          <a:p>
            <a:pPr marL="742950" lvl="1" indent="-285750">
              <a:buFont typeface="Arial" panose="020B0604020202020204" pitchFamily="34" charset="0"/>
              <a:buChar char="•"/>
            </a:pPr>
            <a:r>
              <a:rPr lang="en-US" dirty="0"/>
              <a:t>Secure storage of cardholder data.</a:t>
            </a:r>
          </a:p>
          <a:p>
            <a:pPr marL="742950" lvl="1" indent="-285750">
              <a:buFont typeface="Arial" panose="020B0604020202020204" pitchFamily="34" charset="0"/>
              <a:buChar char="•"/>
            </a:pPr>
            <a:r>
              <a:rPr lang="en-US" dirty="0"/>
              <a:t>Strong encryption and access control.</a:t>
            </a:r>
          </a:p>
          <a:p>
            <a:pPr marL="742950" lvl="1" indent="-285750">
              <a:buFont typeface="Arial" panose="020B0604020202020204" pitchFamily="34" charset="0"/>
              <a:buChar char="•"/>
            </a:pPr>
            <a:r>
              <a:rPr lang="en-US" dirty="0"/>
              <a:t>Annual compliance validation for merchants and payment processors.</a:t>
            </a:r>
          </a:p>
        </p:txBody>
      </p:sp>
      <p:pic>
        <p:nvPicPr>
          <p:cNvPr id="2050" name="Picture 2" descr="Cybersecurity Regulations: Burden or ...">
            <a:extLst>
              <a:ext uri="{FF2B5EF4-FFF2-40B4-BE49-F238E27FC236}">
                <a16:creationId xmlns:a16="http://schemas.microsoft.com/office/drawing/2014/main" id="{AD3CFA05-724F-9EF5-F617-33EA3597C9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6767" y="3055014"/>
            <a:ext cx="3376482" cy="2162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88686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C9A2A-D202-70CF-E546-FD4AD3D87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14FF53-5B17-732A-3234-5AD06C51B283}"/>
              </a:ext>
            </a:extLst>
          </p:cNvPr>
          <p:cNvSpPr>
            <a:spLocks noGrp="1"/>
          </p:cNvSpPr>
          <p:nvPr>
            <p:ph type="title"/>
          </p:nvPr>
        </p:nvSpPr>
        <p:spPr>
          <a:xfrm>
            <a:off x="467602" y="1088363"/>
            <a:ext cx="11029616" cy="1000123"/>
          </a:xfrm>
        </p:spPr>
        <p:txBody>
          <a:bodyPr>
            <a:normAutofit/>
          </a:bodyPr>
          <a:lstStyle/>
          <a:p>
            <a:pPr>
              <a:buNone/>
            </a:pPr>
            <a:r>
              <a:rPr lang="en-US" b="1" dirty="0"/>
              <a:t>NATIONAL AND REGIONAL STANDARD -  CYBERSECURITY REGULATIONS</a:t>
            </a:r>
          </a:p>
        </p:txBody>
      </p:sp>
      <p:sp>
        <p:nvSpPr>
          <p:cNvPr id="3" name="Content Placeholder 2">
            <a:extLst>
              <a:ext uri="{FF2B5EF4-FFF2-40B4-BE49-F238E27FC236}">
                <a16:creationId xmlns:a16="http://schemas.microsoft.com/office/drawing/2014/main" id="{34FF98BD-BB35-A83C-25B4-2BC37C9A4BB8}"/>
              </a:ext>
            </a:extLst>
          </p:cNvPr>
          <p:cNvSpPr>
            <a:spLocks noGrp="1"/>
          </p:cNvSpPr>
          <p:nvPr>
            <p:ph idx="1"/>
          </p:nvPr>
        </p:nvSpPr>
        <p:spPr>
          <a:xfrm>
            <a:off x="581192" y="2441009"/>
            <a:ext cx="7464378" cy="3237551"/>
          </a:xfrm>
        </p:spPr>
        <p:txBody>
          <a:bodyPr>
            <a:normAutofit/>
          </a:bodyPr>
          <a:lstStyle/>
          <a:p>
            <a:pPr>
              <a:buNone/>
            </a:pPr>
            <a:r>
              <a:rPr lang="en-US" b="1" dirty="0"/>
              <a:t>Cybersecurity Maturity Model Certification (CMMC) – USA</a:t>
            </a:r>
          </a:p>
          <a:p>
            <a:pPr>
              <a:buFont typeface="Arial" panose="020B0604020202020204" pitchFamily="34" charset="0"/>
              <a:buChar char="•"/>
            </a:pPr>
            <a:r>
              <a:rPr lang="en-US" dirty="0"/>
              <a:t>Focus: Defense contractor security (DoD supply chain).</a:t>
            </a:r>
          </a:p>
          <a:p>
            <a:pPr>
              <a:buFont typeface="Arial" panose="020B0604020202020204" pitchFamily="34" charset="0"/>
              <a:buChar char="•"/>
            </a:pPr>
            <a:r>
              <a:rPr lang="en-US" dirty="0"/>
              <a:t>Key Requirements:</a:t>
            </a:r>
          </a:p>
          <a:p>
            <a:pPr marL="742950" lvl="1" indent="-285750">
              <a:buFont typeface="Arial" panose="020B0604020202020204" pitchFamily="34" charset="0"/>
              <a:buChar char="•"/>
            </a:pPr>
            <a:r>
              <a:rPr lang="en-US" dirty="0"/>
              <a:t>Tiered certification for vendors based on risk level.</a:t>
            </a:r>
          </a:p>
          <a:p>
            <a:pPr marL="742950" lvl="1" indent="-285750">
              <a:buFont typeface="Arial" panose="020B0604020202020204" pitchFamily="34" charset="0"/>
              <a:buChar char="•"/>
            </a:pPr>
            <a:r>
              <a:rPr lang="en-US" dirty="0"/>
              <a:t>NIST 800-171 compliance for data protection.</a:t>
            </a:r>
          </a:p>
        </p:txBody>
      </p:sp>
      <p:pic>
        <p:nvPicPr>
          <p:cNvPr id="2050" name="Picture 2" descr="Cybersecurity Regulations: Burden or ...">
            <a:extLst>
              <a:ext uri="{FF2B5EF4-FFF2-40B4-BE49-F238E27FC236}">
                <a16:creationId xmlns:a16="http://schemas.microsoft.com/office/drawing/2014/main" id="{09861747-EE45-0046-0280-077287CA94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6767" y="3055014"/>
            <a:ext cx="3376482" cy="2162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781339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5B6D7-076B-9A1E-29A0-D1D150714C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54B150-8F0B-8BA7-CF2C-81E2D367EEDE}"/>
              </a:ext>
            </a:extLst>
          </p:cNvPr>
          <p:cNvSpPr>
            <a:spLocks noGrp="1"/>
          </p:cNvSpPr>
          <p:nvPr>
            <p:ph type="title"/>
          </p:nvPr>
        </p:nvSpPr>
        <p:spPr>
          <a:xfrm>
            <a:off x="467602" y="1088363"/>
            <a:ext cx="11029616" cy="1000123"/>
          </a:xfrm>
        </p:spPr>
        <p:txBody>
          <a:bodyPr>
            <a:normAutofit/>
          </a:bodyPr>
          <a:lstStyle/>
          <a:p>
            <a:pPr>
              <a:buNone/>
            </a:pPr>
            <a:r>
              <a:rPr lang="en-US" b="1" dirty="0"/>
              <a:t>NATIONAL AND REGIONAL STANDARD -  CYBERSECURITY REGULATIONS</a:t>
            </a:r>
          </a:p>
        </p:txBody>
      </p:sp>
      <p:sp>
        <p:nvSpPr>
          <p:cNvPr id="3" name="Content Placeholder 2">
            <a:extLst>
              <a:ext uri="{FF2B5EF4-FFF2-40B4-BE49-F238E27FC236}">
                <a16:creationId xmlns:a16="http://schemas.microsoft.com/office/drawing/2014/main" id="{3D3257E0-DBC9-D4D7-18C7-BE9885D08992}"/>
              </a:ext>
            </a:extLst>
          </p:cNvPr>
          <p:cNvSpPr>
            <a:spLocks noGrp="1"/>
          </p:cNvSpPr>
          <p:nvPr>
            <p:ph idx="1"/>
          </p:nvPr>
        </p:nvSpPr>
        <p:spPr>
          <a:xfrm>
            <a:off x="581192" y="2441009"/>
            <a:ext cx="7464378" cy="3237551"/>
          </a:xfrm>
        </p:spPr>
        <p:txBody>
          <a:bodyPr>
            <a:normAutofit/>
          </a:bodyPr>
          <a:lstStyle/>
          <a:p>
            <a:pPr>
              <a:buNone/>
            </a:pPr>
            <a:r>
              <a:rPr lang="en-US" b="1" dirty="0"/>
              <a:t>California Consumer Privacy Act (CCPA) – USA</a:t>
            </a:r>
          </a:p>
          <a:p>
            <a:pPr>
              <a:buFont typeface="Arial" panose="020B0604020202020204" pitchFamily="34" charset="0"/>
              <a:buChar char="•"/>
            </a:pPr>
            <a:r>
              <a:rPr lang="en-US" dirty="0"/>
              <a:t>Focus: Consumer data protection for California residents.</a:t>
            </a:r>
          </a:p>
          <a:p>
            <a:pPr>
              <a:buFont typeface="Arial" panose="020B0604020202020204" pitchFamily="34" charset="0"/>
              <a:buChar char="•"/>
            </a:pPr>
            <a:r>
              <a:rPr lang="en-US" dirty="0"/>
              <a:t>Key Requirements:</a:t>
            </a:r>
          </a:p>
          <a:p>
            <a:pPr marL="742950" lvl="1" indent="-285750">
              <a:buFont typeface="Arial" panose="020B0604020202020204" pitchFamily="34" charset="0"/>
              <a:buChar char="•"/>
            </a:pPr>
            <a:r>
              <a:rPr lang="en-US" dirty="0"/>
              <a:t>Right to access, delete, and opt-out of data sales.</a:t>
            </a:r>
          </a:p>
          <a:p>
            <a:pPr marL="742950" lvl="1" indent="-285750">
              <a:buFont typeface="Arial" panose="020B0604020202020204" pitchFamily="34" charset="0"/>
              <a:buChar char="•"/>
            </a:pPr>
            <a:r>
              <a:rPr lang="en-US" dirty="0"/>
              <a:t>Transparency in data collection and sharing.</a:t>
            </a:r>
          </a:p>
        </p:txBody>
      </p:sp>
      <p:pic>
        <p:nvPicPr>
          <p:cNvPr id="2050" name="Picture 2" descr="Cybersecurity Regulations: Burden or ...">
            <a:extLst>
              <a:ext uri="{FF2B5EF4-FFF2-40B4-BE49-F238E27FC236}">
                <a16:creationId xmlns:a16="http://schemas.microsoft.com/office/drawing/2014/main" id="{CBFB5890-92F5-BD29-9E9A-36083B3EE0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6767" y="3055014"/>
            <a:ext cx="3376482" cy="2162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68364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84A66-FBA7-675A-B7D4-E34FDB9E9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5906FE-3E5D-5403-C6B5-DDB639C7360D}"/>
              </a:ext>
            </a:extLst>
          </p:cNvPr>
          <p:cNvSpPr>
            <a:spLocks noGrp="1"/>
          </p:cNvSpPr>
          <p:nvPr>
            <p:ph type="title"/>
          </p:nvPr>
        </p:nvSpPr>
        <p:spPr>
          <a:xfrm>
            <a:off x="467602" y="1088363"/>
            <a:ext cx="11029616" cy="1000123"/>
          </a:xfrm>
        </p:spPr>
        <p:txBody>
          <a:bodyPr>
            <a:normAutofit/>
          </a:bodyPr>
          <a:lstStyle/>
          <a:p>
            <a:pPr>
              <a:buNone/>
            </a:pPr>
            <a:r>
              <a:rPr lang="en-US" b="1" dirty="0"/>
              <a:t>NATIONAL AND REGIONAL STANDARD -  CYBERSECURITY REGULATIONS</a:t>
            </a:r>
          </a:p>
        </p:txBody>
      </p:sp>
      <p:sp>
        <p:nvSpPr>
          <p:cNvPr id="3" name="Content Placeholder 2">
            <a:extLst>
              <a:ext uri="{FF2B5EF4-FFF2-40B4-BE49-F238E27FC236}">
                <a16:creationId xmlns:a16="http://schemas.microsoft.com/office/drawing/2014/main" id="{BEDCB942-B5EC-0CF3-34B6-203F572021FF}"/>
              </a:ext>
            </a:extLst>
          </p:cNvPr>
          <p:cNvSpPr>
            <a:spLocks noGrp="1"/>
          </p:cNvSpPr>
          <p:nvPr>
            <p:ph idx="1"/>
          </p:nvPr>
        </p:nvSpPr>
        <p:spPr>
          <a:xfrm>
            <a:off x="581192" y="2441009"/>
            <a:ext cx="7464378" cy="3237551"/>
          </a:xfrm>
        </p:spPr>
        <p:txBody>
          <a:bodyPr>
            <a:normAutofit/>
          </a:bodyPr>
          <a:lstStyle/>
          <a:p>
            <a:pPr>
              <a:buNone/>
            </a:pPr>
            <a:r>
              <a:rPr lang="en-US" b="1" dirty="0"/>
              <a:t>Nigeria Data Protection Act (NDPA) – Nigeria</a:t>
            </a:r>
          </a:p>
          <a:p>
            <a:pPr>
              <a:buFont typeface="Arial" panose="020B0604020202020204" pitchFamily="34" charset="0"/>
              <a:buChar char="•"/>
            </a:pPr>
            <a:r>
              <a:rPr lang="en-US" dirty="0"/>
              <a:t>Focus: Data protection and privacy compliance for Nigerian businesses.</a:t>
            </a:r>
          </a:p>
          <a:p>
            <a:pPr>
              <a:buFont typeface="Arial" panose="020B0604020202020204" pitchFamily="34" charset="0"/>
              <a:buChar char="•"/>
            </a:pPr>
            <a:r>
              <a:rPr lang="en-US" dirty="0"/>
              <a:t>Key Requirements:</a:t>
            </a:r>
          </a:p>
          <a:p>
            <a:pPr marL="742950" lvl="1" indent="-285750">
              <a:buFont typeface="Arial" panose="020B0604020202020204" pitchFamily="34" charset="0"/>
              <a:buChar char="•"/>
            </a:pPr>
            <a:r>
              <a:rPr lang="en-US" dirty="0"/>
              <a:t>Consent-based data processing.</a:t>
            </a:r>
          </a:p>
          <a:p>
            <a:pPr marL="742950" lvl="1" indent="-285750">
              <a:buFont typeface="Arial" panose="020B0604020202020204" pitchFamily="34" charset="0"/>
              <a:buChar char="•"/>
            </a:pPr>
            <a:r>
              <a:rPr lang="en-US" dirty="0"/>
              <a:t>Data subject rights and compliance requirements.</a:t>
            </a:r>
          </a:p>
        </p:txBody>
      </p:sp>
      <p:pic>
        <p:nvPicPr>
          <p:cNvPr id="2050" name="Picture 2" descr="Cybersecurity Regulations: Burden or ...">
            <a:extLst>
              <a:ext uri="{FF2B5EF4-FFF2-40B4-BE49-F238E27FC236}">
                <a16:creationId xmlns:a16="http://schemas.microsoft.com/office/drawing/2014/main" id="{DC8803FB-005D-2D8E-FBA9-2A479717C3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6767" y="3055014"/>
            <a:ext cx="3376482" cy="2162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872907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E89CE-6B83-6F9E-E7A6-3EBEB43F1D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A1B92-E05B-668B-5EAB-264747BC17E8}"/>
              </a:ext>
            </a:extLst>
          </p:cNvPr>
          <p:cNvSpPr>
            <a:spLocks noGrp="1"/>
          </p:cNvSpPr>
          <p:nvPr>
            <p:ph type="title"/>
          </p:nvPr>
        </p:nvSpPr>
        <p:spPr>
          <a:xfrm>
            <a:off x="467602" y="1088363"/>
            <a:ext cx="11029616" cy="1000123"/>
          </a:xfrm>
        </p:spPr>
        <p:txBody>
          <a:bodyPr>
            <a:normAutofit/>
          </a:bodyPr>
          <a:lstStyle/>
          <a:p>
            <a:pPr>
              <a:buNone/>
            </a:pPr>
            <a:r>
              <a:rPr lang="en-US" b="1" dirty="0"/>
              <a:t>NATIONAL AND REGIONAL STANDARD -  CYBERSECURITY REGULATIONS</a:t>
            </a:r>
          </a:p>
        </p:txBody>
      </p:sp>
      <p:sp>
        <p:nvSpPr>
          <p:cNvPr id="3" name="Content Placeholder 2">
            <a:extLst>
              <a:ext uri="{FF2B5EF4-FFF2-40B4-BE49-F238E27FC236}">
                <a16:creationId xmlns:a16="http://schemas.microsoft.com/office/drawing/2014/main" id="{7FF2B8D9-6058-760F-A2AD-DB1BC560BCAA}"/>
              </a:ext>
            </a:extLst>
          </p:cNvPr>
          <p:cNvSpPr>
            <a:spLocks noGrp="1"/>
          </p:cNvSpPr>
          <p:nvPr>
            <p:ph idx="1"/>
          </p:nvPr>
        </p:nvSpPr>
        <p:spPr>
          <a:xfrm>
            <a:off x="581192" y="2441009"/>
            <a:ext cx="7464378" cy="3237551"/>
          </a:xfrm>
        </p:spPr>
        <p:txBody>
          <a:bodyPr>
            <a:normAutofit/>
          </a:bodyPr>
          <a:lstStyle/>
          <a:p>
            <a:pPr>
              <a:buNone/>
            </a:pPr>
            <a:r>
              <a:rPr lang="en-US" b="1" dirty="0"/>
              <a:t>China Cybersecurity Law (CSL) – China</a:t>
            </a:r>
          </a:p>
          <a:p>
            <a:pPr>
              <a:buFont typeface="Arial" panose="020B0604020202020204" pitchFamily="34" charset="0"/>
              <a:buChar char="•"/>
            </a:pPr>
            <a:r>
              <a:rPr lang="en-US" dirty="0"/>
              <a:t>Focus: Regulating online security and data protection in China.</a:t>
            </a:r>
          </a:p>
          <a:p>
            <a:pPr>
              <a:buFont typeface="Arial" panose="020B0604020202020204" pitchFamily="34" charset="0"/>
              <a:buChar char="•"/>
            </a:pPr>
            <a:r>
              <a:rPr lang="en-US" dirty="0"/>
              <a:t>Key Requirements:</a:t>
            </a:r>
          </a:p>
          <a:p>
            <a:pPr marL="742950" lvl="1" indent="-285750">
              <a:buFont typeface="Arial" panose="020B0604020202020204" pitchFamily="34" charset="0"/>
              <a:buChar char="•"/>
            </a:pPr>
            <a:r>
              <a:rPr lang="en-US" dirty="0"/>
              <a:t>Data localization for Chinese citizens’ data.</a:t>
            </a:r>
          </a:p>
          <a:p>
            <a:pPr marL="742950" lvl="1" indent="-285750">
              <a:buFont typeface="Arial" panose="020B0604020202020204" pitchFamily="34" charset="0"/>
              <a:buChar char="•"/>
            </a:pPr>
            <a:r>
              <a:rPr lang="en-US" dirty="0"/>
              <a:t>Strict monitoring of network operations.</a:t>
            </a:r>
          </a:p>
        </p:txBody>
      </p:sp>
      <p:pic>
        <p:nvPicPr>
          <p:cNvPr id="2050" name="Picture 2" descr="Cybersecurity Regulations: Burden or ...">
            <a:extLst>
              <a:ext uri="{FF2B5EF4-FFF2-40B4-BE49-F238E27FC236}">
                <a16:creationId xmlns:a16="http://schemas.microsoft.com/office/drawing/2014/main" id="{7B197A0F-9004-3764-3559-F9230F3932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6767" y="3055014"/>
            <a:ext cx="3376482" cy="2162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89111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87126-87C1-AFCF-BD7E-8268F8C1B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E0F09E-DBE3-065C-6BF7-5F15A8B82388}"/>
              </a:ext>
            </a:extLst>
          </p:cNvPr>
          <p:cNvSpPr>
            <a:spLocks noGrp="1"/>
          </p:cNvSpPr>
          <p:nvPr>
            <p:ph type="title"/>
          </p:nvPr>
        </p:nvSpPr>
        <p:spPr>
          <a:xfrm>
            <a:off x="467602" y="1088363"/>
            <a:ext cx="11029616" cy="1000123"/>
          </a:xfrm>
        </p:spPr>
        <p:txBody>
          <a:bodyPr>
            <a:normAutofit/>
          </a:bodyPr>
          <a:lstStyle/>
          <a:p>
            <a:pPr>
              <a:buNone/>
            </a:pPr>
            <a:r>
              <a:rPr lang="en-US" dirty="0"/>
              <a:t>Frameworks &amp; Guidelines Supporting Cybersecurity Compliance</a:t>
            </a:r>
            <a:endParaRPr lang="en-US" b="1" dirty="0"/>
          </a:p>
        </p:txBody>
      </p:sp>
      <p:sp>
        <p:nvSpPr>
          <p:cNvPr id="3" name="Content Placeholder 2">
            <a:extLst>
              <a:ext uri="{FF2B5EF4-FFF2-40B4-BE49-F238E27FC236}">
                <a16:creationId xmlns:a16="http://schemas.microsoft.com/office/drawing/2014/main" id="{81EAC713-F755-18AE-040B-E3A165B6D92B}"/>
              </a:ext>
            </a:extLst>
          </p:cNvPr>
          <p:cNvSpPr>
            <a:spLocks noGrp="1"/>
          </p:cNvSpPr>
          <p:nvPr>
            <p:ph idx="1"/>
          </p:nvPr>
        </p:nvSpPr>
        <p:spPr>
          <a:xfrm>
            <a:off x="581192" y="2441009"/>
            <a:ext cx="7464378" cy="3237551"/>
          </a:xfrm>
        </p:spPr>
        <p:txBody>
          <a:bodyPr>
            <a:normAutofit/>
          </a:bodyPr>
          <a:lstStyle/>
          <a:p>
            <a:pPr>
              <a:buNone/>
            </a:pPr>
            <a:r>
              <a:rPr lang="en-US" b="1" dirty="0"/>
              <a:t>NIST Cybersecurity Framework (CSF) – USA</a:t>
            </a:r>
          </a:p>
          <a:p>
            <a:pPr>
              <a:buFont typeface="Arial" panose="020B0604020202020204" pitchFamily="34" charset="0"/>
              <a:buChar char="•"/>
            </a:pPr>
            <a:r>
              <a:rPr lang="en-US" dirty="0"/>
              <a:t>Focus: Best practices for managing cybersecurity risks.</a:t>
            </a:r>
          </a:p>
          <a:p>
            <a:pPr>
              <a:buFont typeface="Arial" panose="020B0604020202020204" pitchFamily="34" charset="0"/>
              <a:buChar char="•"/>
            </a:pPr>
            <a:r>
              <a:rPr lang="en-US" dirty="0"/>
              <a:t>Key Requirements:</a:t>
            </a:r>
          </a:p>
          <a:p>
            <a:pPr marL="742950" lvl="1" indent="-285750">
              <a:buFont typeface="Arial" panose="020B0604020202020204" pitchFamily="34" charset="0"/>
              <a:buChar char="•"/>
            </a:pPr>
            <a:r>
              <a:rPr lang="en-US" dirty="0"/>
              <a:t>Identify, Protect, Detect, Respond, and Recover framework.</a:t>
            </a:r>
          </a:p>
        </p:txBody>
      </p:sp>
      <p:pic>
        <p:nvPicPr>
          <p:cNvPr id="2050" name="Picture 2" descr="Cybersecurity Regulations: Burden or ...">
            <a:extLst>
              <a:ext uri="{FF2B5EF4-FFF2-40B4-BE49-F238E27FC236}">
                <a16:creationId xmlns:a16="http://schemas.microsoft.com/office/drawing/2014/main" id="{1A0079F0-A2C9-6E03-AB02-44840A2E4F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6767" y="3055014"/>
            <a:ext cx="3376482" cy="2162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53791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B3EBD-96B5-26A5-C8C4-98B616DE15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9CF40D-BE54-237E-5B11-94CCF00EC207}"/>
              </a:ext>
            </a:extLst>
          </p:cNvPr>
          <p:cNvSpPr>
            <a:spLocks noGrp="1"/>
          </p:cNvSpPr>
          <p:nvPr>
            <p:ph type="title"/>
          </p:nvPr>
        </p:nvSpPr>
        <p:spPr>
          <a:xfrm>
            <a:off x="467602" y="1088363"/>
            <a:ext cx="11029616" cy="1000123"/>
          </a:xfrm>
        </p:spPr>
        <p:txBody>
          <a:bodyPr>
            <a:normAutofit/>
          </a:bodyPr>
          <a:lstStyle/>
          <a:p>
            <a:pPr>
              <a:buNone/>
            </a:pPr>
            <a:r>
              <a:rPr lang="en-US" dirty="0"/>
              <a:t>Frameworks &amp; Guidelines Supporting Cybersecurity Compliance</a:t>
            </a:r>
            <a:endParaRPr lang="en-US" b="1" dirty="0"/>
          </a:p>
        </p:txBody>
      </p:sp>
      <p:sp>
        <p:nvSpPr>
          <p:cNvPr id="3" name="Content Placeholder 2">
            <a:extLst>
              <a:ext uri="{FF2B5EF4-FFF2-40B4-BE49-F238E27FC236}">
                <a16:creationId xmlns:a16="http://schemas.microsoft.com/office/drawing/2014/main" id="{4327ADA5-0D59-257C-F357-A155AAD57C0C}"/>
              </a:ext>
            </a:extLst>
          </p:cNvPr>
          <p:cNvSpPr>
            <a:spLocks noGrp="1"/>
          </p:cNvSpPr>
          <p:nvPr>
            <p:ph idx="1"/>
          </p:nvPr>
        </p:nvSpPr>
        <p:spPr>
          <a:xfrm>
            <a:off x="581192" y="2441009"/>
            <a:ext cx="7464378" cy="3237551"/>
          </a:xfrm>
        </p:spPr>
        <p:txBody>
          <a:bodyPr>
            <a:normAutofit/>
          </a:bodyPr>
          <a:lstStyle/>
          <a:p>
            <a:pPr>
              <a:buNone/>
            </a:pPr>
            <a:r>
              <a:rPr lang="en-US" b="1" dirty="0"/>
              <a:t>CIS Controls – Global</a:t>
            </a:r>
          </a:p>
          <a:p>
            <a:pPr>
              <a:buFont typeface="Arial" panose="020B0604020202020204" pitchFamily="34" charset="0"/>
              <a:buChar char="•"/>
            </a:pPr>
            <a:r>
              <a:rPr lang="en-US" dirty="0"/>
              <a:t>Focus: Cyber defense strategies for businesses.</a:t>
            </a:r>
          </a:p>
          <a:p>
            <a:pPr>
              <a:buFont typeface="Arial" panose="020B0604020202020204" pitchFamily="34" charset="0"/>
              <a:buChar char="•"/>
            </a:pPr>
            <a:r>
              <a:rPr lang="en-US" dirty="0"/>
              <a:t>Key Requirements:</a:t>
            </a:r>
          </a:p>
          <a:p>
            <a:pPr marL="742950" lvl="1" indent="-285750">
              <a:buFont typeface="Arial" panose="020B0604020202020204" pitchFamily="34" charset="0"/>
              <a:buChar char="•"/>
            </a:pPr>
            <a:r>
              <a:rPr lang="en-US" dirty="0"/>
              <a:t>18 security controls for preventing cyberattacks.</a:t>
            </a:r>
          </a:p>
        </p:txBody>
      </p:sp>
      <p:pic>
        <p:nvPicPr>
          <p:cNvPr id="2050" name="Picture 2" descr="Cybersecurity Regulations: Burden or ...">
            <a:extLst>
              <a:ext uri="{FF2B5EF4-FFF2-40B4-BE49-F238E27FC236}">
                <a16:creationId xmlns:a16="http://schemas.microsoft.com/office/drawing/2014/main" id="{960A8F49-4779-8730-E914-640BC77DC1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6767" y="3055014"/>
            <a:ext cx="3376482" cy="2162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96179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0DB9B-FB0A-7064-F0D7-2E9D6FFC84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882151-D92C-0E26-D608-D860B3DF33FE}"/>
              </a:ext>
            </a:extLst>
          </p:cNvPr>
          <p:cNvSpPr>
            <a:spLocks noGrp="1"/>
          </p:cNvSpPr>
          <p:nvPr>
            <p:ph type="title"/>
          </p:nvPr>
        </p:nvSpPr>
        <p:spPr>
          <a:xfrm>
            <a:off x="467602" y="1088363"/>
            <a:ext cx="11029616" cy="1000123"/>
          </a:xfrm>
        </p:spPr>
        <p:txBody>
          <a:bodyPr>
            <a:normAutofit/>
          </a:bodyPr>
          <a:lstStyle/>
          <a:p>
            <a:pPr>
              <a:buNone/>
            </a:pPr>
            <a:r>
              <a:rPr lang="en-US" dirty="0"/>
              <a:t>Frameworks &amp; Guidelines Supporting Cybersecurity Compliance</a:t>
            </a:r>
            <a:endParaRPr lang="en-US" b="1" dirty="0"/>
          </a:p>
        </p:txBody>
      </p:sp>
      <p:sp>
        <p:nvSpPr>
          <p:cNvPr id="3" name="Content Placeholder 2">
            <a:extLst>
              <a:ext uri="{FF2B5EF4-FFF2-40B4-BE49-F238E27FC236}">
                <a16:creationId xmlns:a16="http://schemas.microsoft.com/office/drawing/2014/main" id="{D4E3AEB6-A9A1-A938-DA3C-9CB45F117337}"/>
              </a:ext>
            </a:extLst>
          </p:cNvPr>
          <p:cNvSpPr>
            <a:spLocks noGrp="1"/>
          </p:cNvSpPr>
          <p:nvPr>
            <p:ph idx="1"/>
          </p:nvPr>
        </p:nvSpPr>
        <p:spPr>
          <a:xfrm>
            <a:off x="581192" y="2441009"/>
            <a:ext cx="7464378" cy="3237551"/>
          </a:xfrm>
        </p:spPr>
        <p:txBody>
          <a:bodyPr>
            <a:normAutofit/>
          </a:bodyPr>
          <a:lstStyle/>
          <a:p>
            <a:pPr>
              <a:buNone/>
            </a:pPr>
            <a:r>
              <a:rPr lang="en-US" b="1" dirty="0"/>
              <a:t>SOC 2 – Global (AICPA)</a:t>
            </a:r>
          </a:p>
          <a:p>
            <a:pPr>
              <a:buFont typeface="Arial" panose="020B0604020202020204" pitchFamily="34" charset="0"/>
              <a:buChar char="•"/>
            </a:pPr>
            <a:r>
              <a:rPr lang="en-US" dirty="0"/>
              <a:t>Focus: Security, availability, processing integrity, confidentiality, and privacy.</a:t>
            </a:r>
          </a:p>
          <a:p>
            <a:pPr>
              <a:buFont typeface="Arial" panose="020B0604020202020204" pitchFamily="34" charset="0"/>
              <a:buChar char="•"/>
            </a:pPr>
            <a:r>
              <a:rPr lang="en-US" dirty="0"/>
              <a:t>Key Requirements:</a:t>
            </a:r>
          </a:p>
          <a:p>
            <a:pPr marL="742950" lvl="1" indent="-285750">
              <a:buFont typeface="Arial" panose="020B0604020202020204" pitchFamily="34" charset="0"/>
              <a:buChar char="•"/>
            </a:pPr>
            <a:r>
              <a:rPr lang="en-US" dirty="0"/>
              <a:t>Audits for service providers handling sensitive data.</a:t>
            </a:r>
          </a:p>
        </p:txBody>
      </p:sp>
      <p:pic>
        <p:nvPicPr>
          <p:cNvPr id="2050" name="Picture 2" descr="Cybersecurity Regulations: Burden or ...">
            <a:extLst>
              <a:ext uri="{FF2B5EF4-FFF2-40B4-BE49-F238E27FC236}">
                <a16:creationId xmlns:a16="http://schemas.microsoft.com/office/drawing/2014/main" id="{AD0F5142-840A-C29B-38FA-90E37336A0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6767" y="3055014"/>
            <a:ext cx="3376482" cy="2162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17530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3F716-71CF-CBD9-861C-B3BE1648DF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0F740F-F7D5-7C46-BE72-3EAA8EF631BA}"/>
              </a:ext>
            </a:extLst>
          </p:cNvPr>
          <p:cNvSpPr>
            <a:spLocks noGrp="1"/>
          </p:cNvSpPr>
          <p:nvPr>
            <p:ph type="title"/>
          </p:nvPr>
        </p:nvSpPr>
        <p:spPr>
          <a:xfrm>
            <a:off x="467602" y="1088363"/>
            <a:ext cx="11029616" cy="1000123"/>
          </a:xfrm>
        </p:spPr>
        <p:txBody>
          <a:bodyPr>
            <a:normAutofit/>
          </a:bodyPr>
          <a:lstStyle/>
          <a:p>
            <a:pPr>
              <a:buNone/>
            </a:pPr>
            <a:r>
              <a:rPr lang="en-US" dirty="0"/>
              <a:t>Cybersecurity REGULATIONS</a:t>
            </a:r>
            <a:endParaRPr lang="en-US" b="1" dirty="0"/>
          </a:p>
        </p:txBody>
      </p:sp>
      <p:sp>
        <p:nvSpPr>
          <p:cNvPr id="3" name="Content Placeholder 2">
            <a:extLst>
              <a:ext uri="{FF2B5EF4-FFF2-40B4-BE49-F238E27FC236}">
                <a16:creationId xmlns:a16="http://schemas.microsoft.com/office/drawing/2014/main" id="{0D001B4F-869C-F4D4-F8C1-8DEE5CBD4ACC}"/>
              </a:ext>
            </a:extLst>
          </p:cNvPr>
          <p:cNvSpPr>
            <a:spLocks noGrp="1"/>
          </p:cNvSpPr>
          <p:nvPr>
            <p:ph idx="1"/>
          </p:nvPr>
        </p:nvSpPr>
        <p:spPr>
          <a:xfrm>
            <a:off x="581192" y="2441009"/>
            <a:ext cx="7464378" cy="3237551"/>
          </a:xfrm>
        </p:spPr>
        <p:txBody>
          <a:bodyPr>
            <a:normAutofit/>
          </a:bodyPr>
          <a:lstStyle/>
          <a:p>
            <a:r>
              <a:rPr lang="en-US" dirty="0"/>
              <a:t>Cybersecurity regulations play a crucial role in protecting personal, financial, and organizational data from cyber threats. Compliance helps businesses avoid hefty fines, data breaches, and reputational damage. Organizations should align their security strategies with these regulations to ensure data integrity, confidentiality, and availability.</a:t>
            </a:r>
          </a:p>
        </p:txBody>
      </p:sp>
      <p:pic>
        <p:nvPicPr>
          <p:cNvPr id="2050" name="Picture 2" descr="Cybersecurity Regulations: Burden or ...">
            <a:extLst>
              <a:ext uri="{FF2B5EF4-FFF2-40B4-BE49-F238E27FC236}">
                <a16:creationId xmlns:a16="http://schemas.microsoft.com/office/drawing/2014/main" id="{A0ADD9F1-C99A-C0BB-0BA5-DEA67889BE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6767" y="3055014"/>
            <a:ext cx="3376482" cy="2162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69285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2DE9F-ACFA-540B-31D9-CAA4B989E9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0C62D8-B350-3026-D7A6-6F420B05876B}"/>
              </a:ext>
            </a:extLst>
          </p:cNvPr>
          <p:cNvSpPr>
            <a:spLocks noGrp="1"/>
          </p:cNvSpPr>
          <p:nvPr>
            <p:ph type="title"/>
          </p:nvPr>
        </p:nvSpPr>
        <p:spPr/>
        <p:txBody>
          <a:bodyPr>
            <a:normAutofit/>
          </a:bodyPr>
          <a:lstStyle/>
          <a:p>
            <a:r>
              <a:rPr lang="en-US" sz="3600" dirty="0"/>
              <a:t>Cybersecurity Framework, CSF Core Function and Cybersecurity Legislations</a:t>
            </a:r>
            <a:br>
              <a:rPr lang="en-US" dirty="0"/>
            </a:br>
            <a:endParaRPr lang="en-US" dirty="0"/>
          </a:p>
        </p:txBody>
      </p:sp>
      <p:sp>
        <p:nvSpPr>
          <p:cNvPr id="3" name="Text Placeholder 2">
            <a:extLst>
              <a:ext uri="{FF2B5EF4-FFF2-40B4-BE49-F238E27FC236}">
                <a16:creationId xmlns:a16="http://schemas.microsoft.com/office/drawing/2014/main" id="{3B13A158-42F2-848A-6E92-7C51CA5C3A9B}"/>
              </a:ext>
            </a:extLst>
          </p:cNvPr>
          <p:cNvSpPr>
            <a:spLocks noGrp="1"/>
          </p:cNvSpPr>
          <p:nvPr>
            <p:ph type="body" idx="1"/>
          </p:nvPr>
        </p:nvSpPr>
        <p:spPr/>
        <p:txBody>
          <a:bodyPr/>
          <a:lstStyle/>
          <a:p>
            <a:endParaRPr lang="en-NG" dirty="0"/>
          </a:p>
        </p:txBody>
      </p:sp>
    </p:spTree>
    <p:extLst>
      <p:ext uri="{BB962C8B-B14F-4D97-AF65-F5344CB8AC3E}">
        <p14:creationId xmlns:p14="http://schemas.microsoft.com/office/powerpoint/2010/main" val="20982032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5A833-A5F2-F045-E028-B3D4E462E0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4E3044-C4BC-0AE6-A1C3-97BE377A26C6}"/>
              </a:ext>
            </a:extLst>
          </p:cNvPr>
          <p:cNvSpPr>
            <a:spLocks noGrp="1"/>
          </p:cNvSpPr>
          <p:nvPr>
            <p:ph type="title"/>
          </p:nvPr>
        </p:nvSpPr>
        <p:spPr>
          <a:xfrm>
            <a:off x="467602" y="1088363"/>
            <a:ext cx="11029616" cy="1000123"/>
          </a:xfrm>
        </p:spPr>
        <p:txBody>
          <a:bodyPr>
            <a:normAutofit/>
          </a:bodyPr>
          <a:lstStyle/>
          <a:p>
            <a:pPr>
              <a:buNone/>
            </a:pPr>
            <a:r>
              <a:rPr lang="en-US" dirty="0"/>
              <a:t>Cybersecurity Framework (CSF)</a:t>
            </a:r>
            <a:endParaRPr lang="en-US" b="1" dirty="0"/>
          </a:p>
        </p:txBody>
      </p:sp>
      <p:sp>
        <p:nvSpPr>
          <p:cNvPr id="3" name="Content Placeholder 2">
            <a:extLst>
              <a:ext uri="{FF2B5EF4-FFF2-40B4-BE49-F238E27FC236}">
                <a16:creationId xmlns:a16="http://schemas.microsoft.com/office/drawing/2014/main" id="{DB93B0D4-AC64-B2E5-5D28-9F120C0B7D15}"/>
              </a:ext>
            </a:extLst>
          </p:cNvPr>
          <p:cNvSpPr>
            <a:spLocks noGrp="1"/>
          </p:cNvSpPr>
          <p:nvPr>
            <p:ph idx="1"/>
          </p:nvPr>
        </p:nvSpPr>
        <p:spPr>
          <a:xfrm>
            <a:off x="581192" y="2441009"/>
            <a:ext cx="7464378" cy="3237551"/>
          </a:xfrm>
        </p:spPr>
        <p:txBody>
          <a:bodyPr>
            <a:normAutofit/>
          </a:bodyPr>
          <a:lstStyle/>
          <a:p>
            <a:r>
              <a:rPr lang="en-US" dirty="0"/>
              <a:t>A </a:t>
            </a:r>
            <a:r>
              <a:rPr lang="en-US" b="1" dirty="0"/>
              <a:t>Cybersecurity Framework</a:t>
            </a:r>
            <a:r>
              <a:rPr lang="en-US" dirty="0"/>
              <a:t> is a set of guidelines, best practices, and standards designed to help organizations manage cybersecurity risks effectively. It provides a structured approach to securing information systems, protecting sensitive data, and ensuring compliance with security regulations.</a:t>
            </a:r>
          </a:p>
        </p:txBody>
      </p:sp>
      <p:pic>
        <p:nvPicPr>
          <p:cNvPr id="3074" name="Picture 2" descr="NIST Cybersecurity Framework Steps ...">
            <a:extLst>
              <a:ext uri="{FF2B5EF4-FFF2-40B4-BE49-F238E27FC236}">
                <a16:creationId xmlns:a16="http://schemas.microsoft.com/office/drawing/2014/main" id="{0C6FAF14-1EC1-E83D-93C9-57A5D6F8CF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57103" y="2867706"/>
            <a:ext cx="2506827" cy="2473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0087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C704F-0BBF-3FED-D5DA-2789F212CF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D082B0-86C2-A0EB-A1CB-C9FA50708ABA}"/>
              </a:ext>
            </a:extLst>
          </p:cNvPr>
          <p:cNvSpPr>
            <a:spLocks noGrp="1"/>
          </p:cNvSpPr>
          <p:nvPr>
            <p:ph type="title"/>
          </p:nvPr>
        </p:nvSpPr>
        <p:spPr>
          <a:xfrm>
            <a:off x="467602" y="1088363"/>
            <a:ext cx="11029616" cy="1000123"/>
          </a:xfrm>
        </p:spPr>
        <p:txBody>
          <a:bodyPr>
            <a:normAutofit/>
          </a:bodyPr>
          <a:lstStyle/>
          <a:p>
            <a:pPr>
              <a:buNone/>
            </a:pPr>
            <a:r>
              <a:rPr lang="en-US" dirty="0"/>
              <a:t>Cybersecurity Framework (CSF)</a:t>
            </a:r>
            <a:endParaRPr lang="en-US" b="1" dirty="0"/>
          </a:p>
        </p:txBody>
      </p:sp>
      <p:sp>
        <p:nvSpPr>
          <p:cNvPr id="3" name="Content Placeholder 2">
            <a:extLst>
              <a:ext uri="{FF2B5EF4-FFF2-40B4-BE49-F238E27FC236}">
                <a16:creationId xmlns:a16="http://schemas.microsoft.com/office/drawing/2014/main" id="{DF958EC6-8420-5236-0F90-71B0BFAF4662}"/>
              </a:ext>
            </a:extLst>
          </p:cNvPr>
          <p:cNvSpPr>
            <a:spLocks noGrp="1"/>
          </p:cNvSpPr>
          <p:nvPr>
            <p:ph idx="1"/>
          </p:nvPr>
        </p:nvSpPr>
        <p:spPr>
          <a:xfrm>
            <a:off x="581192" y="2441009"/>
            <a:ext cx="7464378" cy="3237551"/>
          </a:xfrm>
        </p:spPr>
        <p:txBody>
          <a:bodyPr>
            <a:normAutofit/>
          </a:bodyPr>
          <a:lstStyle/>
          <a:p>
            <a:pPr>
              <a:buNone/>
            </a:pPr>
            <a:r>
              <a:rPr lang="en-US" b="1" dirty="0"/>
              <a:t>Key Objectives of a Cybersecurity Framework:</a:t>
            </a:r>
          </a:p>
          <a:p>
            <a:pPr>
              <a:buFont typeface="Arial" panose="020B0604020202020204" pitchFamily="34" charset="0"/>
              <a:buChar char="•"/>
            </a:pPr>
            <a:r>
              <a:rPr lang="en-US" dirty="0"/>
              <a:t>Establish a risk-based approach to cybersecurity.</a:t>
            </a:r>
          </a:p>
          <a:p>
            <a:pPr>
              <a:buFont typeface="Arial" panose="020B0604020202020204" pitchFamily="34" charset="0"/>
              <a:buChar char="•"/>
            </a:pPr>
            <a:r>
              <a:rPr lang="en-US" dirty="0"/>
              <a:t>Standardize security processes across industries.</a:t>
            </a:r>
          </a:p>
          <a:p>
            <a:pPr>
              <a:buFont typeface="Arial" panose="020B0604020202020204" pitchFamily="34" charset="0"/>
              <a:buChar char="•"/>
            </a:pPr>
            <a:r>
              <a:rPr lang="en-US" dirty="0"/>
              <a:t>Improve the ability to detect, respond to, and recover from cyber incidents.</a:t>
            </a:r>
          </a:p>
          <a:p>
            <a:pPr>
              <a:buFont typeface="Arial" panose="020B0604020202020204" pitchFamily="34" charset="0"/>
              <a:buChar char="•"/>
            </a:pPr>
            <a:r>
              <a:rPr lang="en-US" dirty="0"/>
              <a:t>Ensure compliance with legal and regulatory requirements.</a:t>
            </a:r>
          </a:p>
        </p:txBody>
      </p:sp>
      <p:pic>
        <p:nvPicPr>
          <p:cNvPr id="3074" name="Picture 2" descr="NIST Cybersecurity Framework Steps ...">
            <a:extLst>
              <a:ext uri="{FF2B5EF4-FFF2-40B4-BE49-F238E27FC236}">
                <a16:creationId xmlns:a16="http://schemas.microsoft.com/office/drawing/2014/main" id="{807DFB6A-77B8-5AFD-E4BF-F29481391D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57103" y="2867706"/>
            <a:ext cx="2506827" cy="2473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0989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8F1EB-48CC-C0E4-5C6B-3749BB4124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481C34-5FA1-76EE-06C8-A3F17C4AB2B0}"/>
              </a:ext>
            </a:extLst>
          </p:cNvPr>
          <p:cNvSpPr>
            <a:spLocks noGrp="1"/>
          </p:cNvSpPr>
          <p:nvPr>
            <p:ph type="title"/>
          </p:nvPr>
        </p:nvSpPr>
        <p:spPr>
          <a:xfrm>
            <a:off x="467602" y="1088363"/>
            <a:ext cx="11029616" cy="1000123"/>
          </a:xfrm>
        </p:spPr>
        <p:txBody>
          <a:bodyPr>
            <a:normAutofit/>
          </a:bodyPr>
          <a:lstStyle/>
          <a:p>
            <a:pPr>
              <a:buNone/>
            </a:pPr>
            <a:r>
              <a:rPr lang="en-US" dirty="0"/>
              <a:t>POPOLAR Cybersecurity Framework (CSF)</a:t>
            </a:r>
            <a:endParaRPr lang="en-US" b="1" dirty="0"/>
          </a:p>
        </p:txBody>
      </p:sp>
      <p:sp>
        <p:nvSpPr>
          <p:cNvPr id="3" name="Content Placeholder 2">
            <a:extLst>
              <a:ext uri="{FF2B5EF4-FFF2-40B4-BE49-F238E27FC236}">
                <a16:creationId xmlns:a16="http://schemas.microsoft.com/office/drawing/2014/main" id="{D0E76D32-E7F0-9D66-0AA0-D924E979585C}"/>
              </a:ext>
            </a:extLst>
          </p:cNvPr>
          <p:cNvSpPr>
            <a:spLocks noGrp="1"/>
          </p:cNvSpPr>
          <p:nvPr>
            <p:ph idx="1"/>
          </p:nvPr>
        </p:nvSpPr>
        <p:spPr>
          <a:xfrm>
            <a:off x="581192" y="2441009"/>
            <a:ext cx="7464378" cy="3237551"/>
          </a:xfrm>
        </p:spPr>
        <p:txBody>
          <a:bodyPr>
            <a:normAutofit lnSpcReduction="10000"/>
          </a:bodyPr>
          <a:lstStyle/>
          <a:p>
            <a:pPr>
              <a:buFont typeface="Arial" panose="020B0604020202020204" pitchFamily="34" charset="0"/>
              <a:buChar char="•"/>
            </a:pPr>
            <a:r>
              <a:rPr lang="en-US" dirty="0"/>
              <a:t>NIST Cybersecurity Framework (CSF) – U.S. government standard for cybersecurity risk management.</a:t>
            </a:r>
          </a:p>
          <a:p>
            <a:pPr>
              <a:buFont typeface="Arial" panose="020B0604020202020204" pitchFamily="34" charset="0"/>
              <a:buChar char="•"/>
            </a:pPr>
            <a:r>
              <a:rPr lang="en-US" dirty="0"/>
              <a:t>ISO/IEC 27001 – International standard for information security management.</a:t>
            </a:r>
          </a:p>
          <a:p>
            <a:pPr>
              <a:buFont typeface="Arial" panose="020B0604020202020204" pitchFamily="34" charset="0"/>
              <a:buChar char="•"/>
            </a:pPr>
            <a:r>
              <a:rPr lang="en-US" dirty="0"/>
              <a:t>CIS Controls – A set of best practices to protect organizations from cyber threats.</a:t>
            </a:r>
          </a:p>
          <a:p>
            <a:pPr>
              <a:buFont typeface="Arial" panose="020B0604020202020204" pitchFamily="34" charset="0"/>
              <a:buChar char="•"/>
            </a:pPr>
            <a:r>
              <a:rPr lang="en-US" dirty="0"/>
              <a:t>COBIT (Control Objectives for Information and Related Technologies) – IT governance framework for managing risk.</a:t>
            </a:r>
          </a:p>
          <a:p>
            <a:pPr>
              <a:buFont typeface="Arial" panose="020B0604020202020204" pitchFamily="34" charset="0"/>
              <a:buChar char="•"/>
            </a:pPr>
            <a:r>
              <a:rPr lang="en-US" dirty="0"/>
              <a:t> 2 (System and Organization Controls 2) – Security compliance framework for service providers.</a:t>
            </a:r>
          </a:p>
        </p:txBody>
      </p:sp>
      <p:pic>
        <p:nvPicPr>
          <p:cNvPr id="3074" name="Picture 2" descr="NIST Cybersecurity Framework Steps ...">
            <a:extLst>
              <a:ext uri="{FF2B5EF4-FFF2-40B4-BE49-F238E27FC236}">
                <a16:creationId xmlns:a16="http://schemas.microsoft.com/office/drawing/2014/main" id="{03A46B63-B214-5E17-9E04-8F40023047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57103" y="2867706"/>
            <a:ext cx="2506827" cy="2473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302156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FA68E-9C13-CAE0-6DF0-C6EE5558C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40445E-8943-A06F-156B-680582AF839B}"/>
              </a:ext>
            </a:extLst>
          </p:cNvPr>
          <p:cNvSpPr>
            <a:spLocks noGrp="1"/>
          </p:cNvSpPr>
          <p:nvPr>
            <p:ph type="title"/>
          </p:nvPr>
        </p:nvSpPr>
        <p:spPr>
          <a:xfrm>
            <a:off x="467602" y="1088363"/>
            <a:ext cx="11029616" cy="1000123"/>
          </a:xfrm>
        </p:spPr>
        <p:txBody>
          <a:bodyPr>
            <a:normAutofit/>
          </a:bodyPr>
          <a:lstStyle/>
          <a:p>
            <a:pPr>
              <a:buNone/>
            </a:pPr>
            <a:r>
              <a:rPr lang="en-US" dirty="0"/>
              <a:t>NIST CSF Core Functions</a:t>
            </a:r>
            <a:endParaRPr lang="en-US" b="1" dirty="0"/>
          </a:p>
        </p:txBody>
      </p:sp>
      <p:sp>
        <p:nvSpPr>
          <p:cNvPr id="3" name="Content Placeholder 2">
            <a:extLst>
              <a:ext uri="{FF2B5EF4-FFF2-40B4-BE49-F238E27FC236}">
                <a16:creationId xmlns:a16="http://schemas.microsoft.com/office/drawing/2014/main" id="{AAC73894-5516-CCB2-F549-C529C55730FB}"/>
              </a:ext>
            </a:extLst>
          </p:cNvPr>
          <p:cNvSpPr>
            <a:spLocks noGrp="1"/>
          </p:cNvSpPr>
          <p:nvPr>
            <p:ph idx="1"/>
          </p:nvPr>
        </p:nvSpPr>
        <p:spPr>
          <a:xfrm>
            <a:off x="581192" y="2441009"/>
            <a:ext cx="7464378" cy="3237551"/>
          </a:xfrm>
        </p:spPr>
        <p:txBody>
          <a:bodyPr>
            <a:normAutofit/>
          </a:bodyPr>
          <a:lstStyle/>
          <a:p>
            <a:pPr>
              <a:buFont typeface="Arial" panose="020B0604020202020204" pitchFamily="34" charset="0"/>
              <a:buChar char="•"/>
            </a:pPr>
            <a:r>
              <a:rPr lang="en-US" dirty="0"/>
              <a:t>The </a:t>
            </a:r>
            <a:r>
              <a:rPr lang="en-US" b="1" dirty="0"/>
              <a:t>NIST Cybersecurity Framework (CSF)</a:t>
            </a:r>
            <a:r>
              <a:rPr lang="en-US" dirty="0"/>
              <a:t>, developed by the U.S. National Institute of Standards and Technology (NIST), provides a flexible and comprehensive approach to managing cybersecurity risks. The framework consists of </a:t>
            </a:r>
            <a:r>
              <a:rPr lang="en-US" b="1" dirty="0"/>
              <a:t>five core functions</a:t>
            </a:r>
            <a:r>
              <a:rPr lang="en-US" dirty="0"/>
              <a:t>, which act as the foundation for a successful cybersecurity strategy:</a:t>
            </a:r>
          </a:p>
        </p:txBody>
      </p:sp>
      <p:pic>
        <p:nvPicPr>
          <p:cNvPr id="5122" name="Picture 2" descr="Cybersecurity Framework 2.0 - Overview ...">
            <a:extLst>
              <a:ext uri="{FF2B5EF4-FFF2-40B4-BE49-F238E27FC236}">
                <a16:creationId xmlns:a16="http://schemas.microsoft.com/office/drawing/2014/main" id="{68E2FAB7-98AF-1D6B-9006-49A51D5024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7403" y="2538867"/>
            <a:ext cx="2715304" cy="2715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759868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5FFBD-B71C-6DD0-E8D3-2507C58BE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EF7D18-8AE3-A647-CD0A-14AAF4C7D88E}"/>
              </a:ext>
            </a:extLst>
          </p:cNvPr>
          <p:cNvSpPr>
            <a:spLocks noGrp="1"/>
          </p:cNvSpPr>
          <p:nvPr>
            <p:ph type="title"/>
          </p:nvPr>
        </p:nvSpPr>
        <p:spPr>
          <a:xfrm>
            <a:off x="467602" y="1088363"/>
            <a:ext cx="11029616" cy="1000123"/>
          </a:xfrm>
        </p:spPr>
        <p:txBody>
          <a:bodyPr>
            <a:normAutofit/>
          </a:bodyPr>
          <a:lstStyle/>
          <a:p>
            <a:pPr>
              <a:buNone/>
            </a:pPr>
            <a:r>
              <a:rPr lang="en-US" dirty="0"/>
              <a:t>NIST CSF Core Functions</a:t>
            </a:r>
            <a:endParaRPr lang="en-US" b="1" dirty="0"/>
          </a:p>
        </p:txBody>
      </p:sp>
      <p:sp>
        <p:nvSpPr>
          <p:cNvPr id="3" name="Content Placeholder 2">
            <a:extLst>
              <a:ext uri="{FF2B5EF4-FFF2-40B4-BE49-F238E27FC236}">
                <a16:creationId xmlns:a16="http://schemas.microsoft.com/office/drawing/2014/main" id="{0E7C9127-EA3F-EB0C-F34D-C3E5CF20A066}"/>
              </a:ext>
            </a:extLst>
          </p:cNvPr>
          <p:cNvSpPr>
            <a:spLocks noGrp="1"/>
          </p:cNvSpPr>
          <p:nvPr>
            <p:ph idx="1"/>
          </p:nvPr>
        </p:nvSpPr>
        <p:spPr>
          <a:xfrm>
            <a:off x="581192" y="2441009"/>
            <a:ext cx="7464378" cy="3237551"/>
          </a:xfrm>
        </p:spPr>
        <p:txBody>
          <a:bodyPr>
            <a:normAutofit/>
          </a:bodyPr>
          <a:lstStyle/>
          <a:p>
            <a:pPr>
              <a:buNone/>
            </a:pPr>
            <a:r>
              <a:rPr lang="en-US" b="1" dirty="0"/>
              <a:t>Identify</a:t>
            </a:r>
          </a:p>
          <a:p>
            <a:pPr>
              <a:buFont typeface="Arial" panose="020B0604020202020204" pitchFamily="34" charset="0"/>
              <a:buChar char="•"/>
            </a:pPr>
            <a:r>
              <a:rPr lang="en-US" dirty="0"/>
              <a:t>Understand and manage cybersecurity risks to systems, assets, data, and capabilities.</a:t>
            </a:r>
          </a:p>
          <a:p>
            <a:pPr>
              <a:buFont typeface="Arial" panose="020B0604020202020204" pitchFamily="34" charset="0"/>
              <a:buChar char="•"/>
            </a:pPr>
            <a:r>
              <a:rPr lang="en-US" dirty="0"/>
              <a:t>Key activities:</a:t>
            </a:r>
          </a:p>
          <a:p>
            <a:pPr marL="742950" lvl="1" indent="-285750">
              <a:buFont typeface="Arial" panose="020B0604020202020204" pitchFamily="34" charset="0"/>
              <a:buChar char="•"/>
            </a:pPr>
            <a:r>
              <a:rPr lang="en-US" dirty="0"/>
              <a:t>Asset management</a:t>
            </a:r>
          </a:p>
          <a:p>
            <a:pPr marL="742950" lvl="1" indent="-285750">
              <a:buFont typeface="Arial" panose="020B0604020202020204" pitchFamily="34" charset="0"/>
              <a:buChar char="•"/>
            </a:pPr>
            <a:r>
              <a:rPr lang="en-US" dirty="0"/>
              <a:t>Risk assessment</a:t>
            </a:r>
          </a:p>
          <a:p>
            <a:pPr marL="742950" lvl="1" indent="-285750">
              <a:buFont typeface="Arial" panose="020B0604020202020204" pitchFamily="34" charset="0"/>
              <a:buChar char="•"/>
            </a:pPr>
            <a:r>
              <a:rPr lang="en-US" dirty="0"/>
              <a:t>Governance and compliance</a:t>
            </a:r>
          </a:p>
        </p:txBody>
      </p:sp>
      <p:pic>
        <p:nvPicPr>
          <p:cNvPr id="5122" name="Picture 2" descr="Cybersecurity Framework 2.0 - Overview ...">
            <a:extLst>
              <a:ext uri="{FF2B5EF4-FFF2-40B4-BE49-F238E27FC236}">
                <a16:creationId xmlns:a16="http://schemas.microsoft.com/office/drawing/2014/main" id="{3ED0AFC0-11C3-0051-88D8-7B577D36BA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7403" y="2538867"/>
            <a:ext cx="2715304" cy="2715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172145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3B6B1-2CE2-F0E9-F985-2F963CF8E5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6CB616-CD2D-4823-4DF8-1CD5659CA8C6}"/>
              </a:ext>
            </a:extLst>
          </p:cNvPr>
          <p:cNvSpPr>
            <a:spLocks noGrp="1"/>
          </p:cNvSpPr>
          <p:nvPr>
            <p:ph type="title"/>
          </p:nvPr>
        </p:nvSpPr>
        <p:spPr>
          <a:xfrm>
            <a:off x="467602" y="1088363"/>
            <a:ext cx="11029616" cy="1000123"/>
          </a:xfrm>
        </p:spPr>
        <p:txBody>
          <a:bodyPr>
            <a:normAutofit/>
          </a:bodyPr>
          <a:lstStyle/>
          <a:p>
            <a:pPr>
              <a:buNone/>
            </a:pPr>
            <a:r>
              <a:rPr lang="en-US" dirty="0"/>
              <a:t>NIST CSF Core Functions</a:t>
            </a:r>
            <a:endParaRPr lang="en-US" b="1" dirty="0"/>
          </a:p>
        </p:txBody>
      </p:sp>
      <p:sp>
        <p:nvSpPr>
          <p:cNvPr id="3" name="Content Placeholder 2">
            <a:extLst>
              <a:ext uri="{FF2B5EF4-FFF2-40B4-BE49-F238E27FC236}">
                <a16:creationId xmlns:a16="http://schemas.microsoft.com/office/drawing/2014/main" id="{33F125AE-A334-CB9C-9E61-E2083C01B8E7}"/>
              </a:ext>
            </a:extLst>
          </p:cNvPr>
          <p:cNvSpPr>
            <a:spLocks noGrp="1"/>
          </p:cNvSpPr>
          <p:nvPr>
            <p:ph idx="1"/>
          </p:nvPr>
        </p:nvSpPr>
        <p:spPr>
          <a:xfrm>
            <a:off x="581192" y="2441009"/>
            <a:ext cx="7464378" cy="3237551"/>
          </a:xfrm>
        </p:spPr>
        <p:txBody>
          <a:bodyPr>
            <a:normAutofit/>
          </a:bodyPr>
          <a:lstStyle/>
          <a:p>
            <a:pPr>
              <a:buNone/>
            </a:pPr>
            <a:r>
              <a:rPr lang="en-US" b="1" dirty="0"/>
              <a:t>Protect</a:t>
            </a:r>
          </a:p>
          <a:p>
            <a:pPr>
              <a:buFont typeface="Arial" panose="020B0604020202020204" pitchFamily="34" charset="0"/>
              <a:buChar char="•"/>
            </a:pPr>
            <a:r>
              <a:rPr lang="en-US" dirty="0"/>
              <a:t>Implement safeguards to ensure the security of systems and sensitive information.</a:t>
            </a:r>
          </a:p>
          <a:p>
            <a:pPr>
              <a:buFont typeface="Arial" panose="020B0604020202020204" pitchFamily="34" charset="0"/>
              <a:buChar char="•"/>
            </a:pPr>
            <a:r>
              <a:rPr lang="en-US" dirty="0"/>
              <a:t>Key activities:</a:t>
            </a:r>
          </a:p>
          <a:p>
            <a:pPr marL="742950" lvl="1" indent="-285750">
              <a:buFont typeface="Arial" panose="020B0604020202020204" pitchFamily="34" charset="0"/>
              <a:buChar char="•"/>
            </a:pPr>
            <a:r>
              <a:rPr lang="en-US" dirty="0"/>
              <a:t>Access control</a:t>
            </a:r>
          </a:p>
          <a:p>
            <a:pPr marL="742950" lvl="1" indent="-285750">
              <a:buFont typeface="Arial" panose="020B0604020202020204" pitchFamily="34" charset="0"/>
              <a:buChar char="•"/>
            </a:pPr>
            <a:r>
              <a:rPr lang="en-US" dirty="0"/>
              <a:t>Data security and encryption</a:t>
            </a:r>
          </a:p>
          <a:p>
            <a:pPr marL="742950" lvl="1" indent="-285750">
              <a:buFont typeface="Arial" panose="020B0604020202020204" pitchFamily="34" charset="0"/>
              <a:buChar char="•"/>
            </a:pPr>
            <a:r>
              <a:rPr lang="en-US" dirty="0"/>
              <a:t>Security awareness training</a:t>
            </a:r>
          </a:p>
          <a:p>
            <a:pPr marL="742950" lvl="1" indent="-285750">
              <a:buFont typeface="Arial" panose="020B0604020202020204" pitchFamily="34" charset="0"/>
              <a:buChar char="•"/>
            </a:pPr>
            <a:r>
              <a:rPr lang="en-US" dirty="0"/>
              <a:t>Protective technology implementation</a:t>
            </a:r>
          </a:p>
        </p:txBody>
      </p:sp>
      <p:pic>
        <p:nvPicPr>
          <p:cNvPr id="5122" name="Picture 2" descr="Cybersecurity Framework 2.0 - Overview ...">
            <a:extLst>
              <a:ext uri="{FF2B5EF4-FFF2-40B4-BE49-F238E27FC236}">
                <a16:creationId xmlns:a16="http://schemas.microsoft.com/office/drawing/2014/main" id="{6F39E34C-4595-800A-B633-EEA9B23273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7403" y="2538867"/>
            <a:ext cx="2715304" cy="2715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12983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321A4-95A7-2A93-CB07-48D106D621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5A2CAC-AD6D-9A15-2C04-885B5006E359}"/>
              </a:ext>
            </a:extLst>
          </p:cNvPr>
          <p:cNvSpPr>
            <a:spLocks noGrp="1"/>
          </p:cNvSpPr>
          <p:nvPr>
            <p:ph type="title"/>
          </p:nvPr>
        </p:nvSpPr>
        <p:spPr>
          <a:xfrm>
            <a:off x="467602" y="1088363"/>
            <a:ext cx="11029616" cy="1000123"/>
          </a:xfrm>
        </p:spPr>
        <p:txBody>
          <a:bodyPr>
            <a:normAutofit/>
          </a:bodyPr>
          <a:lstStyle/>
          <a:p>
            <a:pPr>
              <a:buNone/>
            </a:pPr>
            <a:r>
              <a:rPr lang="en-US" dirty="0"/>
              <a:t>NIST CSF Core Functions</a:t>
            </a:r>
            <a:endParaRPr lang="en-US" b="1" dirty="0"/>
          </a:p>
        </p:txBody>
      </p:sp>
      <p:sp>
        <p:nvSpPr>
          <p:cNvPr id="3" name="Content Placeholder 2">
            <a:extLst>
              <a:ext uri="{FF2B5EF4-FFF2-40B4-BE49-F238E27FC236}">
                <a16:creationId xmlns:a16="http://schemas.microsoft.com/office/drawing/2014/main" id="{BF0C1968-9F59-563B-2444-C76861EAB952}"/>
              </a:ext>
            </a:extLst>
          </p:cNvPr>
          <p:cNvSpPr>
            <a:spLocks noGrp="1"/>
          </p:cNvSpPr>
          <p:nvPr>
            <p:ph idx="1"/>
          </p:nvPr>
        </p:nvSpPr>
        <p:spPr>
          <a:xfrm>
            <a:off x="581192" y="2441009"/>
            <a:ext cx="7464378" cy="3237551"/>
          </a:xfrm>
        </p:spPr>
        <p:txBody>
          <a:bodyPr>
            <a:normAutofit/>
          </a:bodyPr>
          <a:lstStyle/>
          <a:p>
            <a:pPr>
              <a:buNone/>
            </a:pPr>
            <a:r>
              <a:rPr lang="en-US" b="1" dirty="0"/>
              <a:t>Detect</a:t>
            </a:r>
          </a:p>
          <a:p>
            <a:pPr>
              <a:buFont typeface="Arial" panose="020B0604020202020204" pitchFamily="34" charset="0"/>
              <a:buChar char="•"/>
            </a:pPr>
            <a:r>
              <a:rPr lang="en-US" dirty="0"/>
              <a:t>Establish mechanisms to identify cybersecurity events and threats in real time.</a:t>
            </a:r>
          </a:p>
          <a:p>
            <a:pPr>
              <a:buFont typeface="Arial" panose="020B0604020202020204" pitchFamily="34" charset="0"/>
              <a:buChar char="•"/>
            </a:pPr>
            <a:r>
              <a:rPr lang="en-US" dirty="0"/>
              <a:t>Key activities:</a:t>
            </a:r>
          </a:p>
          <a:p>
            <a:pPr marL="742950" lvl="1" indent="-285750">
              <a:buFont typeface="Arial" panose="020B0604020202020204" pitchFamily="34" charset="0"/>
              <a:buChar char="•"/>
            </a:pPr>
            <a:r>
              <a:rPr lang="en-US" dirty="0"/>
              <a:t>Continuous monitoring</a:t>
            </a:r>
          </a:p>
          <a:p>
            <a:pPr marL="742950" lvl="1" indent="-285750">
              <a:buFont typeface="Arial" panose="020B0604020202020204" pitchFamily="34" charset="0"/>
              <a:buChar char="•"/>
            </a:pPr>
            <a:r>
              <a:rPr lang="en-US" dirty="0"/>
              <a:t>Threat detection and analysis</a:t>
            </a:r>
          </a:p>
          <a:p>
            <a:pPr marL="742950" lvl="1" indent="-285750">
              <a:buFont typeface="Arial" panose="020B0604020202020204" pitchFamily="34" charset="0"/>
              <a:buChar char="•"/>
            </a:pPr>
            <a:r>
              <a:rPr lang="en-US" dirty="0"/>
              <a:t>Security event logging</a:t>
            </a:r>
          </a:p>
        </p:txBody>
      </p:sp>
      <p:pic>
        <p:nvPicPr>
          <p:cNvPr id="5122" name="Picture 2" descr="Cybersecurity Framework 2.0 - Overview ...">
            <a:extLst>
              <a:ext uri="{FF2B5EF4-FFF2-40B4-BE49-F238E27FC236}">
                <a16:creationId xmlns:a16="http://schemas.microsoft.com/office/drawing/2014/main" id="{0C6357EA-3258-52BB-E94C-D2FC068FD5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7403" y="2538867"/>
            <a:ext cx="2715304" cy="2715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304903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AB11F-FFF9-DB77-D1CD-5B131AC3FD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12E5DF-18C1-C3F0-4790-AD3DEFDE329B}"/>
              </a:ext>
            </a:extLst>
          </p:cNvPr>
          <p:cNvSpPr>
            <a:spLocks noGrp="1"/>
          </p:cNvSpPr>
          <p:nvPr>
            <p:ph type="title"/>
          </p:nvPr>
        </p:nvSpPr>
        <p:spPr>
          <a:xfrm>
            <a:off x="467602" y="1088363"/>
            <a:ext cx="11029616" cy="1000123"/>
          </a:xfrm>
        </p:spPr>
        <p:txBody>
          <a:bodyPr>
            <a:normAutofit/>
          </a:bodyPr>
          <a:lstStyle/>
          <a:p>
            <a:pPr>
              <a:buNone/>
            </a:pPr>
            <a:r>
              <a:rPr lang="en-US" dirty="0"/>
              <a:t>NIST CSF Core Functions</a:t>
            </a:r>
            <a:endParaRPr lang="en-US" b="1" dirty="0"/>
          </a:p>
        </p:txBody>
      </p:sp>
      <p:sp>
        <p:nvSpPr>
          <p:cNvPr id="3" name="Content Placeholder 2">
            <a:extLst>
              <a:ext uri="{FF2B5EF4-FFF2-40B4-BE49-F238E27FC236}">
                <a16:creationId xmlns:a16="http://schemas.microsoft.com/office/drawing/2014/main" id="{0EE3DF40-3430-70AF-4D8A-A7F7A4C03631}"/>
              </a:ext>
            </a:extLst>
          </p:cNvPr>
          <p:cNvSpPr>
            <a:spLocks noGrp="1"/>
          </p:cNvSpPr>
          <p:nvPr>
            <p:ph idx="1"/>
          </p:nvPr>
        </p:nvSpPr>
        <p:spPr>
          <a:xfrm>
            <a:off x="581192" y="2441009"/>
            <a:ext cx="7464378" cy="3237551"/>
          </a:xfrm>
        </p:spPr>
        <p:txBody>
          <a:bodyPr>
            <a:normAutofit/>
          </a:bodyPr>
          <a:lstStyle/>
          <a:p>
            <a:pPr>
              <a:buNone/>
            </a:pPr>
            <a:r>
              <a:rPr lang="en-US" b="1" dirty="0"/>
              <a:t>Respond</a:t>
            </a:r>
          </a:p>
          <a:p>
            <a:pPr>
              <a:buFont typeface="Arial" panose="020B0604020202020204" pitchFamily="34" charset="0"/>
              <a:buChar char="•"/>
            </a:pPr>
            <a:r>
              <a:rPr lang="en-US" dirty="0"/>
              <a:t>Develop and implement incident response plans to contain and mitigate cybersecurity incidents.</a:t>
            </a:r>
          </a:p>
          <a:p>
            <a:pPr>
              <a:buFont typeface="Arial" panose="020B0604020202020204" pitchFamily="34" charset="0"/>
              <a:buChar char="•"/>
            </a:pPr>
            <a:r>
              <a:rPr lang="en-US" dirty="0"/>
              <a:t>Key activities:</a:t>
            </a:r>
          </a:p>
          <a:p>
            <a:pPr marL="742950" lvl="1" indent="-285750">
              <a:buFont typeface="Arial" panose="020B0604020202020204" pitchFamily="34" charset="0"/>
              <a:buChar char="•"/>
            </a:pPr>
            <a:r>
              <a:rPr lang="en-US" dirty="0"/>
              <a:t>Incident response planning</a:t>
            </a:r>
          </a:p>
          <a:p>
            <a:pPr marL="742950" lvl="1" indent="-285750">
              <a:buFont typeface="Arial" panose="020B0604020202020204" pitchFamily="34" charset="0"/>
              <a:buChar char="•"/>
            </a:pPr>
            <a:r>
              <a:rPr lang="en-US" dirty="0"/>
              <a:t>Communication and reporting</a:t>
            </a:r>
          </a:p>
          <a:p>
            <a:pPr marL="742950" lvl="1" indent="-285750">
              <a:buFont typeface="Arial" panose="020B0604020202020204" pitchFamily="34" charset="0"/>
              <a:buChar char="•"/>
            </a:pPr>
            <a:r>
              <a:rPr lang="en-US" dirty="0"/>
              <a:t>Forensic analysis</a:t>
            </a:r>
          </a:p>
          <a:p>
            <a:pPr marL="742950" lvl="1" indent="-285750">
              <a:buFont typeface="Arial" panose="020B0604020202020204" pitchFamily="34" charset="0"/>
              <a:buChar char="•"/>
            </a:pPr>
            <a:r>
              <a:rPr lang="en-US" dirty="0"/>
              <a:t>Mitigation and recovery actions</a:t>
            </a:r>
          </a:p>
        </p:txBody>
      </p:sp>
      <p:pic>
        <p:nvPicPr>
          <p:cNvPr id="5122" name="Picture 2" descr="Cybersecurity Framework 2.0 - Overview ...">
            <a:extLst>
              <a:ext uri="{FF2B5EF4-FFF2-40B4-BE49-F238E27FC236}">
                <a16:creationId xmlns:a16="http://schemas.microsoft.com/office/drawing/2014/main" id="{8E732FB2-84FF-56ED-1686-43087EB696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7403" y="2538867"/>
            <a:ext cx="2715304" cy="2715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697175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43C31-2C4D-2208-FCDA-84B5B3AF25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A63F69-43E2-1A83-BEF9-CB0047997A87}"/>
              </a:ext>
            </a:extLst>
          </p:cNvPr>
          <p:cNvSpPr>
            <a:spLocks noGrp="1"/>
          </p:cNvSpPr>
          <p:nvPr>
            <p:ph type="title"/>
          </p:nvPr>
        </p:nvSpPr>
        <p:spPr>
          <a:xfrm>
            <a:off x="467602" y="1088363"/>
            <a:ext cx="11029616" cy="1000123"/>
          </a:xfrm>
        </p:spPr>
        <p:txBody>
          <a:bodyPr>
            <a:normAutofit/>
          </a:bodyPr>
          <a:lstStyle/>
          <a:p>
            <a:pPr>
              <a:buNone/>
            </a:pPr>
            <a:r>
              <a:rPr lang="en-US" dirty="0"/>
              <a:t>NIST CSF Core Functions</a:t>
            </a:r>
            <a:endParaRPr lang="en-US" b="1" dirty="0"/>
          </a:p>
        </p:txBody>
      </p:sp>
      <p:sp>
        <p:nvSpPr>
          <p:cNvPr id="3" name="Content Placeholder 2">
            <a:extLst>
              <a:ext uri="{FF2B5EF4-FFF2-40B4-BE49-F238E27FC236}">
                <a16:creationId xmlns:a16="http://schemas.microsoft.com/office/drawing/2014/main" id="{13F74FAE-0AD2-00E9-DB15-404620B82B02}"/>
              </a:ext>
            </a:extLst>
          </p:cNvPr>
          <p:cNvSpPr>
            <a:spLocks noGrp="1"/>
          </p:cNvSpPr>
          <p:nvPr>
            <p:ph idx="1"/>
          </p:nvPr>
        </p:nvSpPr>
        <p:spPr>
          <a:xfrm>
            <a:off x="581192" y="2441009"/>
            <a:ext cx="7464378" cy="3237551"/>
          </a:xfrm>
        </p:spPr>
        <p:txBody>
          <a:bodyPr>
            <a:normAutofit/>
          </a:bodyPr>
          <a:lstStyle/>
          <a:p>
            <a:pPr>
              <a:buNone/>
            </a:pPr>
            <a:r>
              <a:rPr lang="en-US" b="1" dirty="0"/>
              <a:t>Recover</a:t>
            </a:r>
          </a:p>
          <a:p>
            <a:pPr>
              <a:buFont typeface="Arial" panose="020B0604020202020204" pitchFamily="34" charset="0"/>
              <a:buChar char="•"/>
            </a:pPr>
            <a:r>
              <a:rPr lang="en-US" dirty="0"/>
              <a:t>Restore systems, services, and operations after a cybersecurity event.</a:t>
            </a:r>
          </a:p>
          <a:p>
            <a:pPr>
              <a:buFont typeface="Arial" panose="020B0604020202020204" pitchFamily="34" charset="0"/>
              <a:buChar char="•"/>
            </a:pPr>
            <a:r>
              <a:rPr lang="en-US" dirty="0"/>
              <a:t>Key activities:</a:t>
            </a:r>
          </a:p>
          <a:p>
            <a:pPr marL="742950" lvl="1" indent="-285750">
              <a:buFont typeface="Arial" panose="020B0604020202020204" pitchFamily="34" charset="0"/>
              <a:buChar char="•"/>
            </a:pPr>
            <a:r>
              <a:rPr lang="en-US" dirty="0"/>
              <a:t>Business continuity planning</a:t>
            </a:r>
          </a:p>
          <a:p>
            <a:pPr marL="742950" lvl="1" indent="-285750">
              <a:buFont typeface="Arial" panose="020B0604020202020204" pitchFamily="34" charset="0"/>
              <a:buChar char="•"/>
            </a:pPr>
            <a:r>
              <a:rPr lang="en-US" dirty="0"/>
              <a:t>Disaster recovery</a:t>
            </a:r>
          </a:p>
          <a:p>
            <a:pPr marL="742950" lvl="1" indent="-285750">
              <a:buFont typeface="Arial" panose="020B0604020202020204" pitchFamily="34" charset="0"/>
              <a:buChar char="•"/>
            </a:pPr>
            <a:r>
              <a:rPr lang="en-US" dirty="0"/>
              <a:t>Post-incident review and improvement</a:t>
            </a:r>
          </a:p>
        </p:txBody>
      </p:sp>
      <p:pic>
        <p:nvPicPr>
          <p:cNvPr id="5122" name="Picture 2" descr="Cybersecurity Framework 2.0 - Overview ...">
            <a:extLst>
              <a:ext uri="{FF2B5EF4-FFF2-40B4-BE49-F238E27FC236}">
                <a16:creationId xmlns:a16="http://schemas.microsoft.com/office/drawing/2014/main" id="{D11FEC0F-14BC-C90E-E54C-EFC2E8DFF8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7403" y="2538867"/>
            <a:ext cx="2715304" cy="2715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775410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A3ED0-51A5-F7A5-6732-0CAE630D9F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350BB4-720B-737F-1346-F17B65991E1B}"/>
              </a:ext>
            </a:extLst>
          </p:cNvPr>
          <p:cNvSpPr>
            <a:spLocks noGrp="1"/>
          </p:cNvSpPr>
          <p:nvPr>
            <p:ph type="title"/>
          </p:nvPr>
        </p:nvSpPr>
        <p:spPr>
          <a:xfrm>
            <a:off x="467602" y="1088363"/>
            <a:ext cx="11029616" cy="1000123"/>
          </a:xfrm>
        </p:spPr>
        <p:txBody>
          <a:bodyPr>
            <a:normAutofit/>
          </a:bodyPr>
          <a:lstStyle/>
          <a:p>
            <a:pPr>
              <a:buNone/>
            </a:pPr>
            <a:r>
              <a:rPr lang="en-US" dirty="0"/>
              <a:t>CYBERSECURITY LEGISLATION</a:t>
            </a:r>
            <a:endParaRPr lang="en-US" b="1" dirty="0"/>
          </a:p>
        </p:txBody>
      </p:sp>
      <p:sp>
        <p:nvSpPr>
          <p:cNvPr id="3" name="Content Placeholder 2">
            <a:extLst>
              <a:ext uri="{FF2B5EF4-FFF2-40B4-BE49-F238E27FC236}">
                <a16:creationId xmlns:a16="http://schemas.microsoft.com/office/drawing/2014/main" id="{85FB603F-7689-E61B-FD1A-40A422A11207}"/>
              </a:ext>
            </a:extLst>
          </p:cNvPr>
          <p:cNvSpPr>
            <a:spLocks noGrp="1"/>
          </p:cNvSpPr>
          <p:nvPr>
            <p:ph idx="1"/>
          </p:nvPr>
        </p:nvSpPr>
        <p:spPr>
          <a:xfrm>
            <a:off x="581192" y="2441009"/>
            <a:ext cx="7464378" cy="3237551"/>
          </a:xfrm>
        </p:spPr>
        <p:txBody>
          <a:bodyPr>
            <a:normAutofit/>
          </a:bodyPr>
          <a:lstStyle/>
          <a:p>
            <a:r>
              <a:rPr lang="en-US" dirty="0"/>
              <a:t>Cybersecurity legislations are laws and regulations designed to </a:t>
            </a:r>
            <a:r>
              <a:rPr lang="en-US" b="1" dirty="0"/>
              <a:t>govern data security, privacy, and risk management</a:t>
            </a:r>
            <a:r>
              <a:rPr lang="en-US" dirty="0"/>
              <a:t> across different industries and regions. These laws ensure that organizations implement appropriate security measures and comply with legal obligations to protect sensitive information.</a:t>
            </a:r>
          </a:p>
        </p:txBody>
      </p:sp>
      <p:pic>
        <p:nvPicPr>
          <p:cNvPr id="6146" name="Picture 2" descr="Cybersecurity Laws: Meeting Evolving ...">
            <a:extLst>
              <a:ext uri="{FF2B5EF4-FFF2-40B4-BE49-F238E27FC236}">
                <a16:creationId xmlns:a16="http://schemas.microsoft.com/office/drawing/2014/main" id="{33FE9820-CC87-D1D9-0A89-6EFB231044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5570" y="3048001"/>
            <a:ext cx="3846200" cy="2278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37619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A0434-9D7C-D62C-7DFA-EA4429EF58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1DED1F-539C-C140-7458-11B77752AD12}"/>
              </a:ext>
            </a:extLst>
          </p:cNvPr>
          <p:cNvSpPr>
            <a:spLocks noGrp="1"/>
          </p:cNvSpPr>
          <p:nvPr>
            <p:ph type="title"/>
          </p:nvPr>
        </p:nvSpPr>
        <p:spPr>
          <a:xfrm>
            <a:off x="467602" y="1088363"/>
            <a:ext cx="11029616" cy="1000123"/>
          </a:xfrm>
        </p:spPr>
        <p:txBody>
          <a:bodyPr>
            <a:normAutofit/>
          </a:bodyPr>
          <a:lstStyle/>
          <a:p>
            <a:pPr>
              <a:buNone/>
            </a:pPr>
            <a:r>
              <a:rPr lang="en-US" dirty="0"/>
              <a:t>CYBERSECURITY LEGISLATION</a:t>
            </a:r>
            <a:endParaRPr lang="en-US" b="1" dirty="0"/>
          </a:p>
        </p:txBody>
      </p:sp>
      <p:sp>
        <p:nvSpPr>
          <p:cNvPr id="3" name="Content Placeholder 2">
            <a:extLst>
              <a:ext uri="{FF2B5EF4-FFF2-40B4-BE49-F238E27FC236}">
                <a16:creationId xmlns:a16="http://schemas.microsoft.com/office/drawing/2014/main" id="{19ABADF4-4974-E65F-7F7D-7177CA2471B5}"/>
              </a:ext>
            </a:extLst>
          </p:cNvPr>
          <p:cNvSpPr>
            <a:spLocks noGrp="1"/>
          </p:cNvSpPr>
          <p:nvPr>
            <p:ph idx="1"/>
          </p:nvPr>
        </p:nvSpPr>
        <p:spPr>
          <a:xfrm>
            <a:off x="581192" y="2441009"/>
            <a:ext cx="7464378" cy="3237551"/>
          </a:xfrm>
        </p:spPr>
        <p:txBody>
          <a:bodyPr>
            <a:normAutofit/>
          </a:bodyPr>
          <a:lstStyle/>
          <a:p>
            <a:r>
              <a:rPr lang="en-US" dirty="0"/>
              <a:t>Cybersecurity legislations are laws and regulations designed to </a:t>
            </a:r>
            <a:r>
              <a:rPr lang="en-US" b="1" dirty="0"/>
              <a:t>govern data security, privacy, and risk management</a:t>
            </a:r>
            <a:r>
              <a:rPr lang="en-US" dirty="0"/>
              <a:t> across different industries and regions. These laws ensure that organizations implement appropriate security measures and comply with legal obligations to protect sensitive information.</a:t>
            </a:r>
          </a:p>
        </p:txBody>
      </p:sp>
      <p:pic>
        <p:nvPicPr>
          <p:cNvPr id="6146" name="Picture 2" descr="Cybersecurity Laws: Meeting Evolving ...">
            <a:extLst>
              <a:ext uri="{FF2B5EF4-FFF2-40B4-BE49-F238E27FC236}">
                <a16:creationId xmlns:a16="http://schemas.microsoft.com/office/drawing/2014/main" id="{3E1BC979-975C-D258-1AC3-29F6D3E452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5570" y="3048001"/>
            <a:ext cx="3846200" cy="2278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113824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D2332-2DB6-6AC0-3696-3731EE058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1F795A-EC7D-1C46-D373-49AE0F944201}"/>
              </a:ext>
            </a:extLst>
          </p:cNvPr>
          <p:cNvSpPr>
            <a:spLocks noGrp="1"/>
          </p:cNvSpPr>
          <p:nvPr>
            <p:ph type="title"/>
          </p:nvPr>
        </p:nvSpPr>
        <p:spPr/>
        <p:txBody>
          <a:bodyPr/>
          <a:lstStyle/>
          <a:p>
            <a:r>
              <a:rPr lang="en-US" dirty="0"/>
              <a:t>Understanding Intellectual Property (IP)</a:t>
            </a:r>
            <a:endParaRPr lang="en-NG" dirty="0"/>
          </a:p>
        </p:txBody>
      </p:sp>
      <p:sp>
        <p:nvSpPr>
          <p:cNvPr id="3" name="Content Placeholder 2">
            <a:extLst>
              <a:ext uri="{FF2B5EF4-FFF2-40B4-BE49-F238E27FC236}">
                <a16:creationId xmlns:a16="http://schemas.microsoft.com/office/drawing/2014/main" id="{F82495C7-A676-C81B-72EF-B1955CAB523E}"/>
              </a:ext>
            </a:extLst>
          </p:cNvPr>
          <p:cNvSpPr>
            <a:spLocks noGrp="1"/>
          </p:cNvSpPr>
          <p:nvPr>
            <p:ph idx="1"/>
          </p:nvPr>
        </p:nvSpPr>
        <p:spPr>
          <a:xfrm>
            <a:off x="750156" y="2497623"/>
            <a:ext cx="6857191" cy="3017204"/>
          </a:xfrm>
        </p:spPr>
        <p:txBody>
          <a:bodyPr>
            <a:normAutofit/>
          </a:bodyPr>
          <a:lstStyle/>
          <a:p>
            <a:pPr marL="0" indent="0">
              <a:buNone/>
            </a:pPr>
            <a:r>
              <a:rPr lang="en-US" b="1" dirty="0"/>
              <a:t>Intellectual Property (IP)</a:t>
            </a:r>
            <a:r>
              <a:rPr lang="en-US" dirty="0"/>
              <a:t> refers to intangible creations of the mind, such as inventions, artistic works, brand names, trade secrets, and proprietary technology. IP laws grant legal protection to these creations, ensuring that their owners can benefit from their use and prevent unauthorized exploitation.</a:t>
            </a:r>
          </a:p>
        </p:txBody>
      </p:sp>
      <p:pic>
        <p:nvPicPr>
          <p:cNvPr id="9218" name="Picture 2" descr="INTELLECTUAL PROPERTY LAW IN NIGERIA ...">
            <a:extLst>
              <a:ext uri="{FF2B5EF4-FFF2-40B4-BE49-F238E27FC236}">
                <a16:creationId xmlns:a16="http://schemas.microsoft.com/office/drawing/2014/main" id="{26D224E5-DF46-FB32-A8E6-16A3325A5A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1277" y="2419056"/>
            <a:ext cx="3210567" cy="2548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541290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0E700-E56F-BCA2-D4F4-C244CA0A18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0AAD0-8143-613B-42F4-417A88BF4322}"/>
              </a:ext>
            </a:extLst>
          </p:cNvPr>
          <p:cNvSpPr>
            <a:spLocks noGrp="1"/>
          </p:cNvSpPr>
          <p:nvPr>
            <p:ph type="title"/>
          </p:nvPr>
        </p:nvSpPr>
        <p:spPr/>
        <p:txBody>
          <a:bodyPr/>
          <a:lstStyle/>
          <a:p>
            <a:r>
              <a:rPr lang="en-US" dirty="0"/>
              <a:t>Types of Intellectual Property</a:t>
            </a:r>
            <a:endParaRPr lang="en-NG" dirty="0"/>
          </a:p>
        </p:txBody>
      </p:sp>
      <p:sp>
        <p:nvSpPr>
          <p:cNvPr id="3" name="Content Placeholder 2">
            <a:extLst>
              <a:ext uri="{FF2B5EF4-FFF2-40B4-BE49-F238E27FC236}">
                <a16:creationId xmlns:a16="http://schemas.microsoft.com/office/drawing/2014/main" id="{402719B0-648B-5E96-3EA9-1A1995BEB7D3}"/>
              </a:ext>
            </a:extLst>
          </p:cNvPr>
          <p:cNvSpPr>
            <a:spLocks noGrp="1"/>
          </p:cNvSpPr>
          <p:nvPr>
            <p:ph idx="1"/>
          </p:nvPr>
        </p:nvSpPr>
        <p:spPr>
          <a:xfrm>
            <a:off x="750156" y="2497623"/>
            <a:ext cx="6857191" cy="3017204"/>
          </a:xfrm>
        </p:spPr>
        <p:txBody>
          <a:bodyPr>
            <a:normAutofit fontScale="92500" lnSpcReduction="20000"/>
          </a:bodyPr>
          <a:lstStyle/>
          <a:p>
            <a:r>
              <a:rPr lang="en-US" b="1" dirty="0"/>
              <a:t>Copyright: Protects literary, artistic, and creative works such as books, music, films, and software.</a:t>
            </a:r>
          </a:p>
          <a:p>
            <a:r>
              <a:rPr lang="en-US" b="1" dirty="0"/>
              <a:t>Patents: Grants exclusive rights to inventors for new inventions, preventing others from making, using, or selling them without permission.</a:t>
            </a:r>
          </a:p>
          <a:p>
            <a:r>
              <a:rPr lang="en-US" b="1" dirty="0"/>
              <a:t>Trademarks: Protects brand names, logos, slogans, and distinctive signs used in commerce.</a:t>
            </a:r>
          </a:p>
          <a:p>
            <a:r>
              <a:rPr lang="en-US" b="1" dirty="0"/>
              <a:t>Trade Secrets: Covers confidential business information, formulas, processes, or practices that give a company a competitive edge.</a:t>
            </a:r>
          </a:p>
          <a:p>
            <a:r>
              <a:rPr lang="en-US" b="1" dirty="0"/>
              <a:t>Industrial Designs: Protects the aesthetic or ornamental aspects of a product, such as its shape, color, or pattern.</a:t>
            </a:r>
            <a:endParaRPr lang="en-US" dirty="0"/>
          </a:p>
        </p:txBody>
      </p:sp>
      <p:pic>
        <p:nvPicPr>
          <p:cNvPr id="9218" name="Picture 2" descr="INTELLECTUAL PROPERTY LAW IN NIGERIA ...">
            <a:extLst>
              <a:ext uri="{FF2B5EF4-FFF2-40B4-BE49-F238E27FC236}">
                <a16:creationId xmlns:a16="http://schemas.microsoft.com/office/drawing/2014/main" id="{B1E603B0-6347-CD59-0F5D-DAD7D82405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1277" y="2419056"/>
            <a:ext cx="3210567" cy="2548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188738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0F187-D7AD-1ED3-CC4D-42E4ECAB2E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871059-A028-F0E7-4F2D-0422267ACBB4}"/>
              </a:ext>
            </a:extLst>
          </p:cNvPr>
          <p:cNvSpPr>
            <a:spLocks noGrp="1"/>
          </p:cNvSpPr>
          <p:nvPr>
            <p:ph type="title"/>
          </p:nvPr>
        </p:nvSpPr>
        <p:spPr/>
        <p:txBody>
          <a:bodyPr>
            <a:normAutofit/>
          </a:bodyPr>
          <a:lstStyle/>
          <a:p>
            <a:r>
              <a:rPr lang="en-US" dirty="0"/>
              <a:t>INTRODUCTION TO ETHICAL HACKING</a:t>
            </a:r>
            <a:endParaRPr lang="en-NG" dirty="0"/>
          </a:p>
        </p:txBody>
      </p:sp>
    </p:spTree>
    <p:extLst>
      <p:ext uri="{BB962C8B-B14F-4D97-AF65-F5344CB8AC3E}">
        <p14:creationId xmlns:p14="http://schemas.microsoft.com/office/powerpoint/2010/main" val="40421744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6C400-C7BA-2916-B40F-E2B76064A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54B4B3-5898-DE32-E7B9-ABD14215C49F}"/>
              </a:ext>
            </a:extLst>
          </p:cNvPr>
          <p:cNvSpPr>
            <a:spLocks noGrp="1"/>
          </p:cNvSpPr>
          <p:nvPr>
            <p:ph type="title"/>
          </p:nvPr>
        </p:nvSpPr>
        <p:spPr/>
        <p:txBody>
          <a:bodyPr/>
          <a:lstStyle/>
          <a:p>
            <a:r>
              <a:rPr lang="en-US" dirty="0"/>
              <a:t>Fundamental security concepts</a:t>
            </a:r>
            <a:endParaRPr lang="en-NG" dirty="0"/>
          </a:p>
        </p:txBody>
      </p:sp>
      <p:sp>
        <p:nvSpPr>
          <p:cNvPr id="3" name="Content Placeholder 2">
            <a:extLst>
              <a:ext uri="{FF2B5EF4-FFF2-40B4-BE49-F238E27FC236}">
                <a16:creationId xmlns:a16="http://schemas.microsoft.com/office/drawing/2014/main" id="{49AFD53D-F86B-F950-9DF2-B5AD83FF6909}"/>
              </a:ext>
            </a:extLst>
          </p:cNvPr>
          <p:cNvSpPr>
            <a:spLocks noGrp="1"/>
          </p:cNvSpPr>
          <p:nvPr>
            <p:ph idx="1"/>
          </p:nvPr>
        </p:nvSpPr>
        <p:spPr>
          <a:xfrm>
            <a:off x="750156" y="2497623"/>
            <a:ext cx="6857191" cy="3017204"/>
          </a:xfrm>
        </p:spPr>
        <p:txBody>
          <a:bodyPr>
            <a:noAutofit/>
          </a:bodyPr>
          <a:lstStyle/>
          <a:p>
            <a:pPr marL="0" indent="0">
              <a:buNone/>
            </a:pPr>
            <a:r>
              <a:rPr lang="en-US" sz="1600" b="1" dirty="0"/>
              <a:t>In addition to the CIA triad, other properties, such as authenticity, accountability, non-repudiation and reliability can also be involved.</a:t>
            </a:r>
          </a:p>
          <a:p>
            <a:pPr marL="0" indent="0">
              <a:buNone/>
            </a:pPr>
            <a:endParaRPr lang="en-US" sz="1600" b="1" dirty="0"/>
          </a:p>
          <a:p>
            <a:r>
              <a:rPr lang="en-US" sz="1600" b="1" dirty="0"/>
              <a:t>Authenticity Refers to the characteristic of a communication, document, or any data that ensures the quality of being genuine</a:t>
            </a:r>
          </a:p>
          <a:p>
            <a:r>
              <a:rPr lang="en-US" sz="1600" b="1" dirty="0"/>
              <a:t>Auditing &amp; Accountability Basically keep tracking of every thing, like, who's been logging in when are they login in whose access this data.</a:t>
            </a:r>
          </a:p>
          <a:p>
            <a:r>
              <a:rPr lang="en-US" sz="1600" b="1" dirty="0"/>
              <a:t>Non-Repudiation </a:t>
            </a:r>
            <a:r>
              <a:rPr lang="en-US" sz="1600" b="1" dirty="0" err="1"/>
              <a:t>Non-repudiation</a:t>
            </a:r>
            <a:r>
              <a:rPr lang="en-US" sz="1600" b="1" dirty="0"/>
              <a:t> is the assurance that someone cannot deny the validity of something. Non-repudiation is a legal concept that is widely used in information security and refers to a service, which provides proof of the origin of data and the integrity of the data.</a:t>
            </a:r>
          </a:p>
          <a:p>
            <a:pPr marL="0" indent="0">
              <a:buNone/>
            </a:pPr>
            <a:endParaRPr lang="en-US" sz="1600" b="1" dirty="0"/>
          </a:p>
        </p:txBody>
      </p:sp>
      <p:pic>
        <p:nvPicPr>
          <p:cNvPr id="1026" name="Picture 2">
            <a:extLst>
              <a:ext uri="{FF2B5EF4-FFF2-40B4-BE49-F238E27FC236}">
                <a16:creationId xmlns:a16="http://schemas.microsoft.com/office/drawing/2014/main" id="{78475114-FCD4-9C7A-4281-281EFB058F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2164" y="2290737"/>
            <a:ext cx="3412023" cy="2559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608884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007CC-6DA8-6505-8300-49B0BEACE9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D1D61F-0B85-D186-C34A-C15D47BC318A}"/>
              </a:ext>
            </a:extLst>
          </p:cNvPr>
          <p:cNvSpPr>
            <a:spLocks noGrp="1"/>
          </p:cNvSpPr>
          <p:nvPr>
            <p:ph type="title"/>
          </p:nvPr>
        </p:nvSpPr>
        <p:spPr/>
        <p:txBody>
          <a:bodyPr/>
          <a:lstStyle/>
          <a:p>
            <a:pPr algn="l"/>
            <a:r>
              <a:rPr lang="en-US" dirty="0"/>
              <a:t>Security, Functionality and Usability balance</a:t>
            </a:r>
          </a:p>
        </p:txBody>
      </p:sp>
      <p:sp>
        <p:nvSpPr>
          <p:cNvPr id="3" name="Content Placeholder 2">
            <a:extLst>
              <a:ext uri="{FF2B5EF4-FFF2-40B4-BE49-F238E27FC236}">
                <a16:creationId xmlns:a16="http://schemas.microsoft.com/office/drawing/2014/main" id="{2EB453FE-CA2F-6428-1801-9844998C7606}"/>
              </a:ext>
            </a:extLst>
          </p:cNvPr>
          <p:cNvSpPr>
            <a:spLocks noGrp="1"/>
          </p:cNvSpPr>
          <p:nvPr>
            <p:ph idx="1"/>
          </p:nvPr>
        </p:nvSpPr>
        <p:spPr>
          <a:xfrm>
            <a:off x="750156" y="2497623"/>
            <a:ext cx="6857191" cy="3017204"/>
          </a:xfrm>
        </p:spPr>
        <p:txBody>
          <a:bodyPr>
            <a:normAutofit/>
          </a:bodyPr>
          <a:lstStyle/>
          <a:p>
            <a:r>
              <a:rPr lang="en-US" sz="1600" b="1" dirty="0"/>
              <a:t>There is </a:t>
            </a:r>
            <a:r>
              <a:rPr lang="en-US" sz="1800" b="1" dirty="0"/>
              <a:t>an</a:t>
            </a:r>
            <a:r>
              <a:rPr lang="en-US" sz="1600" b="1" dirty="0"/>
              <a:t> inter dependency between these three attributes. When security goes up, usability and functionality come down. Any organization should balance between these three qualities to arrive at a balanced information system</a:t>
            </a:r>
          </a:p>
          <a:p>
            <a:pPr marL="0" indent="0">
              <a:buNone/>
            </a:pPr>
            <a:endParaRPr lang="en-US" b="1" dirty="0"/>
          </a:p>
        </p:txBody>
      </p:sp>
      <p:pic>
        <p:nvPicPr>
          <p:cNvPr id="2050" name="Picture 2">
            <a:extLst>
              <a:ext uri="{FF2B5EF4-FFF2-40B4-BE49-F238E27FC236}">
                <a16:creationId xmlns:a16="http://schemas.microsoft.com/office/drawing/2014/main" id="{BAD1F2AE-E0A4-D232-F717-7D16E06016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8177" y="2497623"/>
            <a:ext cx="3090750" cy="2566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664304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0E4E9-5210-D180-B443-73C1E8620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1F2AE2-DA15-D624-3AD8-2193FB03AA09}"/>
              </a:ext>
            </a:extLst>
          </p:cNvPr>
          <p:cNvSpPr>
            <a:spLocks noGrp="1"/>
          </p:cNvSpPr>
          <p:nvPr>
            <p:ph type="title"/>
          </p:nvPr>
        </p:nvSpPr>
        <p:spPr/>
        <p:txBody>
          <a:bodyPr/>
          <a:lstStyle/>
          <a:p>
            <a:r>
              <a:rPr lang="en-US" dirty="0"/>
              <a:t>Types of Hackers</a:t>
            </a:r>
            <a:br>
              <a:rPr lang="en-US" b="1" i="0" dirty="0">
                <a:solidFill>
                  <a:srgbClr val="1F2328"/>
                </a:solidFill>
                <a:effectLst/>
                <a:latin typeface="-apple-system"/>
              </a:rPr>
            </a:br>
            <a:endParaRPr lang="en-US" dirty="0"/>
          </a:p>
        </p:txBody>
      </p:sp>
      <p:sp>
        <p:nvSpPr>
          <p:cNvPr id="3" name="Content Placeholder 2">
            <a:extLst>
              <a:ext uri="{FF2B5EF4-FFF2-40B4-BE49-F238E27FC236}">
                <a16:creationId xmlns:a16="http://schemas.microsoft.com/office/drawing/2014/main" id="{94F8FEB1-913C-9BF0-04B9-66F3DD01CAA6}"/>
              </a:ext>
            </a:extLst>
          </p:cNvPr>
          <p:cNvSpPr>
            <a:spLocks noGrp="1"/>
          </p:cNvSpPr>
          <p:nvPr>
            <p:ph idx="1"/>
          </p:nvPr>
        </p:nvSpPr>
        <p:spPr>
          <a:xfrm>
            <a:off x="641187" y="2938241"/>
            <a:ext cx="6857191" cy="3017204"/>
          </a:xfrm>
        </p:spPr>
        <p:txBody>
          <a:bodyPr>
            <a:noAutofit/>
          </a:bodyPr>
          <a:lstStyle/>
          <a:p>
            <a:pPr marL="0" indent="0" algn="l">
              <a:buNone/>
            </a:pPr>
            <a:r>
              <a:rPr lang="en-US" sz="1800" b="1" dirty="0"/>
              <a:t>Refresher…</a:t>
            </a:r>
          </a:p>
          <a:p>
            <a:pPr algn="l">
              <a:buFont typeface="Arial" panose="020B0604020202020204" pitchFamily="34" charset="0"/>
              <a:buChar char="•"/>
            </a:pPr>
            <a:r>
              <a:rPr lang="en-US" sz="1800" b="1" dirty="0"/>
              <a:t>Black Hat - Hackers that seek to perform malicious activities.</a:t>
            </a:r>
          </a:p>
          <a:p>
            <a:pPr algn="l">
              <a:buFont typeface="Arial" panose="020B0604020202020204" pitchFamily="34" charset="0"/>
              <a:buChar char="•"/>
            </a:pPr>
            <a:r>
              <a:rPr lang="en-US" sz="1800" b="1" dirty="0"/>
              <a:t>Gray Hat - Hackers that perform good or bad activities but do not have the permission of the organization they are hacking against.</a:t>
            </a:r>
          </a:p>
          <a:p>
            <a:pPr algn="l">
              <a:buFont typeface="Arial" panose="020B0604020202020204" pitchFamily="34" charset="0"/>
              <a:buChar char="•"/>
            </a:pPr>
            <a:r>
              <a:rPr lang="en-US" sz="1800" b="1" dirty="0"/>
              <a:t>White Hat - Ethical hackers; They use their skills to improve security by exposing vulnerabilities before malicious hackers.</a:t>
            </a:r>
          </a:p>
          <a:p>
            <a:endParaRPr lang="en-US" sz="1800" b="1" dirty="0"/>
          </a:p>
          <a:p>
            <a:pPr marL="0" indent="0">
              <a:buNone/>
            </a:pPr>
            <a:endParaRPr lang="en-US" sz="1800" b="1" dirty="0"/>
          </a:p>
        </p:txBody>
      </p:sp>
      <p:pic>
        <p:nvPicPr>
          <p:cNvPr id="3074" name="Picture 2">
            <a:extLst>
              <a:ext uri="{FF2B5EF4-FFF2-40B4-BE49-F238E27FC236}">
                <a16:creationId xmlns:a16="http://schemas.microsoft.com/office/drawing/2014/main" id="{7CA6C3DC-5E7D-61E2-7754-B263A28F83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0330" y="2563163"/>
            <a:ext cx="3601028" cy="2614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64128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E4344-C47E-58AD-1E0F-8AF5905AB0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739929-1FD0-48DF-6983-5DA2B083452E}"/>
              </a:ext>
            </a:extLst>
          </p:cNvPr>
          <p:cNvSpPr>
            <a:spLocks noGrp="1"/>
          </p:cNvSpPr>
          <p:nvPr>
            <p:ph type="title"/>
          </p:nvPr>
        </p:nvSpPr>
        <p:spPr/>
        <p:txBody>
          <a:bodyPr/>
          <a:lstStyle/>
          <a:p>
            <a:r>
              <a:rPr lang="en-US" dirty="0"/>
              <a:t>Types of ATTACKERs</a:t>
            </a:r>
            <a:br>
              <a:rPr lang="en-US" b="1" i="0" dirty="0">
                <a:solidFill>
                  <a:srgbClr val="1F2328"/>
                </a:solidFill>
                <a:effectLst/>
                <a:latin typeface="-apple-system"/>
              </a:rPr>
            </a:br>
            <a:endParaRPr lang="en-US" dirty="0"/>
          </a:p>
        </p:txBody>
      </p:sp>
      <p:sp>
        <p:nvSpPr>
          <p:cNvPr id="3" name="Content Placeholder 2">
            <a:extLst>
              <a:ext uri="{FF2B5EF4-FFF2-40B4-BE49-F238E27FC236}">
                <a16:creationId xmlns:a16="http://schemas.microsoft.com/office/drawing/2014/main" id="{3843ED63-359B-0A6F-70F9-1478B1412934}"/>
              </a:ext>
            </a:extLst>
          </p:cNvPr>
          <p:cNvSpPr>
            <a:spLocks noGrp="1"/>
          </p:cNvSpPr>
          <p:nvPr>
            <p:ph idx="1"/>
          </p:nvPr>
        </p:nvSpPr>
        <p:spPr>
          <a:xfrm>
            <a:off x="641187" y="2938241"/>
            <a:ext cx="6857191" cy="3017204"/>
          </a:xfrm>
        </p:spPr>
        <p:txBody>
          <a:bodyPr>
            <a:noAutofit/>
          </a:bodyPr>
          <a:lstStyle/>
          <a:p>
            <a:pPr marL="0" indent="0" algn="l">
              <a:buNone/>
            </a:pPr>
            <a:r>
              <a:rPr lang="en-US" sz="1600" b="1" dirty="0"/>
              <a:t>Let’s talk about others attackers.</a:t>
            </a:r>
          </a:p>
          <a:p>
            <a:pPr>
              <a:buFont typeface="Wingdings" panose="05000000000000000000" pitchFamily="2" charset="2"/>
              <a:buChar char="§"/>
            </a:pPr>
            <a:r>
              <a:rPr lang="en-US" sz="1600" b="1" dirty="0"/>
              <a:t>Script Kiddie / </a:t>
            </a:r>
            <a:r>
              <a:rPr lang="en-US" sz="1600" b="1" dirty="0" err="1"/>
              <a:t>Skiddies</a:t>
            </a:r>
            <a:r>
              <a:rPr lang="en-US" sz="1600" b="1" dirty="0"/>
              <a:t> - Unskilled individual who uses malicious scripts or programs, such as a web shell, developed by others to attack computer systems and networks and deface websites.</a:t>
            </a:r>
          </a:p>
          <a:p>
            <a:pPr>
              <a:buFont typeface="Wingdings" panose="05000000000000000000" pitchFamily="2" charset="2"/>
              <a:buChar char="§"/>
            </a:pPr>
            <a:r>
              <a:rPr lang="en-US" sz="1600" b="1" dirty="0"/>
              <a:t>State-Sponsored Hacker - Hacker that is hired by a government or entity related.</a:t>
            </a:r>
          </a:p>
          <a:p>
            <a:pPr>
              <a:buFont typeface="Wingdings" panose="05000000000000000000" pitchFamily="2" charset="2"/>
              <a:buChar char="§"/>
            </a:pPr>
            <a:r>
              <a:rPr lang="en-US" sz="1600" b="1" dirty="0"/>
              <a:t>Hacktivist - Someone who hacks for a cause; political agenda.</a:t>
            </a:r>
          </a:p>
          <a:p>
            <a:pPr>
              <a:buFont typeface="Wingdings" panose="05000000000000000000" pitchFamily="2" charset="2"/>
              <a:buChar char="§"/>
            </a:pPr>
            <a:r>
              <a:rPr lang="en-US" sz="1600" b="1" dirty="0"/>
              <a:t>Suicide Hackers - Are hackers that are not afraid of going jail or facing any sort of punishment; hack to get the job done.</a:t>
            </a:r>
          </a:p>
          <a:p>
            <a:pPr>
              <a:buFont typeface="Wingdings" panose="05000000000000000000" pitchFamily="2" charset="2"/>
              <a:buChar char="§"/>
            </a:pPr>
            <a:r>
              <a:rPr lang="en-US" sz="1600" b="1" dirty="0"/>
              <a:t>Cyberterrorist - Motivated by religious or political beliefs to create fear or disruption.</a:t>
            </a:r>
          </a:p>
          <a:p>
            <a:pPr marL="0" indent="0" algn="l">
              <a:buNone/>
            </a:pPr>
            <a:endParaRPr lang="en-US" sz="1600" b="1" dirty="0"/>
          </a:p>
          <a:p>
            <a:endParaRPr lang="en-US" sz="1600" b="1" dirty="0"/>
          </a:p>
          <a:p>
            <a:pPr marL="0" indent="0">
              <a:buNone/>
            </a:pPr>
            <a:endParaRPr lang="en-US" sz="1600" b="1" dirty="0"/>
          </a:p>
        </p:txBody>
      </p:sp>
      <p:pic>
        <p:nvPicPr>
          <p:cNvPr id="3074" name="Picture 2">
            <a:extLst>
              <a:ext uri="{FF2B5EF4-FFF2-40B4-BE49-F238E27FC236}">
                <a16:creationId xmlns:a16="http://schemas.microsoft.com/office/drawing/2014/main" id="{3D0E6B89-DCCF-31E9-C15C-36EFCA30B2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0330" y="2563163"/>
            <a:ext cx="3601028" cy="2614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432355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2F921-153B-FCC4-C369-4A2C48B09690}"/>
              </a:ext>
            </a:extLst>
          </p:cNvPr>
          <p:cNvSpPr>
            <a:spLocks noGrp="1"/>
          </p:cNvSpPr>
          <p:nvPr>
            <p:ph type="title"/>
          </p:nvPr>
        </p:nvSpPr>
        <p:spPr/>
        <p:txBody>
          <a:bodyPr/>
          <a:lstStyle/>
          <a:p>
            <a:r>
              <a:rPr lang="en-US" dirty="0"/>
              <a:t>HACKING VOCABULARY</a:t>
            </a:r>
            <a:endParaRPr lang="en-NG" dirty="0"/>
          </a:p>
        </p:txBody>
      </p:sp>
      <p:sp>
        <p:nvSpPr>
          <p:cNvPr id="3" name="Content Placeholder 2">
            <a:extLst>
              <a:ext uri="{FF2B5EF4-FFF2-40B4-BE49-F238E27FC236}">
                <a16:creationId xmlns:a16="http://schemas.microsoft.com/office/drawing/2014/main" id="{556E7FF5-FB4A-3618-FA42-19BDDFBFAF43}"/>
              </a:ext>
            </a:extLst>
          </p:cNvPr>
          <p:cNvSpPr>
            <a:spLocks noGrp="1"/>
          </p:cNvSpPr>
          <p:nvPr>
            <p:ph idx="1"/>
          </p:nvPr>
        </p:nvSpPr>
        <p:spPr>
          <a:xfrm>
            <a:off x="581192" y="2340864"/>
            <a:ext cx="7293071" cy="3634486"/>
          </a:xfrm>
        </p:spPr>
        <p:txBody>
          <a:bodyPr>
            <a:normAutofit fontScale="62500" lnSpcReduction="20000"/>
          </a:bodyPr>
          <a:lstStyle/>
          <a:p>
            <a:pPr algn="l">
              <a:buFont typeface="Arial" panose="020B0604020202020204" pitchFamily="34" charset="0"/>
              <a:buChar char="•"/>
            </a:pPr>
            <a:r>
              <a:rPr lang="en-US" sz="1900" b="1" dirty="0"/>
              <a:t>Hack value - Perceived value or worth of a target as seen by the attacker.</a:t>
            </a:r>
          </a:p>
          <a:p>
            <a:pPr algn="l">
              <a:buFont typeface="Arial" panose="020B0604020202020204" pitchFamily="34" charset="0"/>
              <a:buChar char="•"/>
            </a:pPr>
            <a:r>
              <a:rPr lang="en-US" sz="1900" b="1" dirty="0"/>
              <a:t>Vulnerability - A system flaw, weakness on the system (on design, implementation </a:t>
            </a:r>
            <a:r>
              <a:rPr lang="en-US" sz="1900" b="1" dirty="0" err="1"/>
              <a:t>etc</a:t>
            </a:r>
            <a:r>
              <a:rPr lang="en-US" sz="1900" b="1" dirty="0"/>
              <a:t>).</a:t>
            </a:r>
          </a:p>
          <a:p>
            <a:pPr algn="l">
              <a:buFont typeface="Arial" panose="020B0604020202020204" pitchFamily="34" charset="0"/>
              <a:buChar char="•"/>
            </a:pPr>
            <a:r>
              <a:rPr lang="en-US" sz="1900" b="1" dirty="0"/>
              <a:t>Threat - Exploits a vulnerability.</a:t>
            </a:r>
          </a:p>
          <a:p>
            <a:pPr algn="l">
              <a:buFont typeface="Arial" panose="020B0604020202020204" pitchFamily="34" charset="0"/>
              <a:buChar char="•"/>
            </a:pPr>
            <a:r>
              <a:rPr lang="en-US" sz="1900" b="1" dirty="0"/>
              <a:t>Exploit - Exploits are a way of gaining access to a system through a security flaw and taking advantage of the flaw for their benefit.</a:t>
            </a:r>
          </a:p>
          <a:p>
            <a:pPr algn="l">
              <a:buFont typeface="Arial" panose="020B0604020202020204" pitchFamily="34" charset="0"/>
              <a:buChar char="•"/>
            </a:pPr>
            <a:r>
              <a:rPr lang="en-US" sz="1900" b="1" dirty="0"/>
              <a:t>Payload - Component of an attack; is the part of the private user text which could also contain malware such as worms or viruses which performs the malicious action; deleting data, sending spam or encrypting data.</a:t>
            </a:r>
          </a:p>
          <a:p>
            <a:pPr algn="l">
              <a:buFont typeface="Arial" panose="020B0604020202020204" pitchFamily="34" charset="0"/>
              <a:buChar char="•"/>
            </a:pPr>
            <a:r>
              <a:rPr lang="en-US" sz="1900" b="1" dirty="0"/>
              <a:t>Zero-day attack - Attack that occurs before a vendor knows or is able to patch a flaw.</a:t>
            </a:r>
          </a:p>
          <a:p>
            <a:pPr algn="l">
              <a:buFont typeface="Arial" panose="020B0604020202020204" pitchFamily="34" charset="0"/>
              <a:buChar char="•"/>
            </a:pPr>
            <a:r>
              <a:rPr lang="en-US" sz="1900" b="1" dirty="0"/>
              <a:t>Daisy Chaining / </a:t>
            </a:r>
            <a:r>
              <a:rPr lang="en-US" sz="1900" b="1" dirty="0" err="1"/>
              <a:t>Pivotting</a:t>
            </a:r>
            <a:r>
              <a:rPr lang="en-US" sz="1900" b="1" dirty="0"/>
              <a:t> - It involves gaining access to a network and /or computer and then using the same information to gain access to multiple networks and computers that contains desirable information.</a:t>
            </a:r>
          </a:p>
          <a:p>
            <a:pPr algn="l">
              <a:buFont typeface="Arial" panose="020B0604020202020204" pitchFamily="34" charset="0"/>
              <a:buChar char="•"/>
            </a:pPr>
            <a:r>
              <a:rPr lang="en-US" sz="1900" b="1" dirty="0"/>
              <a:t>Doxxing - Publishing PII about an individual usually with a malicious intent.</a:t>
            </a:r>
          </a:p>
          <a:p>
            <a:pPr algn="l">
              <a:buFont typeface="Arial" panose="020B0604020202020204" pitchFamily="34" charset="0"/>
              <a:buChar char="•"/>
            </a:pPr>
            <a:r>
              <a:rPr lang="en-US" sz="1900" b="1" dirty="0"/>
              <a:t>Enterprise Information Security Architecture (EISA) - determines the structure and behavior of organization's information systems through processes, requirements, principles and models.</a:t>
            </a:r>
          </a:p>
          <a:p>
            <a:endParaRPr lang="en-NG" dirty="0"/>
          </a:p>
        </p:txBody>
      </p:sp>
      <p:pic>
        <p:nvPicPr>
          <p:cNvPr id="6146" name="Picture 2" descr="Real-Life Vulnerabilities Reported by ...">
            <a:extLst>
              <a:ext uri="{FF2B5EF4-FFF2-40B4-BE49-F238E27FC236}">
                <a16:creationId xmlns:a16="http://schemas.microsoft.com/office/drawing/2014/main" id="{11147E70-E88E-002A-D1E3-E4C5BF113F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62000" y="3183349"/>
            <a:ext cx="2952750" cy="1552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828434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23035-7E86-7578-DEFC-FC31AE34DE79}"/>
              </a:ext>
            </a:extLst>
          </p:cNvPr>
          <p:cNvSpPr>
            <a:spLocks noGrp="1"/>
          </p:cNvSpPr>
          <p:nvPr>
            <p:ph type="title"/>
          </p:nvPr>
        </p:nvSpPr>
        <p:spPr/>
        <p:txBody>
          <a:bodyPr/>
          <a:lstStyle/>
          <a:p>
            <a:r>
              <a:rPr lang="en-US" dirty="0"/>
              <a:t>Threat Categories</a:t>
            </a:r>
            <a:endParaRPr lang="en-NG" dirty="0"/>
          </a:p>
        </p:txBody>
      </p:sp>
      <p:graphicFrame>
        <p:nvGraphicFramePr>
          <p:cNvPr id="4" name="Content Placeholder 3">
            <a:extLst>
              <a:ext uri="{FF2B5EF4-FFF2-40B4-BE49-F238E27FC236}">
                <a16:creationId xmlns:a16="http://schemas.microsoft.com/office/drawing/2014/main" id="{62FD0B6E-C7BC-F67A-2523-E92A717A75EE}"/>
              </a:ext>
            </a:extLst>
          </p:cNvPr>
          <p:cNvGraphicFramePr>
            <a:graphicFrameLocks noGrp="1"/>
          </p:cNvGraphicFramePr>
          <p:nvPr>
            <p:ph idx="1"/>
          </p:nvPr>
        </p:nvGraphicFramePr>
        <p:xfrm>
          <a:off x="581025" y="2341563"/>
          <a:ext cx="11029950" cy="3479800"/>
        </p:xfrm>
        <a:graphic>
          <a:graphicData uri="http://schemas.openxmlformats.org/drawingml/2006/table">
            <a:tbl>
              <a:tblPr firstRow="1" bandRow="1">
                <a:tableStyleId>{5C22544A-7EE6-4342-B048-85BDC9FD1C3A}</a:tableStyleId>
              </a:tblPr>
              <a:tblGrid>
                <a:gridCol w="3676650">
                  <a:extLst>
                    <a:ext uri="{9D8B030D-6E8A-4147-A177-3AD203B41FA5}">
                      <a16:colId xmlns:a16="http://schemas.microsoft.com/office/drawing/2014/main" val="4236863563"/>
                    </a:ext>
                  </a:extLst>
                </a:gridCol>
                <a:gridCol w="3676650">
                  <a:extLst>
                    <a:ext uri="{9D8B030D-6E8A-4147-A177-3AD203B41FA5}">
                      <a16:colId xmlns:a16="http://schemas.microsoft.com/office/drawing/2014/main" val="4089297870"/>
                    </a:ext>
                  </a:extLst>
                </a:gridCol>
                <a:gridCol w="3676650">
                  <a:extLst>
                    <a:ext uri="{9D8B030D-6E8A-4147-A177-3AD203B41FA5}">
                      <a16:colId xmlns:a16="http://schemas.microsoft.com/office/drawing/2014/main" val="1614519844"/>
                    </a:ext>
                  </a:extLst>
                </a:gridCol>
              </a:tblGrid>
              <a:tr h="370840">
                <a:tc>
                  <a:txBody>
                    <a:bodyPr/>
                    <a:lstStyle/>
                    <a:p>
                      <a:r>
                        <a:rPr lang="en-US" sz="1500" b="1" kern="1200" dirty="0">
                          <a:solidFill>
                            <a:schemeClr val="tx1">
                              <a:lumMod val="75000"/>
                              <a:lumOff val="25000"/>
                            </a:schemeClr>
                          </a:solidFill>
                          <a:latin typeface="+mn-lt"/>
                          <a:ea typeface="+mn-ea"/>
                          <a:cs typeface="+mn-cs"/>
                        </a:rPr>
                        <a:t>Network Threats</a:t>
                      </a:r>
                      <a:endParaRPr lang="en-NG" sz="1500" b="1" kern="1200" dirty="0">
                        <a:solidFill>
                          <a:schemeClr val="tx1">
                            <a:lumMod val="75000"/>
                            <a:lumOff val="25000"/>
                          </a:schemeClr>
                        </a:solidFill>
                        <a:latin typeface="+mn-lt"/>
                        <a:ea typeface="+mn-ea"/>
                        <a:cs typeface="+mn-cs"/>
                      </a:endParaRPr>
                    </a:p>
                  </a:txBody>
                  <a:tcPr/>
                </a:tc>
                <a:tc>
                  <a:txBody>
                    <a:bodyPr/>
                    <a:lstStyle/>
                    <a:p>
                      <a:pPr marL="0" algn="l" defTabSz="457200" rtl="0" eaLnBrk="1" latinLnBrk="0" hangingPunct="1"/>
                      <a:r>
                        <a:rPr lang="en-US" sz="1500" b="1" kern="1200" dirty="0">
                          <a:solidFill>
                            <a:schemeClr val="tx1">
                              <a:lumMod val="75000"/>
                              <a:lumOff val="25000"/>
                            </a:schemeClr>
                          </a:solidFill>
                          <a:latin typeface="+mn-lt"/>
                          <a:ea typeface="+mn-ea"/>
                          <a:cs typeface="+mn-cs"/>
                        </a:rPr>
                        <a:t>Host Threats</a:t>
                      </a:r>
                      <a:endParaRPr lang="en-NG" sz="1500" b="1" kern="1200" dirty="0">
                        <a:solidFill>
                          <a:schemeClr val="tx1">
                            <a:lumMod val="75000"/>
                            <a:lumOff val="25000"/>
                          </a:schemeClr>
                        </a:solidFill>
                        <a:latin typeface="+mn-lt"/>
                        <a:ea typeface="+mn-ea"/>
                        <a:cs typeface="+mn-cs"/>
                      </a:endParaRPr>
                    </a:p>
                  </a:txBody>
                  <a:tcPr/>
                </a:tc>
                <a:tc>
                  <a:txBody>
                    <a:bodyPr/>
                    <a:lstStyle/>
                    <a:p>
                      <a:pPr marL="0" algn="l" defTabSz="457200" rtl="0" eaLnBrk="1" latinLnBrk="0" hangingPunct="1"/>
                      <a:r>
                        <a:rPr lang="en-US" sz="1500" b="1" kern="1200" dirty="0">
                          <a:solidFill>
                            <a:schemeClr val="tx1">
                              <a:lumMod val="75000"/>
                              <a:lumOff val="25000"/>
                            </a:schemeClr>
                          </a:solidFill>
                          <a:latin typeface="+mn-lt"/>
                          <a:ea typeface="+mn-ea"/>
                          <a:cs typeface="+mn-cs"/>
                        </a:rPr>
                        <a:t>Application Threats</a:t>
                      </a:r>
                      <a:endParaRPr lang="en-NG" sz="1500" b="1" kern="1200" dirty="0">
                        <a:solidFill>
                          <a:schemeClr val="tx1">
                            <a:lumMod val="75000"/>
                            <a:lumOff val="25000"/>
                          </a:schemeClr>
                        </a:solidFill>
                        <a:latin typeface="+mn-lt"/>
                        <a:ea typeface="+mn-ea"/>
                        <a:cs typeface="+mn-cs"/>
                      </a:endParaRPr>
                    </a:p>
                  </a:txBody>
                  <a:tcPr/>
                </a:tc>
                <a:extLst>
                  <a:ext uri="{0D108BD9-81ED-4DB2-BD59-A6C34878D82A}">
                    <a16:rowId xmlns:a16="http://schemas.microsoft.com/office/drawing/2014/main" val="113998627"/>
                  </a:ext>
                </a:extLst>
              </a:tr>
              <a:tr h="370840">
                <a:tc>
                  <a:txBody>
                    <a:bodyPr/>
                    <a:lstStyle/>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Information gathering</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Sniffing and eavesdropping</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DNS/ARP Poisoning</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MITM (Man-in-the-Middle Attack)</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DoS/DDoS</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Password-based attacks</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Firewall and IDS attack</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Session Hijacking</a:t>
                      </a:r>
                    </a:p>
                    <a:p>
                      <a:endParaRPr lang="en-NG" dirty="0"/>
                    </a:p>
                  </a:txBody>
                  <a:tcPr/>
                </a:tc>
                <a:tc>
                  <a:txBody>
                    <a:bodyPr/>
                    <a:lstStyle/>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Password cracking</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Malware attacks</a:t>
                      </a:r>
                    </a:p>
                    <a:p>
                      <a:pPr marL="285750" indent="-285750" algn="l" defTabSz="457200" rtl="0" eaLnBrk="1" latinLnBrk="0" hangingPunct="1">
                        <a:buFont typeface="Arial" panose="020B0604020202020204" pitchFamily="34" charset="0"/>
                        <a:buChar char="•"/>
                      </a:pPr>
                      <a:r>
                        <a:rPr lang="en-US" sz="1500" b="1" kern="1200" dirty="0" err="1">
                          <a:solidFill>
                            <a:schemeClr val="tx1">
                              <a:lumMod val="75000"/>
                              <a:lumOff val="25000"/>
                            </a:schemeClr>
                          </a:solidFill>
                          <a:latin typeface="+mn-lt"/>
                          <a:ea typeface="+mn-ea"/>
                          <a:cs typeface="+mn-cs"/>
                        </a:rPr>
                        <a:t>Footprinting</a:t>
                      </a:r>
                      <a:endParaRPr lang="en-US" sz="1500" b="1" kern="1200" dirty="0">
                        <a:solidFill>
                          <a:schemeClr val="tx1">
                            <a:lumMod val="75000"/>
                            <a:lumOff val="25000"/>
                          </a:schemeClr>
                        </a:solidFill>
                        <a:latin typeface="+mn-lt"/>
                        <a:ea typeface="+mn-ea"/>
                        <a:cs typeface="+mn-cs"/>
                      </a:endParaRP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Profiling</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Arbitrary code execution</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Backdoor access</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Privilege Escalation</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Code Execution</a:t>
                      </a:r>
                    </a:p>
                    <a:p>
                      <a:endParaRPr lang="en-NG" dirty="0"/>
                    </a:p>
                  </a:txBody>
                  <a:tcPr/>
                </a:tc>
                <a:tc>
                  <a:txBody>
                    <a:bodyPr/>
                    <a:lstStyle/>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Injection Attacks</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Improper data/input validation</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Improper error handling and </a:t>
                      </a:r>
                      <a:r>
                        <a:rPr lang="en-US" sz="1500" b="1" kern="1200" dirty="0" err="1">
                          <a:solidFill>
                            <a:schemeClr val="tx1">
                              <a:lumMod val="75000"/>
                              <a:lumOff val="25000"/>
                            </a:schemeClr>
                          </a:solidFill>
                          <a:latin typeface="+mn-lt"/>
                          <a:ea typeface="+mn-ea"/>
                          <a:cs typeface="+mn-cs"/>
                        </a:rPr>
                        <a:t>exeception</a:t>
                      </a:r>
                      <a:r>
                        <a:rPr lang="en-US" sz="1500" b="1" kern="1200" dirty="0">
                          <a:solidFill>
                            <a:schemeClr val="tx1">
                              <a:lumMod val="75000"/>
                              <a:lumOff val="25000"/>
                            </a:schemeClr>
                          </a:solidFill>
                          <a:latin typeface="+mn-lt"/>
                          <a:ea typeface="+mn-ea"/>
                          <a:cs typeface="+mn-cs"/>
                        </a:rPr>
                        <a:t> management</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Hidden-field manipulation</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Broken session management</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Cryptography issues</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SQL injection</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Phishing</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Buffer Overflow</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Information disclosure</a:t>
                      </a:r>
                    </a:p>
                    <a:p>
                      <a:pPr marL="285750" indent="-285750" algn="l" defTabSz="457200" rtl="0" eaLnBrk="1" latinLnBrk="0" hangingPunct="1">
                        <a:buFont typeface="Arial" panose="020B0604020202020204" pitchFamily="34" charset="0"/>
                        <a:buChar char="•"/>
                      </a:pPr>
                      <a:r>
                        <a:rPr lang="en-US" sz="1500" b="1" kern="1200" dirty="0">
                          <a:solidFill>
                            <a:schemeClr val="tx1">
                              <a:lumMod val="75000"/>
                              <a:lumOff val="25000"/>
                            </a:schemeClr>
                          </a:solidFill>
                          <a:latin typeface="+mn-lt"/>
                          <a:ea typeface="+mn-ea"/>
                          <a:cs typeface="+mn-cs"/>
                        </a:rPr>
                        <a:t>Security Misconfigurations</a:t>
                      </a:r>
                    </a:p>
                    <a:p>
                      <a:endParaRPr lang="en-NG" dirty="0"/>
                    </a:p>
                  </a:txBody>
                  <a:tcPr/>
                </a:tc>
                <a:extLst>
                  <a:ext uri="{0D108BD9-81ED-4DB2-BD59-A6C34878D82A}">
                    <a16:rowId xmlns:a16="http://schemas.microsoft.com/office/drawing/2014/main" val="2115235529"/>
                  </a:ext>
                </a:extLst>
              </a:tr>
            </a:tbl>
          </a:graphicData>
        </a:graphic>
      </p:graphicFrame>
    </p:spTree>
    <p:extLst>
      <p:ext uri="{BB962C8B-B14F-4D97-AF65-F5344CB8AC3E}">
        <p14:creationId xmlns:p14="http://schemas.microsoft.com/office/powerpoint/2010/main" val="81842353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FC002-3875-3DB5-BACA-BBFAD053C9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3984F6-3607-A3D7-0504-B6BE4CD4A24A}"/>
              </a:ext>
            </a:extLst>
          </p:cNvPr>
          <p:cNvSpPr>
            <a:spLocks noGrp="1"/>
          </p:cNvSpPr>
          <p:nvPr>
            <p:ph type="title"/>
          </p:nvPr>
        </p:nvSpPr>
        <p:spPr/>
        <p:txBody>
          <a:bodyPr/>
          <a:lstStyle/>
          <a:p>
            <a:r>
              <a:rPr lang="en-US" dirty="0"/>
              <a:t>Some Attack Vectors</a:t>
            </a:r>
            <a:endParaRPr lang="en-NG" dirty="0"/>
          </a:p>
        </p:txBody>
      </p:sp>
      <p:sp>
        <p:nvSpPr>
          <p:cNvPr id="3" name="Content Placeholder 2">
            <a:extLst>
              <a:ext uri="{FF2B5EF4-FFF2-40B4-BE49-F238E27FC236}">
                <a16:creationId xmlns:a16="http://schemas.microsoft.com/office/drawing/2014/main" id="{0CEBACF0-A3A0-7DAF-0674-473A40FC1E7B}"/>
              </a:ext>
            </a:extLst>
          </p:cNvPr>
          <p:cNvSpPr>
            <a:spLocks noGrp="1"/>
          </p:cNvSpPr>
          <p:nvPr>
            <p:ph idx="1"/>
          </p:nvPr>
        </p:nvSpPr>
        <p:spPr>
          <a:xfrm>
            <a:off x="581192" y="2601444"/>
            <a:ext cx="6056499" cy="3634486"/>
          </a:xfrm>
        </p:spPr>
        <p:txBody>
          <a:bodyPr>
            <a:noAutofit/>
          </a:bodyPr>
          <a:lstStyle/>
          <a:p>
            <a:pPr marL="0" indent="0" algn="l">
              <a:buNone/>
            </a:pPr>
            <a:r>
              <a:rPr lang="en-US" sz="1200" b="1" dirty="0"/>
              <a:t>Path by which a hacker can gain access to a host in order to deliver a payload or malicious outcome</a:t>
            </a:r>
          </a:p>
          <a:p>
            <a:pPr algn="l">
              <a:buFont typeface="Arial" panose="020B0604020202020204" pitchFamily="34" charset="0"/>
              <a:buChar char="•"/>
            </a:pPr>
            <a:r>
              <a:rPr lang="en-US" sz="1200" b="1" dirty="0"/>
              <a:t>APT - Advanced Persistent Threats</a:t>
            </a:r>
          </a:p>
          <a:p>
            <a:pPr lvl="1">
              <a:buFont typeface="Arial" panose="020B0604020202020204" pitchFamily="34" charset="0"/>
              <a:buChar char="•"/>
            </a:pPr>
            <a:r>
              <a:rPr lang="en-US" sz="1200" b="1" dirty="0"/>
              <a:t>An advanced persistent threat is a stealthy threat actor, typically a nation state or state-sponsored group, which gains unauthorized access to a computer network and remains undetected for an extended period; Typically uses zero-day attacks.</a:t>
            </a:r>
          </a:p>
          <a:p>
            <a:pPr>
              <a:buFont typeface="Arial" panose="020B0604020202020204" pitchFamily="34" charset="0"/>
              <a:buChar char="•"/>
            </a:pPr>
            <a:r>
              <a:rPr lang="en-US" sz="1200" b="1" dirty="0"/>
              <a:t>Cloud computing / Cloud based technologies</a:t>
            </a:r>
          </a:p>
          <a:p>
            <a:pPr marL="742950" lvl="1" indent="-285750" algn="l">
              <a:buFont typeface="Arial" panose="020B0604020202020204" pitchFamily="34" charset="0"/>
              <a:buChar char="•"/>
            </a:pPr>
            <a:r>
              <a:rPr lang="en-US" sz="1200" b="1" dirty="0"/>
              <a:t>Flaw in one client's application cloud allow attacker to access other client's data</a:t>
            </a:r>
          </a:p>
          <a:p>
            <a:pPr algn="l">
              <a:buFont typeface="Arial" panose="020B0604020202020204" pitchFamily="34" charset="0"/>
              <a:buChar char="•"/>
            </a:pPr>
            <a:r>
              <a:rPr lang="en-US" sz="1200" b="1" dirty="0"/>
              <a:t>Ransomware</a:t>
            </a:r>
          </a:p>
          <a:p>
            <a:pPr marL="742950" lvl="1" indent="-285750" algn="l">
              <a:buFont typeface="Arial" panose="020B0604020202020204" pitchFamily="34" charset="0"/>
              <a:buChar char="•"/>
            </a:pPr>
            <a:r>
              <a:rPr lang="en-US" sz="1200" b="1" dirty="0"/>
              <a:t>Restricts access to the computer system's files and folders and demands an online ransom payment to the attacker in order to remove the restrictions.</a:t>
            </a:r>
          </a:p>
          <a:p>
            <a:pPr>
              <a:lnSpc>
                <a:spcPct val="100000"/>
              </a:lnSpc>
              <a:buFont typeface="Arial" panose="020B0604020202020204" pitchFamily="34" charset="0"/>
              <a:buChar char="•"/>
            </a:pPr>
            <a:r>
              <a:rPr lang="en-US" sz="1200" b="1" dirty="0"/>
              <a:t>Web Application Threats</a:t>
            </a:r>
          </a:p>
          <a:p>
            <a:pPr marL="742950" lvl="1" indent="-285750">
              <a:buFont typeface="Arial" panose="020B0604020202020204" pitchFamily="34" charset="0"/>
              <a:buChar char="•"/>
            </a:pPr>
            <a:r>
              <a:rPr lang="en-US" sz="1200" b="1" dirty="0"/>
              <a:t>Attacks like SQL injection, XSS (Cross-site scripting)...</a:t>
            </a:r>
          </a:p>
          <a:p>
            <a:pPr marL="457200" lvl="1" indent="0" algn="l">
              <a:buNone/>
            </a:pPr>
            <a:endParaRPr lang="en-US" sz="1200" b="1" dirty="0"/>
          </a:p>
          <a:p>
            <a:endParaRPr lang="en-NG" sz="1200" dirty="0"/>
          </a:p>
        </p:txBody>
      </p:sp>
      <p:pic>
        <p:nvPicPr>
          <p:cNvPr id="4098" name="Picture 2" descr="Image result for attack vectors">
            <a:extLst>
              <a:ext uri="{FF2B5EF4-FFF2-40B4-BE49-F238E27FC236}">
                <a16:creationId xmlns:a16="http://schemas.microsoft.com/office/drawing/2014/main" id="{C537E85D-FC1C-6499-5C4D-E3EBE08E38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69019" y="2783596"/>
            <a:ext cx="3829050" cy="2238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528534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3C022-F9C9-BC50-3CD5-05328FE4BC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EFE6FB-88F3-224A-8CC3-A6AC78F41DC3}"/>
              </a:ext>
            </a:extLst>
          </p:cNvPr>
          <p:cNvSpPr>
            <a:spLocks noGrp="1"/>
          </p:cNvSpPr>
          <p:nvPr>
            <p:ph type="title"/>
          </p:nvPr>
        </p:nvSpPr>
        <p:spPr/>
        <p:txBody>
          <a:bodyPr/>
          <a:lstStyle/>
          <a:p>
            <a:r>
              <a:rPr lang="en-US" dirty="0"/>
              <a:t>Vulnerability Categories</a:t>
            </a:r>
            <a:endParaRPr lang="en-NG" dirty="0"/>
          </a:p>
        </p:txBody>
      </p:sp>
      <p:sp>
        <p:nvSpPr>
          <p:cNvPr id="3" name="Content Placeholder 2">
            <a:extLst>
              <a:ext uri="{FF2B5EF4-FFF2-40B4-BE49-F238E27FC236}">
                <a16:creationId xmlns:a16="http://schemas.microsoft.com/office/drawing/2014/main" id="{D5BA795A-5D27-FF27-2806-9836D99D6AE5}"/>
              </a:ext>
            </a:extLst>
          </p:cNvPr>
          <p:cNvSpPr>
            <a:spLocks noGrp="1"/>
          </p:cNvSpPr>
          <p:nvPr>
            <p:ph idx="1"/>
          </p:nvPr>
        </p:nvSpPr>
        <p:spPr>
          <a:xfrm>
            <a:off x="581192" y="2601444"/>
            <a:ext cx="6056499" cy="3634486"/>
          </a:xfrm>
        </p:spPr>
        <p:txBody>
          <a:bodyPr>
            <a:noAutofit/>
          </a:bodyPr>
          <a:lstStyle/>
          <a:p>
            <a:pPr algn="l">
              <a:buFont typeface="Arial" panose="020B0604020202020204" pitchFamily="34" charset="0"/>
              <a:buChar char="•"/>
            </a:pPr>
            <a:r>
              <a:rPr lang="en-US" sz="1500" b="1" dirty="0"/>
              <a:t>Misconfiguration - improperly configuring a service or application</a:t>
            </a:r>
          </a:p>
          <a:p>
            <a:pPr algn="l">
              <a:buFont typeface="Arial" panose="020B0604020202020204" pitchFamily="34" charset="0"/>
              <a:buChar char="•"/>
            </a:pPr>
            <a:r>
              <a:rPr lang="en-US" sz="1500" b="1" dirty="0"/>
              <a:t>Default installation - failure to change settings in an application that come by default</a:t>
            </a:r>
          </a:p>
          <a:p>
            <a:pPr algn="l">
              <a:buFont typeface="Arial" panose="020B0604020202020204" pitchFamily="34" charset="0"/>
              <a:buChar char="•"/>
            </a:pPr>
            <a:r>
              <a:rPr lang="en-US" sz="1500" b="1" dirty="0"/>
              <a:t>Buffer overflow - code execution flaw</a:t>
            </a:r>
          </a:p>
          <a:p>
            <a:pPr algn="l">
              <a:buFont typeface="Arial" panose="020B0604020202020204" pitchFamily="34" charset="0"/>
              <a:buChar char="•"/>
            </a:pPr>
            <a:r>
              <a:rPr lang="en-US" sz="1500" b="1" dirty="0"/>
              <a:t>Missing patches - systems that have not been patched</a:t>
            </a:r>
          </a:p>
          <a:p>
            <a:pPr algn="l">
              <a:buFont typeface="Arial" panose="020B0604020202020204" pitchFamily="34" charset="0"/>
              <a:buChar char="•"/>
            </a:pPr>
            <a:r>
              <a:rPr lang="en-US" sz="1500" b="1" dirty="0"/>
              <a:t>Design flaws - flaws inherent to system design such as encryption and data validation</a:t>
            </a:r>
          </a:p>
          <a:p>
            <a:pPr algn="l">
              <a:buFont typeface="Arial" panose="020B0604020202020204" pitchFamily="34" charset="0"/>
              <a:buChar char="•"/>
            </a:pPr>
            <a:r>
              <a:rPr lang="en-US" sz="1500" b="1" dirty="0"/>
              <a:t>Operating System Flaws - flaws specific to each OS</a:t>
            </a:r>
          </a:p>
          <a:p>
            <a:pPr algn="l">
              <a:buFont typeface="Arial" panose="020B0604020202020204" pitchFamily="34" charset="0"/>
              <a:buChar char="•"/>
            </a:pPr>
            <a:r>
              <a:rPr lang="en-US" sz="1500" b="1" dirty="0"/>
              <a:t>Default passwords - leaving default passwords that come with system/application</a:t>
            </a:r>
          </a:p>
          <a:p>
            <a:pPr marL="457200" lvl="1" indent="0" algn="l">
              <a:buNone/>
            </a:pPr>
            <a:endParaRPr lang="en-US" sz="1200" b="1" dirty="0"/>
          </a:p>
          <a:p>
            <a:endParaRPr lang="en-NG" sz="1200" dirty="0"/>
          </a:p>
        </p:txBody>
      </p:sp>
      <p:pic>
        <p:nvPicPr>
          <p:cNvPr id="5123" name="Picture 3" descr="Web Security Vulnerabilities">
            <a:extLst>
              <a:ext uri="{FF2B5EF4-FFF2-40B4-BE49-F238E27FC236}">
                <a16:creationId xmlns:a16="http://schemas.microsoft.com/office/drawing/2014/main" id="{A3069752-CF7A-0CBF-23F9-2107C29EFF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8514" y="3057703"/>
            <a:ext cx="3270134" cy="1854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072567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51964-7048-124D-88B7-6B7BE19137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8446C9-F7EC-66EC-9F28-C4961D16CB21}"/>
              </a:ext>
            </a:extLst>
          </p:cNvPr>
          <p:cNvSpPr>
            <a:spLocks noGrp="1"/>
          </p:cNvSpPr>
          <p:nvPr>
            <p:ph type="title"/>
          </p:nvPr>
        </p:nvSpPr>
        <p:spPr/>
        <p:txBody>
          <a:bodyPr/>
          <a:lstStyle/>
          <a:p>
            <a:pPr algn="l"/>
            <a:r>
              <a:rPr lang="en-US" dirty="0"/>
              <a:t>Pen Test Phases</a:t>
            </a:r>
          </a:p>
        </p:txBody>
      </p:sp>
      <p:sp>
        <p:nvSpPr>
          <p:cNvPr id="3" name="Content Placeholder 2">
            <a:extLst>
              <a:ext uri="{FF2B5EF4-FFF2-40B4-BE49-F238E27FC236}">
                <a16:creationId xmlns:a16="http://schemas.microsoft.com/office/drawing/2014/main" id="{DC555E0E-2375-E8CF-CB43-6BA101016CD3}"/>
              </a:ext>
            </a:extLst>
          </p:cNvPr>
          <p:cNvSpPr>
            <a:spLocks noGrp="1"/>
          </p:cNvSpPr>
          <p:nvPr>
            <p:ph idx="1"/>
          </p:nvPr>
        </p:nvSpPr>
        <p:spPr>
          <a:xfrm>
            <a:off x="581192" y="2601444"/>
            <a:ext cx="6056499" cy="3634486"/>
          </a:xfrm>
        </p:spPr>
        <p:txBody>
          <a:bodyPr>
            <a:noAutofit/>
          </a:bodyPr>
          <a:lstStyle/>
          <a:p>
            <a:pPr marL="342900" indent="-342900">
              <a:buFont typeface="+mj-lt"/>
              <a:buAutoNum type="arabicPeriod"/>
            </a:pPr>
            <a:r>
              <a:rPr lang="en-US" sz="1500" b="1" dirty="0"/>
              <a:t>Pre-Attack Phase - Reconnaissance and data-gathering.</a:t>
            </a:r>
          </a:p>
          <a:p>
            <a:pPr marL="342900" indent="-342900">
              <a:buFont typeface="+mj-lt"/>
              <a:buAutoNum type="arabicPeriod"/>
            </a:pPr>
            <a:r>
              <a:rPr lang="en-US" sz="1500" b="1" dirty="0"/>
              <a:t>Attack Phase - Attempts to penetrate the network and execute attacks.</a:t>
            </a:r>
          </a:p>
          <a:p>
            <a:pPr marL="342900" indent="-342900">
              <a:buFont typeface="+mj-lt"/>
              <a:buAutoNum type="arabicPeriod"/>
            </a:pPr>
            <a:r>
              <a:rPr lang="en-US" sz="1500" b="1" dirty="0"/>
              <a:t>Post-Attack Phase - Cleanup to return a system to the pre-attack condition and deliver reports.</a:t>
            </a:r>
          </a:p>
          <a:p>
            <a:pPr marL="457200" lvl="1" indent="0" algn="l">
              <a:buNone/>
            </a:pPr>
            <a:endParaRPr lang="en-US" sz="1200" b="1" dirty="0"/>
          </a:p>
          <a:p>
            <a:endParaRPr lang="en-NG" sz="1200" dirty="0"/>
          </a:p>
        </p:txBody>
      </p:sp>
      <p:pic>
        <p:nvPicPr>
          <p:cNvPr id="5123" name="Picture 3" descr="Web Security Vulnerabilities">
            <a:extLst>
              <a:ext uri="{FF2B5EF4-FFF2-40B4-BE49-F238E27FC236}">
                <a16:creationId xmlns:a16="http://schemas.microsoft.com/office/drawing/2014/main" id="{AA8B1A50-CCD3-9C71-484B-29CFBDF8DA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8514" y="3057703"/>
            <a:ext cx="3270134" cy="1854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32228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916A4-312B-9F68-7EA9-48FA3131B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07A44A-E3C2-1835-0A93-2EAD9228D774}"/>
              </a:ext>
            </a:extLst>
          </p:cNvPr>
          <p:cNvSpPr>
            <a:spLocks noGrp="1"/>
          </p:cNvSpPr>
          <p:nvPr>
            <p:ph type="title"/>
          </p:nvPr>
        </p:nvSpPr>
        <p:spPr/>
        <p:txBody>
          <a:bodyPr/>
          <a:lstStyle/>
          <a:p>
            <a:pPr algn="l"/>
            <a:r>
              <a:rPr lang="en-US" dirty="0"/>
              <a:t>STAGES IN ETHICAL HACKING</a:t>
            </a:r>
          </a:p>
        </p:txBody>
      </p:sp>
      <p:sp>
        <p:nvSpPr>
          <p:cNvPr id="3" name="Content Placeholder 2">
            <a:extLst>
              <a:ext uri="{FF2B5EF4-FFF2-40B4-BE49-F238E27FC236}">
                <a16:creationId xmlns:a16="http://schemas.microsoft.com/office/drawing/2014/main" id="{A5435417-1D34-0AB6-A799-74ABF369947E}"/>
              </a:ext>
            </a:extLst>
          </p:cNvPr>
          <p:cNvSpPr>
            <a:spLocks noGrp="1"/>
          </p:cNvSpPr>
          <p:nvPr>
            <p:ph idx="1"/>
          </p:nvPr>
        </p:nvSpPr>
        <p:spPr>
          <a:xfrm>
            <a:off x="581192" y="2601444"/>
            <a:ext cx="6056499" cy="3634486"/>
          </a:xfrm>
        </p:spPr>
        <p:txBody>
          <a:bodyPr>
            <a:noAutofit/>
          </a:bodyPr>
          <a:lstStyle/>
          <a:p>
            <a:pPr marL="342900" indent="-342900">
              <a:buFont typeface="+mj-lt"/>
              <a:buAutoNum type="arabicPeriod"/>
            </a:pPr>
            <a:r>
              <a:rPr lang="en-US" sz="1500" b="1" dirty="0"/>
              <a:t>Reconnaissance</a:t>
            </a:r>
          </a:p>
          <a:p>
            <a:r>
              <a:rPr lang="en-US" sz="1500" b="1" dirty="0"/>
              <a:t>Gathering evidence about targets; There are two types of Recon:</a:t>
            </a:r>
          </a:p>
          <a:p>
            <a:pPr lvl="1">
              <a:buFont typeface="Arial" panose="020B0604020202020204" pitchFamily="34" charset="0"/>
              <a:buChar char="•"/>
            </a:pPr>
            <a:r>
              <a:rPr lang="en-US" sz="1500" b="1" dirty="0"/>
              <a:t>Passive Reconnaissance: Gain information about targeted computers and networks without direct interaction with the systems. </a:t>
            </a:r>
            <a:r>
              <a:rPr lang="en-US" sz="1500" b="1" dirty="0" err="1"/>
              <a:t>e.g</a:t>
            </a:r>
            <a:r>
              <a:rPr lang="en-US" sz="1500" b="1" dirty="0"/>
              <a:t>: Google Search, Public records, New releases, Social Media, Wardrive scanning networks around.</a:t>
            </a:r>
          </a:p>
          <a:p>
            <a:pPr lvl="1">
              <a:buFont typeface="Arial" panose="020B0604020202020204" pitchFamily="34" charset="0"/>
              <a:buChar char="•"/>
            </a:pPr>
            <a:r>
              <a:rPr lang="en-US" sz="1500" b="1" dirty="0"/>
              <a:t>Active Reconnaissance: </a:t>
            </a:r>
            <a:r>
              <a:rPr lang="en-US" sz="1500" b="1" dirty="0" err="1"/>
              <a:t>Envolves</a:t>
            </a:r>
            <a:r>
              <a:rPr lang="en-US" sz="1500" b="1" dirty="0"/>
              <a:t> direct interaction with the target. </a:t>
            </a:r>
            <a:r>
              <a:rPr lang="en-US" sz="1500" b="1" dirty="0" err="1"/>
              <a:t>e.g</a:t>
            </a:r>
            <a:r>
              <a:rPr lang="en-US" sz="1500" b="1" dirty="0"/>
              <a:t>: Make a phone call to the target, Job interview; tools like Nmap, Nessus, OpenVAS, </a:t>
            </a:r>
            <a:r>
              <a:rPr lang="en-US" sz="1500" b="1" dirty="0" err="1"/>
              <a:t>Nikto</a:t>
            </a:r>
            <a:r>
              <a:rPr lang="en-US" sz="1500" b="1" dirty="0"/>
              <a:t> and Metasploit can be considered as Active Recon.</a:t>
            </a:r>
          </a:p>
          <a:p>
            <a:pPr marL="457200" lvl="1" indent="0" algn="l">
              <a:buNone/>
            </a:pPr>
            <a:endParaRPr lang="en-US" sz="1200" b="1" dirty="0"/>
          </a:p>
          <a:p>
            <a:endParaRPr lang="en-NG" sz="1200" dirty="0"/>
          </a:p>
        </p:txBody>
      </p:sp>
      <p:pic>
        <p:nvPicPr>
          <p:cNvPr id="7170" name="Picture 2" descr="Active Reconnaissance in Cybersecurity ...">
            <a:extLst>
              <a:ext uri="{FF2B5EF4-FFF2-40B4-BE49-F238E27FC236}">
                <a16:creationId xmlns:a16="http://schemas.microsoft.com/office/drawing/2014/main" id="{C065C7D4-CD9E-9424-A29C-352835C689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66479" y="3235341"/>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585556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CE328-E168-60EF-63AA-5F2EA266E7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FDD80D-9C85-E0FE-EC56-37888029F396}"/>
              </a:ext>
            </a:extLst>
          </p:cNvPr>
          <p:cNvSpPr>
            <a:spLocks noGrp="1"/>
          </p:cNvSpPr>
          <p:nvPr>
            <p:ph type="title"/>
          </p:nvPr>
        </p:nvSpPr>
        <p:spPr/>
        <p:txBody>
          <a:bodyPr/>
          <a:lstStyle/>
          <a:p>
            <a:pPr algn="l"/>
            <a:r>
              <a:rPr lang="en-US" dirty="0"/>
              <a:t>STAGES IN ETHICAL HACKING</a:t>
            </a:r>
          </a:p>
        </p:txBody>
      </p:sp>
      <p:sp>
        <p:nvSpPr>
          <p:cNvPr id="3" name="Content Placeholder 2">
            <a:extLst>
              <a:ext uri="{FF2B5EF4-FFF2-40B4-BE49-F238E27FC236}">
                <a16:creationId xmlns:a16="http://schemas.microsoft.com/office/drawing/2014/main" id="{9F62300D-F50B-14F7-4457-1E037A4E018D}"/>
              </a:ext>
            </a:extLst>
          </p:cNvPr>
          <p:cNvSpPr>
            <a:spLocks noGrp="1"/>
          </p:cNvSpPr>
          <p:nvPr>
            <p:ph idx="1"/>
          </p:nvPr>
        </p:nvSpPr>
        <p:spPr>
          <a:xfrm>
            <a:off x="581192" y="2601444"/>
            <a:ext cx="6056499" cy="3634486"/>
          </a:xfrm>
        </p:spPr>
        <p:txBody>
          <a:bodyPr>
            <a:noAutofit/>
          </a:bodyPr>
          <a:lstStyle/>
          <a:p>
            <a:pPr marL="342900" indent="-342900">
              <a:buFont typeface="+mj-lt"/>
              <a:buAutoNum type="arabicPeriod" startAt="2"/>
            </a:pPr>
            <a:r>
              <a:rPr lang="en-US" sz="1500" b="1" dirty="0"/>
              <a:t>Scanning &amp; Enumeration</a:t>
            </a:r>
          </a:p>
          <a:p>
            <a:r>
              <a:rPr lang="en-US" sz="1500" b="1" dirty="0"/>
              <a:t>Obtaining more in-depth information about targets. </a:t>
            </a:r>
            <a:r>
              <a:rPr lang="en-US" sz="1500" b="1" dirty="0" err="1"/>
              <a:t>e.g</a:t>
            </a:r>
            <a:r>
              <a:rPr lang="en-US" sz="1500" b="1" dirty="0"/>
              <a:t>: Network Scanning, Port Scanning, Which versions of services are running.</a:t>
            </a:r>
          </a:p>
          <a:p>
            <a:pPr marL="457200" lvl="1" indent="0" algn="l">
              <a:buNone/>
            </a:pPr>
            <a:endParaRPr lang="en-US" sz="1200" b="1" dirty="0"/>
          </a:p>
          <a:p>
            <a:endParaRPr lang="en-NG" sz="1200" dirty="0"/>
          </a:p>
        </p:txBody>
      </p:sp>
      <p:pic>
        <p:nvPicPr>
          <p:cNvPr id="7170" name="Picture 2" descr="Active Reconnaissance in Cybersecurity ...">
            <a:extLst>
              <a:ext uri="{FF2B5EF4-FFF2-40B4-BE49-F238E27FC236}">
                <a16:creationId xmlns:a16="http://schemas.microsoft.com/office/drawing/2014/main" id="{E7E88085-6C68-FE54-64CC-B16FCF5B9F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66479" y="3235341"/>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11529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C2C0E-FED6-04EC-8892-451A45DC67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F8FB38-722A-CC5D-119C-9CD966B0725E}"/>
              </a:ext>
            </a:extLst>
          </p:cNvPr>
          <p:cNvSpPr>
            <a:spLocks noGrp="1"/>
          </p:cNvSpPr>
          <p:nvPr>
            <p:ph type="title"/>
          </p:nvPr>
        </p:nvSpPr>
        <p:spPr/>
        <p:txBody>
          <a:bodyPr/>
          <a:lstStyle/>
          <a:p>
            <a:pPr algn="l"/>
            <a:r>
              <a:rPr lang="en-US" dirty="0"/>
              <a:t>STAGES IN ETHICAL HACKING</a:t>
            </a:r>
          </a:p>
        </p:txBody>
      </p:sp>
      <p:sp>
        <p:nvSpPr>
          <p:cNvPr id="3" name="Content Placeholder 2">
            <a:extLst>
              <a:ext uri="{FF2B5EF4-FFF2-40B4-BE49-F238E27FC236}">
                <a16:creationId xmlns:a16="http://schemas.microsoft.com/office/drawing/2014/main" id="{6F7DA78E-329D-6C8E-960B-42C551EEB1BE}"/>
              </a:ext>
            </a:extLst>
          </p:cNvPr>
          <p:cNvSpPr>
            <a:spLocks noGrp="1"/>
          </p:cNvSpPr>
          <p:nvPr>
            <p:ph idx="1"/>
          </p:nvPr>
        </p:nvSpPr>
        <p:spPr>
          <a:xfrm>
            <a:off x="581192" y="2601444"/>
            <a:ext cx="6056499" cy="3634486"/>
          </a:xfrm>
        </p:spPr>
        <p:txBody>
          <a:bodyPr>
            <a:noAutofit/>
          </a:bodyPr>
          <a:lstStyle/>
          <a:p>
            <a:pPr marL="342900" indent="-342900">
              <a:buFont typeface="+mj-lt"/>
              <a:buAutoNum type="arabicPeriod" startAt="3"/>
            </a:pPr>
            <a:r>
              <a:rPr lang="en-US" sz="1500" b="1" dirty="0"/>
              <a:t>Gaining Access</a:t>
            </a:r>
          </a:p>
          <a:p>
            <a:r>
              <a:rPr lang="en-US" sz="1500" b="1" dirty="0"/>
              <a:t>Attacks are leveled in order to gain access to a system </a:t>
            </a:r>
          </a:p>
          <a:p>
            <a:pPr lvl="1"/>
            <a:r>
              <a:rPr lang="en-US" sz="1200" b="1" dirty="0" err="1"/>
              <a:t>e.g</a:t>
            </a:r>
            <a:r>
              <a:rPr lang="en-US" sz="1200" b="1" dirty="0"/>
              <a:t>: Can be done locally (offline), over a LAN or over the internet.</a:t>
            </a:r>
          </a:p>
          <a:p>
            <a:pPr lvl="1"/>
            <a:r>
              <a:rPr lang="en-US" sz="1200" b="1" dirty="0" err="1"/>
              <a:t>e.g</a:t>
            </a:r>
            <a:r>
              <a:rPr lang="en-US" sz="1200" b="1" dirty="0"/>
              <a:t>(2): Spoofing to exploit the system by pretending to be a legitimate user or different systems, they can send a data packet containing a bug to the target system in order to exploit a vulnerability. Can be done using many techniques like command injection, buffer overflow, DoS, brute forcing credentials, social engineering, misconfigurations etc.</a:t>
            </a:r>
          </a:p>
          <a:p>
            <a:pPr marL="457200" lvl="1" indent="0" algn="l">
              <a:buNone/>
            </a:pPr>
            <a:endParaRPr lang="en-US" sz="1200" b="1" dirty="0"/>
          </a:p>
          <a:p>
            <a:endParaRPr lang="en-NG" sz="1200" dirty="0"/>
          </a:p>
        </p:txBody>
      </p:sp>
      <p:pic>
        <p:nvPicPr>
          <p:cNvPr id="7170" name="Picture 2" descr="Active Reconnaissance in Cybersecurity ...">
            <a:extLst>
              <a:ext uri="{FF2B5EF4-FFF2-40B4-BE49-F238E27FC236}">
                <a16:creationId xmlns:a16="http://schemas.microsoft.com/office/drawing/2014/main" id="{3E29D539-FF37-5A3D-EABA-36E2CB9F02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66479" y="3235341"/>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402539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E6E83-EB24-4BF5-D583-C9BD24AC16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72E33E-F1CE-BCD8-4A60-9C87176D7226}"/>
              </a:ext>
            </a:extLst>
          </p:cNvPr>
          <p:cNvSpPr>
            <a:spLocks noGrp="1"/>
          </p:cNvSpPr>
          <p:nvPr>
            <p:ph type="title"/>
          </p:nvPr>
        </p:nvSpPr>
        <p:spPr/>
        <p:txBody>
          <a:bodyPr/>
          <a:lstStyle/>
          <a:p>
            <a:pPr algn="l"/>
            <a:r>
              <a:rPr lang="en-US" dirty="0"/>
              <a:t>STAGES IN ETHICAL HACKING</a:t>
            </a:r>
          </a:p>
        </p:txBody>
      </p:sp>
      <p:sp>
        <p:nvSpPr>
          <p:cNvPr id="3" name="Content Placeholder 2">
            <a:extLst>
              <a:ext uri="{FF2B5EF4-FFF2-40B4-BE49-F238E27FC236}">
                <a16:creationId xmlns:a16="http://schemas.microsoft.com/office/drawing/2014/main" id="{0E32529B-2F39-49A2-CB81-644ADEB1B784}"/>
              </a:ext>
            </a:extLst>
          </p:cNvPr>
          <p:cNvSpPr>
            <a:spLocks noGrp="1"/>
          </p:cNvSpPr>
          <p:nvPr>
            <p:ph idx="1"/>
          </p:nvPr>
        </p:nvSpPr>
        <p:spPr>
          <a:xfrm>
            <a:off x="581192" y="2601444"/>
            <a:ext cx="6056499" cy="3634486"/>
          </a:xfrm>
        </p:spPr>
        <p:txBody>
          <a:bodyPr>
            <a:noAutofit/>
          </a:bodyPr>
          <a:lstStyle/>
          <a:p>
            <a:pPr marL="342900" indent="-342900">
              <a:buFont typeface="+mj-lt"/>
              <a:buAutoNum type="arabicPeriod" startAt="4"/>
            </a:pPr>
            <a:r>
              <a:rPr lang="en-US" sz="1500" b="1" dirty="0"/>
              <a:t>Gaining Access</a:t>
            </a:r>
          </a:p>
          <a:p>
            <a:r>
              <a:rPr lang="en-US" sz="1500" b="1" dirty="0"/>
              <a:t>Maintaining Access - Items put in place to ensure future access. </a:t>
            </a:r>
            <a:r>
              <a:rPr lang="en-US" sz="1500" b="1" dirty="0" err="1"/>
              <a:t>e.g</a:t>
            </a:r>
            <a:r>
              <a:rPr lang="en-US" sz="1500" b="1" dirty="0"/>
              <a:t>: </a:t>
            </a:r>
            <a:r>
              <a:rPr lang="en-US" sz="1500" b="1" dirty="0" err="1"/>
              <a:t>Rookit</a:t>
            </a:r>
            <a:r>
              <a:rPr lang="en-US" sz="1500" b="1" dirty="0"/>
              <a:t>, Trojan, Backdoor can be used.</a:t>
            </a:r>
          </a:p>
          <a:p>
            <a:pPr marL="457200" lvl="1" indent="0" algn="l">
              <a:buNone/>
            </a:pPr>
            <a:endParaRPr lang="en-US" sz="1200" b="1" dirty="0"/>
          </a:p>
          <a:p>
            <a:endParaRPr lang="en-NG" sz="1200" dirty="0"/>
          </a:p>
        </p:txBody>
      </p:sp>
      <p:pic>
        <p:nvPicPr>
          <p:cNvPr id="7170" name="Picture 2" descr="Active Reconnaissance in Cybersecurity ...">
            <a:extLst>
              <a:ext uri="{FF2B5EF4-FFF2-40B4-BE49-F238E27FC236}">
                <a16:creationId xmlns:a16="http://schemas.microsoft.com/office/drawing/2014/main" id="{F3C3196D-AC4A-EDD5-091D-47D7E57C79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66479" y="3235341"/>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403827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C161D-9250-85D3-9B7F-F4529B784C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C91646-3A41-6447-C3CD-0B97BF1AD216}"/>
              </a:ext>
            </a:extLst>
          </p:cNvPr>
          <p:cNvSpPr>
            <a:spLocks noGrp="1"/>
          </p:cNvSpPr>
          <p:nvPr>
            <p:ph type="title"/>
          </p:nvPr>
        </p:nvSpPr>
        <p:spPr/>
        <p:txBody>
          <a:bodyPr/>
          <a:lstStyle/>
          <a:p>
            <a:pPr algn="l"/>
            <a:r>
              <a:rPr lang="en-US" dirty="0"/>
              <a:t>STAGES IN ETHICAL HACKING</a:t>
            </a:r>
          </a:p>
        </p:txBody>
      </p:sp>
      <p:sp>
        <p:nvSpPr>
          <p:cNvPr id="3" name="Content Placeholder 2">
            <a:extLst>
              <a:ext uri="{FF2B5EF4-FFF2-40B4-BE49-F238E27FC236}">
                <a16:creationId xmlns:a16="http://schemas.microsoft.com/office/drawing/2014/main" id="{4337738F-4D11-A186-CFB4-4182E79556F1}"/>
              </a:ext>
            </a:extLst>
          </p:cNvPr>
          <p:cNvSpPr>
            <a:spLocks noGrp="1"/>
          </p:cNvSpPr>
          <p:nvPr>
            <p:ph idx="1"/>
          </p:nvPr>
        </p:nvSpPr>
        <p:spPr>
          <a:xfrm>
            <a:off x="581192" y="2601444"/>
            <a:ext cx="6056499" cy="3634486"/>
          </a:xfrm>
        </p:spPr>
        <p:txBody>
          <a:bodyPr>
            <a:noAutofit/>
          </a:bodyPr>
          <a:lstStyle/>
          <a:p>
            <a:pPr marL="342900" indent="-342900">
              <a:buFont typeface="+mj-lt"/>
              <a:buAutoNum type="arabicPeriod" startAt="5"/>
            </a:pPr>
            <a:r>
              <a:rPr lang="en-US" sz="1500" b="1" dirty="0"/>
              <a:t>Covering Tracks</a:t>
            </a:r>
          </a:p>
          <a:p>
            <a:r>
              <a:rPr lang="en-US" sz="1500" b="1" dirty="0"/>
              <a:t>Steps taken to conceal success and intrusion; Not be noticed.</a:t>
            </a:r>
          </a:p>
          <a:p>
            <a:pPr lvl="1"/>
            <a:r>
              <a:rPr lang="en-US" sz="1200" b="1" dirty="0" err="1"/>
              <a:t>e.g</a:t>
            </a:r>
            <a:r>
              <a:rPr lang="en-US" sz="1200" b="1" dirty="0"/>
              <a:t>: Clear the logs; Obfuscate trojans or malicious backdoors programs.</a:t>
            </a:r>
          </a:p>
          <a:p>
            <a:pPr marL="457200" lvl="1" indent="0" algn="l">
              <a:buNone/>
            </a:pPr>
            <a:endParaRPr lang="en-US" sz="1200" b="1" dirty="0"/>
          </a:p>
          <a:p>
            <a:endParaRPr lang="en-NG" sz="1200" dirty="0"/>
          </a:p>
        </p:txBody>
      </p:sp>
      <p:pic>
        <p:nvPicPr>
          <p:cNvPr id="7170" name="Picture 2" descr="Active Reconnaissance in Cybersecurity ...">
            <a:extLst>
              <a:ext uri="{FF2B5EF4-FFF2-40B4-BE49-F238E27FC236}">
                <a16:creationId xmlns:a16="http://schemas.microsoft.com/office/drawing/2014/main" id="{19A307EC-2664-5236-E079-2446E99B38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66479" y="3235341"/>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902993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91EAE-74DB-118C-7177-B1F72D50D4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531AEC-C7CE-FF41-1B7B-0D3C55079D36}"/>
              </a:ext>
            </a:extLst>
          </p:cNvPr>
          <p:cNvSpPr>
            <a:spLocks noGrp="1"/>
          </p:cNvSpPr>
          <p:nvPr>
            <p:ph type="title"/>
          </p:nvPr>
        </p:nvSpPr>
        <p:spPr/>
        <p:txBody>
          <a:bodyPr>
            <a:normAutofit/>
          </a:bodyPr>
          <a:lstStyle/>
          <a:p>
            <a:r>
              <a:rPr lang="en-US" dirty="0"/>
              <a:t>Privacy and Data Protection Ethics</a:t>
            </a:r>
            <a:endParaRPr lang="en-NG" dirty="0"/>
          </a:p>
        </p:txBody>
      </p:sp>
    </p:spTree>
    <p:extLst>
      <p:ext uri="{BB962C8B-B14F-4D97-AF65-F5344CB8AC3E}">
        <p14:creationId xmlns:p14="http://schemas.microsoft.com/office/powerpoint/2010/main" val="215158134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D0070-F936-3138-A4D0-CF6EA1EE72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0FC63B-C1AE-69E1-4257-C763EACE0B7E}"/>
              </a:ext>
            </a:extLst>
          </p:cNvPr>
          <p:cNvSpPr>
            <a:spLocks noGrp="1"/>
          </p:cNvSpPr>
          <p:nvPr>
            <p:ph type="title"/>
          </p:nvPr>
        </p:nvSpPr>
        <p:spPr/>
        <p:txBody>
          <a:bodyPr/>
          <a:lstStyle/>
          <a:p>
            <a:pPr algn="l"/>
            <a:r>
              <a:rPr lang="en-US" dirty="0"/>
              <a:t>Privacy and Data Protection Ethics</a:t>
            </a:r>
          </a:p>
        </p:txBody>
      </p:sp>
      <p:sp>
        <p:nvSpPr>
          <p:cNvPr id="3" name="Content Placeholder 2">
            <a:extLst>
              <a:ext uri="{FF2B5EF4-FFF2-40B4-BE49-F238E27FC236}">
                <a16:creationId xmlns:a16="http://schemas.microsoft.com/office/drawing/2014/main" id="{EC3A23E9-CE1E-11E0-F5CF-C640197A9DA4}"/>
              </a:ext>
            </a:extLst>
          </p:cNvPr>
          <p:cNvSpPr>
            <a:spLocks noGrp="1"/>
          </p:cNvSpPr>
          <p:nvPr>
            <p:ph idx="1"/>
          </p:nvPr>
        </p:nvSpPr>
        <p:spPr>
          <a:xfrm>
            <a:off x="581192" y="2601444"/>
            <a:ext cx="6056499" cy="3634486"/>
          </a:xfrm>
        </p:spPr>
        <p:txBody>
          <a:bodyPr>
            <a:noAutofit/>
          </a:bodyPr>
          <a:lstStyle/>
          <a:p>
            <a:r>
              <a:rPr lang="en-US" sz="1600" dirty="0"/>
              <a:t>Vast amounts of personal and sensitive data are collected, processed, and shared by organizations. </a:t>
            </a:r>
            <a:r>
              <a:rPr lang="en-US" sz="1600" b="1" dirty="0"/>
              <a:t>Privacy and Data Protection Ethics</a:t>
            </a:r>
            <a:r>
              <a:rPr lang="en-US" sz="1600" dirty="0"/>
              <a:t> focus on ensuring that individuals' data is handled responsibly, transparently, and securely. Ethical data practices go beyond legal compliance, fostering trust between organizations and individuals while preventing misuse or exploitation of personal information.</a:t>
            </a:r>
          </a:p>
          <a:p>
            <a:pPr marL="0" indent="0">
              <a:buNone/>
            </a:pPr>
            <a:endParaRPr lang="en-US" sz="1600" b="1" dirty="0"/>
          </a:p>
          <a:p>
            <a:r>
              <a:rPr lang="en-US" sz="1600" dirty="0"/>
              <a:t>Ethical privacy and data protection principles emphasize </a:t>
            </a:r>
            <a:r>
              <a:rPr lang="en-US" sz="1600" b="1" dirty="0"/>
              <a:t>fairness, transparency, accountability, and respect for individual rights</a:t>
            </a:r>
            <a:r>
              <a:rPr lang="en-US" sz="1600" dirty="0"/>
              <a:t>. Organizations must balance their need to collect data with individuals' rights to privacy and autonomy.</a:t>
            </a:r>
            <a:endParaRPr lang="en-US" sz="1600" b="1" dirty="0"/>
          </a:p>
          <a:p>
            <a:endParaRPr lang="en-NG" sz="1600" dirty="0"/>
          </a:p>
        </p:txBody>
      </p:sp>
      <p:pic>
        <p:nvPicPr>
          <p:cNvPr id="8194" name="Picture 2" descr="Data protection, data security, data ...">
            <a:extLst>
              <a:ext uri="{FF2B5EF4-FFF2-40B4-BE49-F238E27FC236}">
                <a16:creationId xmlns:a16="http://schemas.microsoft.com/office/drawing/2014/main" id="{1BAD69D6-6175-67CF-71A4-385FE550DD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45825" y="2965877"/>
            <a:ext cx="3040924" cy="22777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841645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B649F-9790-9084-3DC9-813D149833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880DBB-D634-7DF5-616E-797C8A4EA4FB}"/>
              </a:ext>
            </a:extLst>
          </p:cNvPr>
          <p:cNvSpPr>
            <a:spLocks noGrp="1"/>
          </p:cNvSpPr>
          <p:nvPr>
            <p:ph type="title"/>
          </p:nvPr>
        </p:nvSpPr>
        <p:spPr/>
        <p:txBody>
          <a:bodyPr/>
          <a:lstStyle/>
          <a:p>
            <a:pPr algn="l"/>
            <a:r>
              <a:rPr lang="en-US" dirty="0"/>
              <a:t>Understanding Privacy and Data Protection Ethics</a:t>
            </a:r>
          </a:p>
        </p:txBody>
      </p:sp>
      <p:sp>
        <p:nvSpPr>
          <p:cNvPr id="3" name="Content Placeholder 2">
            <a:extLst>
              <a:ext uri="{FF2B5EF4-FFF2-40B4-BE49-F238E27FC236}">
                <a16:creationId xmlns:a16="http://schemas.microsoft.com/office/drawing/2014/main" id="{A4B2BA95-AE74-3450-B472-571B4A1B5D4A}"/>
              </a:ext>
            </a:extLst>
          </p:cNvPr>
          <p:cNvSpPr>
            <a:spLocks noGrp="1"/>
          </p:cNvSpPr>
          <p:nvPr>
            <p:ph idx="1"/>
          </p:nvPr>
        </p:nvSpPr>
        <p:spPr>
          <a:xfrm>
            <a:off x="581192" y="2601444"/>
            <a:ext cx="6056499" cy="3634486"/>
          </a:xfrm>
        </p:spPr>
        <p:txBody>
          <a:bodyPr>
            <a:noAutofit/>
          </a:bodyPr>
          <a:lstStyle/>
          <a:p>
            <a:r>
              <a:rPr lang="en-US" sz="1600" dirty="0"/>
              <a:t>Key ethical considerations include:</a:t>
            </a:r>
          </a:p>
          <a:p>
            <a:pPr lvl="1"/>
            <a:r>
              <a:rPr lang="en-US" sz="1300" dirty="0"/>
              <a:t>Respect for Individual Autonomy – People should have control over their personal data and the right to decide how it is used.</a:t>
            </a:r>
          </a:p>
          <a:p>
            <a:pPr lvl="1"/>
            <a:r>
              <a:rPr lang="en-US" sz="1300" dirty="0"/>
              <a:t>Transparency and Honesty – Organizations must clearly inform users about what data is collected, how it is used, and with whom it is shared.</a:t>
            </a:r>
          </a:p>
          <a:p>
            <a:pPr lvl="1"/>
            <a:r>
              <a:rPr lang="en-US" sz="1300" dirty="0"/>
              <a:t>Fair and Lawful Data Processing – Data should be collected and processed for legitimate, ethical, and legal purposes.</a:t>
            </a:r>
          </a:p>
          <a:p>
            <a:pPr lvl="1"/>
            <a:r>
              <a:rPr lang="en-US" sz="1300" dirty="0"/>
              <a:t>Data Minimization – Only necessary data should be collected and retained for the minimum required duration.</a:t>
            </a:r>
          </a:p>
          <a:p>
            <a:pPr lvl="1"/>
            <a:r>
              <a:rPr lang="en-US" sz="1300" dirty="0"/>
              <a:t>Security and Confidentiality – Organizations must implement strong cybersecurity measures to protect personal data from breaches and unauthorized access..</a:t>
            </a:r>
            <a:endParaRPr lang="en-US" sz="1300" b="1" dirty="0"/>
          </a:p>
          <a:p>
            <a:endParaRPr lang="en-NG" sz="1600" dirty="0"/>
          </a:p>
        </p:txBody>
      </p:sp>
      <p:pic>
        <p:nvPicPr>
          <p:cNvPr id="8194" name="Picture 2" descr="Data protection, data security, data ...">
            <a:extLst>
              <a:ext uri="{FF2B5EF4-FFF2-40B4-BE49-F238E27FC236}">
                <a16:creationId xmlns:a16="http://schemas.microsoft.com/office/drawing/2014/main" id="{4ABD75A5-4F39-9C4B-9E84-22E29B23CE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45825" y="2965877"/>
            <a:ext cx="3040924" cy="22777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898911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75E71-4F37-2128-BE11-5B6DFFEB59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21F5AB-F13E-D30F-2BF7-51E9070D5985}"/>
              </a:ext>
            </a:extLst>
          </p:cNvPr>
          <p:cNvSpPr>
            <a:spLocks noGrp="1"/>
          </p:cNvSpPr>
          <p:nvPr>
            <p:ph type="title"/>
          </p:nvPr>
        </p:nvSpPr>
        <p:spPr/>
        <p:txBody>
          <a:bodyPr/>
          <a:lstStyle/>
          <a:p>
            <a:pPr algn="l"/>
            <a:r>
              <a:rPr lang="en-US" dirty="0"/>
              <a:t>Ethical Principles in Privacy and Data Protection</a:t>
            </a:r>
          </a:p>
        </p:txBody>
      </p:sp>
      <p:sp>
        <p:nvSpPr>
          <p:cNvPr id="3" name="Content Placeholder 2">
            <a:extLst>
              <a:ext uri="{FF2B5EF4-FFF2-40B4-BE49-F238E27FC236}">
                <a16:creationId xmlns:a16="http://schemas.microsoft.com/office/drawing/2014/main" id="{EC1F4715-9663-972A-F5A3-B2B0742B2549}"/>
              </a:ext>
            </a:extLst>
          </p:cNvPr>
          <p:cNvSpPr>
            <a:spLocks noGrp="1"/>
          </p:cNvSpPr>
          <p:nvPr>
            <p:ph idx="1"/>
          </p:nvPr>
        </p:nvSpPr>
        <p:spPr>
          <a:xfrm>
            <a:off x="581192" y="2601444"/>
            <a:ext cx="6056499" cy="3634486"/>
          </a:xfrm>
        </p:spPr>
        <p:txBody>
          <a:bodyPr>
            <a:noAutofit/>
          </a:bodyPr>
          <a:lstStyle/>
          <a:p>
            <a:r>
              <a:rPr lang="en-US" sz="1600" dirty="0"/>
              <a:t>A. Informed Consent - Individuals must be given clear, understandable choices about data collection. They should be able to opt in or out without coercion. Example: Websites should not use pre-checked consent boxes that force users to share data.</a:t>
            </a:r>
          </a:p>
          <a:p>
            <a:r>
              <a:rPr lang="en-US" sz="1600" dirty="0"/>
              <a:t>B. Right to Access and Control - People should be able to access their personal data, correct inaccuracies, or request its deletion. Example: GDPR’s Right to Be Forgotten allows individuals to request the removal of their data from online platforms.</a:t>
            </a:r>
          </a:p>
        </p:txBody>
      </p:sp>
      <p:pic>
        <p:nvPicPr>
          <p:cNvPr id="10242" name="Picture 2" descr="Privacy: EU celebrates Data Protection ...">
            <a:extLst>
              <a:ext uri="{FF2B5EF4-FFF2-40B4-BE49-F238E27FC236}">
                <a16:creationId xmlns:a16="http://schemas.microsoft.com/office/drawing/2014/main" id="{1DEDF5DC-8E81-2E87-330D-14AACC0352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5502" y="3117044"/>
            <a:ext cx="3708928" cy="19382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9149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B4EEC-6E2B-6A89-9F25-2CCFA41279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776C47-882D-1D93-644D-FAEC010CD916}"/>
              </a:ext>
            </a:extLst>
          </p:cNvPr>
          <p:cNvSpPr>
            <a:spLocks noGrp="1"/>
          </p:cNvSpPr>
          <p:nvPr>
            <p:ph type="title"/>
          </p:nvPr>
        </p:nvSpPr>
        <p:spPr/>
        <p:txBody>
          <a:bodyPr/>
          <a:lstStyle/>
          <a:p>
            <a:pPr algn="l"/>
            <a:r>
              <a:rPr lang="en-US" dirty="0"/>
              <a:t>Ethical Principles in Privacy and Data Protection</a:t>
            </a:r>
          </a:p>
        </p:txBody>
      </p:sp>
      <p:sp>
        <p:nvSpPr>
          <p:cNvPr id="3" name="Content Placeholder 2">
            <a:extLst>
              <a:ext uri="{FF2B5EF4-FFF2-40B4-BE49-F238E27FC236}">
                <a16:creationId xmlns:a16="http://schemas.microsoft.com/office/drawing/2014/main" id="{CD7B5847-0DBB-6D07-6B12-26E0EF1FFE18}"/>
              </a:ext>
            </a:extLst>
          </p:cNvPr>
          <p:cNvSpPr>
            <a:spLocks noGrp="1"/>
          </p:cNvSpPr>
          <p:nvPr>
            <p:ph idx="1"/>
          </p:nvPr>
        </p:nvSpPr>
        <p:spPr>
          <a:xfrm>
            <a:off x="581192" y="2601444"/>
            <a:ext cx="6056499" cy="3634486"/>
          </a:xfrm>
        </p:spPr>
        <p:txBody>
          <a:bodyPr>
            <a:noAutofit/>
          </a:bodyPr>
          <a:lstStyle/>
          <a:p>
            <a:r>
              <a:rPr lang="en-US" sz="1600" dirty="0"/>
              <a:t>C. Accountability and Responsibility - Organizations must take responsibility for ethical data handling and be prepared to justify their data practices. Example: Companies should conduct Data Protection Impact Assessments (DPIAs) before launching new data-driven services.</a:t>
            </a:r>
          </a:p>
          <a:p>
            <a:r>
              <a:rPr lang="en-US" sz="1600" dirty="0"/>
              <a:t>D. Fairness and Non-Discrimination - AI-driven systems and data analytics should not be used to unfairly discriminate against individuals based on race, gender, or other sensitive attributes. Example: Hiring algorithms should be audited to ensure they do not unfairly reject job applicants based on biased training data.</a:t>
            </a:r>
            <a:endParaRPr lang="en-NG" sz="1600" dirty="0"/>
          </a:p>
        </p:txBody>
      </p:sp>
      <p:pic>
        <p:nvPicPr>
          <p:cNvPr id="11266" name="Picture 2" descr="Privacy: EU celebrates Data Protection ...">
            <a:extLst>
              <a:ext uri="{FF2B5EF4-FFF2-40B4-BE49-F238E27FC236}">
                <a16:creationId xmlns:a16="http://schemas.microsoft.com/office/drawing/2014/main" id="{F40EA815-0DB1-8FE2-E120-42B67E2518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7582" y="3202325"/>
            <a:ext cx="3908384" cy="2042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810724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C5170-D7A3-77A6-765F-E8751EEB5A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D3B1AF-D448-51F5-C0DE-06FC9232DAE3}"/>
              </a:ext>
            </a:extLst>
          </p:cNvPr>
          <p:cNvSpPr>
            <a:spLocks noGrp="1"/>
          </p:cNvSpPr>
          <p:nvPr>
            <p:ph type="title"/>
          </p:nvPr>
        </p:nvSpPr>
        <p:spPr/>
        <p:txBody>
          <a:bodyPr/>
          <a:lstStyle/>
          <a:p>
            <a:pPr algn="l"/>
            <a:r>
              <a:rPr lang="en-US" dirty="0"/>
              <a:t>Ethical Challenges in Privacy and Data Protection</a:t>
            </a:r>
          </a:p>
        </p:txBody>
      </p:sp>
      <p:sp>
        <p:nvSpPr>
          <p:cNvPr id="3" name="Content Placeholder 2">
            <a:extLst>
              <a:ext uri="{FF2B5EF4-FFF2-40B4-BE49-F238E27FC236}">
                <a16:creationId xmlns:a16="http://schemas.microsoft.com/office/drawing/2014/main" id="{D0DE4FA8-432B-8028-92A9-664B92255955}"/>
              </a:ext>
            </a:extLst>
          </p:cNvPr>
          <p:cNvSpPr>
            <a:spLocks noGrp="1"/>
          </p:cNvSpPr>
          <p:nvPr>
            <p:ph idx="1"/>
          </p:nvPr>
        </p:nvSpPr>
        <p:spPr>
          <a:xfrm>
            <a:off x="581192" y="2601444"/>
            <a:ext cx="6056499" cy="3634486"/>
          </a:xfrm>
        </p:spPr>
        <p:txBody>
          <a:bodyPr>
            <a:noAutofit/>
          </a:bodyPr>
          <a:lstStyle/>
          <a:p>
            <a:pPr marL="0" indent="0">
              <a:buNone/>
            </a:pPr>
            <a:r>
              <a:rPr lang="en-US" sz="1600" b="1" dirty="0"/>
              <a:t>Surveillance and Tracking </a:t>
            </a:r>
          </a:p>
          <a:p>
            <a:r>
              <a:rPr lang="en-US" sz="1600" dirty="0"/>
              <a:t>Ethical dilemma: Governments and businesses use data tracking technologies for security and marketing, but this can invade personal privacy.</a:t>
            </a:r>
          </a:p>
          <a:p>
            <a:pPr lvl="1"/>
            <a:r>
              <a:rPr lang="en-US" sz="1300" dirty="0"/>
              <a:t>Solution: Organizations should implement privacy-by-design strategies and limit data collection to what is essential.</a:t>
            </a:r>
          </a:p>
          <a:p>
            <a:pPr lvl="1"/>
            <a:endParaRPr lang="en-US" sz="1300" dirty="0"/>
          </a:p>
          <a:p>
            <a:pPr>
              <a:buNone/>
            </a:pPr>
            <a:r>
              <a:rPr lang="en-US" sz="1600" b="1" dirty="0"/>
              <a:t>AI and Data Ethics</a:t>
            </a:r>
          </a:p>
          <a:p>
            <a:pPr>
              <a:buFont typeface="Arial" panose="020B0604020202020204" pitchFamily="34" charset="0"/>
              <a:buChar char="•"/>
            </a:pPr>
            <a:r>
              <a:rPr lang="en-US" sz="1600" dirty="0"/>
              <a:t>Ethical dilemma: AI systems process massive amounts of personal data, raising concerns about bias, fairness, and informed consent.</a:t>
            </a:r>
          </a:p>
          <a:p>
            <a:pPr lvl="1">
              <a:buFont typeface="Arial" panose="020B0604020202020204" pitchFamily="34" charset="0"/>
              <a:buChar char="•"/>
            </a:pPr>
            <a:r>
              <a:rPr lang="en-US" sz="1300" dirty="0"/>
              <a:t>Solution: AI developers should apply </a:t>
            </a:r>
            <a:r>
              <a:rPr lang="en-US" sz="1300" b="1" dirty="0"/>
              <a:t>fairness and transparency principles</a:t>
            </a:r>
            <a:r>
              <a:rPr lang="en-US" sz="1300" dirty="0"/>
              <a:t> in training models and avoid excessive data retention.</a:t>
            </a:r>
          </a:p>
          <a:p>
            <a:pPr lvl="1"/>
            <a:endParaRPr lang="en-US" sz="1300" dirty="0"/>
          </a:p>
        </p:txBody>
      </p:sp>
      <p:pic>
        <p:nvPicPr>
          <p:cNvPr id="12290" name="Picture 2" descr="Expert harps on data privacy rights">
            <a:extLst>
              <a:ext uri="{FF2B5EF4-FFF2-40B4-BE49-F238E27FC236}">
                <a16:creationId xmlns:a16="http://schemas.microsoft.com/office/drawing/2014/main" id="{690D849A-CF90-B180-40E1-C3ABA2583A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5875" y="3186410"/>
            <a:ext cx="3137056" cy="2009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473537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CB22A-429F-DB94-3DFC-5E118EE399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CE7A01-BD31-DB95-7271-8626F9079EE8}"/>
              </a:ext>
            </a:extLst>
          </p:cNvPr>
          <p:cNvSpPr>
            <a:spLocks noGrp="1"/>
          </p:cNvSpPr>
          <p:nvPr>
            <p:ph type="title"/>
          </p:nvPr>
        </p:nvSpPr>
        <p:spPr/>
        <p:txBody>
          <a:bodyPr/>
          <a:lstStyle/>
          <a:p>
            <a:pPr algn="l"/>
            <a:r>
              <a:rPr lang="en-US" dirty="0"/>
              <a:t>Ethical Challenges in Privacy and Data Protection</a:t>
            </a:r>
          </a:p>
        </p:txBody>
      </p:sp>
      <p:sp>
        <p:nvSpPr>
          <p:cNvPr id="3" name="Content Placeholder 2">
            <a:extLst>
              <a:ext uri="{FF2B5EF4-FFF2-40B4-BE49-F238E27FC236}">
                <a16:creationId xmlns:a16="http://schemas.microsoft.com/office/drawing/2014/main" id="{0FFB4DA1-8081-1D19-9BB9-96C800C65A71}"/>
              </a:ext>
            </a:extLst>
          </p:cNvPr>
          <p:cNvSpPr>
            <a:spLocks noGrp="1"/>
          </p:cNvSpPr>
          <p:nvPr>
            <p:ph idx="1"/>
          </p:nvPr>
        </p:nvSpPr>
        <p:spPr>
          <a:xfrm>
            <a:off x="581192" y="2601444"/>
            <a:ext cx="6056499" cy="3634486"/>
          </a:xfrm>
        </p:spPr>
        <p:txBody>
          <a:bodyPr>
            <a:noAutofit/>
          </a:bodyPr>
          <a:lstStyle/>
          <a:p>
            <a:pPr>
              <a:buNone/>
            </a:pPr>
            <a:r>
              <a:rPr lang="en-US" sz="1600" b="1" dirty="0"/>
              <a:t>Cybersecurity and Data Breaches</a:t>
            </a:r>
          </a:p>
          <a:p>
            <a:pPr>
              <a:buFont typeface="Arial" panose="020B0604020202020204" pitchFamily="34" charset="0"/>
              <a:buChar char="•"/>
            </a:pPr>
            <a:r>
              <a:rPr lang="en-US" sz="1600" dirty="0"/>
              <a:t>Ethical dilemma: Organizations collecting vast data are responsible for securing it against hackers, but many fail to prioritize security.</a:t>
            </a:r>
          </a:p>
          <a:p>
            <a:pPr lvl="1">
              <a:buFont typeface="Arial" panose="020B0604020202020204" pitchFamily="34" charset="0"/>
              <a:buChar char="•"/>
            </a:pPr>
            <a:r>
              <a:rPr lang="en-US" sz="1300" dirty="0"/>
              <a:t>Solution: Strong encryption, regular security audits, and </a:t>
            </a:r>
            <a:r>
              <a:rPr lang="en-US" sz="1300" b="1" dirty="0"/>
              <a:t>zero-trust security models</a:t>
            </a:r>
            <a:r>
              <a:rPr lang="en-US" sz="1300" dirty="0"/>
              <a:t> should be implemented.</a:t>
            </a:r>
          </a:p>
          <a:p>
            <a:pPr lvl="1"/>
            <a:endParaRPr lang="en-US" sz="1300" dirty="0"/>
          </a:p>
          <a:p>
            <a:pPr lvl="1"/>
            <a:endParaRPr lang="en-US" sz="1300" dirty="0"/>
          </a:p>
        </p:txBody>
      </p:sp>
      <p:pic>
        <p:nvPicPr>
          <p:cNvPr id="12290" name="Picture 2" descr="Expert harps on data privacy rights">
            <a:extLst>
              <a:ext uri="{FF2B5EF4-FFF2-40B4-BE49-F238E27FC236}">
                <a16:creationId xmlns:a16="http://schemas.microsoft.com/office/drawing/2014/main" id="{C994B6F2-7F44-69CA-8698-AC83BAA15B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5875" y="3186410"/>
            <a:ext cx="3137056" cy="2009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50079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4AEFA-6AE7-9F6A-49D9-94787561F9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B414B2-9951-3E91-5AE9-E4257ECFBCCE}"/>
              </a:ext>
            </a:extLst>
          </p:cNvPr>
          <p:cNvSpPr>
            <a:spLocks noGrp="1"/>
          </p:cNvSpPr>
          <p:nvPr>
            <p:ph type="title"/>
          </p:nvPr>
        </p:nvSpPr>
        <p:spPr/>
        <p:txBody>
          <a:bodyPr>
            <a:normAutofit/>
          </a:bodyPr>
          <a:lstStyle/>
          <a:p>
            <a:r>
              <a:rPr lang="en-US" dirty="0"/>
              <a:t>Cybersecurity Policy Development</a:t>
            </a:r>
            <a:endParaRPr lang="en-NG" dirty="0"/>
          </a:p>
        </p:txBody>
      </p:sp>
    </p:spTree>
    <p:extLst>
      <p:ext uri="{BB962C8B-B14F-4D97-AF65-F5344CB8AC3E}">
        <p14:creationId xmlns:p14="http://schemas.microsoft.com/office/powerpoint/2010/main" val="403366626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D0C03-6AC2-0871-96F3-A00F6827B0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AA71BF-EC36-2156-69C1-5F21BF878C48}"/>
              </a:ext>
            </a:extLst>
          </p:cNvPr>
          <p:cNvSpPr>
            <a:spLocks noGrp="1"/>
          </p:cNvSpPr>
          <p:nvPr>
            <p:ph type="title"/>
          </p:nvPr>
        </p:nvSpPr>
        <p:spPr/>
        <p:txBody>
          <a:bodyPr/>
          <a:lstStyle/>
          <a:p>
            <a:pPr algn="l"/>
            <a:r>
              <a:rPr lang="en-US" dirty="0"/>
              <a:t>CYBERSECURITY POLICY</a:t>
            </a:r>
          </a:p>
        </p:txBody>
      </p:sp>
      <p:sp>
        <p:nvSpPr>
          <p:cNvPr id="3" name="Content Placeholder 2">
            <a:extLst>
              <a:ext uri="{FF2B5EF4-FFF2-40B4-BE49-F238E27FC236}">
                <a16:creationId xmlns:a16="http://schemas.microsoft.com/office/drawing/2014/main" id="{41662DFC-2F8E-5FD5-0F80-8123DBD0220F}"/>
              </a:ext>
            </a:extLst>
          </p:cNvPr>
          <p:cNvSpPr>
            <a:spLocks noGrp="1"/>
          </p:cNvSpPr>
          <p:nvPr>
            <p:ph idx="1"/>
          </p:nvPr>
        </p:nvSpPr>
        <p:spPr>
          <a:xfrm>
            <a:off x="581192" y="2601444"/>
            <a:ext cx="6056499" cy="3634486"/>
          </a:xfrm>
        </p:spPr>
        <p:txBody>
          <a:bodyPr>
            <a:noAutofit/>
          </a:bodyPr>
          <a:lstStyle/>
          <a:p>
            <a:r>
              <a:rPr lang="en-US" sz="1600" dirty="0"/>
              <a:t>A </a:t>
            </a:r>
            <a:r>
              <a:rPr lang="en-US" sz="1600" b="1" dirty="0"/>
              <a:t>Cybersecurity Policy</a:t>
            </a:r>
            <a:r>
              <a:rPr lang="en-US" sz="1600" dirty="0"/>
              <a:t> is a structured set of guidelines that define how an organization protects its information systems, networks, and data from cyber threats. It provides employees, partners, and stakeholders with clear rules and procedures to ensure the </a:t>
            </a:r>
            <a:r>
              <a:rPr lang="en-US" sz="1600" b="1" dirty="0"/>
              <a:t>confidentiality, integrity, and availability</a:t>
            </a:r>
            <a:r>
              <a:rPr lang="en-US" sz="1600" dirty="0"/>
              <a:t> of information assets.</a:t>
            </a:r>
          </a:p>
          <a:p>
            <a:r>
              <a:rPr lang="en-US" sz="1600" dirty="0"/>
              <a:t>Developing a </a:t>
            </a:r>
            <a:r>
              <a:rPr lang="en-US" sz="1600" b="1" dirty="0"/>
              <a:t>comprehensive cybersecurity policy</a:t>
            </a:r>
            <a:r>
              <a:rPr lang="en-US" sz="1600" dirty="0"/>
              <a:t> is essential to protect against data breaches, cyberattacks, and compliance violations.</a:t>
            </a:r>
          </a:p>
          <a:p>
            <a:pPr lvl="1"/>
            <a:endParaRPr lang="en-US" sz="1300" dirty="0"/>
          </a:p>
          <a:p>
            <a:pPr lvl="1"/>
            <a:endParaRPr lang="en-US" sz="1300" dirty="0"/>
          </a:p>
        </p:txBody>
      </p:sp>
      <p:pic>
        <p:nvPicPr>
          <p:cNvPr id="13314" name="Picture 2" descr="What is Security Policy Development? - Duffy Compliance">
            <a:extLst>
              <a:ext uri="{FF2B5EF4-FFF2-40B4-BE49-F238E27FC236}">
                <a16:creationId xmlns:a16="http://schemas.microsoft.com/office/drawing/2014/main" id="{DF500246-1C98-C641-DDDE-A17E4AE0A7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8792" y="3195475"/>
            <a:ext cx="2571750"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794978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C2ECF-3B57-14EF-5129-C1BEA123BC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EF6771-7F52-3EB3-49E4-8552CCBC3509}"/>
              </a:ext>
            </a:extLst>
          </p:cNvPr>
          <p:cNvSpPr>
            <a:spLocks noGrp="1"/>
          </p:cNvSpPr>
          <p:nvPr>
            <p:ph type="title"/>
          </p:nvPr>
        </p:nvSpPr>
        <p:spPr/>
        <p:txBody>
          <a:bodyPr/>
          <a:lstStyle/>
          <a:p>
            <a:pPr algn="l"/>
            <a:r>
              <a:rPr lang="en-US" dirty="0"/>
              <a:t>Importance of Cybersecurity Policy</a:t>
            </a:r>
          </a:p>
        </p:txBody>
      </p:sp>
      <p:sp>
        <p:nvSpPr>
          <p:cNvPr id="3" name="Content Placeholder 2">
            <a:extLst>
              <a:ext uri="{FF2B5EF4-FFF2-40B4-BE49-F238E27FC236}">
                <a16:creationId xmlns:a16="http://schemas.microsoft.com/office/drawing/2014/main" id="{1AD65FBE-FA58-1240-AC84-E3661BC94502}"/>
              </a:ext>
            </a:extLst>
          </p:cNvPr>
          <p:cNvSpPr>
            <a:spLocks noGrp="1"/>
          </p:cNvSpPr>
          <p:nvPr>
            <p:ph idx="1"/>
          </p:nvPr>
        </p:nvSpPr>
        <p:spPr>
          <a:xfrm>
            <a:off x="581192" y="2601444"/>
            <a:ext cx="6056499" cy="3634486"/>
          </a:xfrm>
        </p:spPr>
        <p:txBody>
          <a:bodyPr>
            <a:noAutofit/>
          </a:bodyPr>
          <a:lstStyle/>
          <a:p>
            <a:r>
              <a:rPr lang="en-US" sz="1600" dirty="0"/>
              <a:t>A well-defined cybersecurity policy:</a:t>
            </a:r>
            <a:br>
              <a:rPr lang="en-US" sz="1600" dirty="0"/>
            </a:br>
            <a:endParaRPr lang="en-US" sz="1600" dirty="0"/>
          </a:p>
          <a:p>
            <a:pPr lvl="1"/>
            <a:r>
              <a:rPr lang="en-US" sz="1300" dirty="0"/>
              <a:t>Sets clear security expectations for employees and third parties.</a:t>
            </a:r>
          </a:p>
          <a:p>
            <a:pPr lvl="1"/>
            <a:r>
              <a:rPr lang="en-US" sz="1300" dirty="0"/>
              <a:t>Mitigates risks by defining preventive and response measures.</a:t>
            </a:r>
          </a:p>
          <a:p>
            <a:pPr lvl="1"/>
            <a:r>
              <a:rPr lang="en-US" sz="1300" dirty="0"/>
              <a:t>Ensures regulatory compliance with laws like GDPR, NDPA, HIPAA, and ISO 27001.	</a:t>
            </a:r>
          </a:p>
          <a:p>
            <a:pPr lvl="1"/>
            <a:r>
              <a:rPr lang="en-US" sz="1300" dirty="0"/>
              <a:t>Enhances incident response readiness by outlining breach handling procedures.</a:t>
            </a:r>
          </a:p>
          <a:p>
            <a:pPr lvl="1"/>
            <a:r>
              <a:rPr lang="en-US" sz="1300" dirty="0"/>
              <a:t>Builds cybersecurity culture within an organization.</a:t>
            </a:r>
            <a:endParaRPr lang="en-US" sz="1000" dirty="0"/>
          </a:p>
          <a:p>
            <a:pPr lvl="1"/>
            <a:endParaRPr lang="en-US" sz="1300" dirty="0"/>
          </a:p>
        </p:txBody>
      </p:sp>
      <p:pic>
        <p:nvPicPr>
          <p:cNvPr id="13314" name="Picture 2" descr="What is Security Policy Development? - Duffy Compliance">
            <a:extLst>
              <a:ext uri="{FF2B5EF4-FFF2-40B4-BE49-F238E27FC236}">
                <a16:creationId xmlns:a16="http://schemas.microsoft.com/office/drawing/2014/main" id="{18B38B17-5AE6-3A2C-A111-C7C1506C7D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8792" y="3195475"/>
            <a:ext cx="2571750"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079123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5C048-C01F-943E-ED12-9887D3C259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0171FF-13DD-D8C0-04E3-40310D8A9109}"/>
              </a:ext>
            </a:extLst>
          </p:cNvPr>
          <p:cNvSpPr>
            <a:spLocks noGrp="1"/>
          </p:cNvSpPr>
          <p:nvPr>
            <p:ph type="title"/>
          </p:nvPr>
        </p:nvSpPr>
        <p:spPr/>
        <p:txBody>
          <a:bodyPr/>
          <a:lstStyle/>
          <a:p>
            <a:pPr algn="l"/>
            <a:r>
              <a:rPr lang="en-US" dirty="0"/>
              <a:t>Key Components of a Cybersecurity Policy</a:t>
            </a:r>
          </a:p>
        </p:txBody>
      </p:sp>
      <p:sp>
        <p:nvSpPr>
          <p:cNvPr id="3" name="Content Placeholder 2">
            <a:extLst>
              <a:ext uri="{FF2B5EF4-FFF2-40B4-BE49-F238E27FC236}">
                <a16:creationId xmlns:a16="http://schemas.microsoft.com/office/drawing/2014/main" id="{8DF72297-C140-E60D-FEE7-B779C8945D0F}"/>
              </a:ext>
            </a:extLst>
          </p:cNvPr>
          <p:cNvSpPr>
            <a:spLocks noGrp="1"/>
          </p:cNvSpPr>
          <p:nvPr>
            <p:ph idx="1"/>
          </p:nvPr>
        </p:nvSpPr>
        <p:spPr>
          <a:xfrm>
            <a:off x="581192" y="2601444"/>
            <a:ext cx="5573241" cy="3634486"/>
          </a:xfrm>
        </p:spPr>
        <p:txBody>
          <a:bodyPr>
            <a:noAutofit/>
          </a:bodyPr>
          <a:lstStyle/>
          <a:p>
            <a:pPr>
              <a:buNone/>
            </a:pPr>
            <a:r>
              <a:rPr lang="en-US" sz="1600" b="1" dirty="0"/>
              <a:t>Purpose and Scope</a:t>
            </a:r>
          </a:p>
          <a:p>
            <a:pPr>
              <a:buFont typeface="Arial" panose="020B0604020202020204" pitchFamily="34" charset="0"/>
              <a:buChar char="•"/>
            </a:pPr>
            <a:r>
              <a:rPr lang="en-US" sz="1600" dirty="0"/>
              <a:t>Defines the </a:t>
            </a:r>
            <a:r>
              <a:rPr lang="en-US" sz="1600" b="1" dirty="0"/>
              <a:t>objectives</a:t>
            </a:r>
            <a:r>
              <a:rPr lang="en-US" sz="1600" dirty="0"/>
              <a:t> of the policy.</a:t>
            </a:r>
          </a:p>
          <a:p>
            <a:pPr>
              <a:buFont typeface="Arial" panose="020B0604020202020204" pitchFamily="34" charset="0"/>
              <a:buChar char="•"/>
            </a:pPr>
            <a:r>
              <a:rPr lang="en-US" sz="1600" dirty="0"/>
              <a:t>Specifies which </a:t>
            </a:r>
            <a:r>
              <a:rPr lang="en-US" sz="1600" b="1" dirty="0"/>
              <a:t>departments, employees, and systems</a:t>
            </a:r>
            <a:r>
              <a:rPr lang="en-US" sz="1600" dirty="0"/>
              <a:t> it applies to.</a:t>
            </a:r>
          </a:p>
          <a:p>
            <a:pPr>
              <a:buFont typeface="Arial" panose="020B0604020202020204" pitchFamily="34" charset="0"/>
              <a:buChar char="•"/>
            </a:pPr>
            <a:r>
              <a:rPr lang="en-US" sz="1600" dirty="0"/>
              <a:t>Identifies </a:t>
            </a:r>
            <a:r>
              <a:rPr lang="en-US" sz="1600" b="1" dirty="0"/>
              <a:t>legal and regulatory frameworks</a:t>
            </a:r>
            <a:r>
              <a:rPr lang="en-US" sz="1600" dirty="0"/>
              <a:t> governing security.</a:t>
            </a:r>
          </a:p>
          <a:p>
            <a:pPr marL="324000" lvl="1" indent="0">
              <a:buNone/>
            </a:pPr>
            <a:r>
              <a:rPr lang="en-US" sz="1300" dirty="0"/>
              <a:t>.</a:t>
            </a:r>
            <a:endParaRPr lang="en-US" sz="1000" dirty="0"/>
          </a:p>
          <a:p>
            <a:pPr lvl="1"/>
            <a:endParaRPr lang="en-US" sz="1300" dirty="0"/>
          </a:p>
        </p:txBody>
      </p:sp>
      <p:pic>
        <p:nvPicPr>
          <p:cNvPr id="13314" name="Picture 2" descr="What is Security Policy Development? - Duffy Compliance">
            <a:extLst>
              <a:ext uri="{FF2B5EF4-FFF2-40B4-BE49-F238E27FC236}">
                <a16:creationId xmlns:a16="http://schemas.microsoft.com/office/drawing/2014/main" id="{C85F91FF-4ABA-4D76-DB27-BD98F3DF98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8629" y="2989619"/>
            <a:ext cx="2571750"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051518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E28D2-6B3B-EE44-6E83-D4918AEC8D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B43733-CCDC-99B3-2794-6FB526094A39}"/>
              </a:ext>
            </a:extLst>
          </p:cNvPr>
          <p:cNvSpPr>
            <a:spLocks noGrp="1"/>
          </p:cNvSpPr>
          <p:nvPr>
            <p:ph type="title"/>
          </p:nvPr>
        </p:nvSpPr>
        <p:spPr/>
        <p:txBody>
          <a:bodyPr/>
          <a:lstStyle/>
          <a:p>
            <a:pPr algn="l"/>
            <a:r>
              <a:rPr lang="en-US" dirty="0"/>
              <a:t>Key Components of a Cybersecurity Policy</a:t>
            </a:r>
          </a:p>
        </p:txBody>
      </p:sp>
      <p:sp>
        <p:nvSpPr>
          <p:cNvPr id="3" name="Content Placeholder 2">
            <a:extLst>
              <a:ext uri="{FF2B5EF4-FFF2-40B4-BE49-F238E27FC236}">
                <a16:creationId xmlns:a16="http://schemas.microsoft.com/office/drawing/2014/main" id="{4E72EC33-9E99-2E05-5721-49EAB7372299}"/>
              </a:ext>
            </a:extLst>
          </p:cNvPr>
          <p:cNvSpPr>
            <a:spLocks noGrp="1"/>
          </p:cNvSpPr>
          <p:nvPr>
            <p:ph idx="1"/>
          </p:nvPr>
        </p:nvSpPr>
        <p:spPr>
          <a:xfrm>
            <a:off x="581192" y="2601444"/>
            <a:ext cx="5573241" cy="3634486"/>
          </a:xfrm>
        </p:spPr>
        <p:txBody>
          <a:bodyPr>
            <a:noAutofit/>
          </a:bodyPr>
          <a:lstStyle/>
          <a:p>
            <a:pPr>
              <a:buNone/>
            </a:pPr>
            <a:r>
              <a:rPr lang="en-US" sz="1600" b="1" dirty="0"/>
              <a:t>Roles and Responsibilities</a:t>
            </a:r>
          </a:p>
          <a:p>
            <a:pPr>
              <a:buFont typeface="Arial" panose="020B0604020202020204" pitchFamily="34" charset="0"/>
              <a:buChar char="•"/>
            </a:pPr>
            <a:r>
              <a:rPr lang="en-US" sz="1600" dirty="0"/>
              <a:t>Assigns cybersecurity duties to different teams, such as:</a:t>
            </a:r>
            <a:br>
              <a:rPr lang="en-US" sz="1600" dirty="0"/>
            </a:br>
            <a:r>
              <a:rPr lang="en-US" sz="1600" b="1" dirty="0"/>
              <a:t>IT Security Team</a:t>
            </a:r>
            <a:r>
              <a:rPr lang="en-US" sz="1600" dirty="0"/>
              <a:t> – Responsible for monitoring threats and implementing controls.</a:t>
            </a:r>
            <a:br>
              <a:rPr lang="en-US" sz="1600" dirty="0"/>
            </a:br>
            <a:r>
              <a:rPr lang="en-US" sz="1600" b="1" dirty="0"/>
              <a:t>Employees</a:t>
            </a:r>
            <a:r>
              <a:rPr lang="en-US" sz="1600" dirty="0"/>
              <a:t> – Must follow security best practices (e.g., strong passwords, phishing awareness).</a:t>
            </a:r>
            <a:br>
              <a:rPr lang="en-US" sz="1600" dirty="0"/>
            </a:br>
            <a:r>
              <a:rPr lang="en-US" sz="1600" b="1" dirty="0"/>
              <a:t>Management</a:t>
            </a:r>
            <a:r>
              <a:rPr lang="en-US" sz="1600" dirty="0"/>
              <a:t> – Ensures compliance and resource allocation.</a:t>
            </a:r>
          </a:p>
          <a:p>
            <a:pPr marL="324000" lvl="1" indent="0">
              <a:buNone/>
            </a:pPr>
            <a:r>
              <a:rPr lang="en-US" sz="1300" dirty="0"/>
              <a:t>.</a:t>
            </a:r>
            <a:endParaRPr lang="en-US" sz="1000" dirty="0"/>
          </a:p>
          <a:p>
            <a:pPr lvl="1"/>
            <a:endParaRPr lang="en-US" sz="1300" dirty="0"/>
          </a:p>
        </p:txBody>
      </p:sp>
      <p:pic>
        <p:nvPicPr>
          <p:cNvPr id="13314" name="Picture 2" descr="What is Security Policy Development? - Duffy Compliance">
            <a:extLst>
              <a:ext uri="{FF2B5EF4-FFF2-40B4-BE49-F238E27FC236}">
                <a16:creationId xmlns:a16="http://schemas.microsoft.com/office/drawing/2014/main" id="{D830D9C0-F2F9-C572-350F-34A510C482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2188" y="3099446"/>
            <a:ext cx="2571750"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402145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6DCB9-F003-C6F6-3032-612403DFB9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36A282-6AEC-9645-B982-BCEDE2874FD4}"/>
              </a:ext>
            </a:extLst>
          </p:cNvPr>
          <p:cNvSpPr>
            <a:spLocks noGrp="1"/>
          </p:cNvSpPr>
          <p:nvPr>
            <p:ph type="title"/>
          </p:nvPr>
        </p:nvSpPr>
        <p:spPr/>
        <p:txBody>
          <a:bodyPr/>
          <a:lstStyle/>
          <a:p>
            <a:pPr algn="l"/>
            <a:r>
              <a:rPr lang="en-US" dirty="0"/>
              <a:t>Key Components of a Cybersecurity Policy</a:t>
            </a:r>
          </a:p>
        </p:txBody>
      </p:sp>
      <p:sp>
        <p:nvSpPr>
          <p:cNvPr id="3" name="Content Placeholder 2">
            <a:extLst>
              <a:ext uri="{FF2B5EF4-FFF2-40B4-BE49-F238E27FC236}">
                <a16:creationId xmlns:a16="http://schemas.microsoft.com/office/drawing/2014/main" id="{101E739C-C30F-0339-60C4-0D4B04D3D47A}"/>
              </a:ext>
            </a:extLst>
          </p:cNvPr>
          <p:cNvSpPr>
            <a:spLocks noGrp="1"/>
          </p:cNvSpPr>
          <p:nvPr>
            <p:ph idx="1"/>
          </p:nvPr>
        </p:nvSpPr>
        <p:spPr>
          <a:xfrm>
            <a:off x="581192" y="2601444"/>
            <a:ext cx="5573241" cy="3634486"/>
          </a:xfrm>
        </p:spPr>
        <p:txBody>
          <a:bodyPr>
            <a:noAutofit/>
          </a:bodyPr>
          <a:lstStyle/>
          <a:p>
            <a:pPr>
              <a:buNone/>
            </a:pPr>
            <a:r>
              <a:rPr lang="en-US" sz="1600" b="1" dirty="0"/>
              <a:t>Compliance and Legal Considerations</a:t>
            </a:r>
          </a:p>
          <a:p>
            <a:pPr>
              <a:buFont typeface="Arial" panose="020B0604020202020204" pitchFamily="34" charset="0"/>
              <a:buChar char="•"/>
            </a:pPr>
            <a:r>
              <a:rPr lang="en-US" sz="1600" dirty="0"/>
              <a:t>Aligns with global and local cybersecurity laws (GDPR, NDPA, ISO 27001, CCPA).</a:t>
            </a:r>
          </a:p>
          <a:p>
            <a:pPr>
              <a:buFont typeface="Arial" panose="020B0604020202020204" pitchFamily="34" charset="0"/>
              <a:buChar char="•"/>
            </a:pPr>
            <a:r>
              <a:rPr lang="en-US" sz="1600" dirty="0"/>
              <a:t>Specifies penalties for </a:t>
            </a:r>
            <a:r>
              <a:rPr lang="en-US" sz="1600" b="1" dirty="0"/>
              <a:t>violating security policies</a:t>
            </a:r>
            <a:r>
              <a:rPr lang="en-US" sz="1600" dirty="0"/>
              <a:t>.</a:t>
            </a:r>
          </a:p>
          <a:p>
            <a:pPr marL="324000" lvl="1" indent="0">
              <a:buNone/>
            </a:pPr>
            <a:endParaRPr lang="en-US" sz="1000" dirty="0"/>
          </a:p>
          <a:p>
            <a:pPr lvl="1"/>
            <a:endParaRPr lang="en-US" sz="1300" dirty="0"/>
          </a:p>
        </p:txBody>
      </p:sp>
      <p:pic>
        <p:nvPicPr>
          <p:cNvPr id="13314" name="Picture 2" descr="What is Security Policy Development? - Duffy Compliance">
            <a:extLst>
              <a:ext uri="{FF2B5EF4-FFF2-40B4-BE49-F238E27FC236}">
                <a16:creationId xmlns:a16="http://schemas.microsoft.com/office/drawing/2014/main" id="{6DE921B6-7238-CB16-A990-FE52D1D67B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2188" y="3099446"/>
            <a:ext cx="2571750"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299948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938CD-B427-AB58-3A5F-09EDAC698C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21DD35-D0AE-C6AC-9CB9-C0D95A02D027}"/>
              </a:ext>
            </a:extLst>
          </p:cNvPr>
          <p:cNvSpPr>
            <a:spLocks noGrp="1"/>
          </p:cNvSpPr>
          <p:nvPr>
            <p:ph type="title"/>
          </p:nvPr>
        </p:nvSpPr>
        <p:spPr/>
        <p:txBody>
          <a:bodyPr/>
          <a:lstStyle/>
          <a:p>
            <a:pPr algn="l"/>
            <a:r>
              <a:rPr lang="en-US" dirty="0"/>
              <a:t>Key Components of a Cybersecurity Policy</a:t>
            </a:r>
          </a:p>
        </p:txBody>
      </p:sp>
      <p:sp>
        <p:nvSpPr>
          <p:cNvPr id="3" name="Content Placeholder 2">
            <a:extLst>
              <a:ext uri="{FF2B5EF4-FFF2-40B4-BE49-F238E27FC236}">
                <a16:creationId xmlns:a16="http://schemas.microsoft.com/office/drawing/2014/main" id="{D502119C-A4F2-2698-2441-803239204513}"/>
              </a:ext>
            </a:extLst>
          </p:cNvPr>
          <p:cNvSpPr>
            <a:spLocks noGrp="1"/>
          </p:cNvSpPr>
          <p:nvPr>
            <p:ph idx="1"/>
          </p:nvPr>
        </p:nvSpPr>
        <p:spPr>
          <a:xfrm>
            <a:off x="581192" y="2601444"/>
            <a:ext cx="5573241" cy="3634486"/>
          </a:xfrm>
        </p:spPr>
        <p:txBody>
          <a:bodyPr>
            <a:noAutofit/>
          </a:bodyPr>
          <a:lstStyle/>
          <a:p>
            <a:pPr>
              <a:buNone/>
            </a:pPr>
            <a:r>
              <a:rPr lang="en-US" sz="1600" b="1" dirty="0"/>
              <a:t>Security Awareness and Training</a:t>
            </a:r>
          </a:p>
          <a:p>
            <a:pPr>
              <a:buFont typeface="Arial" panose="020B0604020202020204" pitchFamily="34" charset="0"/>
              <a:buChar char="•"/>
            </a:pPr>
            <a:r>
              <a:rPr lang="en-US" sz="1600" dirty="0"/>
              <a:t>Employees must undergo regular cybersecurity training.</a:t>
            </a:r>
          </a:p>
          <a:p>
            <a:pPr>
              <a:buFont typeface="Arial" panose="020B0604020202020204" pitchFamily="34" charset="0"/>
              <a:buChar char="•"/>
            </a:pPr>
            <a:r>
              <a:rPr lang="en-US" sz="1600" dirty="0"/>
              <a:t>Conduct phishing simulation tests to improve awareness.</a:t>
            </a:r>
          </a:p>
          <a:p>
            <a:pPr marL="324000" lvl="1" indent="0">
              <a:buNone/>
            </a:pPr>
            <a:endParaRPr lang="en-US" sz="1000" dirty="0"/>
          </a:p>
          <a:p>
            <a:pPr lvl="1"/>
            <a:endParaRPr lang="en-US" sz="1300" dirty="0"/>
          </a:p>
        </p:txBody>
      </p:sp>
      <p:pic>
        <p:nvPicPr>
          <p:cNvPr id="13314" name="Picture 2" descr="What is Security Policy Development? - Duffy Compliance">
            <a:extLst>
              <a:ext uri="{FF2B5EF4-FFF2-40B4-BE49-F238E27FC236}">
                <a16:creationId xmlns:a16="http://schemas.microsoft.com/office/drawing/2014/main" id="{5B80BBF3-FD1E-20C3-7964-42161F88CE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2188" y="3099446"/>
            <a:ext cx="2571750"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240390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87CF5-3A3D-F68E-C0C4-9D7439B9E7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86C554-3A0A-A88B-2B09-A634A7CF709B}"/>
              </a:ext>
            </a:extLst>
          </p:cNvPr>
          <p:cNvSpPr>
            <a:spLocks noGrp="1"/>
          </p:cNvSpPr>
          <p:nvPr>
            <p:ph type="title"/>
          </p:nvPr>
        </p:nvSpPr>
        <p:spPr/>
        <p:txBody>
          <a:bodyPr/>
          <a:lstStyle/>
          <a:p>
            <a:pPr algn="l"/>
            <a:r>
              <a:rPr lang="en-US" dirty="0"/>
              <a:t>Types of a Cybersecurity Policy</a:t>
            </a:r>
          </a:p>
        </p:txBody>
      </p:sp>
      <p:sp>
        <p:nvSpPr>
          <p:cNvPr id="3" name="Content Placeholder 2">
            <a:extLst>
              <a:ext uri="{FF2B5EF4-FFF2-40B4-BE49-F238E27FC236}">
                <a16:creationId xmlns:a16="http://schemas.microsoft.com/office/drawing/2014/main" id="{7AC45C99-5BC8-AE03-C408-66B092164786}"/>
              </a:ext>
            </a:extLst>
          </p:cNvPr>
          <p:cNvSpPr>
            <a:spLocks noGrp="1"/>
          </p:cNvSpPr>
          <p:nvPr>
            <p:ph idx="1"/>
          </p:nvPr>
        </p:nvSpPr>
        <p:spPr>
          <a:xfrm>
            <a:off x="581192" y="2601444"/>
            <a:ext cx="5573241" cy="3634486"/>
          </a:xfrm>
        </p:spPr>
        <p:txBody>
          <a:bodyPr>
            <a:noAutofit/>
          </a:bodyPr>
          <a:lstStyle/>
          <a:p>
            <a:pPr>
              <a:buNone/>
            </a:pPr>
            <a:r>
              <a:rPr lang="en-US" sz="1600" b="1" dirty="0"/>
              <a:t>Access Control and Authentication</a:t>
            </a:r>
          </a:p>
          <a:p>
            <a:pPr>
              <a:buFont typeface="Arial" panose="020B0604020202020204" pitchFamily="34" charset="0"/>
              <a:buChar char="•"/>
            </a:pPr>
            <a:r>
              <a:rPr lang="en-US" sz="1600" dirty="0"/>
              <a:t>Defines </a:t>
            </a:r>
            <a:r>
              <a:rPr lang="en-US" sz="1600" b="1" dirty="0"/>
              <a:t>who can access what data</a:t>
            </a:r>
            <a:r>
              <a:rPr lang="en-US" sz="1600" dirty="0"/>
              <a:t> and under what conditions.</a:t>
            </a:r>
          </a:p>
          <a:p>
            <a:pPr>
              <a:buFont typeface="Arial" panose="020B0604020202020204" pitchFamily="34" charset="0"/>
              <a:buChar char="•"/>
            </a:pPr>
            <a:r>
              <a:rPr lang="en-US" sz="1600" dirty="0"/>
              <a:t>Enforces </a:t>
            </a:r>
            <a:r>
              <a:rPr lang="en-US" sz="1600" b="1" dirty="0"/>
              <a:t>Multi-Factor Authentication (MFA)</a:t>
            </a:r>
            <a:r>
              <a:rPr lang="en-US" sz="1600" dirty="0"/>
              <a:t> for sensitive systems.</a:t>
            </a:r>
          </a:p>
          <a:p>
            <a:pPr>
              <a:buFont typeface="Arial" panose="020B0604020202020204" pitchFamily="34" charset="0"/>
              <a:buChar char="•"/>
            </a:pPr>
            <a:r>
              <a:rPr lang="en-US" sz="1600" dirty="0"/>
              <a:t>Implements </a:t>
            </a:r>
            <a:r>
              <a:rPr lang="en-US" sz="1600" b="1" dirty="0"/>
              <a:t>role-based access control (RBAC)</a:t>
            </a:r>
            <a:r>
              <a:rPr lang="en-US" sz="1600" dirty="0"/>
              <a:t> to limit unnecessary access.</a:t>
            </a:r>
          </a:p>
          <a:p>
            <a:pPr marL="324000" lvl="1" indent="0">
              <a:buNone/>
            </a:pPr>
            <a:r>
              <a:rPr lang="en-US" sz="1300" dirty="0"/>
              <a:t>.</a:t>
            </a:r>
            <a:endParaRPr lang="en-US" sz="1000" dirty="0"/>
          </a:p>
          <a:p>
            <a:pPr lvl="1"/>
            <a:endParaRPr lang="en-US" sz="1300" dirty="0"/>
          </a:p>
        </p:txBody>
      </p:sp>
      <p:pic>
        <p:nvPicPr>
          <p:cNvPr id="13314" name="Picture 2" descr="What is Security Policy Development? - Duffy Compliance">
            <a:extLst>
              <a:ext uri="{FF2B5EF4-FFF2-40B4-BE49-F238E27FC236}">
                <a16:creationId xmlns:a16="http://schemas.microsoft.com/office/drawing/2014/main" id="{3B8AE54E-59CF-E714-66BC-9B3D173EDC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2188" y="3099446"/>
            <a:ext cx="2571750"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349242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74EEF-7F01-3CD2-3F18-1442A09B97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1D9F59-A4FE-75D5-6133-E93BB838F3E0}"/>
              </a:ext>
            </a:extLst>
          </p:cNvPr>
          <p:cNvSpPr>
            <a:spLocks noGrp="1"/>
          </p:cNvSpPr>
          <p:nvPr>
            <p:ph type="title"/>
          </p:nvPr>
        </p:nvSpPr>
        <p:spPr/>
        <p:txBody>
          <a:bodyPr/>
          <a:lstStyle/>
          <a:p>
            <a:pPr algn="l"/>
            <a:r>
              <a:rPr lang="en-US" dirty="0"/>
              <a:t>Types of a Cybersecurity Policy</a:t>
            </a:r>
          </a:p>
        </p:txBody>
      </p:sp>
      <p:sp>
        <p:nvSpPr>
          <p:cNvPr id="3" name="Content Placeholder 2">
            <a:extLst>
              <a:ext uri="{FF2B5EF4-FFF2-40B4-BE49-F238E27FC236}">
                <a16:creationId xmlns:a16="http://schemas.microsoft.com/office/drawing/2014/main" id="{8A92D14F-4228-628E-F2C5-2BB3982CDD80}"/>
              </a:ext>
            </a:extLst>
          </p:cNvPr>
          <p:cNvSpPr>
            <a:spLocks noGrp="1"/>
          </p:cNvSpPr>
          <p:nvPr>
            <p:ph idx="1"/>
          </p:nvPr>
        </p:nvSpPr>
        <p:spPr>
          <a:xfrm>
            <a:off x="581192" y="2601444"/>
            <a:ext cx="5573241" cy="3634486"/>
          </a:xfrm>
        </p:spPr>
        <p:txBody>
          <a:bodyPr>
            <a:noAutofit/>
          </a:bodyPr>
          <a:lstStyle/>
          <a:p>
            <a:pPr>
              <a:buNone/>
            </a:pPr>
            <a:r>
              <a:rPr lang="en-US" sz="1600" b="1" dirty="0"/>
              <a:t>Data Protection and Encryption</a:t>
            </a:r>
          </a:p>
          <a:p>
            <a:pPr>
              <a:buFont typeface="Arial" panose="020B0604020202020204" pitchFamily="34" charset="0"/>
              <a:buChar char="•"/>
            </a:pPr>
            <a:r>
              <a:rPr lang="en-US" sz="1600" dirty="0"/>
              <a:t>Requires encryption of sensitive data (e.g., AES-256, TLS).</a:t>
            </a:r>
          </a:p>
          <a:p>
            <a:pPr>
              <a:buFont typeface="Arial" panose="020B0604020202020204" pitchFamily="34" charset="0"/>
              <a:buChar char="•"/>
            </a:pPr>
            <a:r>
              <a:rPr lang="en-US" sz="1600" dirty="0"/>
              <a:t>Specifies data retention and disposal policies.</a:t>
            </a:r>
          </a:p>
          <a:p>
            <a:pPr>
              <a:buFont typeface="Arial" panose="020B0604020202020204" pitchFamily="34" charset="0"/>
              <a:buChar char="•"/>
            </a:pPr>
            <a:r>
              <a:rPr lang="en-US" sz="1600" dirty="0"/>
              <a:t>Implements backup procedures to prevent data loss.</a:t>
            </a:r>
          </a:p>
          <a:p>
            <a:pPr marL="324000" lvl="1" indent="0">
              <a:buNone/>
            </a:pPr>
            <a:r>
              <a:rPr lang="en-US" sz="1300" dirty="0"/>
              <a:t>.</a:t>
            </a:r>
            <a:endParaRPr lang="en-US" sz="1000" dirty="0"/>
          </a:p>
          <a:p>
            <a:pPr lvl="1"/>
            <a:endParaRPr lang="en-US" sz="1300" dirty="0"/>
          </a:p>
        </p:txBody>
      </p:sp>
      <p:pic>
        <p:nvPicPr>
          <p:cNvPr id="13314" name="Picture 2" descr="What is Security Policy Development? - Duffy Compliance">
            <a:extLst>
              <a:ext uri="{FF2B5EF4-FFF2-40B4-BE49-F238E27FC236}">
                <a16:creationId xmlns:a16="http://schemas.microsoft.com/office/drawing/2014/main" id="{EA9F914D-E57A-8790-5517-8A580FE7B9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2188" y="3099446"/>
            <a:ext cx="2571750"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010503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D15B5-4C4F-FCBD-E95A-8B76FC5ED5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BD656A-E5BE-0FFE-BF2D-41E0C8A7646F}"/>
              </a:ext>
            </a:extLst>
          </p:cNvPr>
          <p:cNvSpPr>
            <a:spLocks noGrp="1"/>
          </p:cNvSpPr>
          <p:nvPr>
            <p:ph type="title"/>
          </p:nvPr>
        </p:nvSpPr>
        <p:spPr/>
        <p:txBody>
          <a:bodyPr/>
          <a:lstStyle/>
          <a:p>
            <a:pPr algn="l"/>
            <a:r>
              <a:rPr lang="en-US" dirty="0"/>
              <a:t>Types of a Cybersecurity Policy</a:t>
            </a:r>
          </a:p>
        </p:txBody>
      </p:sp>
      <p:sp>
        <p:nvSpPr>
          <p:cNvPr id="3" name="Content Placeholder 2">
            <a:extLst>
              <a:ext uri="{FF2B5EF4-FFF2-40B4-BE49-F238E27FC236}">
                <a16:creationId xmlns:a16="http://schemas.microsoft.com/office/drawing/2014/main" id="{39BB5554-0663-B03E-476C-E28754815F2B}"/>
              </a:ext>
            </a:extLst>
          </p:cNvPr>
          <p:cNvSpPr>
            <a:spLocks noGrp="1"/>
          </p:cNvSpPr>
          <p:nvPr>
            <p:ph idx="1"/>
          </p:nvPr>
        </p:nvSpPr>
        <p:spPr>
          <a:xfrm>
            <a:off x="581192" y="2601444"/>
            <a:ext cx="5573241" cy="3634486"/>
          </a:xfrm>
        </p:spPr>
        <p:txBody>
          <a:bodyPr>
            <a:noAutofit/>
          </a:bodyPr>
          <a:lstStyle/>
          <a:p>
            <a:pPr>
              <a:buNone/>
            </a:pPr>
            <a:r>
              <a:rPr lang="en-US" sz="1600" b="1" dirty="0"/>
              <a:t>Network and Endpoint Security</a:t>
            </a:r>
          </a:p>
          <a:p>
            <a:pPr>
              <a:buFont typeface="Arial" panose="020B0604020202020204" pitchFamily="34" charset="0"/>
              <a:buChar char="•"/>
            </a:pPr>
            <a:r>
              <a:rPr lang="en-US" sz="1600" dirty="0"/>
              <a:t>Mandates use of firewalls, intrusion detection systems (IDS), and VPNs.</a:t>
            </a:r>
          </a:p>
          <a:p>
            <a:pPr>
              <a:buFont typeface="Arial" panose="020B0604020202020204" pitchFamily="34" charset="0"/>
              <a:buChar char="•"/>
            </a:pPr>
            <a:r>
              <a:rPr lang="en-US" sz="1600" dirty="0"/>
              <a:t>Ensures patch management for operating systems and applications.</a:t>
            </a:r>
          </a:p>
          <a:p>
            <a:pPr>
              <a:buFont typeface="Arial" panose="020B0604020202020204" pitchFamily="34" charset="0"/>
              <a:buChar char="•"/>
            </a:pPr>
            <a:r>
              <a:rPr lang="en-US" sz="1600" dirty="0"/>
              <a:t>Establishes guidelines for securing remote work and BYOD (Bring Your Own Device) policies.</a:t>
            </a:r>
          </a:p>
          <a:p>
            <a:pPr marL="324000" lvl="1" indent="0">
              <a:buNone/>
            </a:pPr>
            <a:r>
              <a:rPr lang="en-US" sz="1300" dirty="0"/>
              <a:t>.</a:t>
            </a:r>
            <a:endParaRPr lang="en-US" sz="1000" dirty="0"/>
          </a:p>
          <a:p>
            <a:pPr lvl="1"/>
            <a:endParaRPr lang="en-US" sz="1300" dirty="0"/>
          </a:p>
        </p:txBody>
      </p:sp>
      <p:pic>
        <p:nvPicPr>
          <p:cNvPr id="13314" name="Picture 2" descr="What is Security Policy Development? - Duffy Compliance">
            <a:extLst>
              <a:ext uri="{FF2B5EF4-FFF2-40B4-BE49-F238E27FC236}">
                <a16:creationId xmlns:a16="http://schemas.microsoft.com/office/drawing/2014/main" id="{CFE788B9-83D7-4878-004E-2645E1562C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2188" y="3099446"/>
            <a:ext cx="2571750"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398999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3C193-53D7-3A8B-3D4D-76642E7188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B81A25-E7FF-8171-24F2-7EF6C22ADDE0}"/>
              </a:ext>
            </a:extLst>
          </p:cNvPr>
          <p:cNvSpPr>
            <a:spLocks noGrp="1"/>
          </p:cNvSpPr>
          <p:nvPr>
            <p:ph type="title"/>
          </p:nvPr>
        </p:nvSpPr>
        <p:spPr/>
        <p:txBody>
          <a:bodyPr/>
          <a:lstStyle/>
          <a:p>
            <a:pPr algn="l"/>
            <a:r>
              <a:rPr lang="en-US" dirty="0"/>
              <a:t>Types of a Cybersecurity Policy</a:t>
            </a:r>
          </a:p>
        </p:txBody>
      </p:sp>
      <p:sp>
        <p:nvSpPr>
          <p:cNvPr id="3" name="Content Placeholder 2">
            <a:extLst>
              <a:ext uri="{FF2B5EF4-FFF2-40B4-BE49-F238E27FC236}">
                <a16:creationId xmlns:a16="http://schemas.microsoft.com/office/drawing/2014/main" id="{F5035524-326D-0DBF-5CB1-32DF0FB40568}"/>
              </a:ext>
            </a:extLst>
          </p:cNvPr>
          <p:cNvSpPr>
            <a:spLocks noGrp="1"/>
          </p:cNvSpPr>
          <p:nvPr>
            <p:ph idx="1"/>
          </p:nvPr>
        </p:nvSpPr>
        <p:spPr>
          <a:xfrm>
            <a:off x="581192" y="2601444"/>
            <a:ext cx="5573241" cy="3634486"/>
          </a:xfrm>
        </p:spPr>
        <p:txBody>
          <a:bodyPr>
            <a:noAutofit/>
          </a:bodyPr>
          <a:lstStyle/>
          <a:p>
            <a:pPr>
              <a:buNone/>
            </a:pPr>
            <a:r>
              <a:rPr lang="en-US" sz="1600" b="1" dirty="0"/>
              <a:t>Incident Response and Reporting</a:t>
            </a:r>
          </a:p>
          <a:p>
            <a:pPr>
              <a:buFont typeface="Arial" panose="020B0604020202020204" pitchFamily="34" charset="0"/>
              <a:buChar char="•"/>
            </a:pPr>
            <a:r>
              <a:rPr lang="en-US" sz="1600" dirty="0"/>
              <a:t>Defines steps for detecting, responding, and recovering from cyber incidents.</a:t>
            </a:r>
          </a:p>
          <a:p>
            <a:pPr>
              <a:buFont typeface="Arial" panose="020B0604020202020204" pitchFamily="34" charset="0"/>
              <a:buChar char="•"/>
            </a:pPr>
            <a:r>
              <a:rPr lang="en-US" sz="1600" dirty="0"/>
              <a:t>Requires employees to report suspicious activities immediately.</a:t>
            </a:r>
          </a:p>
          <a:p>
            <a:pPr>
              <a:buFont typeface="Arial" panose="020B0604020202020204" pitchFamily="34" charset="0"/>
              <a:buChar char="•"/>
            </a:pPr>
            <a:r>
              <a:rPr lang="en-US" sz="1600" dirty="0"/>
              <a:t>Includes business continuity and disaster recovery (BCDR) plans.</a:t>
            </a:r>
          </a:p>
          <a:p>
            <a:pPr marL="324000" lvl="1" indent="0">
              <a:buNone/>
            </a:pPr>
            <a:endParaRPr lang="en-US" sz="1000" dirty="0"/>
          </a:p>
          <a:p>
            <a:pPr lvl="1"/>
            <a:endParaRPr lang="en-US" sz="1300" dirty="0"/>
          </a:p>
        </p:txBody>
      </p:sp>
      <p:pic>
        <p:nvPicPr>
          <p:cNvPr id="13314" name="Picture 2" descr="What is Security Policy Development? - Duffy Compliance">
            <a:extLst>
              <a:ext uri="{FF2B5EF4-FFF2-40B4-BE49-F238E27FC236}">
                <a16:creationId xmlns:a16="http://schemas.microsoft.com/office/drawing/2014/main" id="{64409107-B41E-25E0-FF22-E93A326D07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2188" y="3099446"/>
            <a:ext cx="2571750"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953781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B98AB-2C4A-7176-853E-FF7332FCC2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D62F6D-4A0A-1E96-670C-BC205C1EB092}"/>
              </a:ext>
            </a:extLst>
          </p:cNvPr>
          <p:cNvSpPr>
            <a:spLocks noGrp="1"/>
          </p:cNvSpPr>
          <p:nvPr>
            <p:ph type="title"/>
          </p:nvPr>
        </p:nvSpPr>
        <p:spPr/>
        <p:txBody>
          <a:bodyPr/>
          <a:lstStyle/>
          <a:p>
            <a:pPr algn="l"/>
            <a:r>
              <a:rPr lang="en-US" dirty="0"/>
              <a:t>Types of a Cybersecurity Policy</a:t>
            </a:r>
          </a:p>
        </p:txBody>
      </p:sp>
      <p:sp>
        <p:nvSpPr>
          <p:cNvPr id="3" name="Content Placeholder 2">
            <a:extLst>
              <a:ext uri="{FF2B5EF4-FFF2-40B4-BE49-F238E27FC236}">
                <a16:creationId xmlns:a16="http://schemas.microsoft.com/office/drawing/2014/main" id="{E4FBCF12-B544-5384-6BC3-607FE7C5DF81}"/>
              </a:ext>
            </a:extLst>
          </p:cNvPr>
          <p:cNvSpPr>
            <a:spLocks noGrp="1"/>
          </p:cNvSpPr>
          <p:nvPr>
            <p:ph idx="1"/>
          </p:nvPr>
        </p:nvSpPr>
        <p:spPr>
          <a:xfrm>
            <a:off x="581192" y="2601444"/>
            <a:ext cx="5573241" cy="3634486"/>
          </a:xfrm>
        </p:spPr>
        <p:txBody>
          <a:bodyPr>
            <a:noAutofit/>
          </a:bodyPr>
          <a:lstStyle/>
          <a:p>
            <a:pPr>
              <a:buNone/>
            </a:pPr>
            <a:r>
              <a:rPr lang="en-US" sz="1600" b="1" dirty="0"/>
              <a:t>Acceptable Use Policy (AUP)</a:t>
            </a:r>
          </a:p>
          <a:p>
            <a:pPr>
              <a:buFont typeface="Arial" panose="020B0604020202020204" pitchFamily="34" charset="0"/>
              <a:buChar char="•"/>
            </a:pPr>
            <a:r>
              <a:rPr lang="en-US" sz="1600" dirty="0"/>
              <a:t>Defines what employees can and cannot do with corporate systems and data.</a:t>
            </a:r>
          </a:p>
          <a:p>
            <a:pPr>
              <a:buFont typeface="Arial" panose="020B0604020202020204" pitchFamily="34" charset="0"/>
              <a:buChar char="•"/>
            </a:pPr>
            <a:r>
              <a:rPr lang="en-US" sz="1600" dirty="0"/>
              <a:t>Covers rules for social media, personal device usage, and email security.</a:t>
            </a:r>
          </a:p>
          <a:p>
            <a:pPr marL="324000" lvl="1" indent="0">
              <a:buNone/>
            </a:pPr>
            <a:endParaRPr lang="en-US" sz="1000" dirty="0"/>
          </a:p>
          <a:p>
            <a:pPr lvl="1"/>
            <a:endParaRPr lang="en-US" sz="1300" dirty="0"/>
          </a:p>
        </p:txBody>
      </p:sp>
      <p:pic>
        <p:nvPicPr>
          <p:cNvPr id="13314" name="Picture 2" descr="What is Security Policy Development? - Duffy Compliance">
            <a:extLst>
              <a:ext uri="{FF2B5EF4-FFF2-40B4-BE49-F238E27FC236}">
                <a16:creationId xmlns:a16="http://schemas.microsoft.com/office/drawing/2014/main" id="{17EF2C24-45D8-6694-3AA0-679F9FA2CF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2188" y="3099446"/>
            <a:ext cx="2571750"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645312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DE318-700E-FE95-DBE4-A01C25917C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ECE524-2627-91DA-FAB3-7B848EB4AB06}"/>
              </a:ext>
            </a:extLst>
          </p:cNvPr>
          <p:cNvSpPr>
            <a:spLocks noGrp="1"/>
          </p:cNvSpPr>
          <p:nvPr>
            <p:ph type="title"/>
          </p:nvPr>
        </p:nvSpPr>
        <p:spPr/>
        <p:txBody>
          <a:bodyPr/>
          <a:lstStyle/>
          <a:p>
            <a:pPr algn="l"/>
            <a:r>
              <a:rPr lang="en-US" dirty="0"/>
              <a:t>Cybersecurity Policy Development Process</a:t>
            </a:r>
          </a:p>
        </p:txBody>
      </p:sp>
      <p:sp>
        <p:nvSpPr>
          <p:cNvPr id="3" name="Content Placeholder 2">
            <a:extLst>
              <a:ext uri="{FF2B5EF4-FFF2-40B4-BE49-F238E27FC236}">
                <a16:creationId xmlns:a16="http://schemas.microsoft.com/office/drawing/2014/main" id="{ED135457-AB2C-9FE2-18FB-B2D6A8E47B63}"/>
              </a:ext>
            </a:extLst>
          </p:cNvPr>
          <p:cNvSpPr>
            <a:spLocks noGrp="1"/>
          </p:cNvSpPr>
          <p:nvPr>
            <p:ph idx="1"/>
          </p:nvPr>
        </p:nvSpPr>
        <p:spPr>
          <a:xfrm>
            <a:off x="581192" y="2601444"/>
            <a:ext cx="5573241" cy="3634486"/>
          </a:xfrm>
        </p:spPr>
        <p:txBody>
          <a:bodyPr>
            <a:noAutofit/>
          </a:bodyPr>
          <a:lstStyle/>
          <a:p>
            <a:r>
              <a:rPr lang="en-US" sz="1600" dirty="0"/>
              <a:t>Assess Risks and Requirements</a:t>
            </a:r>
          </a:p>
          <a:p>
            <a:r>
              <a:rPr lang="en-US" sz="1600" dirty="0"/>
              <a:t>Define Policy Objectives</a:t>
            </a:r>
          </a:p>
          <a:p>
            <a:r>
              <a:rPr lang="en-US" sz="1600" dirty="0"/>
              <a:t>Draft the Policy</a:t>
            </a:r>
          </a:p>
          <a:p>
            <a:r>
              <a:rPr lang="en-US" sz="1600" dirty="0"/>
              <a:t>Review and Approve</a:t>
            </a:r>
          </a:p>
          <a:p>
            <a:r>
              <a:rPr lang="en-US" sz="1600" dirty="0"/>
              <a:t>Implement and Train Employees</a:t>
            </a:r>
          </a:p>
          <a:p>
            <a:r>
              <a:rPr lang="en-US" sz="1600" dirty="0"/>
              <a:t>Monitor and Update</a:t>
            </a:r>
          </a:p>
          <a:p>
            <a:pPr marL="324000" lvl="1" indent="0">
              <a:buNone/>
            </a:pPr>
            <a:endParaRPr lang="en-US" sz="1000" dirty="0"/>
          </a:p>
          <a:p>
            <a:pPr lvl="1"/>
            <a:endParaRPr lang="en-US" sz="1300" dirty="0"/>
          </a:p>
        </p:txBody>
      </p:sp>
      <p:pic>
        <p:nvPicPr>
          <p:cNvPr id="13314" name="Picture 2" descr="What is Security Policy Development? - Duffy Compliance">
            <a:extLst>
              <a:ext uri="{FF2B5EF4-FFF2-40B4-BE49-F238E27FC236}">
                <a16:creationId xmlns:a16="http://schemas.microsoft.com/office/drawing/2014/main" id="{08E47B4A-FB0B-E04E-2921-3B1552C8E1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2188" y="3099446"/>
            <a:ext cx="2571750"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206590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FAABF-AF87-B0AD-A85B-6AA2EDA55F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1EB946-97E1-589C-2DD8-94B7E4AC09CD}"/>
              </a:ext>
            </a:extLst>
          </p:cNvPr>
          <p:cNvSpPr>
            <a:spLocks noGrp="1"/>
          </p:cNvSpPr>
          <p:nvPr>
            <p:ph type="title"/>
          </p:nvPr>
        </p:nvSpPr>
        <p:spPr/>
        <p:txBody>
          <a:bodyPr>
            <a:normAutofit/>
          </a:bodyPr>
          <a:lstStyle/>
          <a:p>
            <a:r>
              <a:rPr lang="en-US" dirty="0"/>
              <a:t>Roles of Professional Organizations in Cybersecurity</a:t>
            </a:r>
            <a:endParaRPr lang="en-NG" dirty="0"/>
          </a:p>
        </p:txBody>
      </p:sp>
    </p:spTree>
    <p:extLst>
      <p:ext uri="{BB962C8B-B14F-4D97-AF65-F5344CB8AC3E}">
        <p14:creationId xmlns:p14="http://schemas.microsoft.com/office/powerpoint/2010/main" val="71241478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EACF7-7912-50A0-F639-DD1AD2BE58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965EA4-DCFF-EF75-F572-EA1A5431525F}"/>
              </a:ext>
            </a:extLst>
          </p:cNvPr>
          <p:cNvSpPr>
            <a:spLocks noGrp="1"/>
          </p:cNvSpPr>
          <p:nvPr>
            <p:ph type="title"/>
          </p:nvPr>
        </p:nvSpPr>
        <p:spPr/>
        <p:txBody>
          <a:bodyPr/>
          <a:lstStyle/>
          <a:p>
            <a:pPr algn="l"/>
            <a:r>
              <a:rPr lang="en-US" dirty="0"/>
              <a:t>ROLES OF PROFESSIONAL BODIES</a:t>
            </a:r>
          </a:p>
        </p:txBody>
      </p:sp>
      <p:sp>
        <p:nvSpPr>
          <p:cNvPr id="3" name="Content Placeholder 2">
            <a:extLst>
              <a:ext uri="{FF2B5EF4-FFF2-40B4-BE49-F238E27FC236}">
                <a16:creationId xmlns:a16="http://schemas.microsoft.com/office/drawing/2014/main" id="{3CF2F598-F14E-2195-3D0F-91DD0A64AD03}"/>
              </a:ext>
            </a:extLst>
          </p:cNvPr>
          <p:cNvSpPr>
            <a:spLocks noGrp="1"/>
          </p:cNvSpPr>
          <p:nvPr>
            <p:ph idx="1"/>
          </p:nvPr>
        </p:nvSpPr>
        <p:spPr>
          <a:xfrm>
            <a:off x="581192" y="2601444"/>
            <a:ext cx="5573241" cy="3634486"/>
          </a:xfrm>
        </p:spPr>
        <p:txBody>
          <a:bodyPr>
            <a:noAutofit/>
          </a:bodyPr>
          <a:lstStyle/>
          <a:p>
            <a:r>
              <a:rPr lang="en-US" sz="1600" dirty="0"/>
              <a:t>Professional organizations like SANS Institute (</a:t>
            </a:r>
            <a:r>
              <a:rPr lang="en-US" sz="1600" b="1" dirty="0"/>
              <a:t>SANS</a:t>
            </a:r>
            <a:r>
              <a:rPr lang="en-US" sz="1600" dirty="0"/>
              <a:t>), Information Systems Audit and Control Association (</a:t>
            </a:r>
            <a:r>
              <a:rPr lang="en-US" sz="1600" b="1" dirty="0"/>
              <a:t>ISACA</a:t>
            </a:r>
            <a:r>
              <a:rPr lang="en-US" sz="1600" dirty="0"/>
              <a:t>), and International Information System Security Certification Consortium (</a:t>
            </a:r>
            <a:r>
              <a:rPr lang="en-US" sz="1600" b="1" dirty="0"/>
              <a:t>ISC²</a:t>
            </a:r>
            <a:r>
              <a:rPr lang="en-US" sz="1600" dirty="0"/>
              <a:t>) play a critical role in shaping cybersecurity standards, advancing industry knowledge, and supporting professionals through certifications, training, and best practices.</a:t>
            </a:r>
            <a:endParaRPr lang="en-US" sz="1000" dirty="0"/>
          </a:p>
          <a:p>
            <a:pPr lvl="1"/>
            <a:endParaRPr lang="en-US" sz="1300" dirty="0"/>
          </a:p>
        </p:txBody>
      </p:sp>
      <p:pic>
        <p:nvPicPr>
          <p:cNvPr id="14338" name="Picture 2" descr="Collaborative CCOE, (ISC)2, ISACA, ISSA ...">
            <a:extLst>
              <a:ext uri="{FF2B5EF4-FFF2-40B4-BE49-F238E27FC236}">
                <a16:creationId xmlns:a16="http://schemas.microsoft.com/office/drawing/2014/main" id="{ABD7AC08-8E21-81D7-4A30-407D7BCB81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5786" y="3062702"/>
            <a:ext cx="3028950"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722645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842FC-D0F9-18C8-1639-5C251244C7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F273B1-738D-6063-0037-20DA5BA8296B}"/>
              </a:ext>
            </a:extLst>
          </p:cNvPr>
          <p:cNvSpPr>
            <a:spLocks noGrp="1"/>
          </p:cNvSpPr>
          <p:nvPr>
            <p:ph type="title"/>
          </p:nvPr>
        </p:nvSpPr>
        <p:spPr/>
        <p:txBody>
          <a:bodyPr/>
          <a:lstStyle/>
          <a:p>
            <a:pPr algn="l"/>
            <a:r>
              <a:rPr lang="en-US" dirty="0"/>
              <a:t>ISACA</a:t>
            </a:r>
          </a:p>
        </p:txBody>
      </p:sp>
      <p:sp>
        <p:nvSpPr>
          <p:cNvPr id="3" name="Content Placeholder 2">
            <a:extLst>
              <a:ext uri="{FF2B5EF4-FFF2-40B4-BE49-F238E27FC236}">
                <a16:creationId xmlns:a16="http://schemas.microsoft.com/office/drawing/2014/main" id="{8D197F22-D9DF-246B-B790-769E30AB2EDC}"/>
              </a:ext>
            </a:extLst>
          </p:cNvPr>
          <p:cNvSpPr>
            <a:spLocks noGrp="1"/>
          </p:cNvSpPr>
          <p:nvPr>
            <p:ph idx="1"/>
          </p:nvPr>
        </p:nvSpPr>
        <p:spPr>
          <a:xfrm>
            <a:off x="581192" y="2084609"/>
            <a:ext cx="5573241" cy="3634486"/>
          </a:xfrm>
        </p:spPr>
        <p:txBody>
          <a:bodyPr>
            <a:noAutofit/>
          </a:bodyPr>
          <a:lstStyle/>
          <a:p>
            <a:r>
              <a:rPr lang="en-US" sz="1600" dirty="0"/>
              <a:t>Information Systems Audit and Control Association (</a:t>
            </a:r>
            <a:r>
              <a:rPr lang="en-US" sz="1600" b="1" dirty="0"/>
              <a:t>ISACA</a:t>
            </a:r>
            <a:r>
              <a:rPr lang="en-US" sz="1600" dirty="0"/>
              <a:t>), is a globally recognized professional organization that focuses on </a:t>
            </a:r>
            <a:r>
              <a:rPr lang="en-US" sz="1600" b="1" dirty="0"/>
              <a:t>IT governance, risk management, cybersecurity, and auditing</a:t>
            </a:r>
            <a:r>
              <a:rPr lang="en-US" sz="1600" dirty="0"/>
              <a:t>. It supports professionals in managing and securing information systems through certifications, frameworks, and networking opportunities.</a:t>
            </a:r>
            <a:endParaRPr lang="en-US" sz="1300" dirty="0"/>
          </a:p>
        </p:txBody>
      </p:sp>
      <p:pic>
        <p:nvPicPr>
          <p:cNvPr id="14338" name="Picture 2" descr="Collaborative CCOE, (ISC)2, ISACA, ISSA ...">
            <a:extLst>
              <a:ext uri="{FF2B5EF4-FFF2-40B4-BE49-F238E27FC236}">
                <a16:creationId xmlns:a16="http://schemas.microsoft.com/office/drawing/2014/main" id="{6DF7A672-6321-042D-182A-26A703D69E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5786" y="3062702"/>
            <a:ext cx="3028950"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980153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7F94E-568F-9893-A17B-9455DD4AB4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046F31-6A39-EF79-1AD3-2D01F6A5CCA8}"/>
              </a:ext>
            </a:extLst>
          </p:cNvPr>
          <p:cNvSpPr>
            <a:spLocks noGrp="1"/>
          </p:cNvSpPr>
          <p:nvPr>
            <p:ph type="title"/>
          </p:nvPr>
        </p:nvSpPr>
        <p:spPr/>
        <p:txBody>
          <a:bodyPr/>
          <a:lstStyle/>
          <a:p>
            <a:pPr algn="l"/>
            <a:r>
              <a:rPr lang="en-US" dirty="0"/>
              <a:t>KEY ROLES</a:t>
            </a:r>
          </a:p>
        </p:txBody>
      </p:sp>
      <p:sp>
        <p:nvSpPr>
          <p:cNvPr id="3" name="Content Placeholder 2">
            <a:extLst>
              <a:ext uri="{FF2B5EF4-FFF2-40B4-BE49-F238E27FC236}">
                <a16:creationId xmlns:a16="http://schemas.microsoft.com/office/drawing/2014/main" id="{422F9E9A-14BC-694D-15E8-A4384FD0528B}"/>
              </a:ext>
            </a:extLst>
          </p:cNvPr>
          <p:cNvSpPr>
            <a:spLocks noGrp="1"/>
          </p:cNvSpPr>
          <p:nvPr>
            <p:ph idx="1"/>
          </p:nvPr>
        </p:nvSpPr>
        <p:spPr>
          <a:xfrm>
            <a:off x="892618" y="2521358"/>
            <a:ext cx="5573241" cy="3634486"/>
          </a:xfrm>
        </p:spPr>
        <p:txBody>
          <a:bodyPr>
            <a:noAutofit/>
          </a:bodyPr>
          <a:lstStyle/>
          <a:p>
            <a:r>
              <a:rPr lang="en-US" sz="1600" b="1" dirty="0"/>
              <a:t>IT Governance and Risk Management</a:t>
            </a:r>
            <a:r>
              <a:rPr lang="en-US" sz="1600" dirty="0"/>
              <a:t> – Develops frameworks like </a:t>
            </a:r>
            <a:r>
              <a:rPr lang="en-US" sz="1600" b="1" dirty="0"/>
              <a:t>COBIT (Control Objectives for Information and Related Technologies)</a:t>
            </a:r>
            <a:r>
              <a:rPr lang="en-US" sz="1600" dirty="0"/>
              <a:t> for IT governance.</a:t>
            </a:r>
          </a:p>
          <a:p>
            <a:r>
              <a:rPr lang="en-US" sz="1600" b="1" dirty="0"/>
              <a:t>Cybersecurity and Audit Standards</a:t>
            </a:r>
            <a:r>
              <a:rPr lang="en-US" sz="1600" dirty="0"/>
              <a:t> – Establishes security and compliance standards for IT audit, cybersecurity, and risk assessment.</a:t>
            </a:r>
          </a:p>
          <a:p>
            <a:r>
              <a:rPr lang="en-US" sz="1600" b="1" dirty="0"/>
              <a:t>Certifications and Career Development</a:t>
            </a:r>
            <a:r>
              <a:rPr lang="en-US" sz="1600" dirty="0"/>
              <a:t> – Offers industry-leading credentials to validate expertise in information security, risk management, and governance.</a:t>
            </a:r>
          </a:p>
          <a:p>
            <a:r>
              <a:rPr lang="en-US" sz="1600" b="1" dirty="0"/>
              <a:t>Research and Publications</a:t>
            </a:r>
            <a:r>
              <a:rPr lang="en-US" sz="1600" dirty="0"/>
              <a:t> – Publishes reports on emerging cyber threats, IT governance trends, and audit best practices.</a:t>
            </a:r>
          </a:p>
          <a:p>
            <a:r>
              <a:rPr lang="en-US" sz="1600" b="1" dirty="0"/>
              <a:t>Conferences and Workshops</a:t>
            </a:r>
            <a:r>
              <a:rPr lang="en-US" sz="1600" dirty="0"/>
              <a:t> – Organizes global events like </a:t>
            </a:r>
            <a:r>
              <a:rPr lang="en-US" sz="1600" b="1" dirty="0"/>
              <a:t>ISACA Cybersecurity Nexus (CSX)</a:t>
            </a:r>
            <a:r>
              <a:rPr lang="en-US" sz="1600" dirty="0"/>
              <a:t> for professional networking and skill development.</a:t>
            </a:r>
            <a:endParaRPr lang="en-US" sz="1300" dirty="0"/>
          </a:p>
        </p:txBody>
      </p:sp>
      <p:pic>
        <p:nvPicPr>
          <p:cNvPr id="14338" name="Picture 2" descr="Collaborative CCOE, (ISC)2, ISACA, ISSA ...">
            <a:extLst>
              <a:ext uri="{FF2B5EF4-FFF2-40B4-BE49-F238E27FC236}">
                <a16:creationId xmlns:a16="http://schemas.microsoft.com/office/drawing/2014/main" id="{73E26590-B126-B291-4C7D-B6B64837BA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5786" y="3062702"/>
            <a:ext cx="3028950"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67173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F4EDC-7490-8060-AFB6-BD4B64612D9D}"/>
              </a:ext>
            </a:extLst>
          </p:cNvPr>
          <p:cNvSpPr>
            <a:spLocks noGrp="1"/>
          </p:cNvSpPr>
          <p:nvPr>
            <p:ph type="title"/>
          </p:nvPr>
        </p:nvSpPr>
        <p:spPr/>
        <p:txBody>
          <a:bodyPr/>
          <a:lstStyle/>
          <a:p>
            <a:endParaRPr lang="en-NG"/>
          </a:p>
        </p:txBody>
      </p:sp>
      <p:sp>
        <p:nvSpPr>
          <p:cNvPr id="3" name="Content Placeholder 2">
            <a:extLst>
              <a:ext uri="{FF2B5EF4-FFF2-40B4-BE49-F238E27FC236}">
                <a16:creationId xmlns:a16="http://schemas.microsoft.com/office/drawing/2014/main" id="{D7824B36-F2DA-A7DD-7F44-7A767C243418}"/>
              </a:ext>
            </a:extLst>
          </p:cNvPr>
          <p:cNvSpPr>
            <a:spLocks noGrp="1"/>
          </p:cNvSpPr>
          <p:nvPr>
            <p:ph idx="1"/>
          </p:nvPr>
        </p:nvSpPr>
        <p:spPr/>
        <p:txBody>
          <a:bodyPr/>
          <a:lstStyle/>
          <a:p>
            <a:endParaRPr lang="en-NG"/>
          </a:p>
        </p:txBody>
      </p:sp>
    </p:spTree>
    <p:extLst>
      <p:ext uri="{BB962C8B-B14F-4D97-AF65-F5344CB8AC3E}">
        <p14:creationId xmlns:p14="http://schemas.microsoft.com/office/powerpoint/2010/main" val="30593044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73820-B991-1A24-684F-D7142422C2FC}"/>
              </a:ext>
            </a:extLst>
          </p:cNvPr>
          <p:cNvSpPr>
            <a:spLocks noGrp="1"/>
          </p:cNvSpPr>
          <p:nvPr>
            <p:ph type="title"/>
          </p:nvPr>
        </p:nvSpPr>
        <p:spPr/>
        <p:txBody>
          <a:bodyPr/>
          <a:lstStyle/>
          <a:p>
            <a:endParaRPr lang="en-NG"/>
          </a:p>
        </p:txBody>
      </p:sp>
      <p:sp>
        <p:nvSpPr>
          <p:cNvPr id="3" name="Content Placeholder 2">
            <a:extLst>
              <a:ext uri="{FF2B5EF4-FFF2-40B4-BE49-F238E27FC236}">
                <a16:creationId xmlns:a16="http://schemas.microsoft.com/office/drawing/2014/main" id="{C32F81EC-281E-A414-3534-B3929E5A00D0}"/>
              </a:ext>
            </a:extLst>
          </p:cNvPr>
          <p:cNvSpPr>
            <a:spLocks noGrp="1"/>
          </p:cNvSpPr>
          <p:nvPr>
            <p:ph idx="1"/>
          </p:nvPr>
        </p:nvSpPr>
        <p:spPr/>
        <p:txBody>
          <a:bodyPr/>
          <a:lstStyle/>
          <a:p>
            <a:endParaRPr lang="en-NG" dirty="0"/>
          </a:p>
        </p:txBody>
      </p:sp>
    </p:spTree>
    <p:extLst>
      <p:ext uri="{BB962C8B-B14F-4D97-AF65-F5344CB8AC3E}">
        <p14:creationId xmlns:p14="http://schemas.microsoft.com/office/powerpoint/2010/main" val="75134987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9E6B9-E182-BD41-4FC3-FD861D7AD72B}"/>
              </a:ext>
            </a:extLst>
          </p:cNvPr>
          <p:cNvSpPr>
            <a:spLocks noGrp="1"/>
          </p:cNvSpPr>
          <p:nvPr>
            <p:ph type="title"/>
          </p:nvPr>
        </p:nvSpPr>
        <p:spPr/>
        <p:txBody>
          <a:bodyPr/>
          <a:lstStyle/>
          <a:p>
            <a:endParaRPr lang="en-NG"/>
          </a:p>
        </p:txBody>
      </p:sp>
      <p:sp>
        <p:nvSpPr>
          <p:cNvPr id="3" name="Content Placeholder 2">
            <a:extLst>
              <a:ext uri="{FF2B5EF4-FFF2-40B4-BE49-F238E27FC236}">
                <a16:creationId xmlns:a16="http://schemas.microsoft.com/office/drawing/2014/main" id="{C6757775-3C10-D167-0B3D-116D96AE57B0}"/>
              </a:ext>
            </a:extLst>
          </p:cNvPr>
          <p:cNvSpPr>
            <a:spLocks noGrp="1"/>
          </p:cNvSpPr>
          <p:nvPr>
            <p:ph idx="1"/>
          </p:nvPr>
        </p:nvSpPr>
        <p:spPr/>
        <p:txBody>
          <a:bodyPr/>
          <a:lstStyle/>
          <a:p>
            <a:endParaRPr lang="en-NG" dirty="0"/>
          </a:p>
        </p:txBody>
      </p:sp>
    </p:spTree>
    <p:extLst>
      <p:ext uri="{BB962C8B-B14F-4D97-AF65-F5344CB8AC3E}">
        <p14:creationId xmlns:p14="http://schemas.microsoft.com/office/powerpoint/2010/main" val="49333862"/>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{D41AB3C1-36D1-4BF5-B947-5FE175623093}tf33552983_win32</Template>
  <TotalTime>5781</TotalTime>
  <Words>7060</Words>
  <Application>Microsoft Office PowerPoint</Application>
  <PresentationFormat>Widescreen</PresentationFormat>
  <Paragraphs>654</Paragraphs>
  <Slides>126</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126</vt:i4>
      </vt:variant>
    </vt:vector>
  </HeadingPairs>
  <TitlesOfParts>
    <vt:vector size="135" baseType="lpstr">
      <vt:lpstr>-apple-system</vt:lpstr>
      <vt:lpstr>Arial</vt:lpstr>
      <vt:lpstr>Calibri</vt:lpstr>
      <vt:lpstr>Franklin Gothic Book</vt:lpstr>
      <vt:lpstr>Franklin Gothic Demi</vt:lpstr>
      <vt:lpstr>Roboto</vt:lpstr>
      <vt:lpstr>Wingdings</vt:lpstr>
      <vt:lpstr>Wingdings 2</vt:lpstr>
      <vt:lpstr>DividendVTI</vt:lpstr>
      <vt:lpstr>ALTSCHOOL OF Cybersecurity (BARAKA 2025)</vt:lpstr>
      <vt:lpstr>REFRESHER – LAST WEEK</vt:lpstr>
      <vt:lpstr>Month 2 -  WEEK 5 (Day 1)</vt:lpstr>
      <vt:lpstr>Risk Management</vt:lpstr>
      <vt:lpstr>RISK</vt:lpstr>
      <vt:lpstr>RISK MANAGEMENT</vt:lpstr>
      <vt:lpstr>TYPES OF RISK</vt:lpstr>
      <vt:lpstr>TYPES OF RISK</vt:lpstr>
      <vt:lpstr>TYPES OF RISK</vt:lpstr>
      <vt:lpstr>TYPES OF RISK</vt:lpstr>
      <vt:lpstr>TYPES OF RISK</vt:lpstr>
      <vt:lpstr>RISK Identification Techniques</vt:lpstr>
      <vt:lpstr>RISK Identification Techniques</vt:lpstr>
      <vt:lpstr>RISK Identification Techniques</vt:lpstr>
      <vt:lpstr>RISK Identification Techniques</vt:lpstr>
      <vt:lpstr>RISK Identification Techniques</vt:lpstr>
      <vt:lpstr>RISK Identification Techniques</vt:lpstr>
      <vt:lpstr>RISK Identification Techniques</vt:lpstr>
      <vt:lpstr>Accessing Risk and Prioritizing Risk  </vt:lpstr>
      <vt:lpstr>RISK Management Frameworks – Overview</vt:lpstr>
      <vt:lpstr>RISK Management Frameworks – Overview</vt:lpstr>
      <vt:lpstr>RISK Management Frameworks – Overview</vt:lpstr>
      <vt:lpstr>RISK Management Frameworks – Overview</vt:lpstr>
      <vt:lpstr>RISK Management Frameworks – Overview</vt:lpstr>
      <vt:lpstr>Importance of Risk Management Frameworks and Primary Components of RMFs </vt:lpstr>
      <vt:lpstr>Importance of Risk Management Frameworks and Primary Components of RMFs </vt:lpstr>
      <vt:lpstr>Importance of Risk Management Frameworks and Primary Components of RMFs </vt:lpstr>
      <vt:lpstr>Importance of Risk Management Frameworks and Primary Components of RMFs </vt:lpstr>
      <vt:lpstr>Importance of Risk Management Frameworks and Primary Components of RMFs </vt:lpstr>
      <vt:lpstr>Importance of Risk Management Frameworks and Primary Components of RMFs </vt:lpstr>
      <vt:lpstr>Importance of Risk Management Frameworks and Primary Components of RMFs </vt:lpstr>
      <vt:lpstr>Importance of Risk Management Frameworks and Primary Components of RMFs </vt:lpstr>
      <vt:lpstr>Importance of Risk Management Frameworks and Primary Components of RMFs </vt:lpstr>
      <vt:lpstr>Importance of Risk Management Frameworks and Primary Components of RMFs </vt:lpstr>
      <vt:lpstr>TOP -  Risk Management Frameworks</vt:lpstr>
      <vt:lpstr>TOP -  Risk Management Frameworks</vt:lpstr>
      <vt:lpstr>TOP -  Risk Management Frameworks</vt:lpstr>
      <vt:lpstr>TOP -  Risk Management Frameworks</vt:lpstr>
      <vt:lpstr>TOP -  Risk Management Frameworks</vt:lpstr>
      <vt:lpstr>TOP -  Risk Management Frameworks</vt:lpstr>
      <vt:lpstr>TOP -  Risk Management Frameworks</vt:lpstr>
      <vt:lpstr>TOP -  Risk Management Frameworks</vt:lpstr>
      <vt:lpstr>TOP -  Risk Management Frameworks</vt:lpstr>
      <vt:lpstr>TOP -  Risk Management Frameworks</vt:lpstr>
      <vt:lpstr>TOP -  Risk Management Frameworks</vt:lpstr>
      <vt:lpstr>Quick Refresher-  WEEK 5 (Day 1)</vt:lpstr>
      <vt:lpstr>Month 2 -  WEEK 5 (Day 2)</vt:lpstr>
      <vt:lpstr>Month 2 -  WEEK 5 (Day 2)</vt:lpstr>
      <vt:lpstr>Introducing Key Legislations and Regulations, Compliance Requirements and Standards </vt:lpstr>
      <vt:lpstr>Introduction to key Legislation and Regulations </vt:lpstr>
      <vt:lpstr>Introduction to key Legislation and Regulations </vt:lpstr>
      <vt:lpstr>Introduction to key Legislation and Regulations </vt:lpstr>
      <vt:lpstr>Introduction to key Legislation and Regulations </vt:lpstr>
      <vt:lpstr>Introduction to key Legislation and Regulations </vt:lpstr>
      <vt:lpstr>Importance of Data Protection in the Digital Age</vt:lpstr>
      <vt:lpstr>Importance of Data Protection in the Digital Age</vt:lpstr>
      <vt:lpstr>Importance of Data Protection in the Digital Age</vt:lpstr>
      <vt:lpstr>CYBERSECURITY REGULATIONS</vt:lpstr>
      <vt:lpstr>GLOBAL CYBERSECURITY REGULATIONS</vt:lpstr>
      <vt:lpstr>GLOBAL CYBERSECURITY REGULATIONS</vt:lpstr>
      <vt:lpstr>INDUSTRY STANDARD -  CYBERSECURITY REGULATIONS</vt:lpstr>
      <vt:lpstr>INDUSTRY STANDARD -  CYBERSECURITY REGULATIONS</vt:lpstr>
      <vt:lpstr>NATIONAL AND REGIONAL STANDARD -  CYBERSECURITY REGULATIONS</vt:lpstr>
      <vt:lpstr>NATIONAL AND REGIONAL STANDARD -  CYBERSECURITY REGULATIONS</vt:lpstr>
      <vt:lpstr>NATIONAL AND REGIONAL STANDARD -  CYBERSECURITY REGULATIONS</vt:lpstr>
      <vt:lpstr>NATIONAL AND REGIONAL STANDARD -  CYBERSECURITY REGULATIONS</vt:lpstr>
      <vt:lpstr>Frameworks &amp; Guidelines Supporting Cybersecurity Compliance</vt:lpstr>
      <vt:lpstr>Frameworks &amp; Guidelines Supporting Cybersecurity Compliance</vt:lpstr>
      <vt:lpstr>Frameworks &amp; Guidelines Supporting Cybersecurity Compliance</vt:lpstr>
      <vt:lpstr>Cybersecurity REGULATIONS</vt:lpstr>
      <vt:lpstr>Cybersecurity Framework, CSF Core Function and Cybersecurity Legislations </vt:lpstr>
      <vt:lpstr>Cybersecurity Framework (CSF)</vt:lpstr>
      <vt:lpstr>Cybersecurity Framework (CSF)</vt:lpstr>
      <vt:lpstr>POPOLAR Cybersecurity Framework (CSF)</vt:lpstr>
      <vt:lpstr>NIST CSF Core Functions</vt:lpstr>
      <vt:lpstr>NIST CSF Core Functions</vt:lpstr>
      <vt:lpstr>NIST CSF Core Functions</vt:lpstr>
      <vt:lpstr>NIST CSF Core Functions</vt:lpstr>
      <vt:lpstr>NIST CSF Core Functions</vt:lpstr>
      <vt:lpstr>NIST CSF Core Functions</vt:lpstr>
      <vt:lpstr>CYBERSECURITY LEGISLATION</vt:lpstr>
      <vt:lpstr>CYBERSECURITY LEGISLATION</vt:lpstr>
      <vt:lpstr>Understanding Intellectual Property (IP)</vt:lpstr>
      <vt:lpstr>Types of Intellectual Property</vt:lpstr>
      <vt:lpstr>INTRODUCTION TO ETHICAL HACKING</vt:lpstr>
      <vt:lpstr>Fundamental security concepts</vt:lpstr>
      <vt:lpstr>Security, Functionality and Usability balance</vt:lpstr>
      <vt:lpstr>Types of Hackers </vt:lpstr>
      <vt:lpstr>Types of ATTACKERs </vt:lpstr>
      <vt:lpstr>HACKING VOCABULARY</vt:lpstr>
      <vt:lpstr>Threat Categories</vt:lpstr>
      <vt:lpstr>Some Attack Vectors</vt:lpstr>
      <vt:lpstr>Vulnerability Categories</vt:lpstr>
      <vt:lpstr>Pen Test Phases</vt:lpstr>
      <vt:lpstr>STAGES IN ETHICAL HACKING</vt:lpstr>
      <vt:lpstr>STAGES IN ETHICAL HACKING</vt:lpstr>
      <vt:lpstr>STAGES IN ETHICAL HACKING</vt:lpstr>
      <vt:lpstr>STAGES IN ETHICAL HACKING</vt:lpstr>
      <vt:lpstr>STAGES IN ETHICAL HACKING</vt:lpstr>
      <vt:lpstr>Privacy and Data Protection Ethics</vt:lpstr>
      <vt:lpstr>Privacy and Data Protection Ethics</vt:lpstr>
      <vt:lpstr>Understanding Privacy and Data Protection Ethics</vt:lpstr>
      <vt:lpstr>Ethical Principles in Privacy and Data Protection</vt:lpstr>
      <vt:lpstr>Ethical Principles in Privacy and Data Protection</vt:lpstr>
      <vt:lpstr>Ethical Challenges in Privacy and Data Protection</vt:lpstr>
      <vt:lpstr>Ethical Challenges in Privacy and Data Protection</vt:lpstr>
      <vt:lpstr>Cybersecurity Policy Development</vt:lpstr>
      <vt:lpstr>CYBERSECURITY POLICY</vt:lpstr>
      <vt:lpstr>Importance of Cybersecurity Policy</vt:lpstr>
      <vt:lpstr>Key Components of a Cybersecurity Policy</vt:lpstr>
      <vt:lpstr>Key Components of a Cybersecurity Policy</vt:lpstr>
      <vt:lpstr>Key Components of a Cybersecurity Policy</vt:lpstr>
      <vt:lpstr>Key Components of a Cybersecurity Policy</vt:lpstr>
      <vt:lpstr>Types of a Cybersecurity Policy</vt:lpstr>
      <vt:lpstr>Types of a Cybersecurity Policy</vt:lpstr>
      <vt:lpstr>Types of a Cybersecurity Policy</vt:lpstr>
      <vt:lpstr>Types of a Cybersecurity Policy</vt:lpstr>
      <vt:lpstr>Types of a Cybersecurity Policy</vt:lpstr>
      <vt:lpstr>Cybersecurity Policy Development Process</vt:lpstr>
      <vt:lpstr>Roles of Professional Organizations in Cybersecurity</vt:lpstr>
      <vt:lpstr>ROLES OF PROFESSIONAL BODIES</vt:lpstr>
      <vt:lpstr>ISACA</vt:lpstr>
      <vt:lpstr>KEY ROLES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Oluwafemi Adebiyi</dc:creator>
  <cp:lastModifiedBy>Oluwafemi Adebiyi</cp:lastModifiedBy>
  <cp:revision>6</cp:revision>
  <dcterms:created xsi:type="dcterms:W3CDTF">2025-03-19T13:29:09Z</dcterms:created>
  <dcterms:modified xsi:type="dcterms:W3CDTF">2025-04-09T08:47:26Z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