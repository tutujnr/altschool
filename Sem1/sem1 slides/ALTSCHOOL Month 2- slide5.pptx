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60"/>
  </p:notesMasterIdLst>
  <p:sldIdLst>
    <p:sldId id="257" r:id="rId5"/>
    <p:sldId id="359" r:id="rId6"/>
    <p:sldId id="586" r:id="rId7"/>
    <p:sldId id="587" r:id="rId8"/>
    <p:sldId id="588" r:id="rId9"/>
    <p:sldId id="589" r:id="rId10"/>
    <p:sldId id="590" r:id="rId11"/>
    <p:sldId id="591" r:id="rId12"/>
    <p:sldId id="592" r:id="rId13"/>
    <p:sldId id="260" r:id="rId14"/>
    <p:sldId id="302" r:id="rId15"/>
    <p:sldId id="285" r:id="rId16"/>
    <p:sldId id="530" r:id="rId17"/>
    <p:sldId id="593" r:id="rId18"/>
    <p:sldId id="536" r:id="rId19"/>
    <p:sldId id="537" r:id="rId20"/>
    <p:sldId id="594" r:id="rId21"/>
    <p:sldId id="595" r:id="rId22"/>
    <p:sldId id="532" r:id="rId23"/>
    <p:sldId id="596" r:id="rId24"/>
    <p:sldId id="598" r:id="rId25"/>
    <p:sldId id="597" r:id="rId26"/>
    <p:sldId id="599" r:id="rId27"/>
    <p:sldId id="600" r:id="rId28"/>
    <p:sldId id="602" r:id="rId29"/>
    <p:sldId id="601" r:id="rId30"/>
    <p:sldId id="603" r:id="rId31"/>
    <p:sldId id="604" r:id="rId32"/>
    <p:sldId id="605" r:id="rId33"/>
    <p:sldId id="606" r:id="rId34"/>
    <p:sldId id="608" r:id="rId35"/>
    <p:sldId id="607" r:id="rId36"/>
    <p:sldId id="609" r:id="rId37"/>
    <p:sldId id="619" r:id="rId38"/>
    <p:sldId id="618" r:id="rId39"/>
    <p:sldId id="610" r:id="rId40"/>
    <p:sldId id="611" r:id="rId41"/>
    <p:sldId id="613" r:id="rId42"/>
    <p:sldId id="614" r:id="rId43"/>
    <p:sldId id="612" r:id="rId44"/>
    <p:sldId id="615" r:id="rId45"/>
    <p:sldId id="616" r:id="rId46"/>
    <p:sldId id="617" r:id="rId47"/>
    <p:sldId id="621" r:id="rId48"/>
    <p:sldId id="622" r:id="rId49"/>
    <p:sldId id="623" r:id="rId50"/>
    <p:sldId id="625" r:id="rId51"/>
    <p:sldId id="624" r:id="rId52"/>
    <p:sldId id="620" r:id="rId53"/>
    <p:sldId id="626" r:id="rId54"/>
    <p:sldId id="628" r:id="rId55"/>
    <p:sldId id="627" r:id="rId56"/>
    <p:sldId id="629" r:id="rId57"/>
    <p:sldId id="630" r:id="rId58"/>
    <p:sldId id="546" r:id="rId5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Oluwafemi Adebiyi" initials="OA" lastIdx="2" clrIdx="0">
    <p:extLst>
      <p:ext uri="{19B8F6BF-5375-455C-9EA6-DF929625EA0E}">
        <p15:presenceInfo xmlns:p15="http://schemas.microsoft.com/office/powerpoint/2012/main" userId="f65f69e90005f56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96" autoAdjust="0"/>
    <p:restoredTop sz="94619" autoAdjust="0"/>
  </p:normalViewPr>
  <p:slideViewPr>
    <p:cSldViewPr snapToGrid="0">
      <p:cViewPr varScale="1">
        <p:scale>
          <a:sx n="101" d="100"/>
          <a:sy n="101" d="100"/>
        </p:scale>
        <p:origin x="69"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5" Type="http://schemas.openxmlformats.org/officeDocument/2006/relationships/slide" Target="slides/slide1.xml"/><Relationship Id="rId61" Type="http://schemas.openxmlformats.org/officeDocument/2006/relationships/commentAuthors" Target="commentAuthor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0A6AAE-D760-4905-BBB9-3B016A7B6822}" type="datetimeFigureOut">
              <a:rPr lang="en-NG" smtClean="0"/>
              <a:t>30/04/2025</a:t>
            </a:fld>
            <a:endParaRPr lang="en-N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44F6D5-FFE7-49F7-9D51-00EE85B0B2CE}" type="slidenum">
              <a:rPr lang="en-NG" smtClean="0"/>
              <a:t>‹#›</a:t>
            </a:fld>
            <a:endParaRPr lang="en-NG"/>
          </a:p>
        </p:txBody>
      </p:sp>
    </p:spTree>
    <p:extLst>
      <p:ext uri="{BB962C8B-B14F-4D97-AF65-F5344CB8AC3E}">
        <p14:creationId xmlns:p14="http://schemas.microsoft.com/office/powerpoint/2010/main" val="29612411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G" dirty="0"/>
          </a:p>
        </p:txBody>
      </p:sp>
      <p:sp>
        <p:nvSpPr>
          <p:cNvPr id="4" name="Slide Number Placeholder 3"/>
          <p:cNvSpPr>
            <a:spLocks noGrp="1"/>
          </p:cNvSpPr>
          <p:nvPr>
            <p:ph type="sldNum" sz="quarter" idx="5"/>
          </p:nvPr>
        </p:nvSpPr>
        <p:spPr/>
        <p:txBody>
          <a:bodyPr/>
          <a:lstStyle/>
          <a:p>
            <a:fld id="{A544F6D5-FFE7-49F7-9D51-00EE85B0B2CE}" type="slidenum">
              <a:rPr lang="en-NG" smtClean="0"/>
              <a:t>20</a:t>
            </a:fld>
            <a:endParaRPr lang="en-NG"/>
          </a:p>
        </p:txBody>
      </p:sp>
    </p:spTree>
    <p:extLst>
      <p:ext uri="{BB962C8B-B14F-4D97-AF65-F5344CB8AC3E}">
        <p14:creationId xmlns:p14="http://schemas.microsoft.com/office/powerpoint/2010/main" val="31383392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6DBE3-DFDD-22F2-54EC-C57B0BA811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6B56CF-AB3E-9CBE-A228-931480B6BA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334559-1FAC-025D-9D99-E77F2C5ABA55}"/>
              </a:ext>
            </a:extLst>
          </p:cNvPr>
          <p:cNvSpPr>
            <a:spLocks noGrp="1"/>
          </p:cNvSpPr>
          <p:nvPr>
            <p:ph type="body" idx="1"/>
          </p:nvPr>
        </p:nvSpPr>
        <p:spPr/>
        <p:txBody>
          <a:bodyPr/>
          <a:lstStyle/>
          <a:p>
            <a:endParaRPr lang="en-NG" dirty="0"/>
          </a:p>
        </p:txBody>
      </p:sp>
      <p:sp>
        <p:nvSpPr>
          <p:cNvPr id="4" name="Slide Number Placeholder 3">
            <a:extLst>
              <a:ext uri="{FF2B5EF4-FFF2-40B4-BE49-F238E27FC236}">
                <a16:creationId xmlns:a16="http://schemas.microsoft.com/office/drawing/2014/main" id="{87160AA3-96B3-342C-3517-72B875FD1A2A}"/>
              </a:ext>
            </a:extLst>
          </p:cNvPr>
          <p:cNvSpPr>
            <a:spLocks noGrp="1"/>
          </p:cNvSpPr>
          <p:nvPr>
            <p:ph type="sldNum" sz="quarter" idx="5"/>
          </p:nvPr>
        </p:nvSpPr>
        <p:spPr/>
        <p:txBody>
          <a:bodyPr/>
          <a:lstStyle/>
          <a:p>
            <a:fld id="{A544F6D5-FFE7-49F7-9D51-00EE85B0B2CE}" type="slidenum">
              <a:rPr lang="en-NG" smtClean="0"/>
              <a:t>21</a:t>
            </a:fld>
            <a:endParaRPr lang="en-NG"/>
          </a:p>
        </p:txBody>
      </p:sp>
    </p:spTree>
    <p:extLst>
      <p:ext uri="{BB962C8B-B14F-4D97-AF65-F5344CB8AC3E}">
        <p14:creationId xmlns:p14="http://schemas.microsoft.com/office/powerpoint/2010/main" val="39822006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G" dirty="0"/>
          </a:p>
        </p:txBody>
      </p:sp>
      <p:sp>
        <p:nvSpPr>
          <p:cNvPr id="4" name="Slide Number Placeholder 3"/>
          <p:cNvSpPr>
            <a:spLocks noGrp="1"/>
          </p:cNvSpPr>
          <p:nvPr>
            <p:ph type="sldNum" sz="quarter" idx="5"/>
          </p:nvPr>
        </p:nvSpPr>
        <p:spPr/>
        <p:txBody>
          <a:bodyPr/>
          <a:lstStyle/>
          <a:p>
            <a:fld id="{A544F6D5-FFE7-49F7-9D51-00EE85B0B2CE}" type="slidenum">
              <a:rPr lang="en-NG" smtClean="0"/>
              <a:t>45</a:t>
            </a:fld>
            <a:endParaRPr lang="en-NG"/>
          </a:p>
        </p:txBody>
      </p:sp>
    </p:spTree>
    <p:extLst>
      <p:ext uri="{BB962C8B-B14F-4D97-AF65-F5344CB8AC3E}">
        <p14:creationId xmlns:p14="http://schemas.microsoft.com/office/powerpoint/2010/main" val="319053390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4/30/2025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pic>
        <p:nvPicPr>
          <p:cNvPr id="11" name="Picture 10">
            <a:extLst>
              <a:ext uri="{FF2B5EF4-FFF2-40B4-BE49-F238E27FC236}">
                <a16:creationId xmlns:a16="http://schemas.microsoft.com/office/drawing/2014/main" id="{0F384564-48B7-3DF6-C1B7-7858DDE3FC6B}"/>
              </a:ext>
            </a:extLst>
          </p:cNvPr>
          <p:cNvPicPr>
            <a:picLocks noChangeAspect="1"/>
          </p:cNvPicPr>
          <p:nvPr userDrawn="1"/>
        </p:nvPicPr>
        <p:blipFill>
          <a:blip r:embed="rId2"/>
          <a:stretch>
            <a:fillRect/>
          </a:stretch>
        </p:blipFill>
        <p:spPr>
          <a:xfrm>
            <a:off x="11029474" y="598099"/>
            <a:ext cx="715992" cy="715992"/>
          </a:xfrm>
          <a:prstGeom prst="rect">
            <a:avLst/>
          </a:prstGeom>
        </p:spPr>
      </p:pic>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340864"/>
            <a:ext cx="11029615" cy="36344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4/30/2025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pic>
        <p:nvPicPr>
          <p:cNvPr id="7" name="Picture 6">
            <a:extLst>
              <a:ext uri="{FF2B5EF4-FFF2-40B4-BE49-F238E27FC236}">
                <a16:creationId xmlns:a16="http://schemas.microsoft.com/office/drawing/2014/main" id="{1437CCE9-8823-992F-B1CF-23DB1FE90D61}"/>
              </a:ext>
            </a:extLst>
          </p:cNvPr>
          <p:cNvPicPr>
            <a:picLocks noChangeAspect="1"/>
          </p:cNvPicPr>
          <p:nvPr userDrawn="1"/>
        </p:nvPicPr>
        <p:blipFill>
          <a:blip r:embed="rId2"/>
          <a:stretch>
            <a:fillRect/>
          </a:stretch>
        </p:blipFill>
        <p:spPr>
          <a:xfrm>
            <a:off x="11007305" y="689156"/>
            <a:ext cx="668547" cy="668547"/>
          </a:xfrm>
          <a:prstGeom prst="rect">
            <a:avLst/>
          </a:prstGeom>
        </p:spPr>
      </p:pic>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4/30/2025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19476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6039" y="2228003"/>
            <a:ext cx="5194769"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4/30/2025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4/30/2025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4/30/2025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4/30/2025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4/30/2025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4/30/2025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4/30/2025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4/30/2025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4/30/2025</a:t>
            </a:fld>
            <a:endParaRPr lang="en-US" dirty="0"/>
          </a:p>
        </p:txBody>
      </p:sp>
      <p:sp>
        <p:nvSpPr>
          <p:cNvPr id="5" name="Footer Placehold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D6D7A0BC-0046-4CAA-8E7F-DCAFE511EA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C21E816-31F5-48BB-BD02-D15F2F18B48A}"/>
              </a:ext>
            </a:extLst>
          </p:cNvPr>
          <p:cNvSpPr>
            <a:spLocks noGrp="1"/>
          </p:cNvSpPr>
          <p:nvPr>
            <p:ph type="ctrTitle"/>
          </p:nvPr>
        </p:nvSpPr>
        <p:spPr>
          <a:xfrm>
            <a:off x="581191" y="1020431"/>
            <a:ext cx="10993549" cy="1475013"/>
          </a:xfrm>
        </p:spPr>
        <p:txBody>
          <a:bodyPr>
            <a:normAutofit/>
          </a:bodyPr>
          <a:lstStyle/>
          <a:p>
            <a:r>
              <a:rPr lang="en-US" dirty="0"/>
              <a:t>ALTSCHOOL OF Cybersecurity (BARAKA 2025)</a:t>
            </a:r>
          </a:p>
        </p:txBody>
      </p:sp>
      <p:sp>
        <p:nvSpPr>
          <p:cNvPr id="3" name="Subtitle 2">
            <a:extLst>
              <a:ext uri="{FF2B5EF4-FFF2-40B4-BE49-F238E27FC236}">
                <a16:creationId xmlns:a16="http://schemas.microsoft.com/office/drawing/2014/main" id="{835D6E6B-3353-491C-A3C6-F278D6CED8B3}"/>
              </a:ext>
            </a:extLst>
          </p:cNvPr>
          <p:cNvSpPr>
            <a:spLocks noGrp="1"/>
          </p:cNvSpPr>
          <p:nvPr>
            <p:ph type="subTitle" idx="1"/>
          </p:nvPr>
        </p:nvSpPr>
        <p:spPr>
          <a:xfrm>
            <a:off x="581194" y="2495445"/>
            <a:ext cx="10993546" cy="468233"/>
          </a:xfrm>
        </p:spPr>
        <p:txBody>
          <a:bodyPr>
            <a:normAutofit/>
          </a:bodyPr>
          <a:lstStyle/>
          <a:p>
            <a:r>
              <a:rPr lang="en-US" b="1" dirty="0">
                <a:solidFill>
                  <a:schemeClr val="tx1"/>
                </a:solidFill>
              </a:rPr>
              <a:t>MONTH 2 – WEEK 4</a:t>
            </a:r>
          </a:p>
        </p:txBody>
      </p:sp>
      <p:sp>
        <p:nvSpPr>
          <p:cNvPr id="20" name="Rectangle 19">
            <a:extLst>
              <a:ext uri="{FF2B5EF4-FFF2-40B4-BE49-F238E27FC236}">
                <a16:creationId xmlns:a16="http://schemas.microsoft.com/office/drawing/2014/main" id="{E7C6334F-6411-41EC-AD7D-179EDD8B5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22" name="Rectangle 21">
            <a:extLst>
              <a:ext uri="{FF2B5EF4-FFF2-40B4-BE49-F238E27FC236}">
                <a16:creationId xmlns:a16="http://schemas.microsoft.com/office/drawing/2014/main" id="{E6B02CEE-3AF8-4349-9B3E-8970E6DF62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24" name="Rectangle 23">
            <a:extLst>
              <a:ext uri="{FF2B5EF4-FFF2-40B4-BE49-F238E27FC236}">
                <a16:creationId xmlns:a16="http://schemas.microsoft.com/office/drawing/2014/main" id="{AAA01CF0-3FB5-44EB-B7DE-F2E86374C2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pic>
        <p:nvPicPr>
          <p:cNvPr id="6" name="Picture 5" descr="abstract image">
            <a:extLst>
              <a:ext uri="{FF2B5EF4-FFF2-40B4-BE49-F238E27FC236}">
                <a16:creationId xmlns:a16="http://schemas.microsoft.com/office/drawing/2014/main" id="{F1A8C364-94D4-4630-BAD0-78722F347055}"/>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448733" y="3081867"/>
            <a:ext cx="11260667" cy="3310466"/>
          </a:xfrm>
          <a:prstGeom prst="rect">
            <a:avLst/>
          </a:prstGeom>
        </p:spPr>
      </p:pic>
      <p:pic>
        <p:nvPicPr>
          <p:cNvPr id="5" name="Picture 4">
            <a:extLst>
              <a:ext uri="{FF2B5EF4-FFF2-40B4-BE49-F238E27FC236}">
                <a16:creationId xmlns:a16="http://schemas.microsoft.com/office/drawing/2014/main" id="{6D88CAB6-26D2-B72B-9B46-D93B44FBD551}"/>
              </a:ext>
            </a:extLst>
          </p:cNvPr>
          <p:cNvPicPr>
            <a:picLocks noChangeAspect="1"/>
          </p:cNvPicPr>
          <p:nvPr/>
        </p:nvPicPr>
        <p:blipFill>
          <a:blip r:embed="rId3"/>
          <a:stretch>
            <a:fillRect/>
          </a:stretch>
        </p:blipFill>
        <p:spPr>
          <a:xfrm>
            <a:off x="10887519" y="616528"/>
            <a:ext cx="723290" cy="723290"/>
          </a:xfrm>
          <a:prstGeom prst="rect">
            <a:avLst/>
          </a:prstGeom>
        </p:spPr>
      </p:pic>
    </p:spTree>
    <p:extLst>
      <p:ext uri="{BB962C8B-B14F-4D97-AF65-F5344CB8AC3E}">
        <p14:creationId xmlns:p14="http://schemas.microsoft.com/office/powerpoint/2010/main" val="2475805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089BF-CABF-F169-6BD1-FB7399D70A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AAA0DC-C434-B3B4-0363-3B35ABFDD03A}"/>
              </a:ext>
            </a:extLst>
          </p:cNvPr>
          <p:cNvSpPr>
            <a:spLocks noGrp="1"/>
          </p:cNvSpPr>
          <p:nvPr>
            <p:ph type="title"/>
          </p:nvPr>
        </p:nvSpPr>
        <p:spPr/>
        <p:txBody>
          <a:bodyPr/>
          <a:lstStyle/>
          <a:p>
            <a:r>
              <a:rPr lang="en-US" dirty="0"/>
              <a:t>Refresher-  Last week</a:t>
            </a:r>
            <a:endParaRPr lang="en-NG" dirty="0"/>
          </a:p>
        </p:txBody>
      </p:sp>
      <p:sp>
        <p:nvSpPr>
          <p:cNvPr id="4" name="Content Placeholder 2">
            <a:extLst>
              <a:ext uri="{FF2B5EF4-FFF2-40B4-BE49-F238E27FC236}">
                <a16:creationId xmlns:a16="http://schemas.microsoft.com/office/drawing/2014/main" id="{9900875B-7EFA-237A-A995-A93013DF59DC}"/>
              </a:ext>
            </a:extLst>
          </p:cNvPr>
          <p:cNvSpPr>
            <a:spLocks noGrp="1"/>
          </p:cNvSpPr>
          <p:nvPr>
            <p:ph idx="1"/>
          </p:nvPr>
        </p:nvSpPr>
        <p:spPr>
          <a:xfrm>
            <a:off x="623498" y="2668929"/>
            <a:ext cx="11029950" cy="3633787"/>
          </a:xfrm>
        </p:spPr>
        <p:txBody>
          <a:bodyPr>
            <a:normAutofit fontScale="92500" lnSpcReduction="10000"/>
          </a:bodyPr>
          <a:lstStyle/>
          <a:p>
            <a:r>
              <a:rPr lang="en-US" dirty="0"/>
              <a:t>IP Address Fundamentals</a:t>
            </a:r>
          </a:p>
          <a:p>
            <a:pPr lvl="1"/>
            <a:r>
              <a:rPr lang="en-US" dirty="0"/>
              <a:t>Understanding Internet Protocol v4 (IPV4) and Structure</a:t>
            </a:r>
          </a:p>
          <a:p>
            <a:pPr lvl="1"/>
            <a:r>
              <a:rPr lang="en-US" dirty="0"/>
              <a:t>Understanding Binary Format in IP addresses</a:t>
            </a:r>
          </a:p>
          <a:p>
            <a:endParaRPr lang="en-US" dirty="0"/>
          </a:p>
          <a:p>
            <a:r>
              <a:rPr lang="en-US" dirty="0"/>
              <a:t>Subnet and IPv4 Addresses</a:t>
            </a:r>
          </a:p>
          <a:p>
            <a:pPr lvl="1"/>
            <a:r>
              <a:rPr lang="en-US" dirty="0"/>
              <a:t>What is a Subnet?</a:t>
            </a:r>
          </a:p>
          <a:p>
            <a:pPr lvl="1"/>
            <a:r>
              <a:rPr lang="en-US" dirty="0"/>
              <a:t>Classes of IPv4 Addresses</a:t>
            </a:r>
          </a:p>
          <a:p>
            <a:pPr lvl="1"/>
            <a:r>
              <a:rPr lang="en-US" dirty="0"/>
              <a:t>Subnet Mask and IPv4 Addresses</a:t>
            </a:r>
          </a:p>
          <a:p>
            <a:pPr lvl="1"/>
            <a:r>
              <a:rPr lang="en-US" dirty="0"/>
              <a:t>Subnet Mask and Subnetting Techniques</a:t>
            </a:r>
          </a:p>
          <a:p>
            <a:pPr lvl="1"/>
            <a:r>
              <a:rPr lang="en-US" dirty="0"/>
              <a:t>Classless Inter-Domain Routing (CIDR) Notation and Variable Length Subnet Mask</a:t>
            </a:r>
          </a:p>
          <a:p>
            <a:pPr lvl="1"/>
            <a:r>
              <a:rPr lang="en-US" dirty="0"/>
              <a:t>Class Demo</a:t>
            </a:r>
          </a:p>
          <a:p>
            <a:pPr marL="324000" lvl="1" indent="0">
              <a:buNone/>
            </a:pPr>
            <a:endParaRPr lang="en-US" dirty="0"/>
          </a:p>
          <a:p>
            <a:pPr lvl="2"/>
            <a:endParaRPr lang="en-US" dirty="0"/>
          </a:p>
          <a:p>
            <a:endParaRPr lang="en-NG" dirty="0"/>
          </a:p>
        </p:txBody>
      </p:sp>
    </p:spTree>
    <p:extLst>
      <p:ext uri="{BB962C8B-B14F-4D97-AF65-F5344CB8AC3E}">
        <p14:creationId xmlns:p14="http://schemas.microsoft.com/office/powerpoint/2010/main" val="841872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01325-8849-800C-E062-CCD4CAFA34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620A44-63A4-833F-0883-937500EE7543}"/>
              </a:ext>
            </a:extLst>
          </p:cNvPr>
          <p:cNvSpPr>
            <a:spLocks noGrp="1"/>
          </p:cNvSpPr>
          <p:nvPr>
            <p:ph type="title"/>
          </p:nvPr>
        </p:nvSpPr>
        <p:spPr>
          <a:xfrm>
            <a:off x="480106" y="1297241"/>
            <a:ext cx="11029616" cy="1000123"/>
          </a:xfrm>
        </p:spPr>
        <p:txBody>
          <a:bodyPr>
            <a:normAutofit fontScale="90000"/>
          </a:bodyPr>
          <a:lstStyle/>
          <a:p>
            <a:r>
              <a:rPr lang="en-US" dirty="0"/>
              <a:t>Classless Inter-Domain Routing (CIDR) Notation</a:t>
            </a:r>
            <a:br>
              <a:rPr lang="en-US" dirty="0"/>
            </a:br>
            <a:br>
              <a:rPr lang="en-US" b="1" i="0" dirty="0">
                <a:solidFill>
                  <a:srgbClr val="1B2733"/>
                </a:solidFill>
                <a:effectLst/>
                <a:latin typeface="Arial" panose="020B0604020202020204" pitchFamily="34" charset="0"/>
              </a:rPr>
            </a:br>
            <a:endParaRPr lang="en-US" b="1" i="0" dirty="0">
              <a:solidFill>
                <a:srgbClr val="1B2733"/>
              </a:solidFill>
              <a:effectLst/>
              <a:latin typeface="Arial" panose="020B0604020202020204" pitchFamily="34" charset="0"/>
            </a:endParaRPr>
          </a:p>
        </p:txBody>
      </p:sp>
      <p:sp>
        <p:nvSpPr>
          <p:cNvPr id="3" name="Content Placeholder 2">
            <a:extLst>
              <a:ext uri="{FF2B5EF4-FFF2-40B4-BE49-F238E27FC236}">
                <a16:creationId xmlns:a16="http://schemas.microsoft.com/office/drawing/2014/main" id="{2C444FF4-DA1A-7F0C-28E1-5BEFADA872ED}"/>
              </a:ext>
            </a:extLst>
          </p:cNvPr>
          <p:cNvSpPr>
            <a:spLocks noGrp="1"/>
          </p:cNvSpPr>
          <p:nvPr>
            <p:ph idx="1"/>
          </p:nvPr>
        </p:nvSpPr>
        <p:spPr>
          <a:xfrm>
            <a:off x="399143" y="2697955"/>
            <a:ext cx="10715625" cy="1462089"/>
          </a:xfrm>
        </p:spPr>
        <p:txBody>
          <a:bodyPr>
            <a:noAutofit/>
          </a:bodyPr>
          <a:lstStyle/>
          <a:p>
            <a:r>
              <a:rPr lang="en-US" sz="1600" dirty="0"/>
              <a:t>CIDR (Classless Inter-Domain Routing) is a method used to efficiently allocate IP addresses on a network. CIDR allows network administrators to create subnets by allocating IP addresses based on size and need. This enhances the security, organization, and efficiency of the network. </a:t>
            </a:r>
          </a:p>
          <a:p>
            <a:r>
              <a:rPr lang="en-US" sz="1600" b="0" i="0" dirty="0">
                <a:solidFill>
                  <a:srgbClr val="1B2733"/>
                </a:solidFill>
                <a:effectLst/>
                <a:latin typeface="Source Sans Pro" panose="020B0503030403020204" pitchFamily="34" charset="0"/>
              </a:rPr>
              <a:t> CIDR also incorporates concepts such as IP addresses, subnetting, and route table management — all of which we will go over in detail. But first, let’s delve into CIDR notation and all its benefits.</a:t>
            </a:r>
            <a:r>
              <a:rPr lang="en-US" sz="1600" dirty="0"/>
              <a:t>	</a:t>
            </a:r>
          </a:p>
          <a:p>
            <a:pPr marL="0" indent="0">
              <a:buNone/>
            </a:pPr>
            <a:endParaRPr lang="en-NG" sz="1600" dirty="0"/>
          </a:p>
        </p:txBody>
      </p:sp>
    </p:spTree>
    <p:extLst>
      <p:ext uri="{BB962C8B-B14F-4D97-AF65-F5344CB8AC3E}">
        <p14:creationId xmlns:p14="http://schemas.microsoft.com/office/powerpoint/2010/main" val="5035494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55767-542C-57A7-8451-487A267A5C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9C50FA-6586-5FAB-6649-5DA5A408B52E}"/>
              </a:ext>
            </a:extLst>
          </p:cNvPr>
          <p:cNvSpPr>
            <a:spLocks noGrp="1"/>
          </p:cNvSpPr>
          <p:nvPr>
            <p:ph type="title"/>
          </p:nvPr>
        </p:nvSpPr>
        <p:spPr>
          <a:xfrm>
            <a:off x="480106" y="1297241"/>
            <a:ext cx="11029616" cy="1000123"/>
          </a:xfrm>
        </p:spPr>
        <p:txBody>
          <a:bodyPr>
            <a:normAutofit fontScale="90000"/>
          </a:bodyPr>
          <a:lstStyle/>
          <a:p>
            <a:r>
              <a:rPr lang="en-US" dirty="0"/>
              <a:t>Classless Inter-Domain Routing (CIDR) Notation</a:t>
            </a:r>
            <a:br>
              <a:rPr lang="en-US" dirty="0"/>
            </a:br>
            <a:br>
              <a:rPr lang="en-US" b="1" i="0" dirty="0">
                <a:solidFill>
                  <a:srgbClr val="1B2733"/>
                </a:solidFill>
                <a:effectLst/>
                <a:latin typeface="Arial" panose="020B0604020202020204" pitchFamily="34" charset="0"/>
              </a:rPr>
            </a:br>
            <a:endParaRPr lang="en-US" b="1" i="0" dirty="0">
              <a:solidFill>
                <a:srgbClr val="1B2733"/>
              </a:solidFill>
              <a:effectLst/>
              <a:latin typeface="Arial" panose="020B0604020202020204" pitchFamily="34" charset="0"/>
            </a:endParaRPr>
          </a:p>
        </p:txBody>
      </p:sp>
      <p:sp>
        <p:nvSpPr>
          <p:cNvPr id="3" name="Content Placeholder 2">
            <a:extLst>
              <a:ext uri="{FF2B5EF4-FFF2-40B4-BE49-F238E27FC236}">
                <a16:creationId xmlns:a16="http://schemas.microsoft.com/office/drawing/2014/main" id="{72B3FA34-3FA4-77BB-5DC2-B16FC5113193}"/>
              </a:ext>
            </a:extLst>
          </p:cNvPr>
          <p:cNvSpPr>
            <a:spLocks noGrp="1"/>
          </p:cNvSpPr>
          <p:nvPr>
            <p:ph idx="1"/>
          </p:nvPr>
        </p:nvSpPr>
        <p:spPr>
          <a:xfrm>
            <a:off x="399143" y="2697955"/>
            <a:ext cx="10715625" cy="1462089"/>
          </a:xfrm>
        </p:spPr>
        <p:txBody>
          <a:bodyPr>
            <a:noAutofit/>
          </a:bodyPr>
          <a:lstStyle/>
          <a:p>
            <a:pPr algn="just"/>
            <a:r>
              <a:rPr lang="en-US" sz="1600" b="0" i="0" dirty="0">
                <a:solidFill>
                  <a:srgbClr val="1B2733"/>
                </a:solidFill>
                <a:effectLst/>
                <a:latin typeface="Source Sans Pro" panose="020B0503030403020204" pitchFamily="34" charset="0"/>
              </a:rPr>
              <a:t> CIDR notation is a concise method to represent an IP address and its associated network prefix. The core part signifies the network prefix, while the CIDR suffix determines the variation or available addresses.</a:t>
            </a:r>
          </a:p>
          <a:p>
            <a:pPr algn="just"/>
            <a:r>
              <a:rPr lang="en-US" sz="1600" b="0" i="0" dirty="0">
                <a:solidFill>
                  <a:srgbClr val="1B2733"/>
                </a:solidFill>
                <a:effectLst/>
                <a:latin typeface="Source Sans Pro" panose="020B0503030403020204" pitchFamily="34" charset="0"/>
              </a:rPr>
              <a:t>All IPv4 addresses are 32 bits, which can be broken up into 4 bytes, so the CIDR suffix informs the reader how many bits are already allocated. The full form of CIDR suffix will never be higher than 32 since that would be larger than the IP address itself.</a:t>
            </a:r>
          </a:p>
          <a:p>
            <a:pPr marL="0" indent="0">
              <a:buNone/>
            </a:pPr>
            <a:r>
              <a:rPr lang="en-US" sz="1600" dirty="0"/>
              <a:t>	</a:t>
            </a:r>
          </a:p>
          <a:p>
            <a:pPr marL="0" indent="0">
              <a:buNone/>
            </a:pPr>
            <a:endParaRPr lang="en-NG" sz="1600" dirty="0"/>
          </a:p>
        </p:txBody>
      </p:sp>
    </p:spTree>
    <p:extLst>
      <p:ext uri="{BB962C8B-B14F-4D97-AF65-F5344CB8AC3E}">
        <p14:creationId xmlns:p14="http://schemas.microsoft.com/office/powerpoint/2010/main" val="12019155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E8E2D5-0941-52DE-B724-E142C821B8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223293-D300-F8F3-4FD6-BCD61298EA30}"/>
              </a:ext>
            </a:extLst>
          </p:cNvPr>
          <p:cNvSpPr>
            <a:spLocks noGrp="1"/>
          </p:cNvSpPr>
          <p:nvPr>
            <p:ph type="title"/>
          </p:nvPr>
        </p:nvSpPr>
        <p:spPr>
          <a:xfrm>
            <a:off x="480106" y="1297241"/>
            <a:ext cx="11029616" cy="1000123"/>
          </a:xfrm>
        </p:spPr>
        <p:txBody>
          <a:bodyPr>
            <a:normAutofit fontScale="90000"/>
          </a:bodyPr>
          <a:lstStyle/>
          <a:p>
            <a:r>
              <a:rPr lang="en-US" dirty="0"/>
              <a:t>CIDR Notation - SYNTAX</a:t>
            </a:r>
            <a:br>
              <a:rPr lang="en-US" dirty="0"/>
            </a:br>
            <a:br>
              <a:rPr lang="en-US" b="1" i="0" dirty="0">
                <a:solidFill>
                  <a:srgbClr val="1B2733"/>
                </a:solidFill>
                <a:effectLst/>
                <a:latin typeface="Arial" panose="020B0604020202020204" pitchFamily="34" charset="0"/>
              </a:rPr>
            </a:br>
            <a:endParaRPr lang="en-US" b="1" i="0" dirty="0">
              <a:solidFill>
                <a:srgbClr val="1B2733"/>
              </a:solidFill>
              <a:effectLst/>
              <a:latin typeface="Arial" panose="020B0604020202020204" pitchFamily="34" charset="0"/>
            </a:endParaRPr>
          </a:p>
        </p:txBody>
      </p:sp>
      <p:sp>
        <p:nvSpPr>
          <p:cNvPr id="3" name="Content Placeholder 2">
            <a:extLst>
              <a:ext uri="{FF2B5EF4-FFF2-40B4-BE49-F238E27FC236}">
                <a16:creationId xmlns:a16="http://schemas.microsoft.com/office/drawing/2014/main" id="{011579A0-A30E-49B5-EC0C-1C4A20EE6D27}"/>
              </a:ext>
            </a:extLst>
          </p:cNvPr>
          <p:cNvSpPr>
            <a:spLocks noGrp="1"/>
          </p:cNvSpPr>
          <p:nvPr>
            <p:ph idx="1"/>
          </p:nvPr>
        </p:nvSpPr>
        <p:spPr>
          <a:xfrm>
            <a:off x="480106" y="3269455"/>
            <a:ext cx="10715625" cy="1462089"/>
          </a:xfrm>
        </p:spPr>
        <p:txBody>
          <a:bodyPr>
            <a:noAutofit/>
          </a:bodyPr>
          <a:lstStyle/>
          <a:p>
            <a:pPr marL="0" indent="0" algn="just">
              <a:buNone/>
            </a:pPr>
            <a:r>
              <a:rPr lang="en-NG" sz="1600" dirty="0">
                <a:solidFill>
                  <a:srgbClr val="1B2733"/>
                </a:solidFill>
                <a:latin typeface="Source Sans Pro" panose="020B0503030403020204" pitchFamily="34" charset="0"/>
              </a:rPr>
              <a:t>192.168.1.0/24</a:t>
            </a:r>
          </a:p>
          <a:p>
            <a:pPr algn="just"/>
            <a:r>
              <a:rPr lang="en-US" sz="1600" dirty="0">
                <a:solidFill>
                  <a:srgbClr val="1B2733"/>
                </a:solidFill>
                <a:latin typeface="Source Sans Pro" panose="020B0503030403020204" pitchFamily="34" charset="0"/>
              </a:rPr>
              <a:t>IP Address: Everything before the slash is the network IP address. All IP addresses will be a variation of the 192.168.1.X, where X is the host.</a:t>
            </a:r>
          </a:p>
          <a:p>
            <a:pPr algn="just"/>
            <a:r>
              <a:rPr lang="en-US" sz="1600" dirty="0">
                <a:solidFill>
                  <a:srgbClr val="1B2733"/>
                </a:solidFill>
                <a:latin typeface="Source Sans Pro" panose="020B0503030403020204" pitchFamily="34" charset="0"/>
              </a:rPr>
              <a:t>CIDR Notation: The slash and everything after it is the CIDR notation. The 24 represents the number of bits that are allocated to the IP addresses. Find the difference between 32 and 24 to determine how many bits are available for allocation.</a:t>
            </a:r>
          </a:p>
          <a:p>
            <a:pPr algn="just"/>
            <a:r>
              <a:rPr lang="en-US" sz="1600" dirty="0">
                <a:solidFill>
                  <a:srgbClr val="1B2733"/>
                </a:solidFill>
                <a:latin typeface="Source Sans Pro" panose="020B0503030403020204" pitchFamily="34" charset="0"/>
              </a:rPr>
              <a:t>Prefix: The network prefix is 192.168.1. These three octets are reserved and will remain unchanged throughout the IP allocation process.</a:t>
            </a:r>
          </a:p>
          <a:p>
            <a:pPr algn="just"/>
            <a:r>
              <a:rPr lang="en-US" sz="1600" dirty="0">
                <a:solidFill>
                  <a:srgbClr val="1B2733"/>
                </a:solidFill>
                <a:latin typeface="Source Sans Pro" panose="020B0503030403020204" pitchFamily="34" charset="0"/>
              </a:rPr>
              <a:t>Host: The host, part of the IP address ("0" in this example), is the section that identifies specific devices within the network. In this case, the last 8 bits (as determined by the "/24" CIDR notation) are available for different hosts on this network, allowing for 256 unique host addresses (2^8 = 256).</a:t>
            </a:r>
          </a:p>
          <a:p>
            <a:pPr marL="0" indent="0">
              <a:buNone/>
            </a:pPr>
            <a:r>
              <a:rPr lang="en-US" sz="1600" dirty="0"/>
              <a:t>	</a:t>
            </a:r>
          </a:p>
          <a:p>
            <a:pPr marL="0" indent="0">
              <a:buNone/>
            </a:pPr>
            <a:endParaRPr lang="en-NG" sz="1600" dirty="0"/>
          </a:p>
        </p:txBody>
      </p:sp>
    </p:spTree>
    <p:extLst>
      <p:ext uri="{BB962C8B-B14F-4D97-AF65-F5344CB8AC3E}">
        <p14:creationId xmlns:p14="http://schemas.microsoft.com/office/powerpoint/2010/main" val="5249911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DDD4FB-D72F-EB19-3F6E-E32C23B2B3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EFEEEE-F14E-9BEB-9976-AA3704B5AA60}"/>
              </a:ext>
            </a:extLst>
          </p:cNvPr>
          <p:cNvSpPr>
            <a:spLocks noGrp="1"/>
          </p:cNvSpPr>
          <p:nvPr>
            <p:ph type="title"/>
          </p:nvPr>
        </p:nvSpPr>
        <p:spPr>
          <a:xfrm>
            <a:off x="480106" y="1297241"/>
            <a:ext cx="11029616" cy="926847"/>
          </a:xfrm>
        </p:spPr>
        <p:txBody>
          <a:bodyPr>
            <a:normAutofit fontScale="90000"/>
          </a:bodyPr>
          <a:lstStyle/>
          <a:p>
            <a:r>
              <a:rPr lang="en-US" dirty="0"/>
              <a:t>Variable Length Subnet Masking (VLSM) </a:t>
            </a:r>
            <a:br>
              <a:rPr lang="en-US" dirty="0"/>
            </a:br>
            <a:br>
              <a:rPr lang="en-US" dirty="0"/>
            </a:br>
            <a:br>
              <a:rPr lang="en-US" b="1" i="0" dirty="0">
                <a:solidFill>
                  <a:srgbClr val="1B2733"/>
                </a:solidFill>
                <a:effectLst/>
                <a:latin typeface="Arial" panose="020B0604020202020204" pitchFamily="34" charset="0"/>
              </a:rPr>
            </a:br>
            <a:endParaRPr lang="en-US" b="1" i="0" dirty="0">
              <a:solidFill>
                <a:srgbClr val="1B2733"/>
              </a:solidFill>
              <a:effectLst/>
              <a:latin typeface="Arial" panose="020B0604020202020204" pitchFamily="34" charset="0"/>
            </a:endParaRPr>
          </a:p>
        </p:txBody>
      </p:sp>
      <p:sp>
        <p:nvSpPr>
          <p:cNvPr id="3" name="Content Placeholder 2">
            <a:extLst>
              <a:ext uri="{FF2B5EF4-FFF2-40B4-BE49-F238E27FC236}">
                <a16:creationId xmlns:a16="http://schemas.microsoft.com/office/drawing/2014/main" id="{922D949F-8D63-B9C4-D437-800AB628F7E4}"/>
              </a:ext>
            </a:extLst>
          </p:cNvPr>
          <p:cNvSpPr>
            <a:spLocks noGrp="1"/>
          </p:cNvSpPr>
          <p:nvPr>
            <p:ph idx="1"/>
          </p:nvPr>
        </p:nvSpPr>
        <p:spPr>
          <a:xfrm>
            <a:off x="480106" y="1760664"/>
            <a:ext cx="10715625" cy="1462089"/>
          </a:xfrm>
        </p:spPr>
        <p:txBody>
          <a:bodyPr>
            <a:noAutofit/>
          </a:bodyPr>
          <a:lstStyle/>
          <a:p>
            <a:pPr algn="just"/>
            <a:r>
              <a:rPr lang="en-US" sz="1600" b="0" i="0" dirty="0">
                <a:solidFill>
                  <a:srgbClr val="3B3B3B"/>
                </a:solidFill>
                <a:effectLst/>
                <a:latin typeface="Roboto" panose="02000000000000000000" pitchFamily="2" charset="0"/>
              </a:rPr>
              <a:t>To understand what </a:t>
            </a:r>
            <a:r>
              <a:rPr lang="en-US" sz="1600" b="1" i="0" dirty="0">
                <a:solidFill>
                  <a:srgbClr val="3B3B3B"/>
                </a:solidFill>
                <a:effectLst/>
                <a:latin typeface="Roboto" panose="02000000000000000000" pitchFamily="2" charset="0"/>
              </a:rPr>
              <a:t>Variable Length Subnet Masking (VLSM)</a:t>
            </a:r>
            <a:r>
              <a:rPr lang="en-US" sz="1600" b="0" i="0" dirty="0">
                <a:solidFill>
                  <a:srgbClr val="3B3B3B"/>
                </a:solidFill>
                <a:effectLst/>
                <a:latin typeface="Roboto" panose="02000000000000000000" pitchFamily="2" charset="0"/>
              </a:rPr>
              <a:t> is, let's go through a business example. Suppose a company has bought the IP address range 37.1.1.0/24 (256 addresses). The company has 5 offices, as shown in figure 1 below:</a:t>
            </a:r>
          </a:p>
          <a:p>
            <a:pPr algn="just"/>
            <a:endParaRPr lang="en-US" sz="1600" dirty="0">
              <a:solidFill>
                <a:srgbClr val="3B3B3B"/>
              </a:solidFill>
              <a:latin typeface="Roboto" panose="02000000000000000000" pitchFamily="2" charset="0"/>
            </a:endParaRPr>
          </a:p>
          <a:p>
            <a:pPr algn="just"/>
            <a:endParaRPr lang="en-NG" sz="1600" dirty="0"/>
          </a:p>
        </p:txBody>
      </p:sp>
      <p:pic>
        <p:nvPicPr>
          <p:cNvPr id="5" name="Picture 4">
            <a:extLst>
              <a:ext uri="{FF2B5EF4-FFF2-40B4-BE49-F238E27FC236}">
                <a16:creationId xmlns:a16="http://schemas.microsoft.com/office/drawing/2014/main" id="{18902DD6-178F-9035-AD29-758CEDE5CB1E}"/>
              </a:ext>
            </a:extLst>
          </p:cNvPr>
          <p:cNvPicPr>
            <a:picLocks noChangeAspect="1"/>
          </p:cNvPicPr>
          <p:nvPr/>
        </p:nvPicPr>
        <p:blipFill>
          <a:blip r:embed="rId2"/>
          <a:stretch>
            <a:fillRect/>
          </a:stretch>
        </p:blipFill>
        <p:spPr>
          <a:xfrm>
            <a:off x="2590774" y="2409809"/>
            <a:ext cx="7096177" cy="4381532"/>
          </a:xfrm>
          <a:prstGeom prst="rect">
            <a:avLst/>
          </a:prstGeom>
        </p:spPr>
      </p:pic>
    </p:spTree>
    <p:extLst>
      <p:ext uri="{BB962C8B-B14F-4D97-AF65-F5344CB8AC3E}">
        <p14:creationId xmlns:p14="http://schemas.microsoft.com/office/powerpoint/2010/main" val="10707223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061285-7199-0C34-2250-C51DA3DEF3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A85493-5825-1FC9-FB78-0BAE90D60DDD}"/>
              </a:ext>
            </a:extLst>
          </p:cNvPr>
          <p:cNvSpPr>
            <a:spLocks noGrp="1"/>
          </p:cNvSpPr>
          <p:nvPr>
            <p:ph type="title"/>
          </p:nvPr>
        </p:nvSpPr>
        <p:spPr>
          <a:xfrm>
            <a:off x="480106" y="1297241"/>
            <a:ext cx="11029616" cy="926847"/>
          </a:xfrm>
        </p:spPr>
        <p:txBody>
          <a:bodyPr>
            <a:normAutofit fontScale="90000"/>
          </a:bodyPr>
          <a:lstStyle/>
          <a:p>
            <a:r>
              <a:rPr lang="en-US" dirty="0"/>
              <a:t>Variable Length Subnet Masking (VLSM) </a:t>
            </a:r>
            <a:br>
              <a:rPr lang="en-US" dirty="0"/>
            </a:br>
            <a:br>
              <a:rPr lang="en-US" dirty="0"/>
            </a:br>
            <a:br>
              <a:rPr lang="en-US" b="1" i="0" dirty="0">
                <a:solidFill>
                  <a:srgbClr val="1B2733"/>
                </a:solidFill>
                <a:effectLst/>
                <a:latin typeface="Arial" panose="020B0604020202020204" pitchFamily="34" charset="0"/>
              </a:rPr>
            </a:br>
            <a:endParaRPr lang="en-US" b="1" i="0" dirty="0">
              <a:solidFill>
                <a:srgbClr val="1B2733"/>
              </a:solidFill>
              <a:effectLst/>
              <a:latin typeface="Arial" panose="020B0604020202020204" pitchFamily="34" charset="0"/>
            </a:endParaRPr>
          </a:p>
        </p:txBody>
      </p:sp>
      <p:sp>
        <p:nvSpPr>
          <p:cNvPr id="3" name="Content Placeholder 2">
            <a:extLst>
              <a:ext uri="{FF2B5EF4-FFF2-40B4-BE49-F238E27FC236}">
                <a16:creationId xmlns:a16="http://schemas.microsoft.com/office/drawing/2014/main" id="{B9D745F7-2A87-A9E7-6082-7BB03D9D57EA}"/>
              </a:ext>
            </a:extLst>
          </p:cNvPr>
          <p:cNvSpPr>
            <a:spLocks noGrp="1"/>
          </p:cNvSpPr>
          <p:nvPr>
            <p:ph idx="1"/>
          </p:nvPr>
        </p:nvSpPr>
        <p:spPr>
          <a:xfrm>
            <a:off x="422955" y="1579688"/>
            <a:ext cx="10715625" cy="1462089"/>
          </a:xfrm>
        </p:spPr>
        <p:txBody>
          <a:bodyPr>
            <a:noAutofit/>
          </a:bodyPr>
          <a:lstStyle/>
          <a:p>
            <a:pPr algn="just"/>
            <a:r>
              <a:rPr lang="en-US" sz="1600" b="0" i="0" dirty="0">
                <a:solidFill>
                  <a:srgbClr val="3B3B3B"/>
                </a:solidFill>
                <a:effectLst/>
                <a:latin typeface="Roboto" panose="02000000000000000000" pitchFamily="2" charset="0"/>
              </a:rPr>
              <a:t>We are tasked to subnet the 37.1.1.0/24 IP address block and assign each office an IP subnet. Let's see what the two ways to do this are.</a:t>
            </a:r>
          </a:p>
          <a:p>
            <a:pPr algn="just"/>
            <a:r>
              <a:rPr lang="en-US" sz="1600" b="0" i="0" dirty="0">
                <a:solidFill>
                  <a:srgbClr val="3B3B3B"/>
                </a:solidFill>
                <a:effectLst/>
                <a:latin typeface="Roboto" panose="02000000000000000000" pitchFamily="2" charset="0"/>
              </a:rPr>
              <a:t>The first approach to this task is to divide the 256-address block into four equal-sized subnets. This technique is called </a:t>
            </a:r>
            <a:r>
              <a:rPr lang="en-US" sz="1600" b="1" i="0" dirty="0">
                <a:solidFill>
                  <a:srgbClr val="3B3B3B"/>
                </a:solidFill>
                <a:effectLst/>
                <a:latin typeface="Roboto" panose="02000000000000000000" pitchFamily="2" charset="0"/>
              </a:rPr>
              <a:t>Fixed Length Subnet Mask (FLSM)</a:t>
            </a:r>
            <a:r>
              <a:rPr lang="en-US" sz="1600" b="0" i="0" dirty="0">
                <a:solidFill>
                  <a:srgbClr val="3B3B3B"/>
                </a:solidFill>
                <a:effectLst/>
                <a:latin typeface="Roboto" panose="02000000000000000000" pitchFamily="2" charset="0"/>
              </a:rPr>
              <a:t>. The benefit of this approach is that all subnets have the same subnet mask, which makes the process very straightforward and less prone to errors. Figure 2 below illustrates this example.</a:t>
            </a:r>
          </a:p>
          <a:p>
            <a:pPr algn="just"/>
            <a:endParaRPr lang="en-US" sz="1600" dirty="0">
              <a:solidFill>
                <a:srgbClr val="3B3B3B"/>
              </a:solidFill>
              <a:latin typeface="Roboto" panose="02000000000000000000" pitchFamily="2" charset="0"/>
            </a:endParaRPr>
          </a:p>
          <a:p>
            <a:pPr algn="just"/>
            <a:endParaRPr lang="en-NG" sz="1600" dirty="0"/>
          </a:p>
        </p:txBody>
      </p:sp>
      <p:pic>
        <p:nvPicPr>
          <p:cNvPr id="6" name="Picture 5">
            <a:extLst>
              <a:ext uri="{FF2B5EF4-FFF2-40B4-BE49-F238E27FC236}">
                <a16:creationId xmlns:a16="http://schemas.microsoft.com/office/drawing/2014/main" id="{A5CD0851-3383-1C2C-2D4C-ABEA357337F6}"/>
              </a:ext>
            </a:extLst>
          </p:cNvPr>
          <p:cNvPicPr>
            <a:picLocks noChangeAspect="1"/>
          </p:cNvPicPr>
          <p:nvPr/>
        </p:nvPicPr>
        <p:blipFill>
          <a:blip r:embed="rId2"/>
          <a:stretch>
            <a:fillRect/>
          </a:stretch>
        </p:blipFill>
        <p:spPr>
          <a:xfrm>
            <a:off x="3955245" y="2731780"/>
            <a:ext cx="5253059" cy="4126220"/>
          </a:xfrm>
          <a:prstGeom prst="rect">
            <a:avLst/>
          </a:prstGeom>
        </p:spPr>
      </p:pic>
    </p:spTree>
    <p:extLst>
      <p:ext uri="{BB962C8B-B14F-4D97-AF65-F5344CB8AC3E}">
        <p14:creationId xmlns:p14="http://schemas.microsoft.com/office/powerpoint/2010/main" val="23900798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4EB147-EC05-72E9-B6F0-9C56F00896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213ECA-D864-24FE-2A23-EDF027747295}"/>
              </a:ext>
            </a:extLst>
          </p:cNvPr>
          <p:cNvSpPr>
            <a:spLocks noGrp="1"/>
          </p:cNvSpPr>
          <p:nvPr>
            <p:ph type="title"/>
          </p:nvPr>
        </p:nvSpPr>
        <p:spPr>
          <a:xfrm>
            <a:off x="480106" y="1297241"/>
            <a:ext cx="11029616" cy="926847"/>
          </a:xfrm>
        </p:spPr>
        <p:txBody>
          <a:bodyPr>
            <a:normAutofit fontScale="90000"/>
          </a:bodyPr>
          <a:lstStyle/>
          <a:p>
            <a:r>
              <a:rPr lang="en-US" dirty="0"/>
              <a:t>Variable Length Subnet Masking (VLSM) </a:t>
            </a:r>
            <a:br>
              <a:rPr lang="en-US" dirty="0"/>
            </a:br>
            <a:br>
              <a:rPr lang="en-US" dirty="0"/>
            </a:br>
            <a:br>
              <a:rPr lang="en-US" b="1" i="0" dirty="0">
                <a:solidFill>
                  <a:srgbClr val="1B2733"/>
                </a:solidFill>
                <a:effectLst/>
                <a:latin typeface="Arial" panose="020B0604020202020204" pitchFamily="34" charset="0"/>
              </a:rPr>
            </a:br>
            <a:endParaRPr lang="en-US" b="1" i="0" dirty="0">
              <a:solidFill>
                <a:srgbClr val="1B2733"/>
              </a:solidFill>
              <a:effectLst/>
              <a:latin typeface="Arial" panose="020B0604020202020204" pitchFamily="34" charset="0"/>
            </a:endParaRPr>
          </a:p>
        </p:txBody>
      </p:sp>
      <p:sp>
        <p:nvSpPr>
          <p:cNvPr id="3" name="Content Placeholder 2">
            <a:extLst>
              <a:ext uri="{FF2B5EF4-FFF2-40B4-BE49-F238E27FC236}">
                <a16:creationId xmlns:a16="http://schemas.microsoft.com/office/drawing/2014/main" id="{1E410F15-D88C-462E-B310-B035147FEBAA}"/>
              </a:ext>
            </a:extLst>
          </p:cNvPr>
          <p:cNvSpPr>
            <a:spLocks noGrp="1"/>
          </p:cNvSpPr>
          <p:nvPr>
            <p:ph idx="1"/>
          </p:nvPr>
        </p:nvSpPr>
        <p:spPr>
          <a:xfrm>
            <a:off x="422955" y="1579688"/>
            <a:ext cx="10715625" cy="1462089"/>
          </a:xfrm>
        </p:spPr>
        <p:txBody>
          <a:bodyPr>
            <a:noAutofit/>
          </a:bodyPr>
          <a:lstStyle/>
          <a:p>
            <a:pPr algn="just"/>
            <a:r>
              <a:rPr lang="en-US" sz="1600" dirty="0">
                <a:solidFill>
                  <a:srgbClr val="3B3B3B"/>
                </a:solidFill>
                <a:latin typeface="Roboto" panose="02000000000000000000" pitchFamily="2" charset="0"/>
              </a:rPr>
              <a:t>However, this method results in a significant waste of IP addresses. For example, office-4 has only 10 users, but we assign a subnet with 64 IP addresses. Hence, 54 addresses sit unused. From the company's point of view, this is a bad use of resources</a:t>
            </a:r>
          </a:p>
          <a:p>
            <a:pPr algn="just"/>
            <a:endParaRPr lang="en-NG" sz="1600" dirty="0"/>
          </a:p>
        </p:txBody>
      </p:sp>
    </p:spTree>
    <p:extLst>
      <p:ext uri="{BB962C8B-B14F-4D97-AF65-F5344CB8AC3E}">
        <p14:creationId xmlns:p14="http://schemas.microsoft.com/office/powerpoint/2010/main" val="17913336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00CAEC-3EA5-3A58-276F-8E18405214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3190E2-6679-D4C8-4C1A-FED109D77912}"/>
              </a:ext>
            </a:extLst>
          </p:cNvPr>
          <p:cNvSpPr>
            <a:spLocks noGrp="1"/>
          </p:cNvSpPr>
          <p:nvPr>
            <p:ph type="title"/>
          </p:nvPr>
        </p:nvSpPr>
        <p:spPr>
          <a:xfrm>
            <a:off x="480106" y="1297241"/>
            <a:ext cx="11029616" cy="926847"/>
          </a:xfrm>
        </p:spPr>
        <p:txBody>
          <a:bodyPr>
            <a:normAutofit fontScale="90000"/>
          </a:bodyPr>
          <a:lstStyle/>
          <a:p>
            <a:r>
              <a:rPr lang="en-US" dirty="0"/>
              <a:t>Variable Length Subnet Masking (VLSM) </a:t>
            </a:r>
            <a:br>
              <a:rPr lang="en-US" dirty="0"/>
            </a:br>
            <a:br>
              <a:rPr lang="en-US" dirty="0"/>
            </a:br>
            <a:br>
              <a:rPr lang="en-US" b="1" i="0" dirty="0">
                <a:solidFill>
                  <a:srgbClr val="1B2733"/>
                </a:solidFill>
                <a:effectLst/>
                <a:latin typeface="Arial" panose="020B0604020202020204" pitchFamily="34" charset="0"/>
              </a:rPr>
            </a:br>
            <a:endParaRPr lang="en-US" b="1" i="0" dirty="0">
              <a:solidFill>
                <a:srgbClr val="1B2733"/>
              </a:solidFill>
              <a:effectLst/>
              <a:latin typeface="Arial" panose="020B0604020202020204" pitchFamily="34" charset="0"/>
            </a:endParaRPr>
          </a:p>
        </p:txBody>
      </p:sp>
      <p:sp>
        <p:nvSpPr>
          <p:cNvPr id="3" name="Content Placeholder 2">
            <a:extLst>
              <a:ext uri="{FF2B5EF4-FFF2-40B4-BE49-F238E27FC236}">
                <a16:creationId xmlns:a16="http://schemas.microsoft.com/office/drawing/2014/main" id="{B6C6798B-D6E9-9CEF-570D-AC3C258CE861}"/>
              </a:ext>
            </a:extLst>
          </p:cNvPr>
          <p:cNvSpPr>
            <a:spLocks noGrp="1"/>
          </p:cNvSpPr>
          <p:nvPr>
            <p:ph idx="1"/>
          </p:nvPr>
        </p:nvSpPr>
        <p:spPr>
          <a:xfrm>
            <a:off x="422955" y="1579688"/>
            <a:ext cx="10715625" cy="1462089"/>
          </a:xfrm>
        </p:spPr>
        <p:txBody>
          <a:bodyPr>
            <a:noAutofit/>
          </a:bodyPr>
          <a:lstStyle/>
          <a:p>
            <a:pPr marL="0" indent="0" algn="just">
              <a:buNone/>
            </a:pPr>
            <a:r>
              <a:rPr lang="en-US" sz="1600" b="0" i="0" dirty="0">
                <a:solidFill>
                  <a:srgbClr val="3B3B3B"/>
                </a:solidFill>
                <a:effectLst/>
                <a:latin typeface="Roboto" panose="02000000000000000000" pitchFamily="2" charset="0"/>
              </a:rPr>
              <a:t>VLSM stands for </a:t>
            </a:r>
            <a:r>
              <a:rPr lang="en-US" sz="1600" b="1" i="0" dirty="0">
                <a:solidFill>
                  <a:srgbClr val="3B3B3B"/>
                </a:solidFill>
                <a:effectLst/>
                <a:latin typeface="Roboto" panose="02000000000000000000" pitchFamily="2" charset="0"/>
              </a:rPr>
              <a:t>Variable Length Subnet Mask</a:t>
            </a:r>
            <a:r>
              <a:rPr lang="en-US" sz="1600" b="0" i="0" dirty="0">
                <a:solidFill>
                  <a:srgbClr val="3B3B3B"/>
                </a:solidFill>
                <a:effectLst/>
                <a:latin typeface="Roboto" panose="02000000000000000000" pitchFamily="2" charset="0"/>
              </a:rPr>
              <a:t>. VLSM is a subnetting technique that allows network admins to allocate IP addresses more efficiently using different subnet masks for different network segments. It provides greater flexibility in assigning IP addresses by creating subnets of varying sizes based on the specific needs and number of hosts in each subnet. This technique </a:t>
            </a:r>
            <a:r>
              <a:rPr lang="en-US" sz="1600" b="1" i="0" dirty="0">
                <a:solidFill>
                  <a:srgbClr val="3B3B3B"/>
                </a:solidFill>
                <a:effectLst/>
                <a:latin typeface="Roboto" panose="02000000000000000000" pitchFamily="2" charset="0"/>
              </a:rPr>
              <a:t>helps reduce the waste of IP addresses </a:t>
            </a:r>
            <a:r>
              <a:rPr lang="en-US" sz="1600" b="0" i="0" dirty="0">
                <a:solidFill>
                  <a:srgbClr val="3B3B3B"/>
                </a:solidFill>
                <a:effectLst/>
                <a:latin typeface="Roboto" panose="02000000000000000000" pitchFamily="2" charset="0"/>
              </a:rPr>
              <a:t>and better uses the available IP space.</a:t>
            </a:r>
            <a:endParaRPr lang="en-NG" sz="1600" dirty="0"/>
          </a:p>
        </p:txBody>
      </p:sp>
      <p:pic>
        <p:nvPicPr>
          <p:cNvPr id="5" name="Picture 4">
            <a:extLst>
              <a:ext uri="{FF2B5EF4-FFF2-40B4-BE49-F238E27FC236}">
                <a16:creationId xmlns:a16="http://schemas.microsoft.com/office/drawing/2014/main" id="{1CBDAC3F-99C9-85E8-4F0F-A9A2EE405A7B}"/>
              </a:ext>
            </a:extLst>
          </p:cNvPr>
          <p:cNvPicPr>
            <a:picLocks noChangeAspect="1"/>
          </p:cNvPicPr>
          <p:nvPr/>
        </p:nvPicPr>
        <p:blipFill>
          <a:blip r:embed="rId2"/>
          <a:stretch>
            <a:fillRect/>
          </a:stretch>
        </p:blipFill>
        <p:spPr>
          <a:xfrm>
            <a:off x="3143250" y="2805095"/>
            <a:ext cx="4857772" cy="3812524"/>
          </a:xfrm>
          <a:prstGeom prst="rect">
            <a:avLst/>
          </a:prstGeom>
        </p:spPr>
      </p:pic>
    </p:spTree>
    <p:extLst>
      <p:ext uri="{BB962C8B-B14F-4D97-AF65-F5344CB8AC3E}">
        <p14:creationId xmlns:p14="http://schemas.microsoft.com/office/powerpoint/2010/main" val="15259405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E03CE-9B7A-7575-D1AE-EC88DB4F54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3A1CB3-A7D8-CE49-50E3-8E39ABBBF34A}"/>
              </a:ext>
            </a:extLst>
          </p:cNvPr>
          <p:cNvSpPr>
            <a:spLocks noGrp="1"/>
          </p:cNvSpPr>
          <p:nvPr>
            <p:ph type="title"/>
          </p:nvPr>
        </p:nvSpPr>
        <p:spPr/>
        <p:txBody>
          <a:bodyPr/>
          <a:lstStyle/>
          <a:p>
            <a:r>
              <a:rPr lang="en-US" dirty="0"/>
              <a:t>MONTH 2 -  WEEK 4</a:t>
            </a:r>
            <a:endParaRPr lang="en-NG" dirty="0"/>
          </a:p>
        </p:txBody>
      </p:sp>
      <p:sp>
        <p:nvSpPr>
          <p:cNvPr id="4" name="Content Placeholder 2">
            <a:extLst>
              <a:ext uri="{FF2B5EF4-FFF2-40B4-BE49-F238E27FC236}">
                <a16:creationId xmlns:a16="http://schemas.microsoft.com/office/drawing/2014/main" id="{0D3DFEA1-A9A8-6C33-EC12-92C625EFB1B5}"/>
              </a:ext>
            </a:extLst>
          </p:cNvPr>
          <p:cNvSpPr>
            <a:spLocks noGrp="1"/>
          </p:cNvSpPr>
          <p:nvPr>
            <p:ph idx="1"/>
          </p:nvPr>
        </p:nvSpPr>
        <p:spPr>
          <a:xfrm>
            <a:off x="623498" y="2668929"/>
            <a:ext cx="11029950" cy="3633787"/>
          </a:xfrm>
        </p:spPr>
        <p:txBody>
          <a:bodyPr>
            <a:normAutofit fontScale="92500" lnSpcReduction="20000"/>
          </a:bodyPr>
          <a:lstStyle/>
          <a:p>
            <a:r>
              <a:rPr lang="en-US" dirty="0"/>
              <a:t>Introduction to Network Protocols and Services</a:t>
            </a:r>
          </a:p>
          <a:p>
            <a:pPr lvl="1"/>
            <a:r>
              <a:rPr lang="en-US" dirty="0"/>
              <a:t>Network Protocols and Services</a:t>
            </a:r>
          </a:p>
          <a:p>
            <a:pPr lvl="1"/>
            <a:r>
              <a:rPr lang="en-US" dirty="0"/>
              <a:t>Understanding the TCP or IP Protocol Suite</a:t>
            </a:r>
          </a:p>
          <a:p>
            <a:pPr lvl="1"/>
            <a:r>
              <a:rPr lang="en-US" dirty="0"/>
              <a:t>Introduction to TCP IP protocol suite</a:t>
            </a:r>
          </a:p>
          <a:p>
            <a:pPr lvl="1"/>
            <a:r>
              <a:rPr lang="en-US" dirty="0"/>
              <a:t>Why TCP IP became the standard and its impact today</a:t>
            </a:r>
          </a:p>
          <a:p>
            <a:endParaRPr lang="en-US" dirty="0"/>
          </a:p>
          <a:p>
            <a:r>
              <a:rPr lang="en-US" dirty="0"/>
              <a:t>Overview of the TCP IP model layers</a:t>
            </a:r>
          </a:p>
          <a:p>
            <a:pPr lvl="1"/>
            <a:r>
              <a:rPr lang="en-US" dirty="0"/>
              <a:t>TCP IP model layers</a:t>
            </a:r>
          </a:p>
          <a:p>
            <a:pPr lvl="1"/>
            <a:r>
              <a:rPr lang="en-US" dirty="0"/>
              <a:t>Practical application of the TCP IP model layers</a:t>
            </a:r>
          </a:p>
          <a:p>
            <a:pPr lvl="1"/>
            <a:r>
              <a:rPr lang="en-US" dirty="0"/>
              <a:t>Understanding UDP –User Datagram Protocol</a:t>
            </a:r>
          </a:p>
          <a:p>
            <a:pPr lvl="1"/>
            <a:r>
              <a:rPr lang="en-US" dirty="0"/>
              <a:t>Common protocols – HTTP, HTTPS, FTP, DNS, DHCP, SMTP</a:t>
            </a:r>
          </a:p>
          <a:p>
            <a:pPr lvl="1"/>
            <a:r>
              <a:rPr lang="en-US" dirty="0"/>
              <a:t>Network Port and their use cases</a:t>
            </a:r>
          </a:p>
          <a:p>
            <a:pPr marL="324000" lvl="1" indent="0">
              <a:buNone/>
            </a:pPr>
            <a:endParaRPr lang="en-US" dirty="0"/>
          </a:p>
          <a:p>
            <a:pPr lvl="2"/>
            <a:endParaRPr lang="en-US" dirty="0"/>
          </a:p>
          <a:p>
            <a:endParaRPr lang="en-NG" dirty="0"/>
          </a:p>
        </p:txBody>
      </p:sp>
    </p:spTree>
    <p:extLst>
      <p:ext uri="{BB962C8B-B14F-4D97-AF65-F5344CB8AC3E}">
        <p14:creationId xmlns:p14="http://schemas.microsoft.com/office/powerpoint/2010/main" val="30251132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44FD3-15E9-5865-B87C-64743D0622C4}"/>
              </a:ext>
            </a:extLst>
          </p:cNvPr>
          <p:cNvSpPr>
            <a:spLocks noGrp="1"/>
          </p:cNvSpPr>
          <p:nvPr>
            <p:ph type="title"/>
          </p:nvPr>
        </p:nvSpPr>
        <p:spPr/>
        <p:txBody>
          <a:bodyPr>
            <a:normAutofit/>
          </a:bodyPr>
          <a:lstStyle/>
          <a:p>
            <a:r>
              <a:rPr lang="en-US" dirty="0"/>
              <a:t>Introduction to Network Protocols and Services</a:t>
            </a:r>
            <a:br>
              <a:rPr lang="en-US" dirty="0"/>
            </a:br>
            <a:endParaRPr lang="en-US" dirty="0"/>
          </a:p>
        </p:txBody>
      </p:sp>
      <p:sp>
        <p:nvSpPr>
          <p:cNvPr id="3" name="Text Placeholder 2">
            <a:extLst>
              <a:ext uri="{FF2B5EF4-FFF2-40B4-BE49-F238E27FC236}">
                <a16:creationId xmlns:a16="http://schemas.microsoft.com/office/drawing/2014/main" id="{97FBB6EF-E130-3B34-984F-FA630B728165}"/>
              </a:ext>
            </a:extLst>
          </p:cNvPr>
          <p:cNvSpPr>
            <a:spLocks noGrp="1"/>
          </p:cNvSpPr>
          <p:nvPr>
            <p:ph type="body" idx="1"/>
          </p:nvPr>
        </p:nvSpPr>
        <p:spPr>
          <a:xfrm>
            <a:off x="653763" y="4541417"/>
            <a:ext cx="11029615" cy="600556"/>
          </a:xfrm>
        </p:spPr>
        <p:txBody>
          <a:bodyPr/>
          <a:lstStyle/>
          <a:p>
            <a:r>
              <a:rPr lang="en-US" dirty="0"/>
              <a:t>Day 1</a:t>
            </a:r>
            <a:endParaRPr lang="en-NG" dirty="0"/>
          </a:p>
        </p:txBody>
      </p:sp>
    </p:spTree>
    <p:extLst>
      <p:ext uri="{BB962C8B-B14F-4D97-AF65-F5344CB8AC3E}">
        <p14:creationId xmlns:p14="http://schemas.microsoft.com/office/powerpoint/2010/main" val="29719738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31" name="Rectangle 1030">
            <a:extLst>
              <a:ext uri="{FF2B5EF4-FFF2-40B4-BE49-F238E27FC236}">
                <a16:creationId xmlns:a16="http://schemas.microsoft.com/office/drawing/2014/main" id="{88C97474-5879-4DB5-B4F3-F0357104BC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Rectangle 1032">
            <a:extLst>
              <a:ext uri="{FF2B5EF4-FFF2-40B4-BE49-F238E27FC236}">
                <a16:creationId xmlns:a16="http://schemas.microsoft.com/office/drawing/2014/main" id="{7D2AF00E-D433-4047-863F-BCB69CEC3C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1588" y="601200"/>
            <a:ext cx="7498616" cy="578936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2" name="Title 1">
            <a:extLst>
              <a:ext uri="{FF2B5EF4-FFF2-40B4-BE49-F238E27FC236}">
                <a16:creationId xmlns:a16="http://schemas.microsoft.com/office/drawing/2014/main" id="{D41BA21D-8631-283B-8B42-2104876966E4}"/>
              </a:ext>
            </a:extLst>
          </p:cNvPr>
          <p:cNvSpPr>
            <a:spLocks noGrp="1"/>
          </p:cNvSpPr>
          <p:nvPr>
            <p:ph type="title"/>
          </p:nvPr>
        </p:nvSpPr>
        <p:spPr>
          <a:xfrm>
            <a:off x="807559" y="938022"/>
            <a:ext cx="6647905" cy="1188720"/>
          </a:xfrm>
        </p:spPr>
        <p:txBody>
          <a:bodyPr>
            <a:normAutofit/>
          </a:bodyPr>
          <a:lstStyle/>
          <a:p>
            <a:r>
              <a:rPr lang="en-US" dirty="0">
                <a:solidFill>
                  <a:srgbClr val="FFFFFF"/>
                </a:solidFill>
              </a:rPr>
              <a:t>Network protocol</a:t>
            </a:r>
            <a:endParaRPr lang="en-NG" dirty="0">
              <a:solidFill>
                <a:srgbClr val="FFFFFF"/>
              </a:solidFill>
            </a:endParaRPr>
          </a:p>
        </p:txBody>
      </p:sp>
      <p:sp>
        <p:nvSpPr>
          <p:cNvPr id="1035" name="Rectangle 1034">
            <a:extLst>
              <a:ext uri="{FF2B5EF4-FFF2-40B4-BE49-F238E27FC236}">
                <a16:creationId xmlns:a16="http://schemas.microsoft.com/office/drawing/2014/main" id="{0997DBEA-6DFC-457A-9850-E53505354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1037" name="Rectangle 1036">
            <a:extLst>
              <a:ext uri="{FF2B5EF4-FFF2-40B4-BE49-F238E27FC236}">
                <a16:creationId xmlns:a16="http://schemas.microsoft.com/office/drawing/2014/main" id="{79446CF5-953A-4916-BFF4-F5558E5C23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1039" name="Rectangle 1038">
            <a:extLst>
              <a:ext uri="{FF2B5EF4-FFF2-40B4-BE49-F238E27FC236}">
                <a16:creationId xmlns:a16="http://schemas.microsoft.com/office/drawing/2014/main" id="{477B945C-B433-4DFF-9A67-A5C9257E47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3" name="Content Placeholder 2">
            <a:extLst>
              <a:ext uri="{FF2B5EF4-FFF2-40B4-BE49-F238E27FC236}">
                <a16:creationId xmlns:a16="http://schemas.microsoft.com/office/drawing/2014/main" id="{37AB3EED-2183-FAC7-C646-2CA488D91A79}"/>
              </a:ext>
            </a:extLst>
          </p:cNvPr>
          <p:cNvSpPr>
            <a:spLocks noGrp="1"/>
          </p:cNvSpPr>
          <p:nvPr>
            <p:ph idx="1"/>
          </p:nvPr>
        </p:nvSpPr>
        <p:spPr>
          <a:xfrm>
            <a:off x="807559" y="2340864"/>
            <a:ext cx="6690843" cy="3793237"/>
          </a:xfrm>
        </p:spPr>
        <p:txBody>
          <a:bodyPr>
            <a:normAutofit/>
          </a:bodyPr>
          <a:lstStyle/>
          <a:p>
            <a:r>
              <a:rPr lang="en-US">
                <a:solidFill>
                  <a:srgbClr val="FFFFFF"/>
                </a:solidFill>
              </a:rPr>
              <a:t>Network protocols are sets of rules that govern communication between devices on a network, ensuring data is exchanged efficiently and accurately. They act as a common language, enabling different devices and software to interact. </a:t>
            </a:r>
            <a:endParaRPr lang="en-NG">
              <a:solidFill>
                <a:srgbClr val="FFFFFF"/>
              </a:solidFill>
            </a:endParaRPr>
          </a:p>
        </p:txBody>
      </p:sp>
      <p:pic>
        <p:nvPicPr>
          <p:cNvPr id="1026" name="Picture 2" descr="Understanding Network Protocols: A ...">
            <a:extLst>
              <a:ext uri="{FF2B5EF4-FFF2-40B4-BE49-F238E27FC236}">
                <a16:creationId xmlns:a16="http://schemas.microsoft.com/office/drawing/2014/main" id="{0D31C05A-F10B-AD63-11F3-D90ED496763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476761" y="2721107"/>
            <a:ext cx="3053422" cy="17099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1330149"/>
      </p:ext>
    </p:extLst>
  </p:cSld>
  <p:clrMapOvr>
    <a:overrideClrMapping bg1="dk1" tx1="lt1" bg2="dk2" tx2="lt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9F64BB69-4A8E-57D3-04F4-C1D3B23A631B}"/>
            </a:ext>
          </a:extLst>
        </p:cNvPr>
        <p:cNvGrpSpPr/>
        <p:nvPr/>
      </p:nvGrpSpPr>
      <p:grpSpPr>
        <a:xfrm>
          <a:off x="0" y="0"/>
          <a:ext cx="0" cy="0"/>
          <a:chOff x="0" y="0"/>
          <a:chExt cx="0" cy="0"/>
        </a:xfrm>
      </p:grpSpPr>
      <p:sp>
        <p:nvSpPr>
          <p:cNvPr id="2055" name="Rectangle 2054">
            <a:extLst>
              <a:ext uri="{FF2B5EF4-FFF2-40B4-BE49-F238E27FC236}">
                <a16:creationId xmlns:a16="http://schemas.microsoft.com/office/drawing/2014/main" id="{88C97474-5879-4DB5-B4F3-F0357104BC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7" name="Rectangle 2056">
            <a:extLst>
              <a:ext uri="{FF2B5EF4-FFF2-40B4-BE49-F238E27FC236}">
                <a16:creationId xmlns:a16="http://schemas.microsoft.com/office/drawing/2014/main" id="{7D2AF00E-D433-4047-863F-BCB69CEC3C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1588" y="601200"/>
            <a:ext cx="7498616" cy="578936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2" name="Title 1">
            <a:extLst>
              <a:ext uri="{FF2B5EF4-FFF2-40B4-BE49-F238E27FC236}">
                <a16:creationId xmlns:a16="http://schemas.microsoft.com/office/drawing/2014/main" id="{D0CEC964-598F-A564-79A1-310A26C5FA2C}"/>
              </a:ext>
            </a:extLst>
          </p:cNvPr>
          <p:cNvSpPr>
            <a:spLocks noGrp="1"/>
          </p:cNvSpPr>
          <p:nvPr>
            <p:ph type="title"/>
          </p:nvPr>
        </p:nvSpPr>
        <p:spPr>
          <a:xfrm>
            <a:off x="807559" y="938022"/>
            <a:ext cx="6647905" cy="1188720"/>
          </a:xfrm>
        </p:spPr>
        <p:txBody>
          <a:bodyPr>
            <a:normAutofit/>
          </a:bodyPr>
          <a:lstStyle/>
          <a:p>
            <a:r>
              <a:rPr lang="en-US">
                <a:solidFill>
                  <a:srgbClr val="FFFFFF"/>
                </a:solidFill>
              </a:rPr>
              <a:t>Network Protocol – WHAT THEY DO</a:t>
            </a:r>
            <a:endParaRPr lang="en-NG">
              <a:solidFill>
                <a:srgbClr val="FFFFFF"/>
              </a:solidFill>
            </a:endParaRPr>
          </a:p>
        </p:txBody>
      </p:sp>
      <p:sp>
        <p:nvSpPr>
          <p:cNvPr id="2065" name="Rectangle 2064">
            <a:extLst>
              <a:ext uri="{FF2B5EF4-FFF2-40B4-BE49-F238E27FC236}">
                <a16:creationId xmlns:a16="http://schemas.microsoft.com/office/drawing/2014/main" id="{0997DBEA-6DFC-457A-9850-E53505354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2066" name="Rectangle 2065">
            <a:extLst>
              <a:ext uri="{FF2B5EF4-FFF2-40B4-BE49-F238E27FC236}">
                <a16:creationId xmlns:a16="http://schemas.microsoft.com/office/drawing/2014/main" id="{79446CF5-953A-4916-BFF4-F5558E5C23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2067" name="Rectangle 2066">
            <a:extLst>
              <a:ext uri="{FF2B5EF4-FFF2-40B4-BE49-F238E27FC236}">
                <a16:creationId xmlns:a16="http://schemas.microsoft.com/office/drawing/2014/main" id="{477B945C-B433-4DFF-9A67-A5C9257E47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3" name="Content Placeholder 2">
            <a:extLst>
              <a:ext uri="{FF2B5EF4-FFF2-40B4-BE49-F238E27FC236}">
                <a16:creationId xmlns:a16="http://schemas.microsoft.com/office/drawing/2014/main" id="{94D2CF3C-ED04-F608-2C27-15D6E493AA2B}"/>
              </a:ext>
            </a:extLst>
          </p:cNvPr>
          <p:cNvSpPr>
            <a:spLocks noGrp="1"/>
          </p:cNvSpPr>
          <p:nvPr>
            <p:ph idx="1"/>
          </p:nvPr>
        </p:nvSpPr>
        <p:spPr>
          <a:xfrm>
            <a:off x="807559" y="2340864"/>
            <a:ext cx="6690843" cy="3793237"/>
          </a:xfrm>
        </p:spPr>
        <p:txBody>
          <a:bodyPr>
            <a:normAutofit/>
          </a:bodyPr>
          <a:lstStyle/>
          <a:p>
            <a:r>
              <a:rPr lang="en-US">
                <a:solidFill>
                  <a:srgbClr val="FFFFFF"/>
                </a:solidFill>
              </a:rPr>
              <a:t>Network protocols define how data is formatted, sent, and received across a network. They ensure that information is transmitted and received correctly, regardless of the specific hardware or software being used. </a:t>
            </a:r>
            <a:endParaRPr lang="en-NG">
              <a:solidFill>
                <a:srgbClr val="FFFFFF"/>
              </a:solidFill>
            </a:endParaRPr>
          </a:p>
        </p:txBody>
      </p:sp>
      <p:pic>
        <p:nvPicPr>
          <p:cNvPr id="2050" name="Picture 2" descr="networking protocols: TCP/IP, OSPF ...">
            <a:extLst>
              <a:ext uri="{FF2B5EF4-FFF2-40B4-BE49-F238E27FC236}">
                <a16:creationId xmlns:a16="http://schemas.microsoft.com/office/drawing/2014/main" id="{92B06589-B9C0-0307-747E-33421BE35C0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476761" y="2718248"/>
            <a:ext cx="3053422" cy="17156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1444081"/>
      </p:ext>
    </p:extLst>
  </p:cSld>
  <p:clrMapOvr>
    <a:overrideClrMapping bg1="dk1" tx1="lt1" bg2="dk2" tx2="lt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A6BFC4DD-40AB-0209-F005-724D05571875}"/>
            </a:ext>
          </a:extLst>
        </p:cNvPr>
        <p:cNvGrpSpPr/>
        <p:nvPr/>
      </p:nvGrpSpPr>
      <p:grpSpPr>
        <a:xfrm>
          <a:off x="0" y="0"/>
          <a:ext cx="0" cy="0"/>
          <a:chOff x="0" y="0"/>
          <a:chExt cx="0" cy="0"/>
        </a:xfrm>
      </p:grpSpPr>
      <p:sp>
        <p:nvSpPr>
          <p:cNvPr id="2055" name="Rectangle 2054">
            <a:extLst>
              <a:ext uri="{FF2B5EF4-FFF2-40B4-BE49-F238E27FC236}">
                <a16:creationId xmlns:a16="http://schemas.microsoft.com/office/drawing/2014/main" id="{88C97474-5879-4DB5-B4F3-F0357104BC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7" name="Rectangle 2056">
            <a:extLst>
              <a:ext uri="{FF2B5EF4-FFF2-40B4-BE49-F238E27FC236}">
                <a16:creationId xmlns:a16="http://schemas.microsoft.com/office/drawing/2014/main" id="{7D2AF00E-D433-4047-863F-BCB69CEC3C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1588" y="601200"/>
            <a:ext cx="7498616" cy="578936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2" name="Title 1">
            <a:extLst>
              <a:ext uri="{FF2B5EF4-FFF2-40B4-BE49-F238E27FC236}">
                <a16:creationId xmlns:a16="http://schemas.microsoft.com/office/drawing/2014/main" id="{EF8F0160-2851-7A2D-9AFF-2C7F9257DF3C}"/>
              </a:ext>
            </a:extLst>
          </p:cNvPr>
          <p:cNvSpPr>
            <a:spLocks noGrp="1"/>
          </p:cNvSpPr>
          <p:nvPr>
            <p:ph type="title"/>
          </p:nvPr>
        </p:nvSpPr>
        <p:spPr>
          <a:xfrm>
            <a:off x="807559" y="938022"/>
            <a:ext cx="6647905" cy="1188720"/>
          </a:xfrm>
        </p:spPr>
        <p:txBody>
          <a:bodyPr>
            <a:normAutofit/>
          </a:bodyPr>
          <a:lstStyle/>
          <a:p>
            <a:r>
              <a:rPr lang="en-US">
                <a:solidFill>
                  <a:srgbClr val="FFFFFF"/>
                </a:solidFill>
              </a:rPr>
              <a:t>Network Protocol – WHY THEY ARE ESSENTIAL</a:t>
            </a:r>
            <a:endParaRPr lang="en-NG">
              <a:solidFill>
                <a:srgbClr val="FFFFFF"/>
              </a:solidFill>
            </a:endParaRPr>
          </a:p>
        </p:txBody>
      </p:sp>
      <p:sp>
        <p:nvSpPr>
          <p:cNvPr id="2059" name="Rectangle 2058">
            <a:extLst>
              <a:ext uri="{FF2B5EF4-FFF2-40B4-BE49-F238E27FC236}">
                <a16:creationId xmlns:a16="http://schemas.microsoft.com/office/drawing/2014/main" id="{0997DBEA-6DFC-457A-9850-E53505354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2061" name="Rectangle 2060">
            <a:extLst>
              <a:ext uri="{FF2B5EF4-FFF2-40B4-BE49-F238E27FC236}">
                <a16:creationId xmlns:a16="http://schemas.microsoft.com/office/drawing/2014/main" id="{79446CF5-953A-4916-BFF4-F5558E5C23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2063" name="Rectangle 2062">
            <a:extLst>
              <a:ext uri="{FF2B5EF4-FFF2-40B4-BE49-F238E27FC236}">
                <a16:creationId xmlns:a16="http://schemas.microsoft.com/office/drawing/2014/main" id="{477B945C-B433-4DFF-9A67-A5C9257E47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3" name="Content Placeholder 2">
            <a:extLst>
              <a:ext uri="{FF2B5EF4-FFF2-40B4-BE49-F238E27FC236}">
                <a16:creationId xmlns:a16="http://schemas.microsoft.com/office/drawing/2014/main" id="{96A152BF-A880-DABB-8AFE-7470B0644006}"/>
              </a:ext>
            </a:extLst>
          </p:cNvPr>
          <p:cNvSpPr>
            <a:spLocks noGrp="1"/>
          </p:cNvSpPr>
          <p:nvPr>
            <p:ph idx="1"/>
          </p:nvPr>
        </p:nvSpPr>
        <p:spPr>
          <a:xfrm>
            <a:off x="807559" y="2340864"/>
            <a:ext cx="6690843" cy="3793237"/>
          </a:xfrm>
        </p:spPr>
        <p:txBody>
          <a:bodyPr>
            <a:normAutofit/>
          </a:bodyPr>
          <a:lstStyle/>
          <a:p>
            <a:r>
              <a:rPr lang="en-US" dirty="0">
                <a:solidFill>
                  <a:srgbClr val="FFFFFF"/>
                </a:solidFill>
              </a:rPr>
              <a:t>Protocols are essential for the internet and digital communication as they allow devices to communicate seamlessly. They enable computers to share information, access the web, and use various online service</a:t>
            </a:r>
            <a:endParaRPr lang="en-NG" dirty="0">
              <a:solidFill>
                <a:srgbClr val="FFFFFF"/>
              </a:solidFill>
            </a:endParaRPr>
          </a:p>
        </p:txBody>
      </p:sp>
      <p:pic>
        <p:nvPicPr>
          <p:cNvPr id="2050" name="Picture 2" descr="networking protocols: TCP/IP, OSPF ...">
            <a:extLst>
              <a:ext uri="{FF2B5EF4-FFF2-40B4-BE49-F238E27FC236}">
                <a16:creationId xmlns:a16="http://schemas.microsoft.com/office/drawing/2014/main" id="{3A801D0A-B0F5-89D2-8757-F1BCE5C5698F}"/>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476761" y="2718248"/>
            <a:ext cx="3053422" cy="17156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110823"/>
      </p:ext>
    </p:extLst>
  </p:cSld>
  <p:clrMapOvr>
    <a:overrideClrMapping bg1="dk1" tx1="lt1" bg2="dk2" tx2="lt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993C8934-FB4E-C030-BE3A-DD3D71053EAF}"/>
            </a:ext>
          </a:extLst>
        </p:cNvPr>
        <p:cNvGrpSpPr/>
        <p:nvPr/>
      </p:nvGrpSpPr>
      <p:grpSpPr>
        <a:xfrm>
          <a:off x="0" y="0"/>
          <a:ext cx="0" cy="0"/>
          <a:chOff x="0" y="0"/>
          <a:chExt cx="0" cy="0"/>
        </a:xfrm>
      </p:grpSpPr>
      <p:sp>
        <p:nvSpPr>
          <p:cNvPr id="3079" name="Rectangle 3078">
            <a:extLst>
              <a:ext uri="{FF2B5EF4-FFF2-40B4-BE49-F238E27FC236}">
                <a16:creationId xmlns:a16="http://schemas.microsoft.com/office/drawing/2014/main" id="{88C97474-5879-4DB5-B4F3-F0357104BC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1" name="Rectangle 3080">
            <a:extLst>
              <a:ext uri="{FF2B5EF4-FFF2-40B4-BE49-F238E27FC236}">
                <a16:creationId xmlns:a16="http://schemas.microsoft.com/office/drawing/2014/main" id="{7D2AF00E-D433-4047-863F-BCB69CEC3C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1588" y="601200"/>
            <a:ext cx="7498616" cy="578936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2" name="Title 1">
            <a:extLst>
              <a:ext uri="{FF2B5EF4-FFF2-40B4-BE49-F238E27FC236}">
                <a16:creationId xmlns:a16="http://schemas.microsoft.com/office/drawing/2014/main" id="{7B92051D-5CFE-6F38-7D48-88EDD85DBFA2}"/>
              </a:ext>
            </a:extLst>
          </p:cNvPr>
          <p:cNvSpPr>
            <a:spLocks noGrp="1"/>
          </p:cNvSpPr>
          <p:nvPr>
            <p:ph type="title"/>
          </p:nvPr>
        </p:nvSpPr>
        <p:spPr>
          <a:xfrm>
            <a:off x="807559" y="938022"/>
            <a:ext cx="6647905" cy="1188720"/>
          </a:xfrm>
        </p:spPr>
        <p:txBody>
          <a:bodyPr>
            <a:normAutofit/>
          </a:bodyPr>
          <a:lstStyle/>
          <a:p>
            <a:r>
              <a:rPr lang="en-US" dirty="0">
                <a:solidFill>
                  <a:srgbClr val="FFFFFF"/>
                </a:solidFill>
              </a:rPr>
              <a:t>Types of network protocols</a:t>
            </a:r>
            <a:br>
              <a:rPr lang="en-US" b="1" i="0" dirty="0">
                <a:solidFill>
                  <a:srgbClr val="FFFFFF"/>
                </a:solidFill>
                <a:effectLst/>
                <a:latin typeface="Roboto" panose="02000000000000000000" pitchFamily="2" charset="0"/>
              </a:rPr>
            </a:br>
            <a:endParaRPr lang="en-NG" dirty="0">
              <a:solidFill>
                <a:srgbClr val="FFFFFF"/>
              </a:solidFill>
            </a:endParaRPr>
          </a:p>
        </p:txBody>
      </p:sp>
      <p:sp>
        <p:nvSpPr>
          <p:cNvPr id="3083" name="Rectangle 3082">
            <a:extLst>
              <a:ext uri="{FF2B5EF4-FFF2-40B4-BE49-F238E27FC236}">
                <a16:creationId xmlns:a16="http://schemas.microsoft.com/office/drawing/2014/main" id="{0997DBEA-6DFC-457A-9850-E53505354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3085" name="Rectangle 3084">
            <a:extLst>
              <a:ext uri="{FF2B5EF4-FFF2-40B4-BE49-F238E27FC236}">
                <a16:creationId xmlns:a16="http://schemas.microsoft.com/office/drawing/2014/main" id="{79446CF5-953A-4916-BFF4-F5558E5C23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3087" name="Rectangle 3086">
            <a:extLst>
              <a:ext uri="{FF2B5EF4-FFF2-40B4-BE49-F238E27FC236}">
                <a16:creationId xmlns:a16="http://schemas.microsoft.com/office/drawing/2014/main" id="{477B945C-B433-4DFF-9A67-A5C9257E47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3" name="Content Placeholder 2">
            <a:extLst>
              <a:ext uri="{FF2B5EF4-FFF2-40B4-BE49-F238E27FC236}">
                <a16:creationId xmlns:a16="http://schemas.microsoft.com/office/drawing/2014/main" id="{FD6FC34E-CD8A-0700-502D-148413B233C1}"/>
              </a:ext>
            </a:extLst>
          </p:cNvPr>
          <p:cNvSpPr>
            <a:spLocks noGrp="1"/>
          </p:cNvSpPr>
          <p:nvPr>
            <p:ph idx="1"/>
          </p:nvPr>
        </p:nvSpPr>
        <p:spPr>
          <a:xfrm>
            <a:off x="807559" y="2340864"/>
            <a:ext cx="6690843" cy="3793237"/>
          </a:xfrm>
        </p:spPr>
        <p:txBody>
          <a:bodyPr>
            <a:normAutofit/>
          </a:bodyPr>
          <a:lstStyle/>
          <a:p>
            <a:pPr>
              <a:spcAft>
                <a:spcPts val="1500"/>
              </a:spcAft>
            </a:pPr>
            <a:r>
              <a:rPr lang="en-US">
                <a:solidFill>
                  <a:srgbClr val="FFFFFF"/>
                </a:solidFill>
              </a:rPr>
              <a:t>Different protocols serve different functions to ensure efficient, quick, and secure network communication. Various types of network protocols can be categorized into the following three broad categories to help organizations operate seamlessly across different business scenarios:</a:t>
            </a:r>
            <a:endParaRPr lang="en-NG">
              <a:solidFill>
                <a:srgbClr val="FFFFFF"/>
              </a:solidFill>
            </a:endParaRPr>
          </a:p>
        </p:txBody>
      </p:sp>
      <p:pic>
        <p:nvPicPr>
          <p:cNvPr id="3074" name="Picture 2" descr="Network Protocols - A Quick ...">
            <a:extLst>
              <a:ext uri="{FF2B5EF4-FFF2-40B4-BE49-F238E27FC236}">
                <a16:creationId xmlns:a16="http://schemas.microsoft.com/office/drawing/2014/main" id="{8718882C-68A3-7AD5-A77C-9D52B1D49D3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476761" y="2627898"/>
            <a:ext cx="3053422" cy="18963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4155594"/>
      </p:ext>
    </p:extLst>
  </p:cSld>
  <p:clrMapOvr>
    <a:overrideClrMapping bg1="dk1" tx1="lt1" bg2="dk2" tx2="lt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93078C8F-2BA6-B4D8-554B-1E101B3C6635}"/>
            </a:ext>
          </a:extLst>
        </p:cNvPr>
        <p:cNvGrpSpPr/>
        <p:nvPr/>
      </p:nvGrpSpPr>
      <p:grpSpPr>
        <a:xfrm>
          <a:off x="0" y="0"/>
          <a:ext cx="0" cy="0"/>
          <a:chOff x="0" y="0"/>
          <a:chExt cx="0" cy="0"/>
        </a:xfrm>
      </p:grpSpPr>
      <p:sp>
        <p:nvSpPr>
          <p:cNvPr id="4103" name="Rectangle 4102">
            <a:extLst>
              <a:ext uri="{FF2B5EF4-FFF2-40B4-BE49-F238E27FC236}">
                <a16:creationId xmlns:a16="http://schemas.microsoft.com/office/drawing/2014/main" id="{88C97474-5879-4DB5-B4F3-F0357104BC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5" name="Rectangle 4104">
            <a:extLst>
              <a:ext uri="{FF2B5EF4-FFF2-40B4-BE49-F238E27FC236}">
                <a16:creationId xmlns:a16="http://schemas.microsoft.com/office/drawing/2014/main" id="{7D2AF00E-D433-4047-863F-BCB69CEC3C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1588" y="601200"/>
            <a:ext cx="7498616" cy="578936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2" name="Title 1">
            <a:extLst>
              <a:ext uri="{FF2B5EF4-FFF2-40B4-BE49-F238E27FC236}">
                <a16:creationId xmlns:a16="http://schemas.microsoft.com/office/drawing/2014/main" id="{1A4DB0E9-DFC3-75A6-EF26-5A781366A633}"/>
              </a:ext>
            </a:extLst>
          </p:cNvPr>
          <p:cNvSpPr>
            <a:spLocks noGrp="1"/>
          </p:cNvSpPr>
          <p:nvPr>
            <p:ph type="title"/>
          </p:nvPr>
        </p:nvSpPr>
        <p:spPr>
          <a:xfrm>
            <a:off x="807559" y="938022"/>
            <a:ext cx="6647905" cy="1188720"/>
          </a:xfrm>
        </p:spPr>
        <p:txBody>
          <a:bodyPr>
            <a:normAutofit/>
          </a:bodyPr>
          <a:lstStyle/>
          <a:p>
            <a:r>
              <a:rPr lang="en-US" sz="2600">
                <a:solidFill>
                  <a:srgbClr val="FFFFFF"/>
                </a:solidFill>
              </a:rPr>
              <a:t>TYPES OF network protocols -  Network Communication Protocols</a:t>
            </a:r>
            <a:endParaRPr lang="en-NG" sz="2600">
              <a:solidFill>
                <a:srgbClr val="FFFFFF"/>
              </a:solidFill>
            </a:endParaRPr>
          </a:p>
        </p:txBody>
      </p:sp>
      <p:sp>
        <p:nvSpPr>
          <p:cNvPr id="4107" name="Rectangle 4106">
            <a:extLst>
              <a:ext uri="{FF2B5EF4-FFF2-40B4-BE49-F238E27FC236}">
                <a16:creationId xmlns:a16="http://schemas.microsoft.com/office/drawing/2014/main" id="{0997DBEA-6DFC-457A-9850-E53505354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4109" name="Rectangle 4108">
            <a:extLst>
              <a:ext uri="{FF2B5EF4-FFF2-40B4-BE49-F238E27FC236}">
                <a16:creationId xmlns:a16="http://schemas.microsoft.com/office/drawing/2014/main" id="{79446CF5-953A-4916-BFF4-F5558E5C23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4111" name="Rectangle 4110">
            <a:extLst>
              <a:ext uri="{FF2B5EF4-FFF2-40B4-BE49-F238E27FC236}">
                <a16:creationId xmlns:a16="http://schemas.microsoft.com/office/drawing/2014/main" id="{477B945C-B433-4DFF-9A67-A5C9257E47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3" name="Content Placeholder 2">
            <a:extLst>
              <a:ext uri="{FF2B5EF4-FFF2-40B4-BE49-F238E27FC236}">
                <a16:creationId xmlns:a16="http://schemas.microsoft.com/office/drawing/2014/main" id="{FFAA978A-E0E4-3D29-CD27-92A2F33F6D07}"/>
              </a:ext>
            </a:extLst>
          </p:cNvPr>
          <p:cNvSpPr>
            <a:spLocks noGrp="1"/>
          </p:cNvSpPr>
          <p:nvPr>
            <p:ph idx="1"/>
          </p:nvPr>
        </p:nvSpPr>
        <p:spPr>
          <a:xfrm>
            <a:off x="807559" y="2340864"/>
            <a:ext cx="6690843" cy="3793237"/>
          </a:xfrm>
        </p:spPr>
        <p:txBody>
          <a:bodyPr>
            <a:normAutofit/>
          </a:bodyPr>
          <a:lstStyle/>
          <a:p>
            <a:pPr>
              <a:spcAft>
                <a:spcPts val="1500"/>
              </a:spcAft>
            </a:pPr>
            <a:r>
              <a:rPr lang="en-US" b="0" i="0">
                <a:solidFill>
                  <a:srgbClr val="FFFFFF"/>
                </a:solidFill>
                <a:effectLst/>
                <a:latin typeface="Roboto" panose="02000000000000000000" pitchFamily="2" charset="0"/>
              </a:rPr>
              <a:t>These protocols determine the rules and formats to transfer data across networks. Communication protocols govern various aspects of analog and digital communications, such as syntax, authentication, semantics, and error detection, among others. Some key network communication protocols include:</a:t>
            </a:r>
          </a:p>
          <a:p>
            <a:pPr lvl="1">
              <a:spcAft>
                <a:spcPts val="1500"/>
              </a:spcAft>
            </a:pPr>
            <a:r>
              <a:rPr lang="en-US">
                <a:solidFill>
                  <a:srgbClr val="FFFFFF"/>
                </a:solidFill>
                <a:latin typeface="Roboto" panose="02000000000000000000" pitchFamily="2" charset="0"/>
              </a:rPr>
              <a:t>Hyper-Text Transfer Protocol (HTTP)</a:t>
            </a:r>
          </a:p>
          <a:p>
            <a:pPr lvl="1">
              <a:spcAft>
                <a:spcPts val="1500"/>
              </a:spcAft>
            </a:pPr>
            <a:r>
              <a:rPr lang="en-US">
                <a:solidFill>
                  <a:srgbClr val="FFFFFF"/>
                </a:solidFill>
                <a:latin typeface="Roboto" panose="02000000000000000000" pitchFamily="2" charset="0"/>
              </a:rPr>
              <a:t>Transmission Control Protocol (TCP)</a:t>
            </a:r>
          </a:p>
          <a:p>
            <a:pPr lvl="1">
              <a:spcAft>
                <a:spcPts val="1500"/>
              </a:spcAft>
            </a:pPr>
            <a:r>
              <a:rPr lang="en-US">
                <a:solidFill>
                  <a:srgbClr val="FFFFFF"/>
                </a:solidFill>
                <a:latin typeface="Roboto" panose="02000000000000000000" pitchFamily="2" charset="0"/>
              </a:rPr>
              <a:t>Internet Protocol (IP)</a:t>
            </a:r>
          </a:p>
          <a:p>
            <a:pPr lvl="1">
              <a:spcAft>
                <a:spcPts val="1500"/>
              </a:spcAft>
            </a:pPr>
            <a:r>
              <a:rPr lang="en-US">
                <a:solidFill>
                  <a:srgbClr val="FFFFFF"/>
                </a:solidFill>
                <a:latin typeface="Roboto" panose="02000000000000000000" pitchFamily="2" charset="0"/>
              </a:rPr>
              <a:t>User Datagram Protocol (UDP)</a:t>
            </a:r>
          </a:p>
          <a:p>
            <a:pPr lvl="1">
              <a:spcAft>
                <a:spcPts val="1500"/>
              </a:spcAft>
            </a:pPr>
            <a:r>
              <a:rPr lang="en-US">
                <a:solidFill>
                  <a:srgbClr val="FFFFFF"/>
                </a:solidFill>
                <a:latin typeface="Roboto" panose="02000000000000000000" pitchFamily="2" charset="0"/>
              </a:rPr>
              <a:t>File Transfer Protocol (FTP)</a:t>
            </a:r>
          </a:p>
        </p:txBody>
      </p:sp>
      <p:pic>
        <p:nvPicPr>
          <p:cNvPr id="4098" name="Picture 2" descr="Top 20 Network Protocols You Must Know ...">
            <a:extLst>
              <a:ext uri="{FF2B5EF4-FFF2-40B4-BE49-F238E27FC236}">
                <a16:creationId xmlns:a16="http://schemas.microsoft.com/office/drawing/2014/main" id="{3966F90F-007B-FF29-5C2E-F2E265F8144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476761" y="2656869"/>
            <a:ext cx="3053422" cy="18383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352392"/>
      </p:ext>
    </p:extLst>
  </p:cSld>
  <p:clrMapOvr>
    <a:overrideClrMapping bg1="dk1" tx1="lt1" bg2="dk2" tx2="lt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AE96C92C-8A82-B52B-FD0D-C08FC4D98B72}"/>
            </a:ext>
          </a:extLst>
        </p:cNvPr>
        <p:cNvGrpSpPr/>
        <p:nvPr/>
      </p:nvGrpSpPr>
      <p:grpSpPr>
        <a:xfrm>
          <a:off x="0" y="0"/>
          <a:ext cx="0" cy="0"/>
          <a:chOff x="0" y="0"/>
          <a:chExt cx="0" cy="0"/>
        </a:xfrm>
      </p:grpSpPr>
      <p:sp>
        <p:nvSpPr>
          <p:cNvPr id="4103" name="Rectangle 4102">
            <a:extLst>
              <a:ext uri="{FF2B5EF4-FFF2-40B4-BE49-F238E27FC236}">
                <a16:creationId xmlns:a16="http://schemas.microsoft.com/office/drawing/2014/main" id="{88C97474-5879-4DB5-B4F3-F0357104BC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5" name="Rectangle 4104">
            <a:extLst>
              <a:ext uri="{FF2B5EF4-FFF2-40B4-BE49-F238E27FC236}">
                <a16:creationId xmlns:a16="http://schemas.microsoft.com/office/drawing/2014/main" id="{7D2AF00E-D433-4047-863F-BCB69CEC3C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1588" y="601200"/>
            <a:ext cx="7498616" cy="578936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2" name="Title 1">
            <a:extLst>
              <a:ext uri="{FF2B5EF4-FFF2-40B4-BE49-F238E27FC236}">
                <a16:creationId xmlns:a16="http://schemas.microsoft.com/office/drawing/2014/main" id="{DCA0903E-C387-9BFF-3573-03315237624D}"/>
              </a:ext>
            </a:extLst>
          </p:cNvPr>
          <p:cNvSpPr>
            <a:spLocks noGrp="1"/>
          </p:cNvSpPr>
          <p:nvPr>
            <p:ph type="title"/>
          </p:nvPr>
        </p:nvSpPr>
        <p:spPr>
          <a:xfrm>
            <a:off x="807559" y="938022"/>
            <a:ext cx="6647905" cy="1188720"/>
          </a:xfrm>
        </p:spPr>
        <p:txBody>
          <a:bodyPr>
            <a:normAutofit/>
          </a:bodyPr>
          <a:lstStyle/>
          <a:p>
            <a:r>
              <a:rPr lang="en-US">
                <a:solidFill>
                  <a:srgbClr val="FFFFFF"/>
                </a:solidFill>
              </a:rPr>
              <a:t>TYPES OF network protocols -  Network SECURITY Protocols</a:t>
            </a:r>
            <a:endParaRPr lang="en-NG">
              <a:solidFill>
                <a:srgbClr val="FFFFFF"/>
              </a:solidFill>
            </a:endParaRPr>
          </a:p>
        </p:txBody>
      </p:sp>
      <p:sp>
        <p:nvSpPr>
          <p:cNvPr id="4107" name="Rectangle 4106">
            <a:extLst>
              <a:ext uri="{FF2B5EF4-FFF2-40B4-BE49-F238E27FC236}">
                <a16:creationId xmlns:a16="http://schemas.microsoft.com/office/drawing/2014/main" id="{0997DBEA-6DFC-457A-9850-E53505354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4109" name="Rectangle 4108">
            <a:extLst>
              <a:ext uri="{FF2B5EF4-FFF2-40B4-BE49-F238E27FC236}">
                <a16:creationId xmlns:a16="http://schemas.microsoft.com/office/drawing/2014/main" id="{79446CF5-953A-4916-BFF4-F5558E5C23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4111" name="Rectangle 4110">
            <a:extLst>
              <a:ext uri="{FF2B5EF4-FFF2-40B4-BE49-F238E27FC236}">
                <a16:creationId xmlns:a16="http://schemas.microsoft.com/office/drawing/2014/main" id="{477B945C-B433-4DFF-9A67-A5C9257E47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3" name="Content Placeholder 2">
            <a:extLst>
              <a:ext uri="{FF2B5EF4-FFF2-40B4-BE49-F238E27FC236}">
                <a16:creationId xmlns:a16="http://schemas.microsoft.com/office/drawing/2014/main" id="{82AD0DF7-8939-D799-F5F1-FFB4FA500DE0}"/>
              </a:ext>
            </a:extLst>
          </p:cNvPr>
          <p:cNvSpPr>
            <a:spLocks noGrp="1"/>
          </p:cNvSpPr>
          <p:nvPr>
            <p:ph idx="1"/>
          </p:nvPr>
        </p:nvSpPr>
        <p:spPr>
          <a:xfrm>
            <a:off x="807559" y="2340864"/>
            <a:ext cx="6690843" cy="3793237"/>
          </a:xfrm>
        </p:spPr>
        <p:txBody>
          <a:bodyPr>
            <a:normAutofit/>
          </a:bodyPr>
          <a:lstStyle/>
          <a:p>
            <a:pPr>
              <a:spcAft>
                <a:spcPts val="1500"/>
              </a:spcAft>
            </a:pPr>
            <a:r>
              <a:rPr lang="en-US" b="0" i="0">
                <a:solidFill>
                  <a:srgbClr val="FFFFFF"/>
                </a:solidFill>
                <a:effectLst/>
                <a:latin typeface="Roboto" panose="02000000000000000000" pitchFamily="2" charset="0"/>
              </a:rPr>
              <a:t>These protocols ensure safe data transmission over the network connections. Network security protocols define the procedures to secure data from any unauthorized access. These protocols leverage encryption and cryptography to safeguard. Here are the most widely used network security protocols: </a:t>
            </a:r>
          </a:p>
          <a:p>
            <a:pPr lvl="1">
              <a:spcAft>
                <a:spcPts val="1500"/>
              </a:spcAft>
            </a:pPr>
            <a:r>
              <a:rPr lang="en-US">
                <a:solidFill>
                  <a:srgbClr val="FFFFFF"/>
                </a:solidFill>
                <a:latin typeface="Roboto" panose="02000000000000000000" pitchFamily="2" charset="0"/>
              </a:rPr>
              <a:t>Secure File Transfer Protocol (SFTP) </a:t>
            </a:r>
          </a:p>
          <a:p>
            <a:pPr lvl="1">
              <a:spcAft>
                <a:spcPts val="1500"/>
              </a:spcAft>
            </a:pPr>
            <a:r>
              <a:rPr lang="en-US">
                <a:solidFill>
                  <a:srgbClr val="FFFFFF"/>
                </a:solidFill>
                <a:latin typeface="Roboto" panose="02000000000000000000" pitchFamily="2" charset="0"/>
              </a:rPr>
              <a:t>Hyper-Text Transfer Protocol Secure (HTTPS) </a:t>
            </a:r>
          </a:p>
          <a:p>
            <a:pPr lvl="1">
              <a:spcAft>
                <a:spcPts val="1500"/>
              </a:spcAft>
            </a:pPr>
            <a:r>
              <a:rPr lang="en-US">
                <a:solidFill>
                  <a:srgbClr val="FFFFFF"/>
                </a:solidFill>
                <a:latin typeface="Roboto" panose="02000000000000000000" pitchFamily="2" charset="0"/>
              </a:rPr>
              <a:t>Secure Socket Layer (SSL)</a:t>
            </a:r>
          </a:p>
        </p:txBody>
      </p:sp>
      <p:pic>
        <p:nvPicPr>
          <p:cNvPr id="4098" name="Picture 2" descr="Top 20 Network Protocols You Must Know ...">
            <a:extLst>
              <a:ext uri="{FF2B5EF4-FFF2-40B4-BE49-F238E27FC236}">
                <a16:creationId xmlns:a16="http://schemas.microsoft.com/office/drawing/2014/main" id="{2643862C-C022-0698-2066-46D59F2EC42A}"/>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476761" y="2656869"/>
            <a:ext cx="3053422" cy="18383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0286"/>
      </p:ext>
    </p:extLst>
  </p:cSld>
  <p:clrMapOvr>
    <a:overrideClrMapping bg1="dk1" tx1="lt1" bg2="dk2" tx2="lt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2EAEB3B7-EEDC-434F-1497-493444A70985}"/>
            </a:ext>
          </a:extLst>
        </p:cNvPr>
        <p:cNvGrpSpPr/>
        <p:nvPr/>
      </p:nvGrpSpPr>
      <p:grpSpPr>
        <a:xfrm>
          <a:off x="0" y="0"/>
          <a:ext cx="0" cy="0"/>
          <a:chOff x="0" y="0"/>
          <a:chExt cx="0" cy="0"/>
        </a:xfrm>
      </p:grpSpPr>
      <p:sp>
        <p:nvSpPr>
          <p:cNvPr id="4103" name="Rectangle 4102">
            <a:extLst>
              <a:ext uri="{FF2B5EF4-FFF2-40B4-BE49-F238E27FC236}">
                <a16:creationId xmlns:a16="http://schemas.microsoft.com/office/drawing/2014/main" id="{88C97474-5879-4DB5-B4F3-F0357104BC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5" name="Rectangle 4104">
            <a:extLst>
              <a:ext uri="{FF2B5EF4-FFF2-40B4-BE49-F238E27FC236}">
                <a16:creationId xmlns:a16="http://schemas.microsoft.com/office/drawing/2014/main" id="{7D2AF00E-D433-4047-863F-BCB69CEC3C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1588" y="601200"/>
            <a:ext cx="7498616" cy="578936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2" name="Title 1">
            <a:extLst>
              <a:ext uri="{FF2B5EF4-FFF2-40B4-BE49-F238E27FC236}">
                <a16:creationId xmlns:a16="http://schemas.microsoft.com/office/drawing/2014/main" id="{3C0E987B-32C3-ADC5-FA9C-A265DDDE3A22}"/>
              </a:ext>
            </a:extLst>
          </p:cNvPr>
          <p:cNvSpPr>
            <a:spLocks noGrp="1"/>
          </p:cNvSpPr>
          <p:nvPr>
            <p:ph type="title"/>
          </p:nvPr>
        </p:nvSpPr>
        <p:spPr>
          <a:xfrm>
            <a:off x="807559" y="938022"/>
            <a:ext cx="6647905" cy="1188720"/>
          </a:xfrm>
        </p:spPr>
        <p:txBody>
          <a:bodyPr>
            <a:normAutofit/>
          </a:bodyPr>
          <a:lstStyle/>
          <a:p>
            <a:r>
              <a:rPr lang="en-US">
                <a:solidFill>
                  <a:srgbClr val="FFFFFF"/>
                </a:solidFill>
              </a:rPr>
              <a:t>TYPES OF network protocols -  Network MANAGEMENT Protocols</a:t>
            </a:r>
            <a:endParaRPr lang="en-NG">
              <a:solidFill>
                <a:srgbClr val="FFFFFF"/>
              </a:solidFill>
            </a:endParaRPr>
          </a:p>
        </p:txBody>
      </p:sp>
      <p:sp>
        <p:nvSpPr>
          <p:cNvPr id="4107" name="Rectangle 4106">
            <a:extLst>
              <a:ext uri="{FF2B5EF4-FFF2-40B4-BE49-F238E27FC236}">
                <a16:creationId xmlns:a16="http://schemas.microsoft.com/office/drawing/2014/main" id="{0997DBEA-6DFC-457A-9850-E53505354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4109" name="Rectangle 4108">
            <a:extLst>
              <a:ext uri="{FF2B5EF4-FFF2-40B4-BE49-F238E27FC236}">
                <a16:creationId xmlns:a16="http://schemas.microsoft.com/office/drawing/2014/main" id="{79446CF5-953A-4916-BFF4-F5558E5C23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4111" name="Rectangle 4110">
            <a:extLst>
              <a:ext uri="{FF2B5EF4-FFF2-40B4-BE49-F238E27FC236}">
                <a16:creationId xmlns:a16="http://schemas.microsoft.com/office/drawing/2014/main" id="{477B945C-B433-4DFF-9A67-A5C9257E47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3" name="Content Placeholder 2">
            <a:extLst>
              <a:ext uri="{FF2B5EF4-FFF2-40B4-BE49-F238E27FC236}">
                <a16:creationId xmlns:a16="http://schemas.microsoft.com/office/drawing/2014/main" id="{D1B029F0-2840-FA32-ED16-9A3A56ADB516}"/>
              </a:ext>
            </a:extLst>
          </p:cNvPr>
          <p:cNvSpPr>
            <a:spLocks noGrp="1"/>
          </p:cNvSpPr>
          <p:nvPr>
            <p:ph idx="1"/>
          </p:nvPr>
        </p:nvSpPr>
        <p:spPr>
          <a:xfrm>
            <a:off x="807559" y="2340864"/>
            <a:ext cx="6690843" cy="3793237"/>
          </a:xfrm>
        </p:spPr>
        <p:txBody>
          <a:bodyPr>
            <a:normAutofit/>
          </a:bodyPr>
          <a:lstStyle/>
          <a:p>
            <a:pPr>
              <a:spcAft>
                <a:spcPts val="1500"/>
              </a:spcAft>
            </a:pPr>
            <a:r>
              <a:rPr lang="en-US" b="0" i="0">
                <a:solidFill>
                  <a:srgbClr val="FFFFFF"/>
                </a:solidFill>
                <a:effectLst/>
                <a:latin typeface="Roboto" panose="02000000000000000000" pitchFamily="2" charset="0"/>
              </a:rPr>
              <a:t>Network managers require standard policies and procedures to manage and monitor the network for maintaining smooth communication. Network management protocols ensure quick troubleshooting and optimal performance across the </a:t>
            </a:r>
            <a:r>
              <a:rPr lang="en-US">
                <a:solidFill>
                  <a:srgbClr val="FFFFFF"/>
                </a:solidFill>
                <a:latin typeface="Roboto" panose="02000000000000000000" pitchFamily="2" charset="0"/>
              </a:rPr>
              <a:t>network. The following are essential network protocols </a:t>
            </a:r>
            <a:r>
              <a:rPr lang="en-US" b="0" i="0">
                <a:solidFill>
                  <a:srgbClr val="FFFFFF"/>
                </a:solidFill>
                <a:effectLst/>
                <a:latin typeface="Roboto" panose="02000000000000000000" pitchFamily="2" charset="0"/>
              </a:rPr>
              <a:t>management:</a:t>
            </a:r>
          </a:p>
          <a:p>
            <a:pPr lvl="1">
              <a:spcAft>
                <a:spcPts val="1500"/>
              </a:spcAft>
            </a:pPr>
            <a:r>
              <a:rPr lang="en-US">
                <a:solidFill>
                  <a:srgbClr val="FFFFFF"/>
                </a:solidFill>
                <a:latin typeface="Roboto" panose="02000000000000000000" pitchFamily="2" charset="0"/>
              </a:rPr>
              <a:t>Simple Network Management Protocol (SNMP) </a:t>
            </a:r>
          </a:p>
          <a:p>
            <a:pPr lvl="1">
              <a:spcAft>
                <a:spcPts val="1500"/>
              </a:spcAft>
            </a:pPr>
            <a:r>
              <a:rPr lang="en-US">
                <a:solidFill>
                  <a:srgbClr val="FFFFFF"/>
                </a:solidFill>
                <a:latin typeface="Roboto" panose="02000000000000000000" pitchFamily="2" charset="0"/>
              </a:rPr>
              <a:t>Internet Control Message Protocol (ICMP) </a:t>
            </a:r>
          </a:p>
        </p:txBody>
      </p:sp>
      <p:pic>
        <p:nvPicPr>
          <p:cNvPr id="4098" name="Picture 2" descr="Top 20 Network Protocols You Must Know ...">
            <a:extLst>
              <a:ext uri="{FF2B5EF4-FFF2-40B4-BE49-F238E27FC236}">
                <a16:creationId xmlns:a16="http://schemas.microsoft.com/office/drawing/2014/main" id="{CF4EFA4F-490C-8930-6A7A-6B6B6B7E9A5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476761" y="2656869"/>
            <a:ext cx="3053422" cy="18383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4631711"/>
      </p:ext>
    </p:extLst>
  </p:cSld>
  <p:clrMapOvr>
    <a:overrideClrMapping bg1="dk1" tx1="lt1" bg2="dk2" tx2="lt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AD0954-774A-A4E5-3FF5-55E8CC57EC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77C5AD-4FE7-BDA0-6851-94FB8E5A89B5}"/>
              </a:ext>
            </a:extLst>
          </p:cNvPr>
          <p:cNvSpPr>
            <a:spLocks noGrp="1"/>
          </p:cNvSpPr>
          <p:nvPr>
            <p:ph type="title"/>
          </p:nvPr>
        </p:nvSpPr>
        <p:spPr>
          <a:xfrm>
            <a:off x="581193" y="2393950"/>
            <a:ext cx="11029615" cy="3082925"/>
          </a:xfrm>
        </p:spPr>
        <p:txBody>
          <a:bodyPr>
            <a:normAutofit/>
          </a:bodyPr>
          <a:lstStyle/>
          <a:p>
            <a:r>
              <a:rPr lang="en-US" dirty="0"/>
              <a:t>Understanding the TCP or IP Protocol Suite</a:t>
            </a:r>
            <a:br>
              <a:rPr lang="en-US" dirty="0"/>
            </a:br>
            <a:br>
              <a:rPr lang="en-US" dirty="0"/>
            </a:br>
            <a:br>
              <a:rPr lang="en-US" dirty="0"/>
            </a:br>
            <a:endParaRPr lang="en-US" dirty="0"/>
          </a:p>
        </p:txBody>
      </p:sp>
      <p:sp>
        <p:nvSpPr>
          <p:cNvPr id="3" name="Text Placeholder 2">
            <a:extLst>
              <a:ext uri="{FF2B5EF4-FFF2-40B4-BE49-F238E27FC236}">
                <a16:creationId xmlns:a16="http://schemas.microsoft.com/office/drawing/2014/main" id="{4368F412-000E-AADF-78F6-34DBC125417D}"/>
              </a:ext>
            </a:extLst>
          </p:cNvPr>
          <p:cNvSpPr>
            <a:spLocks noGrp="1"/>
          </p:cNvSpPr>
          <p:nvPr>
            <p:ph type="body" idx="1"/>
          </p:nvPr>
        </p:nvSpPr>
        <p:spPr>
          <a:xfrm>
            <a:off x="653763" y="4541417"/>
            <a:ext cx="11029615" cy="600556"/>
          </a:xfrm>
        </p:spPr>
        <p:txBody>
          <a:bodyPr/>
          <a:lstStyle/>
          <a:p>
            <a:r>
              <a:rPr lang="en-US" dirty="0"/>
              <a:t>Day 1</a:t>
            </a:r>
            <a:endParaRPr lang="en-NG" dirty="0"/>
          </a:p>
        </p:txBody>
      </p:sp>
    </p:spTree>
    <p:extLst>
      <p:ext uri="{BB962C8B-B14F-4D97-AF65-F5344CB8AC3E}">
        <p14:creationId xmlns:p14="http://schemas.microsoft.com/office/powerpoint/2010/main" val="6290013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543BBB4-A207-F145-89F1-8B12B7ECC854}"/>
            </a:ext>
          </a:extLst>
        </p:cNvPr>
        <p:cNvGrpSpPr/>
        <p:nvPr/>
      </p:nvGrpSpPr>
      <p:grpSpPr>
        <a:xfrm>
          <a:off x="0" y="0"/>
          <a:ext cx="0" cy="0"/>
          <a:chOff x="0" y="0"/>
          <a:chExt cx="0" cy="0"/>
        </a:xfrm>
      </p:grpSpPr>
      <p:sp>
        <p:nvSpPr>
          <p:cNvPr id="6159" name="Rectangle 6158">
            <a:extLst>
              <a:ext uri="{FF2B5EF4-FFF2-40B4-BE49-F238E27FC236}">
                <a16:creationId xmlns:a16="http://schemas.microsoft.com/office/drawing/2014/main" id="{E9751CB9-7B25-4EB8-9A6F-82F822549F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61" name="Rectangle 6160">
            <a:extLst>
              <a:ext uri="{FF2B5EF4-FFF2-40B4-BE49-F238E27FC236}">
                <a16:creationId xmlns:a16="http://schemas.microsoft.com/office/drawing/2014/main" id="{E1317383-CF3B-4B02-9512-BECBEF6362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6163" name="Rectangle 6162">
            <a:extLst>
              <a:ext uri="{FF2B5EF4-FFF2-40B4-BE49-F238E27FC236}">
                <a16:creationId xmlns:a16="http://schemas.microsoft.com/office/drawing/2014/main" id="{B1D4C7A0-6DF2-4F2D-A45D-F111582974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6165" name="Rectangle 6164">
            <a:extLst>
              <a:ext uri="{FF2B5EF4-FFF2-40B4-BE49-F238E27FC236}">
                <a16:creationId xmlns:a16="http://schemas.microsoft.com/office/drawing/2014/main" id="{DBF3943D-BCB6-4B31-809D-A005686483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6167" name="Rectangle 6166">
            <a:extLst>
              <a:ext uri="{FF2B5EF4-FFF2-40B4-BE49-F238E27FC236}">
                <a16:creationId xmlns:a16="http://schemas.microsoft.com/office/drawing/2014/main" id="{39373A6F-2E1F-4613-8E1D-D68057D29F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2377" y="601200"/>
            <a:ext cx="3707477" cy="562497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2" name="Title 1">
            <a:extLst>
              <a:ext uri="{FF2B5EF4-FFF2-40B4-BE49-F238E27FC236}">
                <a16:creationId xmlns:a16="http://schemas.microsoft.com/office/drawing/2014/main" id="{AB90838F-5BAC-54B8-118F-5DEB5819A00D}"/>
              </a:ext>
            </a:extLst>
          </p:cNvPr>
          <p:cNvSpPr>
            <a:spLocks noGrp="1"/>
          </p:cNvSpPr>
          <p:nvPr>
            <p:ph type="title"/>
          </p:nvPr>
        </p:nvSpPr>
        <p:spPr>
          <a:xfrm>
            <a:off x="601255" y="702155"/>
            <a:ext cx="3409783" cy="1300365"/>
          </a:xfrm>
        </p:spPr>
        <p:txBody>
          <a:bodyPr>
            <a:normAutofit/>
          </a:bodyPr>
          <a:lstStyle/>
          <a:p>
            <a:r>
              <a:rPr lang="en-US">
                <a:solidFill>
                  <a:srgbClr val="FFFFFF"/>
                </a:solidFill>
              </a:rPr>
              <a:t>TCP or IP Protocol Suite</a:t>
            </a:r>
            <a:endParaRPr lang="en-NG">
              <a:solidFill>
                <a:srgbClr val="FFFFFF"/>
              </a:solidFill>
            </a:endParaRPr>
          </a:p>
        </p:txBody>
      </p:sp>
      <p:sp>
        <p:nvSpPr>
          <p:cNvPr id="3" name="Content Placeholder 2">
            <a:extLst>
              <a:ext uri="{FF2B5EF4-FFF2-40B4-BE49-F238E27FC236}">
                <a16:creationId xmlns:a16="http://schemas.microsoft.com/office/drawing/2014/main" id="{C9E41601-20EE-3A7F-38A4-D7B60C9A6C33}"/>
              </a:ext>
            </a:extLst>
          </p:cNvPr>
          <p:cNvSpPr>
            <a:spLocks noGrp="1"/>
          </p:cNvSpPr>
          <p:nvPr>
            <p:ph idx="1"/>
          </p:nvPr>
        </p:nvSpPr>
        <p:spPr>
          <a:xfrm>
            <a:off x="601255" y="2177142"/>
            <a:ext cx="3409782" cy="3823607"/>
          </a:xfrm>
        </p:spPr>
        <p:txBody>
          <a:bodyPr>
            <a:normAutofit/>
          </a:bodyPr>
          <a:lstStyle/>
          <a:p>
            <a:pPr>
              <a:lnSpc>
                <a:spcPct val="100000"/>
              </a:lnSpc>
              <a:spcAft>
                <a:spcPts val="1950"/>
              </a:spcAft>
            </a:pPr>
            <a:r>
              <a:rPr lang="en-US" sz="1400">
                <a:solidFill>
                  <a:srgbClr val="FFFFFF"/>
                </a:solidFill>
                <a:latin typeface="Roboto" panose="02000000000000000000" pitchFamily="2" charset="0"/>
              </a:rPr>
              <a:t>The TCP/IP model refers to the Transmission Control Protocol/Internet Protocol Model. This model is a part of the network domain designed specifically for overseeing efficient and error-free transmission of data.</a:t>
            </a:r>
          </a:p>
          <a:p>
            <a:pPr>
              <a:lnSpc>
                <a:spcPct val="100000"/>
              </a:lnSpc>
              <a:spcAft>
                <a:spcPts val="1950"/>
              </a:spcAft>
            </a:pPr>
            <a:r>
              <a:rPr lang="en-US" sz="1400">
                <a:solidFill>
                  <a:srgbClr val="FFFFFF"/>
                </a:solidFill>
                <a:latin typeface="Roboto" panose="02000000000000000000" pitchFamily="2" charset="0"/>
              </a:rPr>
              <a:t>The model works on a four-layered architecture model, where each layer implicit the required network protocols on the data to be transmitted, which remodels the data to the most optimum structure for efficient transmission over the network.</a:t>
            </a:r>
          </a:p>
        </p:txBody>
      </p:sp>
      <p:pic>
        <p:nvPicPr>
          <p:cNvPr id="6154" name="Picture 10" descr="TCP_Model_1">
            <a:extLst>
              <a:ext uri="{FF2B5EF4-FFF2-40B4-BE49-F238E27FC236}">
                <a16:creationId xmlns:a16="http://schemas.microsoft.com/office/drawing/2014/main" id="{F0D2382A-C020-0D39-3DB2-E78A934FAEB0}"/>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592231" y="2286157"/>
            <a:ext cx="6831503" cy="22682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2128701"/>
      </p:ext>
    </p:extLst>
  </p:cSld>
  <p:clrMapOvr>
    <a:overrideClrMapping bg1="dk1" tx1="lt1" bg2="dk2" tx2="lt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CF42D4A-BFD1-AF91-834B-5E908A13FC59}"/>
            </a:ext>
          </a:extLst>
        </p:cNvPr>
        <p:cNvGrpSpPr/>
        <p:nvPr/>
      </p:nvGrpSpPr>
      <p:grpSpPr>
        <a:xfrm>
          <a:off x="0" y="0"/>
          <a:ext cx="0" cy="0"/>
          <a:chOff x="0" y="0"/>
          <a:chExt cx="0" cy="0"/>
        </a:xfrm>
      </p:grpSpPr>
      <p:sp useBgFill="1">
        <p:nvSpPr>
          <p:cNvPr id="6159" name="Rectangle 6158">
            <a:extLst>
              <a:ext uri="{FF2B5EF4-FFF2-40B4-BE49-F238E27FC236}">
                <a16:creationId xmlns:a16="http://schemas.microsoft.com/office/drawing/2014/main" id="{F875149D-F692-45DA-8324-D5E0193D5F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61" name="Rectangle 6160">
            <a:extLst>
              <a:ext uri="{FF2B5EF4-FFF2-40B4-BE49-F238E27FC236}">
                <a16:creationId xmlns:a16="http://schemas.microsoft.com/office/drawing/2014/main" id="{C0B19935-C760-4698-9DD1-973C8A428D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6163" name="Rectangle 6162">
            <a:extLst>
              <a:ext uri="{FF2B5EF4-FFF2-40B4-BE49-F238E27FC236}">
                <a16:creationId xmlns:a16="http://schemas.microsoft.com/office/drawing/2014/main" id="{08990612-E008-4F02-AEBB-B140BE753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6165" name="Rectangle 6164">
            <a:extLst>
              <a:ext uri="{FF2B5EF4-FFF2-40B4-BE49-F238E27FC236}">
                <a16:creationId xmlns:a16="http://schemas.microsoft.com/office/drawing/2014/main" id="{A310A41F-3A14-4150-B6CF-0A577DDDEA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6167" name="Rectangle 6166">
            <a:extLst>
              <a:ext uri="{FF2B5EF4-FFF2-40B4-BE49-F238E27FC236}">
                <a16:creationId xmlns:a16="http://schemas.microsoft.com/office/drawing/2014/main" id="{7B89EEFD-93BC-4ACF-962C-E6279E72B0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1436" y="723899"/>
            <a:ext cx="3703320" cy="566666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2" name="Title 1">
            <a:extLst>
              <a:ext uri="{FF2B5EF4-FFF2-40B4-BE49-F238E27FC236}">
                <a16:creationId xmlns:a16="http://schemas.microsoft.com/office/drawing/2014/main" id="{2471BD84-2803-4012-A357-6DE46AABCCB7}"/>
              </a:ext>
            </a:extLst>
          </p:cNvPr>
          <p:cNvSpPr>
            <a:spLocks noGrp="1"/>
          </p:cNvSpPr>
          <p:nvPr>
            <p:ph type="title"/>
          </p:nvPr>
        </p:nvSpPr>
        <p:spPr>
          <a:xfrm>
            <a:off x="803189" y="1209184"/>
            <a:ext cx="3089189" cy="4734416"/>
          </a:xfrm>
        </p:spPr>
        <p:txBody>
          <a:bodyPr anchor="ctr">
            <a:normAutofit/>
          </a:bodyPr>
          <a:lstStyle/>
          <a:p>
            <a:r>
              <a:rPr lang="en-US">
                <a:solidFill>
                  <a:srgbClr val="FFFFFF"/>
                </a:solidFill>
              </a:rPr>
              <a:t>TCP or IP Protocol Suite</a:t>
            </a:r>
            <a:endParaRPr lang="en-NG">
              <a:solidFill>
                <a:srgbClr val="FFFFFF"/>
              </a:solidFill>
            </a:endParaRPr>
          </a:p>
        </p:txBody>
      </p:sp>
      <p:sp>
        <p:nvSpPr>
          <p:cNvPr id="3" name="Content Placeholder 2">
            <a:extLst>
              <a:ext uri="{FF2B5EF4-FFF2-40B4-BE49-F238E27FC236}">
                <a16:creationId xmlns:a16="http://schemas.microsoft.com/office/drawing/2014/main" id="{D3C09286-CD27-AEA0-6A3A-EE57556CA657}"/>
              </a:ext>
            </a:extLst>
          </p:cNvPr>
          <p:cNvSpPr>
            <a:spLocks noGrp="1"/>
          </p:cNvSpPr>
          <p:nvPr>
            <p:ph idx="1"/>
          </p:nvPr>
        </p:nvSpPr>
        <p:spPr>
          <a:xfrm>
            <a:off x="4561870" y="723900"/>
            <a:ext cx="7183597" cy="3152362"/>
          </a:xfrm>
        </p:spPr>
        <p:txBody>
          <a:bodyPr>
            <a:normAutofit/>
          </a:bodyPr>
          <a:lstStyle/>
          <a:p>
            <a:pPr marL="0" indent="0">
              <a:lnSpc>
                <a:spcPct val="100000"/>
              </a:lnSpc>
              <a:spcAft>
                <a:spcPts val="1950"/>
              </a:spcAft>
              <a:buNone/>
            </a:pPr>
            <a:r>
              <a:rPr lang="en-US" sz="1400" dirty="0">
                <a:latin typeface="Roboto" panose="02000000000000000000" pitchFamily="2" charset="0"/>
              </a:rPr>
              <a:t>The Internet Protocol Suite, or TCP/IP for short, is the set of protocols that make up the network layer of the Internet.</a:t>
            </a:r>
          </a:p>
          <a:p>
            <a:pPr>
              <a:lnSpc>
                <a:spcPct val="100000"/>
              </a:lnSpc>
              <a:spcAft>
                <a:spcPts val="1050"/>
              </a:spcAft>
              <a:buFont typeface="Arial" panose="020B0604020202020204" pitchFamily="34" charset="0"/>
              <a:buChar char="•"/>
            </a:pPr>
            <a:r>
              <a:rPr lang="en-US" sz="1400" dirty="0">
                <a:latin typeface="Roboto" panose="02000000000000000000" pitchFamily="2" charset="0"/>
              </a:rPr>
              <a:t>The first version of TCP/IP was ARPANET (1975), which stands for Advanced Research Projects Administration Network. The name changed to TCP/IP in 1983, when it became an open standard that could be used on any network. </a:t>
            </a:r>
          </a:p>
          <a:p>
            <a:pPr>
              <a:lnSpc>
                <a:spcPct val="100000"/>
              </a:lnSpc>
              <a:spcAft>
                <a:spcPts val="1050"/>
              </a:spcAft>
              <a:buFont typeface="Arial" panose="020B0604020202020204" pitchFamily="34" charset="0"/>
              <a:buChar char="•"/>
            </a:pPr>
            <a:r>
              <a:rPr lang="en-US" sz="1400" dirty="0">
                <a:latin typeface="Roboto" panose="02000000000000000000" pitchFamily="2" charset="0"/>
              </a:rPr>
              <a:t>To give researchers access to each other's equipment, they needed to send messages quickly over long distances without having them re-transmitted by any intermediate nodes along the way. This necessity led to the development of the Transmission Control Protocol (TCP) and Internet Protocol (IP). These protocols were intended for machine-to-machine connections, such as between computers over local area networks or wide-area networks</a:t>
            </a:r>
          </a:p>
        </p:txBody>
      </p:sp>
      <p:pic>
        <p:nvPicPr>
          <p:cNvPr id="6154" name="Picture 10" descr="TCP_Model_1">
            <a:extLst>
              <a:ext uri="{FF2B5EF4-FFF2-40B4-BE49-F238E27FC236}">
                <a16:creationId xmlns:a16="http://schemas.microsoft.com/office/drawing/2014/main" id="{E93A9B54-613A-5A2C-099C-10DD14070A73}"/>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845489" y="4149588"/>
            <a:ext cx="6616359" cy="21968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72866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4671526-BA1D-C7CA-E624-6A4F76F854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106B91-F31F-F863-FDEA-CB0CEC621E70}"/>
              </a:ext>
            </a:extLst>
          </p:cNvPr>
          <p:cNvSpPr>
            <a:spLocks noGrp="1"/>
          </p:cNvSpPr>
          <p:nvPr>
            <p:ph type="title"/>
          </p:nvPr>
        </p:nvSpPr>
        <p:spPr>
          <a:xfrm>
            <a:off x="581192" y="702156"/>
            <a:ext cx="11029616" cy="1188720"/>
          </a:xfrm>
        </p:spPr>
        <p:txBody>
          <a:bodyPr>
            <a:normAutofit/>
          </a:bodyPr>
          <a:lstStyle/>
          <a:p>
            <a:r>
              <a:rPr lang="en-US" dirty="0"/>
              <a:t>TCP or IP Protocol Suite - FEATURES</a:t>
            </a:r>
            <a:endParaRPr lang="en-NG" dirty="0"/>
          </a:p>
        </p:txBody>
      </p:sp>
      <p:sp>
        <p:nvSpPr>
          <p:cNvPr id="3" name="Content Placeholder 2">
            <a:extLst>
              <a:ext uri="{FF2B5EF4-FFF2-40B4-BE49-F238E27FC236}">
                <a16:creationId xmlns:a16="http://schemas.microsoft.com/office/drawing/2014/main" id="{2C1A3BF5-51BA-0124-72E0-32DCA25F9012}"/>
              </a:ext>
            </a:extLst>
          </p:cNvPr>
          <p:cNvSpPr>
            <a:spLocks noGrp="1"/>
          </p:cNvSpPr>
          <p:nvPr>
            <p:ph idx="1"/>
          </p:nvPr>
        </p:nvSpPr>
        <p:spPr>
          <a:xfrm>
            <a:off x="581193" y="2340864"/>
            <a:ext cx="7024758" cy="3634486"/>
          </a:xfrm>
        </p:spPr>
        <p:txBody>
          <a:bodyPr>
            <a:normAutofit/>
          </a:bodyPr>
          <a:lstStyle/>
          <a:p>
            <a:pPr>
              <a:lnSpc>
                <a:spcPct val="100000"/>
              </a:lnSpc>
              <a:spcAft>
                <a:spcPts val="1500"/>
              </a:spcAft>
            </a:pPr>
            <a:r>
              <a:rPr lang="en-US" sz="1400" b="0" i="0" dirty="0">
                <a:effectLst/>
                <a:latin typeface="Roboto" panose="02000000000000000000" pitchFamily="2" charset="0"/>
              </a:rPr>
              <a:t>The TCP/IP model is among one of the most important network concepts that contributed to the working of ARPANET.</a:t>
            </a:r>
          </a:p>
          <a:p>
            <a:pPr>
              <a:lnSpc>
                <a:spcPct val="100000"/>
              </a:lnSpc>
              <a:spcAft>
                <a:spcPts val="1500"/>
              </a:spcAft>
            </a:pPr>
            <a:r>
              <a:rPr lang="en-US" sz="1400" b="0" i="0" dirty="0">
                <a:effectLst/>
                <a:latin typeface="Roboto" panose="02000000000000000000" pitchFamily="2" charset="0"/>
              </a:rPr>
              <a:t>The TCP/IP model comprises four layers: the network access layer, the internet layer, the transport layer, and the application layer (going from bottom to top).</a:t>
            </a:r>
          </a:p>
          <a:p>
            <a:pPr>
              <a:lnSpc>
                <a:spcPct val="100000"/>
              </a:lnSpc>
              <a:spcAft>
                <a:spcPts val="1500"/>
              </a:spcAft>
            </a:pPr>
            <a:r>
              <a:rPr lang="en-US" sz="1400" b="0" i="0" dirty="0">
                <a:effectLst/>
                <a:latin typeface="Roboto" panose="02000000000000000000" pitchFamily="2" charset="0"/>
              </a:rPr>
              <a:t>The network model is implemented during network and communication-related issues.</a:t>
            </a:r>
          </a:p>
          <a:p>
            <a:pPr>
              <a:lnSpc>
                <a:spcPct val="100000"/>
              </a:lnSpc>
              <a:spcAft>
                <a:spcPts val="1500"/>
              </a:spcAft>
            </a:pPr>
            <a:r>
              <a:rPr lang="en-US" sz="1400" b="0" i="0" dirty="0">
                <a:effectLst/>
                <a:latin typeface="Roboto" panose="02000000000000000000" pitchFamily="2" charset="0"/>
              </a:rPr>
              <a:t>Communication between different modes of network devices is possible through the application of various layers.</a:t>
            </a:r>
          </a:p>
          <a:p>
            <a:pPr>
              <a:lnSpc>
                <a:spcPct val="100000"/>
              </a:lnSpc>
              <a:spcAft>
                <a:spcPts val="1500"/>
              </a:spcAft>
            </a:pPr>
            <a:r>
              <a:rPr lang="en-US" sz="1400" b="0" i="0" dirty="0">
                <a:effectLst/>
                <a:latin typeface="Roboto" panose="02000000000000000000" pitchFamily="2" charset="0"/>
              </a:rPr>
              <a:t>The layers in the model provide maintenance of communication channels, flow control, and reliability check format, among other applications in the form of protocols. </a:t>
            </a:r>
            <a:r>
              <a:rPr lang="en-US" sz="1400" dirty="0">
                <a:latin typeface="Roboto" panose="02000000000000000000" pitchFamily="2" charset="0"/>
              </a:rPr>
              <a:t>Simple Network Management Protocol (SNMP) </a:t>
            </a:r>
          </a:p>
        </p:txBody>
      </p:sp>
      <p:pic>
        <p:nvPicPr>
          <p:cNvPr id="7175" name="Picture 7" descr="TCP_Model_2">
            <a:extLst>
              <a:ext uri="{FF2B5EF4-FFF2-40B4-BE49-F238E27FC236}">
                <a16:creationId xmlns:a16="http://schemas.microsoft.com/office/drawing/2014/main" id="{C13994F1-CDC3-17CB-D372-339D8E3629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6862"/>
          <a:stretch/>
        </p:blipFill>
        <p:spPr bwMode="auto">
          <a:xfrm>
            <a:off x="8051799" y="2340864"/>
            <a:ext cx="3683001" cy="36344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71337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3E01148-E9C7-EB18-BC1D-AB83F757BD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205A0E-E535-E2AE-78FD-21C3349C5BC4}"/>
              </a:ext>
            </a:extLst>
          </p:cNvPr>
          <p:cNvSpPr>
            <a:spLocks noGrp="1"/>
          </p:cNvSpPr>
          <p:nvPr>
            <p:ph type="title"/>
          </p:nvPr>
        </p:nvSpPr>
        <p:spPr>
          <a:xfrm>
            <a:off x="581192" y="702156"/>
            <a:ext cx="11029616" cy="1188720"/>
          </a:xfrm>
        </p:spPr>
        <p:txBody>
          <a:bodyPr>
            <a:normAutofit/>
          </a:bodyPr>
          <a:lstStyle/>
          <a:p>
            <a:r>
              <a:rPr lang="en-US" dirty="0"/>
              <a:t>TCP or IP Protocol Suite - FEATURES</a:t>
            </a:r>
            <a:endParaRPr lang="en-NG" dirty="0"/>
          </a:p>
        </p:txBody>
      </p:sp>
      <p:sp>
        <p:nvSpPr>
          <p:cNvPr id="3" name="Content Placeholder 2">
            <a:extLst>
              <a:ext uri="{FF2B5EF4-FFF2-40B4-BE49-F238E27FC236}">
                <a16:creationId xmlns:a16="http://schemas.microsoft.com/office/drawing/2014/main" id="{138474CD-5C1F-4740-C8B4-0E78FB6FB05E}"/>
              </a:ext>
            </a:extLst>
          </p:cNvPr>
          <p:cNvSpPr>
            <a:spLocks noGrp="1"/>
          </p:cNvSpPr>
          <p:nvPr>
            <p:ph idx="1"/>
          </p:nvPr>
        </p:nvSpPr>
        <p:spPr>
          <a:xfrm>
            <a:off x="581193" y="2340864"/>
            <a:ext cx="7024758" cy="3634486"/>
          </a:xfrm>
        </p:spPr>
        <p:txBody>
          <a:bodyPr>
            <a:normAutofit/>
          </a:bodyPr>
          <a:lstStyle/>
          <a:p>
            <a:pPr>
              <a:lnSpc>
                <a:spcPct val="100000"/>
              </a:lnSpc>
              <a:spcAft>
                <a:spcPts val="1500"/>
              </a:spcAft>
            </a:pPr>
            <a:r>
              <a:rPr lang="en-US" sz="1400" b="0" i="0" dirty="0">
                <a:solidFill>
                  <a:srgbClr val="51565E"/>
                </a:solidFill>
                <a:effectLst/>
                <a:latin typeface="Roboto" panose="02000000000000000000" pitchFamily="2" charset="0"/>
              </a:rPr>
              <a:t>Each layer performs a specific task on the data that is being transmitted over the network channel, and data moves from one layer to another in a preset pattern. </a:t>
            </a:r>
          </a:p>
          <a:p>
            <a:pPr>
              <a:lnSpc>
                <a:spcPct val="100000"/>
              </a:lnSpc>
              <a:spcAft>
                <a:spcPts val="1500"/>
              </a:spcAft>
            </a:pPr>
            <a:r>
              <a:rPr lang="en-US" sz="1400" b="0" i="0" dirty="0">
                <a:solidFill>
                  <a:srgbClr val="51565E"/>
                </a:solidFill>
                <a:effectLst/>
                <a:latin typeface="Roboto" panose="02000000000000000000" pitchFamily="2" charset="0"/>
              </a:rPr>
              <a:t>The TCP model represents the flow of data when it is being transmitted from the sender side. In the case of data being received, the layers of the model work in reverse order. </a:t>
            </a:r>
            <a:endParaRPr lang="en-US" sz="1400" dirty="0">
              <a:latin typeface="Roboto" panose="02000000000000000000" pitchFamily="2" charset="0"/>
            </a:endParaRPr>
          </a:p>
        </p:txBody>
      </p:sp>
      <p:pic>
        <p:nvPicPr>
          <p:cNvPr id="4" name="Picture 3">
            <a:extLst>
              <a:ext uri="{FF2B5EF4-FFF2-40B4-BE49-F238E27FC236}">
                <a16:creationId xmlns:a16="http://schemas.microsoft.com/office/drawing/2014/main" id="{6B5369D3-27C6-CEF5-A8F8-BF59CDB450CA}"/>
              </a:ext>
            </a:extLst>
          </p:cNvPr>
          <p:cNvPicPr>
            <a:picLocks noChangeAspect="1"/>
          </p:cNvPicPr>
          <p:nvPr/>
        </p:nvPicPr>
        <p:blipFill>
          <a:blip r:embed="rId2"/>
          <a:stretch>
            <a:fillRect/>
          </a:stretch>
        </p:blipFill>
        <p:spPr>
          <a:xfrm>
            <a:off x="7724607" y="2299044"/>
            <a:ext cx="3886200" cy="3571875"/>
          </a:xfrm>
          <a:prstGeom prst="rect">
            <a:avLst/>
          </a:prstGeom>
        </p:spPr>
      </p:pic>
    </p:spTree>
    <p:extLst>
      <p:ext uri="{BB962C8B-B14F-4D97-AF65-F5344CB8AC3E}">
        <p14:creationId xmlns:p14="http://schemas.microsoft.com/office/powerpoint/2010/main" val="24113747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9040563-38DD-0C4E-F79C-48CE7F2890C8}"/>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875149D-F692-45DA-8324-D5E0193D5F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0B19935-C760-4698-9DD1-973C8A428D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14" name="Rectangle 13">
            <a:extLst>
              <a:ext uri="{FF2B5EF4-FFF2-40B4-BE49-F238E27FC236}">
                <a16:creationId xmlns:a16="http://schemas.microsoft.com/office/drawing/2014/main" id="{08990612-E008-4F02-AEBB-B140BE753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16" name="Rectangle 15">
            <a:extLst>
              <a:ext uri="{FF2B5EF4-FFF2-40B4-BE49-F238E27FC236}">
                <a16:creationId xmlns:a16="http://schemas.microsoft.com/office/drawing/2014/main" id="{A310A41F-3A14-4150-B6CF-0A577DDDEA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18" name="Rectangle 17">
            <a:extLst>
              <a:ext uri="{FF2B5EF4-FFF2-40B4-BE49-F238E27FC236}">
                <a16:creationId xmlns:a16="http://schemas.microsoft.com/office/drawing/2014/main" id="{7B89EEFD-93BC-4ACF-962C-E6279E72B0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1436" y="723899"/>
            <a:ext cx="3703320" cy="566666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2" name="Title 1">
            <a:extLst>
              <a:ext uri="{FF2B5EF4-FFF2-40B4-BE49-F238E27FC236}">
                <a16:creationId xmlns:a16="http://schemas.microsoft.com/office/drawing/2014/main" id="{ADB50C27-DFA5-125D-2B25-8BCE64AA686A}"/>
              </a:ext>
            </a:extLst>
          </p:cNvPr>
          <p:cNvSpPr>
            <a:spLocks noGrp="1"/>
          </p:cNvSpPr>
          <p:nvPr>
            <p:ph type="title"/>
          </p:nvPr>
        </p:nvSpPr>
        <p:spPr>
          <a:xfrm>
            <a:off x="803189" y="1209184"/>
            <a:ext cx="3089189" cy="4734416"/>
          </a:xfrm>
        </p:spPr>
        <p:txBody>
          <a:bodyPr anchor="ctr">
            <a:normAutofit/>
          </a:bodyPr>
          <a:lstStyle/>
          <a:p>
            <a:r>
              <a:rPr lang="en-US">
                <a:solidFill>
                  <a:srgbClr val="FFFFFF"/>
                </a:solidFill>
              </a:rPr>
              <a:t>TCP or IP Protocol Suite – APPLICATION LAYER</a:t>
            </a:r>
            <a:endParaRPr lang="en-NG">
              <a:solidFill>
                <a:srgbClr val="FFFFFF"/>
              </a:solidFill>
            </a:endParaRPr>
          </a:p>
        </p:txBody>
      </p:sp>
      <p:sp>
        <p:nvSpPr>
          <p:cNvPr id="3" name="Content Placeholder 2">
            <a:extLst>
              <a:ext uri="{FF2B5EF4-FFF2-40B4-BE49-F238E27FC236}">
                <a16:creationId xmlns:a16="http://schemas.microsoft.com/office/drawing/2014/main" id="{152B145B-19A3-FCFF-F7E2-011F432242BD}"/>
              </a:ext>
            </a:extLst>
          </p:cNvPr>
          <p:cNvSpPr>
            <a:spLocks noGrp="1"/>
          </p:cNvSpPr>
          <p:nvPr>
            <p:ph idx="1"/>
          </p:nvPr>
        </p:nvSpPr>
        <p:spPr>
          <a:xfrm>
            <a:off x="4561870" y="723900"/>
            <a:ext cx="7183597" cy="3152362"/>
          </a:xfrm>
        </p:spPr>
        <p:txBody>
          <a:bodyPr>
            <a:normAutofit/>
          </a:bodyPr>
          <a:lstStyle/>
          <a:p>
            <a:pPr>
              <a:spcAft>
                <a:spcPts val="1950"/>
              </a:spcAft>
            </a:pPr>
            <a:r>
              <a:rPr lang="en-US" b="0" i="0" dirty="0">
                <a:effectLst/>
                <a:latin typeface="Roboto" panose="02000000000000000000" pitchFamily="2" charset="0"/>
              </a:rPr>
              <a:t>This is the topmost layer which indicates the applications and programs that utilize the TCP/IP model for communicating with the user through applications and various tasks performed by the layer, including data representation for the applications executed by the user and forwards it to the transport layer.</a:t>
            </a:r>
          </a:p>
          <a:p>
            <a:pPr>
              <a:spcAft>
                <a:spcPts val="1950"/>
              </a:spcAft>
            </a:pPr>
            <a:r>
              <a:rPr lang="en-US" b="0" i="0" dirty="0">
                <a:effectLst/>
                <a:latin typeface="Roboto" panose="02000000000000000000" pitchFamily="2" charset="0"/>
              </a:rPr>
              <a:t>The application layer maintains a smooth connection between the application and user for data exchange and offers various features as remote handling of the system, e-mail services, etc.</a:t>
            </a:r>
          </a:p>
          <a:p>
            <a:pPr>
              <a:spcAft>
                <a:spcPts val="1500"/>
              </a:spcAft>
            </a:pPr>
            <a:endParaRPr lang="en-US" dirty="0">
              <a:latin typeface="Roboto" panose="02000000000000000000" pitchFamily="2" charset="0"/>
            </a:endParaRPr>
          </a:p>
        </p:txBody>
      </p:sp>
      <p:pic>
        <p:nvPicPr>
          <p:cNvPr id="5" name="Picture 4" descr="A computer screen with a gear and squares&#10;&#10;AI-generated content may be incorrect.">
            <a:extLst>
              <a:ext uri="{FF2B5EF4-FFF2-40B4-BE49-F238E27FC236}">
                <a16:creationId xmlns:a16="http://schemas.microsoft.com/office/drawing/2014/main" id="{342CACCD-50D1-EFB9-EEF3-7CBD26ADA4D8}"/>
              </a:ext>
            </a:extLst>
          </p:cNvPr>
          <p:cNvPicPr>
            <a:picLocks noChangeAspect="1"/>
          </p:cNvPicPr>
          <p:nvPr/>
        </p:nvPicPr>
        <p:blipFill>
          <a:blip r:embed="rId2"/>
          <a:stretch>
            <a:fillRect/>
          </a:stretch>
        </p:blipFill>
        <p:spPr>
          <a:xfrm>
            <a:off x="4561870" y="4359037"/>
            <a:ext cx="7183597" cy="1777940"/>
          </a:xfrm>
          <a:prstGeom prst="rect">
            <a:avLst/>
          </a:prstGeom>
        </p:spPr>
      </p:pic>
    </p:spTree>
    <p:extLst>
      <p:ext uri="{BB962C8B-B14F-4D97-AF65-F5344CB8AC3E}">
        <p14:creationId xmlns:p14="http://schemas.microsoft.com/office/powerpoint/2010/main" val="19157861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ACD0659-A216-99D6-C287-7BC9A53A09B9}"/>
            </a:ext>
          </a:extLst>
        </p:cNvPr>
        <p:cNvGrpSpPr/>
        <p:nvPr/>
      </p:nvGrpSpPr>
      <p:grpSpPr>
        <a:xfrm>
          <a:off x="0" y="0"/>
          <a:ext cx="0" cy="0"/>
          <a:chOff x="0" y="0"/>
          <a:chExt cx="0" cy="0"/>
        </a:xfrm>
      </p:grpSpPr>
      <p:sp useBgFill="1">
        <p:nvSpPr>
          <p:cNvPr id="8199" name="Rectangle 8198">
            <a:extLst>
              <a:ext uri="{FF2B5EF4-FFF2-40B4-BE49-F238E27FC236}">
                <a16:creationId xmlns:a16="http://schemas.microsoft.com/office/drawing/2014/main" id="{F875149D-F692-45DA-8324-D5E0193D5F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01" name="Rectangle 8200">
            <a:extLst>
              <a:ext uri="{FF2B5EF4-FFF2-40B4-BE49-F238E27FC236}">
                <a16:creationId xmlns:a16="http://schemas.microsoft.com/office/drawing/2014/main" id="{C0B19935-C760-4698-9DD1-973C8A428D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8203" name="Rectangle 8202">
            <a:extLst>
              <a:ext uri="{FF2B5EF4-FFF2-40B4-BE49-F238E27FC236}">
                <a16:creationId xmlns:a16="http://schemas.microsoft.com/office/drawing/2014/main" id="{08990612-E008-4F02-AEBB-B140BE753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8205" name="Rectangle 8204">
            <a:extLst>
              <a:ext uri="{FF2B5EF4-FFF2-40B4-BE49-F238E27FC236}">
                <a16:creationId xmlns:a16="http://schemas.microsoft.com/office/drawing/2014/main" id="{A310A41F-3A14-4150-B6CF-0A577DDDEA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8207" name="Rectangle 8206">
            <a:extLst>
              <a:ext uri="{FF2B5EF4-FFF2-40B4-BE49-F238E27FC236}">
                <a16:creationId xmlns:a16="http://schemas.microsoft.com/office/drawing/2014/main" id="{7B89EEFD-93BC-4ACF-962C-E6279E72B0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1436" y="723899"/>
            <a:ext cx="3703320" cy="566666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2" name="Title 1">
            <a:extLst>
              <a:ext uri="{FF2B5EF4-FFF2-40B4-BE49-F238E27FC236}">
                <a16:creationId xmlns:a16="http://schemas.microsoft.com/office/drawing/2014/main" id="{D5FA0065-750F-4F5B-2458-E7451DF8E7DF}"/>
              </a:ext>
            </a:extLst>
          </p:cNvPr>
          <p:cNvSpPr>
            <a:spLocks noGrp="1"/>
          </p:cNvSpPr>
          <p:nvPr>
            <p:ph type="title"/>
          </p:nvPr>
        </p:nvSpPr>
        <p:spPr>
          <a:xfrm>
            <a:off x="803189" y="1209184"/>
            <a:ext cx="3089189" cy="4734416"/>
          </a:xfrm>
        </p:spPr>
        <p:txBody>
          <a:bodyPr anchor="ctr">
            <a:normAutofit/>
          </a:bodyPr>
          <a:lstStyle/>
          <a:p>
            <a:r>
              <a:rPr lang="en-US">
                <a:solidFill>
                  <a:srgbClr val="FFFFFF"/>
                </a:solidFill>
              </a:rPr>
              <a:t>TCP or IP Protocol Suite – APPLICATION LAYER</a:t>
            </a:r>
            <a:endParaRPr lang="en-NG">
              <a:solidFill>
                <a:srgbClr val="FFFFFF"/>
              </a:solidFill>
            </a:endParaRPr>
          </a:p>
        </p:txBody>
      </p:sp>
      <p:sp>
        <p:nvSpPr>
          <p:cNvPr id="3" name="Content Placeholder 2">
            <a:extLst>
              <a:ext uri="{FF2B5EF4-FFF2-40B4-BE49-F238E27FC236}">
                <a16:creationId xmlns:a16="http://schemas.microsoft.com/office/drawing/2014/main" id="{88CFE68F-627A-A0AB-976D-E682EB18D723}"/>
              </a:ext>
            </a:extLst>
          </p:cNvPr>
          <p:cNvSpPr>
            <a:spLocks noGrp="1"/>
          </p:cNvSpPr>
          <p:nvPr>
            <p:ph idx="1"/>
          </p:nvPr>
        </p:nvSpPr>
        <p:spPr>
          <a:xfrm>
            <a:off x="4561870" y="723900"/>
            <a:ext cx="7183597" cy="3152362"/>
          </a:xfrm>
        </p:spPr>
        <p:txBody>
          <a:bodyPr>
            <a:normAutofit/>
          </a:bodyPr>
          <a:lstStyle/>
          <a:p>
            <a:pPr>
              <a:spcAft>
                <a:spcPts val="1950"/>
              </a:spcAft>
              <a:buNone/>
            </a:pPr>
            <a:r>
              <a:rPr lang="en-US" b="0" i="0">
                <a:effectLst/>
                <a:latin typeface="Roboto" panose="02000000000000000000" pitchFamily="2" charset="0"/>
              </a:rPr>
              <a:t>Some of the protocols used in this layer are:</a:t>
            </a:r>
          </a:p>
          <a:p>
            <a:pPr>
              <a:spcAft>
                <a:spcPts val="1050"/>
              </a:spcAft>
              <a:buFont typeface="Arial" panose="020B0604020202020204" pitchFamily="34" charset="0"/>
              <a:buChar char="•"/>
            </a:pPr>
            <a:r>
              <a:rPr lang="en-US" b="0" i="0">
                <a:effectLst/>
                <a:latin typeface="Roboto" panose="02000000000000000000" pitchFamily="2" charset="0"/>
              </a:rPr>
              <a:t>HTTP: Hypertext transfer protocol is used for accessing the information available on the internet.</a:t>
            </a:r>
          </a:p>
          <a:p>
            <a:pPr>
              <a:spcAft>
                <a:spcPts val="1050"/>
              </a:spcAft>
              <a:buFont typeface="Arial" panose="020B0604020202020204" pitchFamily="34" charset="0"/>
              <a:buChar char="•"/>
            </a:pPr>
            <a:r>
              <a:rPr lang="en-US" b="0" i="0">
                <a:effectLst/>
                <a:latin typeface="Roboto" panose="02000000000000000000" pitchFamily="2" charset="0"/>
              </a:rPr>
              <a:t>SMTP: Simple mail transfer protocol, assigned the task of handling e-mail-related steps and issues.</a:t>
            </a:r>
          </a:p>
          <a:p>
            <a:pPr>
              <a:spcAft>
                <a:spcPts val="1050"/>
              </a:spcAft>
              <a:buFont typeface="Arial" panose="020B0604020202020204" pitchFamily="34" charset="0"/>
              <a:buChar char="•"/>
            </a:pPr>
            <a:r>
              <a:rPr lang="en-US" b="0" i="0">
                <a:effectLst/>
                <a:latin typeface="Roboto" panose="02000000000000000000" pitchFamily="2" charset="0"/>
              </a:rPr>
              <a:t>FTP: This is the standard protocol that oversees the transfer of files over the network channel.</a:t>
            </a:r>
          </a:p>
        </p:txBody>
      </p:sp>
      <p:pic>
        <p:nvPicPr>
          <p:cNvPr id="8194" name="Picture 2" descr="TCP_Model_3">
            <a:extLst>
              <a:ext uri="{FF2B5EF4-FFF2-40B4-BE49-F238E27FC236}">
                <a16:creationId xmlns:a16="http://schemas.microsoft.com/office/drawing/2014/main" id="{52F8F223-8EA1-6181-06A2-9E734671EE83}"/>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561870" y="4357073"/>
            <a:ext cx="7183597" cy="17818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72667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66A1B24-2C48-B09B-4023-38C77C099909}"/>
            </a:ext>
          </a:extLst>
        </p:cNvPr>
        <p:cNvGrpSpPr/>
        <p:nvPr/>
      </p:nvGrpSpPr>
      <p:grpSpPr>
        <a:xfrm>
          <a:off x="0" y="0"/>
          <a:ext cx="0" cy="0"/>
          <a:chOff x="0" y="0"/>
          <a:chExt cx="0" cy="0"/>
        </a:xfrm>
      </p:grpSpPr>
      <p:sp useBgFill="1">
        <p:nvSpPr>
          <p:cNvPr id="9223" name="Rectangle 9222">
            <a:extLst>
              <a:ext uri="{FF2B5EF4-FFF2-40B4-BE49-F238E27FC236}">
                <a16:creationId xmlns:a16="http://schemas.microsoft.com/office/drawing/2014/main" id="{F875149D-F692-45DA-8324-D5E0193D5F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25" name="Rectangle 9224">
            <a:extLst>
              <a:ext uri="{FF2B5EF4-FFF2-40B4-BE49-F238E27FC236}">
                <a16:creationId xmlns:a16="http://schemas.microsoft.com/office/drawing/2014/main" id="{C0B19935-C760-4698-9DD1-973C8A428D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9227" name="Rectangle 9226">
            <a:extLst>
              <a:ext uri="{FF2B5EF4-FFF2-40B4-BE49-F238E27FC236}">
                <a16:creationId xmlns:a16="http://schemas.microsoft.com/office/drawing/2014/main" id="{08990612-E008-4F02-AEBB-B140BE753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9229" name="Rectangle 9228">
            <a:extLst>
              <a:ext uri="{FF2B5EF4-FFF2-40B4-BE49-F238E27FC236}">
                <a16:creationId xmlns:a16="http://schemas.microsoft.com/office/drawing/2014/main" id="{A310A41F-3A14-4150-B6CF-0A577DDDEA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9231" name="Rectangle 9230">
            <a:extLst>
              <a:ext uri="{FF2B5EF4-FFF2-40B4-BE49-F238E27FC236}">
                <a16:creationId xmlns:a16="http://schemas.microsoft.com/office/drawing/2014/main" id="{7B89EEFD-93BC-4ACF-962C-E6279E72B0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1436" y="723899"/>
            <a:ext cx="3703320" cy="566666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2" name="Title 1">
            <a:extLst>
              <a:ext uri="{FF2B5EF4-FFF2-40B4-BE49-F238E27FC236}">
                <a16:creationId xmlns:a16="http://schemas.microsoft.com/office/drawing/2014/main" id="{93978AED-96C7-FBE8-10A3-A53820D272CB}"/>
              </a:ext>
            </a:extLst>
          </p:cNvPr>
          <p:cNvSpPr>
            <a:spLocks noGrp="1"/>
          </p:cNvSpPr>
          <p:nvPr>
            <p:ph type="title"/>
          </p:nvPr>
        </p:nvSpPr>
        <p:spPr>
          <a:xfrm>
            <a:off x="803189" y="1209184"/>
            <a:ext cx="3089189" cy="4734416"/>
          </a:xfrm>
        </p:spPr>
        <p:txBody>
          <a:bodyPr anchor="ctr">
            <a:normAutofit/>
          </a:bodyPr>
          <a:lstStyle/>
          <a:p>
            <a:r>
              <a:rPr lang="en-US">
                <a:solidFill>
                  <a:srgbClr val="FFFFFF"/>
                </a:solidFill>
              </a:rPr>
              <a:t>TCP or IP Protocol Suite - Transport Layer</a:t>
            </a:r>
            <a:br>
              <a:rPr lang="en-US" b="0" i="0">
                <a:solidFill>
                  <a:srgbClr val="FFFFFF"/>
                </a:solidFill>
                <a:effectLst/>
                <a:latin typeface="Roboto" panose="02000000000000000000" pitchFamily="2" charset="0"/>
              </a:rPr>
            </a:br>
            <a:endParaRPr lang="en-NG">
              <a:solidFill>
                <a:srgbClr val="FFFFFF"/>
              </a:solidFill>
            </a:endParaRPr>
          </a:p>
        </p:txBody>
      </p:sp>
      <p:sp>
        <p:nvSpPr>
          <p:cNvPr id="3" name="Content Placeholder 2">
            <a:extLst>
              <a:ext uri="{FF2B5EF4-FFF2-40B4-BE49-F238E27FC236}">
                <a16:creationId xmlns:a16="http://schemas.microsoft.com/office/drawing/2014/main" id="{A182C5D5-B4D1-5FDC-CB47-303237E35CFB}"/>
              </a:ext>
            </a:extLst>
          </p:cNvPr>
          <p:cNvSpPr>
            <a:spLocks noGrp="1"/>
          </p:cNvSpPr>
          <p:nvPr>
            <p:ph idx="1"/>
          </p:nvPr>
        </p:nvSpPr>
        <p:spPr>
          <a:xfrm>
            <a:off x="4561870" y="723900"/>
            <a:ext cx="7183597" cy="3152362"/>
          </a:xfrm>
        </p:spPr>
        <p:txBody>
          <a:bodyPr>
            <a:normAutofit/>
          </a:bodyPr>
          <a:lstStyle/>
          <a:p>
            <a:pPr>
              <a:spcAft>
                <a:spcPts val="1950"/>
              </a:spcAft>
            </a:pPr>
            <a:r>
              <a:rPr lang="en-US" b="0" i="0">
                <a:effectLst/>
                <a:latin typeface="Roboto" panose="02000000000000000000" pitchFamily="2" charset="0"/>
              </a:rPr>
              <a:t>This layer is responsible for establishing the connection between the sender and the receiver device and also performs the task of dividing the data from the application layer into packets, which are then used to create sequences. </a:t>
            </a:r>
          </a:p>
          <a:p>
            <a:pPr>
              <a:spcAft>
                <a:spcPts val="1950"/>
              </a:spcAft>
            </a:pPr>
            <a:r>
              <a:rPr lang="en-US" b="0" i="0">
                <a:effectLst/>
                <a:latin typeface="Roboto" panose="02000000000000000000" pitchFamily="2" charset="0"/>
              </a:rPr>
              <a:t>It also performs the task of maintaining the data, i.e., to be transmitted without error, and controls the data flow rate over the communication channel for smooth transmission of data.</a:t>
            </a:r>
          </a:p>
        </p:txBody>
      </p:sp>
      <p:pic>
        <p:nvPicPr>
          <p:cNvPr id="9218" name="Picture 2" descr="TCP_Model_4.">
            <a:extLst>
              <a:ext uri="{FF2B5EF4-FFF2-40B4-BE49-F238E27FC236}">
                <a16:creationId xmlns:a16="http://schemas.microsoft.com/office/drawing/2014/main" id="{602DED1B-E477-1F97-1C03-0D767CE757F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561870" y="4223783"/>
            <a:ext cx="7183597" cy="20484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12542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B5C5CD0-B2EE-AB5F-93D8-89561FBFFF3F}"/>
            </a:ext>
          </a:extLst>
        </p:cNvPr>
        <p:cNvGrpSpPr/>
        <p:nvPr/>
      </p:nvGrpSpPr>
      <p:grpSpPr>
        <a:xfrm>
          <a:off x="0" y="0"/>
          <a:ext cx="0" cy="0"/>
          <a:chOff x="0" y="0"/>
          <a:chExt cx="0" cy="0"/>
        </a:xfrm>
      </p:grpSpPr>
      <p:sp useBgFill="1">
        <p:nvSpPr>
          <p:cNvPr id="9223" name="Rectangle 9222">
            <a:extLst>
              <a:ext uri="{FF2B5EF4-FFF2-40B4-BE49-F238E27FC236}">
                <a16:creationId xmlns:a16="http://schemas.microsoft.com/office/drawing/2014/main" id="{F875149D-F692-45DA-8324-D5E0193D5F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25" name="Rectangle 9224">
            <a:extLst>
              <a:ext uri="{FF2B5EF4-FFF2-40B4-BE49-F238E27FC236}">
                <a16:creationId xmlns:a16="http://schemas.microsoft.com/office/drawing/2014/main" id="{C0B19935-C760-4698-9DD1-973C8A428D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9227" name="Rectangle 9226">
            <a:extLst>
              <a:ext uri="{FF2B5EF4-FFF2-40B4-BE49-F238E27FC236}">
                <a16:creationId xmlns:a16="http://schemas.microsoft.com/office/drawing/2014/main" id="{08990612-E008-4F02-AEBB-B140BE753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9229" name="Rectangle 9228">
            <a:extLst>
              <a:ext uri="{FF2B5EF4-FFF2-40B4-BE49-F238E27FC236}">
                <a16:creationId xmlns:a16="http://schemas.microsoft.com/office/drawing/2014/main" id="{A310A41F-3A14-4150-B6CF-0A577DDDEA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9231" name="Rectangle 9230">
            <a:extLst>
              <a:ext uri="{FF2B5EF4-FFF2-40B4-BE49-F238E27FC236}">
                <a16:creationId xmlns:a16="http://schemas.microsoft.com/office/drawing/2014/main" id="{7B89EEFD-93BC-4ACF-962C-E6279E72B0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1436" y="723899"/>
            <a:ext cx="3703320" cy="566666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2" name="Title 1">
            <a:extLst>
              <a:ext uri="{FF2B5EF4-FFF2-40B4-BE49-F238E27FC236}">
                <a16:creationId xmlns:a16="http://schemas.microsoft.com/office/drawing/2014/main" id="{22F70E81-3577-A655-338E-BA8FEBA1F61F}"/>
              </a:ext>
            </a:extLst>
          </p:cNvPr>
          <p:cNvSpPr>
            <a:spLocks noGrp="1"/>
          </p:cNvSpPr>
          <p:nvPr>
            <p:ph type="title"/>
          </p:nvPr>
        </p:nvSpPr>
        <p:spPr>
          <a:xfrm>
            <a:off x="803189" y="1209184"/>
            <a:ext cx="3089189" cy="4734416"/>
          </a:xfrm>
        </p:spPr>
        <p:txBody>
          <a:bodyPr anchor="ctr">
            <a:normAutofit/>
          </a:bodyPr>
          <a:lstStyle/>
          <a:p>
            <a:r>
              <a:rPr lang="en-US">
                <a:solidFill>
                  <a:srgbClr val="FFFFFF"/>
                </a:solidFill>
              </a:rPr>
              <a:t>TCP or IP Protocol Suite - Transport Layer</a:t>
            </a:r>
            <a:br>
              <a:rPr lang="en-US" b="0" i="0">
                <a:solidFill>
                  <a:srgbClr val="FFFFFF"/>
                </a:solidFill>
                <a:effectLst/>
                <a:latin typeface="Roboto" panose="02000000000000000000" pitchFamily="2" charset="0"/>
              </a:rPr>
            </a:br>
            <a:endParaRPr lang="en-NG">
              <a:solidFill>
                <a:srgbClr val="FFFFFF"/>
              </a:solidFill>
            </a:endParaRPr>
          </a:p>
        </p:txBody>
      </p:sp>
      <p:sp>
        <p:nvSpPr>
          <p:cNvPr id="3" name="Content Placeholder 2">
            <a:extLst>
              <a:ext uri="{FF2B5EF4-FFF2-40B4-BE49-F238E27FC236}">
                <a16:creationId xmlns:a16="http://schemas.microsoft.com/office/drawing/2014/main" id="{A1EB96FB-DFCB-AA0C-16EC-7C025D696D1C}"/>
              </a:ext>
            </a:extLst>
          </p:cNvPr>
          <p:cNvSpPr>
            <a:spLocks noGrp="1"/>
          </p:cNvSpPr>
          <p:nvPr>
            <p:ph idx="1"/>
          </p:nvPr>
        </p:nvSpPr>
        <p:spPr>
          <a:xfrm>
            <a:off x="4561870" y="723900"/>
            <a:ext cx="7183597" cy="3152362"/>
          </a:xfrm>
        </p:spPr>
        <p:txBody>
          <a:bodyPr>
            <a:normAutofit/>
          </a:bodyPr>
          <a:lstStyle/>
          <a:p>
            <a:pPr>
              <a:lnSpc>
                <a:spcPct val="100000"/>
              </a:lnSpc>
              <a:spcAft>
                <a:spcPts val="1950"/>
              </a:spcAft>
              <a:buNone/>
            </a:pPr>
            <a:r>
              <a:rPr lang="en-US" sz="900">
                <a:latin typeface="Roboto" panose="02000000000000000000" pitchFamily="2" charset="0"/>
              </a:rPr>
              <a:t>The protocols used in this layer are:</a:t>
            </a:r>
          </a:p>
          <a:p>
            <a:pPr>
              <a:lnSpc>
                <a:spcPct val="100000"/>
              </a:lnSpc>
              <a:spcAft>
                <a:spcPts val="1050"/>
              </a:spcAft>
              <a:buFont typeface="Arial" panose="020B0604020202020204" pitchFamily="34" charset="0"/>
              <a:buChar char="•"/>
            </a:pPr>
            <a:r>
              <a:rPr lang="en-US" sz="900">
                <a:latin typeface="Roboto" panose="02000000000000000000" pitchFamily="2" charset="0"/>
              </a:rPr>
              <a:t>TCP: Transmission Control Protocol is responsible for the proper transmission of segments over the communication channel. It also establishes a network connection between the source and destination system.</a:t>
            </a:r>
          </a:p>
          <a:p>
            <a:pPr>
              <a:lnSpc>
                <a:spcPct val="100000"/>
              </a:lnSpc>
              <a:spcAft>
                <a:spcPts val="1050"/>
              </a:spcAft>
              <a:buFont typeface="Arial" panose="020B0604020202020204" pitchFamily="34" charset="0"/>
              <a:buChar char="•"/>
            </a:pPr>
            <a:r>
              <a:rPr lang="en-US" sz="900">
                <a:latin typeface="Roboto" panose="02000000000000000000" pitchFamily="2" charset="0"/>
              </a:rPr>
              <a:t>UDP: User Datagram Protocol is responsible for identifying errors, and other tasks during the transmission of information. UDP maintains various fields for data transmission such as:</a:t>
            </a:r>
          </a:p>
          <a:p>
            <a:pPr>
              <a:lnSpc>
                <a:spcPct val="100000"/>
              </a:lnSpc>
              <a:spcAft>
                <a:spcPts val="1050"/>
              </a:spcAft>
              <a:buFont typeface="Arial" panose="020B0604020202020204" pitchFamily="34" charset="0"/>
              <a:buChar char="•"/>
            </a:pPr>
            <a:r>
              <a:rPr lang="en-US" sz="900">
                <a:latin typeface="Roboto" panose="02000000000000000000" pitchFamily="2" charset="0"/>
              </a:rPr>
              <a:t>Source Port Address: This port is responsible for designing the application that makes up the message to be transmitted.</a:t>
            </a:r>
          </a:p>
          <a:p>
            <a:pPr>
              <a:lnSpc>
                <a:spcPct val="100000"/>
              </a:lnSpc>
              <a:spcAft>
                <a:spcPts val="1050"/>
              </a:spcAft>
              <a:buFont typeface="Arial" panose="020B0604020202020204" pitchFamily="34" charset="0"/>
              <a:buChar char="•"/>
            </a:pPr>
            <a:r>
              <a:rPr lang="en-US" sz="900">
                <a:latin typeface="Roboto" panose="02000000000000000000" pitchFamily="2" charset="0"/>
              </a:rPr>
              <a:t>Destination Port Address: This port receives the message sent from the sender side.</a:t>
            </a:r>
          </a:p>
          <a:p>
            <a:pPr>
              <a:lnSpc>
                <a:spcPct val="100000"/>
              </a:lnSpc>
              <a:spcAft>
                <a:spcPts val="1050"/>
              </a:spcAft>
              <a:buFont typeface="Arial" panose="020B0604020202020204" pitchFamily="34" charset="0"/>
              <a:buChar char="•"/>
            </a:pPr>
            <a:r>
              <a:rPr lang="en-US" sz="900">
                <a:latin typeface="Roboto" panose="02000000000000000000" pitchFamily="2" charset="0"/>
              </a:rPr>
              <a:t>Total Length: The total number of bytes of the user datagram.</a:t>
            </a:r>
          </a:p>
          <a:p>
            <a:pPr>
              <a:lnSpc>
                <a:spcPct val="100000"/>
              </a:lnSpc>
              <a:spcAft>
                <a:spcPts val="1050"/>
              </a:spcAft>
              <a:buFont typeface="Arial" panose="020B0604020202020204" pitchFamily="34" charset="0"/>
              <a:buChar char="•"/>
            </a:pPr>
            <a:r>
              <a:rPr lang="en-US" sz="900">
                <a:latin typeface="Roboto" panose="02000000000000000000" pitchFamily="2" charset="0"/>
              </a:rPr>
              <a:t>Checksum: Used for error detection of the message at the destination side.</a:t>
            </a:r>
          </a:p>
          <a:p>
            <a:pPr>
              <a:lnSpc>
                <a:spcPct val="100000"/>
              </a:lnSpc>
              <a:buNone/>
            </a:pPr>
            <a:br>
              <a:rPr lang="en-US" sz="900"/>
            </a:br>
            <a:endParaRPr lang="en-US" sz="900" b="0" i="0">
              <a:effectLst/>
              <a:latin typeface="Roboto" panose="02000000000000000000" pitchFamily="2" charset="0"/>
            </a:endParaRPr>
          </a:p>
        </p:txBody>
      </p:sp>
      <p:pic>
        <p:nvPicPr>
          <p:cNvPr id="9218" name="Picture 2" descr="TCP_Model_4.">
            <a:extLst>
              <a:ext uri="{FF2B5EF4-FFF2-40B4-BE49-F238E27FC236}">
                <a16:creationId xmlns:a16="http://schemas.microsoft.com/office/drawing/2014/main" id="{454E4034-E77B-070D-1D6B-44C1C18F5041}"/>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561870" y="4223783"/>
            <a:ext cx="7183597" cy="20484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38203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DF7AE8F-E6CB-8016-D84E-F1E65AF72F80}"/>
            </a:ext>
          </a:extLst>
        </p:cNvPr>
        <p:cNvGrpSpPr/>
        <p:nvPr/>
      </p:nvGrpSpPr>
      <p:grpSpPr>
        <a:xfrm>
          <a:off x="0" y="0"/>
          <a:ext cx="0" cy="0"/>
          <a:chOff x="0" y="0"/>
          <a:chExt cx="0" cy="0"/>
        </a:xfrm>
      </p:grpSpPr>
      <p:sp useBgFill="1">
        <p:nvSpPr>
          <p:cNvPr id="10247" name="Rectangle 10246">
            <a:extLst>
              <a:ext uri="{FF2B5EF4-FFF2-40B4-BE49-F238E27FC236}">
                <a16:creationId xmlns:a16="http://schemas.microsoft.com/office/drawing/2014/main" id="{F875149D-F692-45DA-8324-D5E0193D5F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49" name="Rectangle 10248">
            <a:extLst>
              <a:ext uri="{FF2B5EF4-FFF2-40B4-BE49-F238E27FC236}">
                <a16:creationId xmlns:a16="http://schemas.microsoft.com/office/drawing/2014/main" id="{C0B19935-C760-4698-9DD1-973C8A428D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10251" name="Rectangle 10250">
            <a:extLst>
              <a:ext uri="{FF2B5EF4-FFF2-40B4-BE49-F238E27FC236}">
                <a16:creationId xmlns:a16="http://schemas.microsoft.com/office/drawing/2014/main" id="{08990612-E008-4F02-AEBB-B140BE753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10253" name="Rectangle 10252">
            <a:extLst>
              <a:ext uri="{FF2B5EF4-FFF2-40B4-BE49-F238E27FC236}">
                <a16:creationId xmlns:a16="http://schemas.microsoft.com/office/drawing/2014/main" id="{A310A41F-3A14-4150-B6CF-0A577DDDEA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10255" name="Rectangle 10254">
            <a:extLst>
              <a:ext uri="{FF2B5EF4-FFF2-40B4-BE49-F238E27FC236}">
                <a16:creationId xmlns:a16="http://schemas.microsoft.com/office/drawing/2014/main" id="{7B89EEFD-93BC-4ACF-962C-E6279E72B0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1436" y="723899"/>
            <a:ext cx="3703320" cy="566666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2" name="Title 1">
            <a:extLst>
              <a:ext uri="{FF2B5EF4-FFF2-40B4-BE49-F238E27FC236}">
                <a16:creationId xmlns:a16="http://schemas.microsoft.com/office/drawing/2014/main" id="{BB20A6A5-F788-5E61-4C7B-4AB2CA6A31E1}"/>
              </a:ext>
            </a:extLst>
          </p:cNvPr>
          <p:cNvSpPr>
            <a:spLocks noGrp="1"/>
          </p:cNvSpPr>
          <p:nvPr>
            <p:ph type="title"/>
          </p:nvPr>
        </p:nvSpPr>
        <p:spPr>
          <a:xfrm>
            <a:off x="803189" y="1209184"/>
            <a:ext cx="3089189" cy="4734416"/>
          </a:xfrm>
        </p:spPr>
        <p:txBody>
          <a:bodyPr anchor="ctr">
            <a:normAutofit/>
          </a:bodyPr>
          <a:lstStyle/>
          <a:p>
            <a:r>
              <a:rPr lang="en-US">
                <a:solidFill>
                  <a:srgbClr val="FFFFFF"/>
                </a:solidFill>
              </a:rPr>
              <a:t>TCP or IP Protocol Suite - INTERNET Layer</a:t>
            </a:r>
            <a:br>
              <a:rPr lang="en-US" b="0" i="0">
                <a:solidFill>
                  <a:srgbClr val="FFFFFF"/>
                </a:solidFill>
                <a:effectLst/>
                <a:latin typeface="Roboto" panose="02000000000000000000" pitchFamily="2" charset="0"/>
              </a:rPr>
            </a:br>
            <a:endParaRPr lang="en-NG">
              <a:solidFill>
                <a:srgbClr val="FFFFFF"/>
              </a:solidFill>
            </a:endParaRPr>
          </a:p>
        </p:txBody>
      </p:sp>
      <p:sp>
        <p:nvSpPr>
          <p:cNvPr id="3" name="Content Placeholder 2">
            <a:extLst>
              <a:ext uri="{FF2B5EF4-FFF2-40B4-BE49-F238E27FC236}">
                <a16:creationId xmlns:a16="http://schemas.microsoft.com/office/drawing/2014/main" id="{4982C136-4CD6-489A-C99E-53E12093180D}"/>
              </a:ext>
            </a:extLst>
          </p:cNvPr>
          <p:cNvSpPr>
            <a:spLocks noGrp="1"/>
          </p:cNvSpPr>
          <p:nvPr>
            <p:ph idx="1"/>
          </p:nvPr>
        </p:nvSpPr>
        <p:spPr>
          <a:xfrm>
            <a:off x="4561870" y="723900"/>
            <a:ext cx="7183597" cy="3152362"/>
          </a:xfrm>
        </p:spPr>
        <p:txBody>
          <a:bodyPr>
            <a:normAutofit/>
          </a:bodyPr>
          <a:lstStyle/>
          <a:p>
            <a:pPr>
              <a:lnSpc>
                <a:spcPct val="100000"/>
              </a:lnSpc>
              <a:spcAft>
                <a:spcPts val="1950"/>
              </a:spcAft>
            </a:pPr>
            <a:r>
              <a:rPr lang="en-US" sz="1400" b="0" i="0">
                <a:effectLst/>
                <a:latin typeface="Roboto" panose="02000000000000000000" pitchFamily="2" charset="0"/>
              </a:rPr>
              <a:t>The </a:t>
            </a:r>
            <a:r>
              <a:rPr lang="en-US" sz="1400">
                <a:latin typeface="Roboto" panose="02000000000000000000" pitchFamily="2" charset="0"/>
              </a:rPr>
              <a:t>Internet </a:t>
            </a:r>
            <a:r>
              <a:rPr lang="en-US" sz="1400" b="0" i="0">
                <a:effectLst/>
                <a:latin typeface="Roboto" panose="02000000000000000000" pitchFamily="2" charset="0"/>
              </a:rPr>
              <a:t>layer performs the task of controlling the transmission of the data over the network modes and enacts protocols related to the various steps related to the transmission of data over the channel, which is in the form of packets sent by the previous layer.</a:t>
            </a:r>
          </a:p>
          <a:p>
            <a:pPr>
              <a:lnSpc>
                <a:spcPct val="100000"/>
              </a:lnSpc>
              <a:spcAft>
                <a:spcPts val="1950"/>
              </a:spcAft>
              <a:buNone/>
            </a:pPr>
            <a:r>
              <a:rPr lang="en-US" sz="1400" b="0" i="0">
                <a:effectLst/>
                <a:latin typeface="Roboto" panose="02000000000000000000" pitchFamily="2" charset="0"/>
              </a:rPr>
              <a:t>This layer performs many important functions in the TCP/IP model, some of which are:</a:t>
            </a:r>
          </a:p>
          <a:p>
            <a:pPr>
              <a:lnSpc>
                <a:spcPct val="100000"/>
              </a:lnSpc>
              <a:spcAft>
                <a:spcPts val="1050"/>
              </a:spcAft>
              <a:buFont typeface="+mj-lt"/>
              <a:buAutoNum type="arabicPeriod"/>
            </a:pPr>
            <a:r>
              <a:rPr lang="en-US" sz="1400" b="0" i="0">
                <a:effectLst/>
                <a:latin typeface="Roboto" panose="02000000000000000000" pitchFamily="2" charset="0"/>
              </a:rPr>
              <a:t>It is responsible for specifying the path that the data packets will use for transmission.</a:t>
            </a:r>
          </a:p>
          <a:p>
            <a:pPr>
              <a:lnSpc>
                <a:spcPct val="100000"/>
              </a:lnSpc>
              <a:spcAft>
                <a:spcPts val="1050"/>
              </a:spcAft>
              <a:buFont typeface="+mj-lt"/>
              <a:buAutoNum type="arabicPeriod"/>
            </a:pPr>
            <a:r>
              <a:rPr lang="en-US" sz="1400" b="0" i="0">
                <a:effectLst/>
                <a:latin typeface="Roboto" panose="02000000000000000000" pitchFamily="2" charset="0"/>
              </a:rPr>
              <a:t>This layer is responsible for providing </a:t>
            </a:r>
            <a:r>
              <a:rPr lang="en-US" sz="1400">
                <a:latin typeface="Roboto" panose="02000000000000000000" pitchFamily="2" charset="0"/>
              </a:rPr>
              <a:t>IP addresses </a:t>
            </a:r>
            <a:r>
              <a:rPr lang="en-US" sz="1400" b="0" i="0">
                <a:effectLst/>
                <a:latin typeface="Roboto" panose="02000000000000000000" pitchFamily="2" charset="0"/>
              </a:rPr>
              <a:t>to the system for the identification matters over the network channel.</a:t>
            </a:r>
          </a:p>
        </p:txBody>
      </p:sp>
      <p:pic>
        <p:nvPicPr>
          <p:cNvPr id="10242" name="Picture 2" descr="TCP_Model_5">
            <a:extLst>
              <a:ext uri="{FF2B5EF4-FFF2-40B4-BE49-F238E27FC236}">
                <a16:creationId xmlns:a16="http://schemas.microsoft.com/office/drawing/2014/main" id="{2FFF2C9F-252B-1342-F07D-8F76BAE1F9F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561870" y="4336027"/>
            <a:ext cx="7183597" cy="18239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63525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9279F3F-B17E-EC6F-4290-675297A2F80E}"/>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F875149D-F692-45DA-8324-D5E0193D5F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C0B19935-C760-4698-9DD1-973C8A428D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13" name="Rectangle 12">
            <a:extLst>
              <a:ext uri="{FF2B5EF4-FFF2-40B4-BE49-F238E27FC236}">
                <a16:creationId xmlns:a16="http://schemas.microsoft.com/office/drawing/2014/main" id="{08990612-E008-4F02-AEBB-B140BE7535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15" name="Rectangle 14">
            <a:extLst>
              <a:ext uri="{FF2B5EF4-FFF2-40B4-BE49-F238E27FC236}">
                <a16:creationId xmlns:a16="http://schemas.microsoft.com/office/drawing/2014/main" id="{A310A41F-3A14-4150-B6CF-0A577DDDEA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17" name="Rectangle 16">
            <a:extLst>
              <a:ext uri="{FF2B5EF4-FFF2-40B4-BE49-F238E27FC236}">
                <a16:creationId xmlns:a16="http://schemas.microsoft.com/office/drawing/2014/main" id="{7B89EEFD-93BC-4ACF-962C-E6279E72B0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1436" y="723899"/>
            <a:ext cx="3703320" cy="566666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2" name="Title 1">
            <a:extLst>
              <a:ext uri="{FF2B5EF4-FFF2-40B4-BE49-F238E27FC236}">
                <a16:creationId xmlns:a16="http://schemas.microsoft.com/office/drawing/2014/main" id="{BA50EE39-5D06-AB8D-9965-80330769B1D4}"/>
              </a:ext>
            </a:extLst>
          </p:cNvPr>
          <p:cNvSpPr>
            <a:spLocks noGrp="1"/>
          </p:cNvSpPr>
          <p:nvPr>
            <p:ph type="title"/>
          </p:nvPr>
        </p:nvSpPr>
        <p:spPr>
          <a:xfrm>
            <a:off x="803189" y="1209184"/>
            <a:ext cx="3089189" cy="4734416"/>
          </a:xfrm>
        </p:spPr>
        <p:txBody>
          <a:bodyPr anchor="ctr">
            <a:normAutofit/>
          </a:bodyPr>
          <a:lstStyle/>
          <a:p>
            <a:r>
              <a:rPr lang="en-US">
                <a:solidFill>
                  <a:srgbClr val="FFFFFF"/>
                </a:solidFill>
              </a:rPr>
              <a:t>TCP or IP Protocol Suite - INTERNET Layer</a:t>
            </a:r>
            <a:br>
              <a:rPr lang="en-US" b="0" i="0">
                <a:solidFill>
                  <a:srgbClr val="FFFFFF"/>
                </a:solidFill>
                <a:effectLst/>
                <a:latin typeface="Roboto" panose="02000000000000000000" pitchFamily="2" charset="0"/>
              </a:rPr>
            </a:br>
            <a:endParaRPr lang="en-NG">
              <a:solidFill>
                <a:srgbClr val="FFFFFF"/>
              </a:solidFill>
            </a:endParaRPr>
          </a:p>
        </p:txBody>
      </p:sp>
      <p:sp>
        <p:nvSpPr>
          <p:cNvPr id="3" name="Content Placeholder 2">
            <a:extLst>
              <a:ext uri="{FF2B5EF4-FFF2-40B4-BE49-F238E27FC236}">
                <a16:creationId xmlns:a16="http://schemas.microsoft.com/office/drawing/2014/main" id="{14C1FE3D-AD59-BF82-954D-5B0F0169E368}"/>
              </a:ext>
            </a:extLst>
          </p:cNvPr>
          <p:cNvSpPr>
            <a:spLocks noGrp="1"/>
          </p:cNvSpPr>
          <p:nvPr>
            <p:ph idx="1"/>
          </p:nvPr>
        </p:nvSpPr>
        <p:spPr>
          <a:xfrm>
            <a:off x="4561870" y="723900"/>
            <a:ext cx="7183597" cy="3152362"/>
          </a:xfrm>
        </p:spPr>
        <p:txBody>
          <a:bodyPr>
            <a:normAutofit/>
          </a:bodyPr>
          <a:lstStyle/>
          <a:p>
            <a:pPr>
              <a:spcAft>
                <a:spcPts val="1950"/>
              </a:spcAft>
              <a:buNone/>
            </a:pPr>
            <a:r>
              <a:rPr lang="en-US" b="0" i="0">
                <a:effectLst/>
                <a:latin typeface="Roboto" panose="02000000000000000000" pitchFamily="2" charset="0"/>
              </a:rPr>
              <a:t>Some of the protocols applied in this layer are:</a:t>
            </a:r>
          </a:p>
          <a:p>
            <a:pPr>
              <a:spcAft>
                <a:spcPts val="1050"/>
              </a:spcAft>
              <a:buFont typeface="Arial" panose="020B0604020202020204" pitchFamily="34" charset="0"/>
              <a:buChar char="•"/>
            </a:pPr>
            <a:r>
              <a:rPr lang="en-US" b="0" i="0">
                <a:effectLst/>
                <a:latin typeface="Roboto" panose="02000000000000000000" pitchFamily="2" charset="0"/>
              </a:rPr>
              <a:t>IP: This protocol assigns your device with a unique address; the IP address is also responsible for routing the data over the communication channel.</a:t>
            </a:r>
          </a:p>
          <a:p>
            <a:pPr>
              <a:spcAft>
                <a:spcPts val="1050"/>
              </a:spcAft>
              <a:buFont typeface="Arial" panose="020B0604020202020204" pitchFamily="34" charset="0"/>
              <a:buChar char="•"/>
            </a:pPr>
            <a:r>
              <a:rPr lang="en-US" b="0" i="0">
                <a:effectLst/>
                <a:latin typeface="Roboto" panose="02000000000000000000" pitchFamily="2" charset="0"/>
              </a:rPr>
              <a:t>ARP: This protocol refers to the Address Resolution Protocol that is responsible for finding the physical address using the IP address.</a:t>
            </a:r>
          </a:p>
          <a:p>
            <a:pPr>
              <a:buNone/>
            </a:pPr>
            <a:br>
              <a:rPr lang="en-US"/>
            </a:br>
            <a:endParaRPr lang="en-US" b="0" i="0">
              <a:effectLst/>
              <a:latin typeface="Roboto" panose="02000000000000000000" pitchFamily="2" charset="0"/>
            </a:endParaRPr>
          </a:p>
        </p:txBody>
      </p:sp>
      <p:pic>
        <p:nvPicPr>
          <p:cNvPr id="4" name="Picture 2" descr="TCP_Model_5">
            <a:extLst>
              <a:ext uri="{FF2B5EF4-FFF2-40B4-BE49-F238E27FC236}">
                <a16:creationId xmlns:a16="http://schemas.microsoft.com/office/drawing/2014/main" id="{3607C0AA-FD6D-FB21-B385-04247C8FE713}"/>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561870" y="4336027"/>
            <a:ext cx="7183597" cy="18239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66525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C68B336-4813-2042-6F6D-94C7E1E723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D8EA82-B9F6-53CF-0044-C770B2F173C6}"/>
              </a:ext>
            </a:extLst>
          </p:cNvPr>
          <p:cNvSpPr>
            <a:spLocks noGrp="1"/>
          </p:cNvSpPr>
          <p:nvPr>
            <p:ph type="title"/>
          </p:nvPr>
        </p:nvSpPr>
        <p:spPr>
          <a:xfrm>
            <a:off x="581192" y="702156"/>
            <a:ext cx="11029616" cy="1188720"/>
          </a:xfrm>
        </p:spPr>
        <p:txBody>
          <a:bodyPr>
            <a:normAutofit fontScale="90000"/>
          </a:bodyPr>
          <a:lstStyle/>
          <a:p>
            <a:r>
              <a:rPr lang="en-US" dirty="0"/>
              <a:t>TCP or IP Protocol Suite - Network Access Layer</a:t>
            </a:r>
            <a:br>
              <a:rPr lang="en-US" b="0" i="0" dirty="0">
                <a:solidFill>
                  <a:srgbClr val="272C37"/>
                </a:solidFill>
                <a:effectLst/>
                <a:latin typeface="Roboto" panose="02000000000000000000" pitchFamily="2" charset="0"/>
              </a:rPr>
            </a:b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E8915261-0B61-0277-54E1-E1AAB586ED31}"/>
              </a:ext>
            </a:extLst>
          </p:cNvPr>
          <p:cNvSpPr>
            <a:spLocks noGrp="1"/>
          </p:cNvSpPr>
          <p:nvPr>
            <p:ph idx="1"/>
          </p:nvPr>
        </p:nvSpPr>
        <p:spPr>
          <a:xfrm>
            <a:off x="581193" y="2340864"/>
            <a:ext cx="7024758" cy="3634486"/>
          </a:xfrm>
        </p:spPr>
        <p:txBody>
          <a:bodyPr>
            <a:noAutofit/>
          </a:bodyPr>
          <a:lstStyle/>
          <a:p>
            <a:pPr>
              <a:lnSpc>
                <a:spcPts val="1950"/>
              </a:lnSpc>
              <a:spcAft>
                <a:spcPts val="1950"/>
              </a:spcAft>
            </a:pPr>
            <a:r>
              <a:rPr lang="en-US" sz="1400" b="0" i="0" dirty="0">
                <a:solidFill>
                  <a:srgbClr val="51565E"/>
                </a:solidFill>
                <a:effectLst/>
                <a:latin typeface="Roboto" panose="02000000000000000000" pitchFamily="2" charset="0"/>
              </a:rPr>
              <a:t>This layer is the combination of data-link and physical layer, where it is responsible for maintaining the task of sending and receiving data in raw bits, i.e., in binary format over the physical communication modes in the network channel.</a:t>
            </a:r>
          </a:p>
          <a:p>
            <a:pPr>
              <a:lnSpc>
                <a:spcPts val="1800"/>
              </a:lnSpc>
              <a:spcAft>
                <a:spcPts val="1050"/>
              </a:spcAft>
            </a:pPr>
            <a:r>
              <a:rPr lang="en-US" sz="1400" b="0" i="0" dirty="0">
                <a:solidFill>
                  <a:srgbClr val="51565E"/>
                </a:solidFill>
                <a:effectLst/>
                <a:latin typeface="Roboto" panose="02000000000000000000" pitchFamily="2" charset="0"/>
              </a:rPr>
              <a:t>It uses the physical address of the system for mapping the path of transmission over the network channel.</a:t>
            </a:r>
          </a:p>
          <a:p>
            <a:pPr>
              <a:buNone/>
            </a:pPr>
            <a:br>
              <a:rPr lang="en-US" sz="1400" dirty="0"/>
            </a:br>
            <a:endParaRPr lang="en-US" sz="1400" b="0" i="0" dirty="0">
              <a:solidFill>
                <a:srgbClr val="51565E"/>
              </a:solidFill>
              <a:effectLst/>
              <a:latin typeface="Roboto" panose="02000000000000000000" pitchFamily="2" charset="0"/>
            </a:endParaRPr>
          </a:p>
        </p:txBody>
      </p:sp>
      <p:pic>
        <p:nvPicPr>
          <p:cNvPr id="11266" name="Picture 2" descr="TCP_Model_6.">
            <a:extLst>
              <a:ext uri="{FF2B5EF4-FFF2-40B4-BE49-F238E27FC236}">
                <a16:creationId xmlns:a16="http://schemas.microsoft.com/office/drawing/2014/main" id="{F071C616-A212-87B3-98F1-3708B26174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05951" y="3429000"/>
            <a:ext cx="3654287" cy="12276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09360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4B8B2-A284-B8F9-1946-0733A764A5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C753C0-D079-F4E2-FBEB-0867B2451819}"/>
              </a:ext>
            </a:extLst>
          </p:cNvPr>
          <p:cNvSpPr>
            <a:spLocks noGrp="1"/>
          </p:cNvSpPr>
          <p:nvPr>
            <p:ph type="title"/>
          </p:nvPr>
        </p:nvSpPr>
        <p:spPr>
          <a:xfrm>
            <a:off x="581193" y="2393950"/>
            <a:ext cx="11029615" cy="3082925"/>
          </a:xfrm>
        </p:spPr>
        <p:txBody>
          <a:bodyPr>
            <a:normAutofit/>
          </a:bodyPr>
          <a:lstStyle/>
          <a:p>
            <a:r>
              <a:rPr lang="en-US" dirty="0"/>
              <a:t>Understanding the TCP or IP Protocol Suite</a:t>
            </a:r>
            <a:br>
              <a:rPr lang="en-US" dirty="0"/>
            </a:br>
            <a:br>
              <a:rPr lang="en-US" dirty="0"/>
            </a:br>
            <a:br>
              <a:rPr lang="en-US" dirty="0"/>
            </a:br>
            <a:endParaRPr lang="en-US" dirty="0"/>
          </a:p>
        </p:txBody>
      </p:sp>
      <p:sp>
        <p:nvSpPr>
          <p:cNvPr id="3" name="Text Placeholder 2">
            <a:extLst>
              <a:ext uri="{FF2B5EF4-FFF2-40B4-BE49-F238E27FC236}">
                <a16:creationId xmlns:a16="http://schemas.microsoft.com/office/drawing/2014/main" id="{5F09817B-FA8F-5907-0D0D-F898CA40850A}"/>
              </a:ext>
            </a:extLst>
          </p:cNvPr>
          <p:cNvSpPr>
            <a:spLocks noGrp="1"/>
          </p:cNvSpPr>
          <p:nvPr>
            <p:ph type="body" idx="1"/>
          </p:nvPr>
        </p:nvSpPr>
        <p:spPr>
          <a:xfrm>
            <a:off x="653763" y="4541417"/>
            <a:ext cx="11029615" cy="600556"/>
          </a:xfrm>
        </p:spPr>
        <p:txBody>
          <a:bodyPr/>
          <a:lstStyle/>
          <a:p>
            <a:r>
              <a:rPr lang="en-US" dirty="0"/>
              <a:t>Day 1</a:t>
            </a:r>
            <a:endParaRPr lang="en-NG" dirty="0"/>
          </a:p>
        </p:txBody>
      </p:sp>
    </p:spTree>
    <p:extLst>
      <p:ext uri="{BB962C8B-B14F-4D97-AF65-F5344CB8AC3E}">
        <p14:creationId xmlns:p14="http://schemas.microsoft.com/office/powerpoint/2010/main" val="1421592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20D66C5-248C-4C3C-1C80-B7579E79B7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1E725E-372B-D19A-4E16-F793950A55D1}"/>
              </a:ext>
            </a:extLst>
          </p:cNvPr>
          <p:cNvSpPr>
            <a:spLocks noGrp="1"/>
          </p:cNvSpPr>
          <p:nvPr>
            <p:ph type="title"/>
          </p:nvPr>
        </p:nvSpPr>
        <p:spPr>
          <a:xfrm>
            <a:off x="581192" y="702156"/>
            <a:ext cx="11029616" cy="1188720"/>
          </a:xfrm>
        </p:spPr>
        <p:txBody>
          <a:bodyPr>
            <a:normAutofit fontScale="90000"/>
          </a:bodyPr>
          <a:lstStyle/>
          <a:p>
            <a:r>
              <a:rPr lang="en-US" dirty="0"/>
              <a:t>How Does TCP/IP Work?</a:t>
            </a:r>
            <a:br>
              <a:rPr lang="en-US" b="0" i="0" dirty="0">
                <a:solidFill>
                  <a:srgbClr val="272C37"/>
                </a:solidFill>
                <a:effectLst/>
                <a:latin typeface="Roboto" panose="02000000000000000000" pitchFamily="2" charset="0"/>
              </a:rPr>
            </a:b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8D00BCB8-B50A-59B7-E75F-2717B855C0A8}"/>
              </a:ext>
            </a:extLst>
          </p:cNvPr>
          <p:cNvSpPr>
            <a:spLocks noGrp="1"/>
          </p:cNvSpPr>
          <p:nvPr>
            <p:ph idx="1"/>
          </p:nvPr>
        </p:nvSpPr>
        <p:spPr>
          <a:xfrm>
            <a:off x="581193" y="2340864"/>
            <a:ext cx="7024758" cy="3634486"/>
          </a:xfrm>
        </p:spPr>
        <p:txBody>
          <a:bodyPr>
            <a:noAutofit/>
          </a:bodyPr>
          <a:lstStyle/>
          <a:p>
            <a:pPr>
              <a:lnSpc>
                <a:spcPts val="1950"/>
              </a:lnSpc>
              <a:spcAft>
                <a:spcPts val="1950"/>
              </a:spcAft>
            </a:pPr>
            <a:r>
              <a:rPr lang="en-US" sz="1400" b="0" i="0" dirty="0">
                <a:solidFill>
                  <a:srgbClr val="51565E"/>
                </a:solidFill>
                <a:effectLst/>
                <a:latin typeface="Roboto" panose="02000000000000000000" pitchFamily="2" charset="0"/>
              </a:rPr>
              <a:t>The TCP/IP protocol suite is the set of communication protocols used to connect hosts on the Internet. TCP/IP allows computers on the same network to identify and communicate with each other. TCP/IP is a two-layer protocol, with the transport layer (TCP) responsible for reliable end-to-end communication and the Internet layer (IP) accountable for routing packets from the host to the host</a:t>
            </a:r>
            <a:br>
              <a:rPr lang="en-US" sz="1400" dirty="0"/>
            </a:br>
            <a:endParaRPr lang="en-US" sz="1400" b="0" i="0" dirty="0">
              <a:solidFill>
                <a:srgbClr val="51565E"/>
              </a:solidFill>
              <a:effectLst/>
              <a:latin typeface="Roboto" panose="02000000000000000000" pitchFamily="2" charset="0"/>
            </a:endParaRPr>
          </a:p>
        </p:txBody>
      </p:sp>
      <p:pic>
        <p:nvPicPr>
          <p:cNvPr id="6" name="Picture 2" descr="TCP) Work ...">
            <a:extLst>
              <a:ext uri="{FF2B5EF4-FFF2-40B4-BE49-F238E27FC236}">
                <a16:creationId xmlns:a16="http://schemas.microsoft.com/office/drawing/2014/main" id="{6FFCFC4C-D366-94F4-AF4D-FBA3E7D5D3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86336" y="3229389"/>
            <a:ext cx="2914650" cy="1562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29074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5C82138-592C-3413-8143-F8D4748112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62BE82-42D9-F996-690D-4ADA5C858256}"/>
              </a:ext>
            </a:extLst>
          </p:cNvPr>
          <p:cNvSpPr>
            <a:spLocks noGrp="1"/>
          </p:cNvSpPr>
          <p:nvPr>
            <p:ph type="title"/>
          </p:nvPr>
        </p:nvSpPr>
        <p:spPr>
          <a:xfrm>
            <a:off x="581192" y="702156"/>
            <a:ext cx="11029616" cy="1188720"/>
          </a:xfrm>
        </p:spPr>
        <p:txBody>
          <a:bodyPr>
            <a:normAutofit fontScale="90000"/>
          </a:bodyPr>
          <a:lstStyle/>
          <a:p>
            <a:r>
              <a:rPr lang="en-US" dirty="0"/>
              <a:t>How Does TCP/IP Work?</a:t>
            </a:r>
            <a:br>
              <a:rPr lang="en-US" b="0" i="0" dirty="0">
                <a:solidFill>
                  <a:srgbClr val="272C37"/>
                </a:solidFill>
                <a:effectLst/>
                <a:latin typeface="Roboto" panose="02000000000000000000" pitchFamily="2" charset="0"/>
              </a:rPr>
            </a:b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C32FE225-5B09-F695-27F2-FDC9956468A8}"/>
              </a:ext>
            </a:extLst>
          </p:cNvPr>
          <p:cNvSpPr>
            <a:spLocks noGrp="1"/>
          </p:cNvSpPr>
          <p:nvPr>
            <p:ph idx="1"/>
          </p:nvPr>
        </p:nvSpPr>
        <p:spPr>
          <a:xfrm>
            <a:off x="581193" y="2340864"/>
            <a:ext cx="7024758" cy="3634486"/>
          </a:xfrm>
        </p:spPr>
        <p:txBody>
          <a:bodyPr>
            <a:noAutofit/>
          </a:bodyPr>
          <a:lstStyle/>
          <a:p>
            <a:pPr>
              <a:lnSpc>
                <a:spcPts val="1950"/>
              </a:lnSpc>
              <a:spcAft>
                <a:spcPts val="1950"/>
              </a:spcAft>
            </a:pPr>
            <a:r>
              <a:rPr lang="en-US" sz="1400" b="0" i="0" dirty="0">
                <a:solidFill>
                  <a:srgbClr val="51565E"/>
                </a:solidFill>
                <a:effectLst/>
                <a:latin typeface="Roboto" panose="02000000000000000000" pitchFamily="2" charset="0"/>
              </a:rPr>
              <a:t>At the transport layer, TCP provides a reliable byte-stream service to applications. TCP guarantees the delivery of data and that data will be delivered in the same order in which it was sent. TCP uses several mechanisms to provide this service, including sequence numbers, acknowledgments, and timeouts.</a:t>
            </a:r>
          </a:p>
          <a:p>
            <a:pPr>
              <a:lnSpc>
                <a:spcPts val="1950"/>
              </a:lnSpc>
              <a:spcAft>
                <a:spcPts val="1950"/>
              </a:spcAft>
            </a:pPr>
            <a:r>
              <a:rPr lang="en-US" sz="1400" b="0" i="0" dirty="0">
                <a:solidFill>
                  <a:srgbClr val="51565E"/>
                </a:solidFill>
                <a:effectLst/>
                <a:latin typeface="Roboto" panose="02000000000000000000" pitchFamily="2" charset="0"/>
              </a:rPr>
              <a:t>At the Internet layer, IP is responsible for routing datagrams (packets) from host to host. IP does not guarantee the delivery of datagrams, but it tries to deliver them as best. If a datagram cannot be delivered, IP will return an error message to the source host.</a:t>
            </a:r>
          </a:p>
          <a:p>
            <a:pPr>
              <a:lnSpc>
                <a:spcPts val="1950"/>
              </a:lnSpc>
              <a:spcAft>
                <a:spcPts val="1950"/>
              </a:spcAft>
            </a:pPr>
            <a:r>
              <a:rPr lang="en-US" sz="1400" b="0" i="0" dirty="0">
                <a:solidFill>
                  <a:srgbClr val="51565E"/>
                </a:solidFill>
                <a:effectLst/>
                <a:latin typeface="Roboto" panose="02000000000000000000" pitchFamily="2" charset="0"/>
              </a:rPr>
              <a:t>The TCP/IP protocol suite is the most commonly used protocol suite on the Internet today, and it is also the protocol suite used by most LANs and WANs.</a:t>
            </a:r>
            <a:br>
              <a:rPr lang="en-US" sz="1400" dirty="0"/>
            </a:br>
            <a:endParaRPr lang="en-US" sz="1400" b="0" i="0" dirty="0">
              <a:solidFill>
                <a:srgbClr val="51565E"/>
              </a:solidFill>
              <a:effectLst/>
              <a:latin typeface="Roboto" panose="02000000000000000000" pitchFamily="2" charset="0"/>
            </a:endParaRPr>
          </a:p>
        </p:txBody>
      </p:sp>
      <p:pic>
        <p:nvPicPr>
          <p:cNvPr id="14338" name="Picture 2" descr="TCP) Work ...">
            <a:extLst>
              <a:ext uri="{FF2B5EF4-FFF2-40B4-BE49-F238E27FC236}">
                <a16:creationId xmlns:a16="http://schemas.microsoft.com/office/drawing/2014/main" id="{5630EBF0-E805-89C4-56E1-00A2490246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29236" y="2916307"/>
            <a:ext cx="2914650" cy="1562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2934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18D699-10F8-87E1-58EB-0ED71D4CE1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A47DF6-1B2B-7441-B8FC-8475DDC93272}"/>
              </a:ext>
            </a:extLst>
          </p:cNvPr>
          <p:cNvSpPr>
            <a:spLocks noGrp="1"/>
          </p:cNvSpPr>
          <p:nvPr>
            <p:ph type="title"/>
          </p:nvPr>
        </p:nvSpPr>
        <p:spPr/>
        <p:txBody>
          <a:bodyPr/>
          <a:lstStyle/>
          <a:p>
            <a:r>
              <a:rPr lang="en-US" dirty="0"/>
              <a:t>REFRESHER – LAST CLASS</a:t>
            </a:r>
            <a:endParaRPr lang="en-NG" dirty="0"/>
          </a:p>
        </p:txBody>
      </p:sp>
      <p:sp>
        <p:nvSpPr>
          <p:cNvPr id="4" name="Content Placeholder 2">
            <a:extLst>
              <a:ext uri="{FF2B5EF4-FFF2-40B4-BE49-F238E27FC236}">
                <a16:creationId xmlns:a16="http://schemas.microsoft.com/office/drawing/2014/main" id="{BB32CC96-D7E4-C379-975C-EB5C6FDAF413}"/>
              </a:ext>
            </a:extLst>
          </p:cNvPr>
          <p:cNvSpPr>
            <a:spLocks noGrp="1"/>
          </p:cNvSpPr>
          <p:nvPr>
            <p:ph idx="1"/>
          </p:nvPr>
        </p:nvSpPr>
        <p:spPr>
          <a:xfrm>
            <a:off x="623498" y="2668929"/>
            <a:ext cx="11029950" cy="3633787"/>
          </a:xfrm>
        </p:spPr>
        <p:txBody>
          <a:bodyPr>
            <a:normAutofit/>
          </a:bodyPr>
          <a:lstStyle/>
          <a:p>
            <a:r>
              <a:rPr lang="en-US" dirty="0"/>
              <a:t>Introduction to Network Protocols and Services</a:t>
            </a:r>
          </a:p>
          <a:p>
            <a:pPr lvl="1"/>
            <a:r>
              <a:rPr lang="en-US" dirty="0"/>
              <a:t>Network Protocols and Services</a:t>
            </a:r>
          </a:p>
          <a:p>
            <a:pPr lvl="1"/>
            <a:r>
              <a:rPr lang="en-US" dirty="0"/>
              <a:t>Understanding the TCP or IP Protocol Suite</a:t>
            </a:r>
          </a:p>
          <a:p>
            <a:pPr lvl="1"/>
            <a:r>
              <a:rPr lang="en-US" dirty="0"/>
              <a:t>Introduction to TCP IP protocol suite</a:t>
            </a:r>
          </a:p>
          <a:p>
            <a:pPr lvl="1"/>
            <a:r>
              <a:rPr lang="en-US" dirty="0"/>
              <a:t>Why TCP IP became the standard and its impact today</a:t>
            </a:r>
          </a:p>
          <a:p>
            <a:endParaRPr lang="en-US" dirty="0"/>
          </a:p>
          <a:p>
            <a:pPr marL="324000" lvl="1" indent="0">
              <a:buNone/>
            </a:pPr>
            <a:endParaRPr lang="en-US" dirty="0"/>
          </a:p>
          <a:p>
            <a:pPr lvl="2"/>
            <a:endParaRPr lang="en-US" dirty="0"/>
          </a:p>
          <a:p>
            <a:endParaRPr lang="en-NG" dirty="0"/>
          </a:p>
        </p:txBody>
      </p:sp>
    </p:spTree>
    <p:extLst>
      <p:ext uri="{BB962C8B-B14F-4D97-AF65-F5344CB8AC3E}">
        <p14:creationId xmlns:p14="http://schemas.microsoft.com/office/powerpoint/2010/main" val="4511402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AF3151-B7CB-5CC0-4DED-F78D50F2E0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7F6609-C546-609C-DC84-B7069A2A16D8}"/>
              </a:ext>
            </a:extLst>
          </p:cNvPr>
          <p:cNvSpPr>
            <a:spLocks noGrp="1"/>
          </p:cNvSpPr>
          <p:nvPr>
            <p:ph type="title"/>
          </p:nvPr>
        </p:nvSpPr>
        <p:spPr/>
        <p:txBody>
          <a:bodyPr/>
          <a:lstStyle/>
          <a:p>
            <a:r>
              <a:rPr lang="en-US" dirty="0"/>
              <a:t>MONTH 2 -  WEEK 4  (DAY 2)</a:t>
            </a:r>
            <a:endParaRPr lang="en-NG" dirty="0"/>
          </a:p>
        </p:txBody>
      </p:sp>
      <p:sp>
        <p:nvSpPr>
          <p:cNvPr id="4" name="Content Placeholder 2">
            <a:extLst>
              <a:ext uri="{FF2B5EF4-FFF2-40B4-BE49-F238E27FC236}">
                <a16:creationId xmlns:a16="http://schemas.microsoft.com/office/drawing/2014/main" id="{A6F65146-6D0D-4D92-3FBB-2D0456510983}"/>
              </a:ext>
            </a:extLst>
          </p:cNvPr>
          <p:cNvSpPr>
            <a:spLocks noGrp="1"/>
          </p:cNvSpPr>
          <p:nvPr>
            <p:ph idx="1"/>
          </p:nvPr>
        </p:nvSpPr>
        <p:spPr>
          <a:xfrm>
            <a:off x="623498" y="2668929"/>
            <a:ext cx="11029950" cy="3633787"/>
          </a:xfrm>
        </p:spPr>
        <p:txBody>
          <a:bodyPr>
            <a:normAutofit/>
          </a:bodyPr>
          <a:lstStyle/>
          <a:p>
            <a:pPr lvl="1"/>
            <a:r>
              <a:rPr lang="en-US" dirty="0"/>
              <a:t>Why TCP IP became the standard and its impact today (CONTD)</a:t>
            </a:r>
          </a:p>
          <a:p>
            <a:endParaRPr lang="en-US" dirty="0"/>
          </a:p>
          <a:p>
            <a:r>
              <a:rPr lang="en-US" dirty="0"/>
              <a:t>Overview of the TCP IP model layers</a:t>
            </a:r>
          </a:p>
          <a:p>
            <a:pPr lvl="1"/>
            <a:r>
              <a:rPr lang="en-US" dirty="0"/>
              <a:t>TCP IP model layers</a:t>
            </a:r>
          </a:p>
          <a:p>
            <a:pPr lvl="1"/>
            <a:r>
              <a:rPr lang="en-US" dirty="0"/>
              <a:t>Practical application of the TCP IP model layers</a:t>
            </a:r>
          </a:p>
          <a:p>
            <a:pPr lvl="1"/>
            <a:r>
              <a:rPr lang="en-US" dirty="0"/>
              <a:t>Understanding UDP –User Datagram Protocol</a:t>
            </a:r>
          </a:p>
          <a:p>
            <a:pPr lvl="1"/>
            <a:r>
              <a:rPr lang="en-US" dirty="0"/>
              <a:t>Common protocols – HTTP, HTTPS, FTP, DNS, DHCP, SMTP</a:t>
            </a:r>
          </a:p>
          <a:p>
            <a:pPr lvl="1"/>
            <a:r>
              <a:rPr lang="en-US" dirty="0"/>
              <a:t>Network Port and their use cases</a:t>
            </a:r>
          </a:p>
          <a:p>
            <a:pPr marL="324000" lvl="1" indent="0">
              <a:buNone/>
            </a:pPr>
            <a:endParaRPr lang="en-US" dirty="0"/>
          </a:p>
          <a:p>
            <a:pPr lvl="2"/>
            <a:endParaRPr lang="en-US" dirty="0"/>
          </a:p>
          <a:p>
            <a:endParaRPr lang="en-NG" dirty="0"/>
          </a:p>
        </p:txBody>
      </p:sp>
    </p:spTree>
    <p:extLst>
      <p:ext uri="{BB962C8B-B14F-4D97-AF65-F5344CB8AC3E}">
        <p14:creationId xmlns:p14="http://schemas.microsoft.com/office/powerpoint/2010/main" val="3282480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42B256-948B-8A13-468F-F6D5A3973B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6C8AE8-CC3E-2CDA-A814-7151942A7374}"/>
              </a:ext>
            </a:extLst>
          </p:cNvPr>
          <p:cNvSpPr>
            <a:spLocks noGrp="1"/>
          </p:cNvSpPr>
          <p:nvPr>
            <p:ph type="title"/>
          </p:nvPr>
        </p:nvSpPr>
        <p:spPr>
          <a:xfrm>
            <a:off x="581193" y="2393950"/>
            <a:ext cx="11029615" cy="3082925"/>
          </a:xfrm>
        </p:spPr>
        <p:txBody>
          <a:bodyPr>
            <a:normAutofit fontScale="90000"/>
          </a:bodyPr>
          <a:lstStyle/>
          <a:p>
            <a:r>
              <a:rPr lang="en-US" dirty="0"/>
              <a:t>Why TCP IP became the standard and its impact today</a:t>
            </a:r>
            <a:br>
              <a:rPr lang="en-US" dirty="0"/>
            </a:br>
            <a:br>
              <a:rPr lang="en-US" dirty="0"/>
            </a:br>
            <a:br>
              <a:rPr lang="en-US" dirty="0"/>
            </a:br>
            <a:br>
              <a:rPr lang="en-US" dirty="0"/>
            </a:br>
            <a:endParaRPr lang="en-US" dirty="0"/>
          </a:p>
        </p:txBody>
      </p:sp>
      <p:sp>
        <p:nvSpPr>
          <p:cNvPr id="3" name="Text Placeholder 2">
            <a:extLst>
              <a:ext uri="{FF2B5EF4-FFF2-40B4-BE49-F238E27FC236}">
                <a16:creationId xmlns:a16="http://schemas.microsoft.com/office/drawing/2014/main" id="{00556B00-63B0-9E93-96C3-775CFA29322E}"/>
              </a:ext>
            </a:extLst>
          </p:cNvPr>
          <p:cNvSpPr>
            <a:spLocks noGrp="1"/>
          </p:cNvSpPr>
          <p:nvPr>
            <p:ph type="body" idx="1"/>
          </p:nvPr>
        </p:nvSpPr>
        <p:spPr>
          <a:xfrm>
            <a:off x="653763" y="4541417"/>
            <a:ext cx="11029615" cy="600556"/>
          </a:xfrm>
        </p:spPr>
        <p:txBody>
          <a:bodyPr/>
          <a:lstStyle/>
          <a:p>
            <a:r>
              <a:rPr lang="en-US" dirty="0"/>
              <a:t>Day 2</a:t>
            </a:r>
            <a:endParaRPr lang="en-NG" dirty="0"/>
          </a:p>
        </p:txBody>
      </p:sp>
    </p:spTree>
    <p:extLst>
      <p:ext uri="{BB962C8B-B14F-4D97-AF65-F5344CB8AC3E}">
        <p14:creationId xmlns:p14="http://schemas.microsoft.com/office/powerpoint/2010/main" val="29394090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468EF51-8286-2BC4-E9E5-7BE79BB5C1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4DB914-B4C2-1716-E9FA-273BDB7EBB73}"/>
              </a:ext>
            </a:extLst>
          </p:cNvPr>
          <p:cNvSpPr>
            <a:spLocks noGrp="1"/>
          </p:cNvSpPr>
          <p:nvPr>
            <p:ph type="title"/>
          </p:nvPr>
        </p:nvSpPr>
        <p:spPr>
          <a:xfrm>
            <a:off x="581192" y="702156"/>
            <a:ext cx="11029616" cy="1188720"/>
          </a:xfrm>
        </p:spPr>
        <p:txBody>
          <a:bodyPr>
            <a:normAutofit fontScale="90000"/>
          </a:bodyPr>
          <a:lstStyle/>
          <a:p>
            <a:r>
              <a:rPr lang="en-US" dirty="0"/>
              <a:t>TCP/IP - its impact today</a:t>
            </a:r>
            <a:br>
              <a:rPr lang="en-US" b="0" i="0" dirty="0">
                <a:solidFill>
                  <a:srgbClr val="272C37"/>
                </a:solidFill>
                <a:effectLst/>
                <a:latin typeface="Roboto" panose="02000000000000000000" pitchFamily="2" charset="0"/>
              </a:rPr>
            </a:b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F63E5DD5-15FC-3910-AF50-4BB693D7346A}"/>
              </a:ext>
            </a:extLst>
          </p:cNvPr>
          <p:cNvSpPr>
            <a:spLocks noGrp="1"/>
          </p:cNvSpPr>
          <p:nvPr>
            <p:ph idx="1"/>
          </p:nvPr>
        </p:nvSpPr>
        <p:spPr>
          <a:xfrm>
            <a:off x="370207" y="2435086"/>
            <a:ext cx="7024758" cy="3634486"/>
          </a:xfrm>
        </p:spPr>
        <p:txBody>
          <a:bodyPr>
            <a:noAutofit/>
          </a:bodyPr>
          <a:lstStyle/>
          <a:p>
            <a:pPr marL="0" indent="0">
              <a:lnSpc>
                <a:spcPts val="1950"/>
              </a:lnSpc>
              <a:spcAft>
                <a:spcPts val="1950"/>
              </a:spcAft>
              <a:buNone/>
            </a:pPr>
            <a:r>
              <a:rPr lang="en-US" sz="1400" dirty="0">
                <a:solidFill>
                  <a:srgbClr val="51565E"/>
                </a:solidFill>
                <a:latin typeface="Roboto" panose="02000000000000000000" pitchFamily="2" charset="0"/>
              </a:rPr>
              <a:t>TCP/IP became the standard for internet communication due to its simplicity, flexibility, and robust design, which enabled it to overcome the limitations of other protocols and ensure reliable data transfer across various networks. </a:t>
            </a:r>
          </a:p>
          <a:p>
            <a:pPr>
              <a:lnSpc>
                <a:spcPts val="1950"/>
              </a:lnSpc>
              <a:spcAft>
                <a:spcPts val="1950"/>
              </a:spcAft>
            </a:pPr>
            <a:r>
              <a:rPr lang="en-US" sz="1400" b="1" dirty="0">
                <a:solidFill>
                  <a:srgbClr val="51565E"/>
                </a:solidFill>
                <a:latin typeface="Roboto" panose="02000000000000000000" pitchFamily="2" charset="0"/>
              </a:rPr>
              <a:t>Ubiquitous Use</a:t>
            </a:r>
            <a:r>
              <a:rPr lang="en-US" sz="1400" dirty="0">
                <a:solidFill>
                  <a:srgbClr val="51565E"/>
                </a:solidFill>
                <a:latin typeface="Roboto" panose="02000000000000000000" pitchFamily="2" charset="0"/>
              </a:rPr>
              <a:t>: TCP/IP is used by billions of devices and millions of applications, making it an indispensable part of modern communication. </a:t>
            </a:r>
          </a:p>
          <a:p>
            <a:pPr>
              <a:lnSpc>
                <a:spcPts val="1650"/>
              </a:lnSpc>
              <a:spcBef>
                <a:spcPts val="750"/>
              </a:spcBef>
            </a:pPr>
            <a:r>
              <a:rPr lang="en-US" sz="1400" b="1" dirty="0">
                <a:solidFill>
                  <a:srgbClr val="51565E"/>
                </a:solidFill>
                <a:latin typeface="Roboto" panose="02000000000000000000" pitchFamily="2" charset="0"/>
              </a:rPr>
              <a:t>Underlying Infrastructure</a:t>
            </a:r>
            <a:r>
              <a:rPr lang="en-US" sz="1400" dirty="0">
                <a:solidFill>
                  <a:srgbClr val="51565E"/>
                </a:solidFill>
                <a:latin typeface="Roboto" panose="02000000000000000000" pitchFamily="2" charset="0"/>
              </a:rPr>
              <a:t>: TCP/IP is the underlying infrastructure for various internet services, including email, web browsing, file transfer, and video streaming. </a:t>
            </a:r>
          </a:p>
          <a:p>
            <a:pPr>
              <a:lnSpc>
                <a:spcPts val="1650"/>
              </a:lnSpc>
              <a:spcBef>
                <a:spcPts val="750"/>
              </a:spcBef>
            </a:pPr>
            <a:r>
              <a:rPr lang="en-US" sz="1400" b="1" dirty="0">
                <a:solidFill>
                  <a:srgbClr val="51565E"/>
                </a:solidFill>
                <a:latin typeface="Roboto" panose="02000000000000000000" pitchFamily="2" charset="0"/>
              </a:rPr>
              <a:t>Inter-Network Communication</a:t>
            </a:r>
            <a:r>
              <a:rPr lang="en-US" sz="1400" dirty="0">
                <a:solidFill>
                  <a:srgbClr val="51565E"/>
                </a:solidFill>
                <a:latin typeface="Roboto" panose="02000000000000000000" pitchFamily="2" charset="0"/>
              </a:rPr>
              <a:t>: TCP/IP enables devices on different networks to communicate seamlessly, fostering global connectivity. </a:t>
            </a:r>
          </a:p>
          <a:p>
            <a:pPr>
              <a:lnSpc>
                <a:spcPts val="1650"/>
              </a:lnSpc>
              <a:spcBef>
                <a:spcPts val="750"/>
              </a:spcBef>
              <a:spcAft>
                <a:spcPts val="1500"/>
              </a:spcAft>
            </a:pPr>
            <a:r>
              <a:rPr lang="en-US" sz="1400" b="1" dirty="0">
                <a:solidFill>
                  <a:srgbClr val="51565E"/>
                </a:solidFill>
                <a:latin typeface="Roboto" panose="02000000000000000000" pitchFamily="2" charset="0"/>
              </a:rPr>
              <a:t>Evolution and Adaptation</a:t>
            </a:r>
            <a:r>
              <a:rPr lang="en-US" sz="1400" dirty="0">
                <a:solidFill>
                  <a:srgbClr val="51565E"/>
                </a:solidFill>
                <a:latin typeface="Roboto" panose="02000000000000000000" pitchFamily="2" charset="0"/>
              </a:rPr>
              <a:t>: TCP/IP has continued to evolve and adapt to new technologies, including IPv6 and emerging network architectures. </a:t>
            </a:r>
          </a:p>
          <a:p>
            <a:pPr algn="l">
              <a:lnSpc>
                <a:spcPts val="1650"/>
              </a:lnSpc>
              <a:spcBef>
                <a:spcPts val="750"/>
              </a:spcBef>
              <a:spcAft>
                <a:spcPts val="600"/>
              </a:spcAft>
              <a:buFont typeface="Arial" panose="020B0604020202020204" pitchFamily="34" charset="0"/>
              <a:buChar char="•"/>
            </a:pPr>
            <a:endParaRPr lang="en-US" sz="1400" dirty="0">
              <a:solidFill>
                <a:srgbClr val="51565E"/>
              </a:solidFill>
              <a:latin typeface="Roboto" panose="02000000000000000000" pitchFamily="2" charset="0"/>
            </a:endParaRPr>
          </a:p>
          <a:p>
            <a:pPr>
              <a:lnSpc>
                <a:spcPts val="1950"/>
              </a:lnSpc>
              <a:spcAft>
                <a:spcPts val="1950"/>
              </a:spcAft>
            </a:pPr>
            <a:endParaRPr lang="en-US" sz="1400" dirty="0">
              <a:solidFill>
                <a:srgbClr val="51565E"/>
              </a:solidFill>
              <a:latin typeface="Roboto" panose="02000000000000000000" pitchFamily="2" charset="0"/>
            </a:endParaRPr>
          </a:p>
        </p:txBody>
      </p:sp>
      <p:sp>
        <p:nvSpPr>
          <p:cNvPr id="4" name="AutoShape 2" descr="4 layers">
            <a:extLst>
              <a:ext uri="{FF2B5EF4-FFF2-40B4-BE49-F238E27FC236}">
                <a16:creationId xmlns:a16="http://schemas.microsoft.com/office/drawing/2014/main" id="{B7F0698E-53EC-822B-C12A-742CA302854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NG"/>
          </a:p>
        </p:txBody>
      </p:sp>
      <p:pic>
        <p:nvPicPr>
          <p:cNvPr id="16388" name="Picture 4" descr="Understanding the TCP/IP Model: A ...">
            <a:extLst>
              <a:ext uri="{FF2B5EF4-FFF2-40B4-BE49-F238E27FC236}">
                <a16:creationId xmlns:a16="http://schemas.microsoft.com/office/drawing/2014/main" id="{2D5BE9CF-2FFE-905E-B692-42E92917B3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01271" y="2610885"/>
            <a:ext cx="2522676" cy="25226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69090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E307EC7-83E8-E479-848F-10ED42BA75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B6F19A-69A6-D271-EA21-797C7BC4C19E}"/>
              </a:ext>
            </a:extLst>
          </p:cNvPr>
          <p:cNvSpPr>
            <a:spLocks noGrp="1"/>
          </p:cNvSpPr>
          <p:nvPr>
            <p:ph type="title"/>
          </p:nvPr>
        </p:nvSpPr>
        <p:spPr>
          <a:xfrm>
            <a:off x="581192" y="702156"/>
            <a:ext cx="11029616" cy="1188720"/>
          </a:xfrm>
        </p:spPr>
        <p:txBody>
          <a:bodyPr>
            <a:normAutofit fontScale="90000"/>
          </a:bodyPr>
          <a:lstStyle/>
          <a:p>
            <a:r>
              <a:rPr lang="en-US" dirty="0"/>
              <a:t>Why TCP/IP Became the Standard:</a:t>
            </a:r>
            <a:br>
              <a:rPr lang="en-US" b="0" i="0" dirty="0">
                <a:solidFill>
                  <a:srgbClr val="272C37"/>
                </a:solidFill>
                <a:effectLst/>
                <a:latin typeface="Roboto" panose="02000000000000000000" pitchFamily="2" charset="0"/>
              </a:rPr>
            </a:b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6E1159BF-87FD-0AD9-5C5B-E21EBB4431F6}"/>
              </a:ext>
            </a:extLst>
          </p:cNvPr>
          <p:cNvSpPr>
            <a:spLocks noGrp="1"/>
          </p:cNvSpPr>
          <p:nvPr>
            <p:ph idx="1"/>
          </p:nvPr>
        </p:nvSpPr>
        <p:spPr>
          <a:xfrm>
            <a:off x="290694" y="2668856"/>
            <a:ext cx="7024758" cy="3634486"/>
          </a:xfrm>
        </p:spPr>
        <p:txBody>
          <a:bodyPr>
            <a:noAutofit/>
          </a:bodyPr>
          <a:lstStyle/>
          <a:p>
            <a:pPr>
              <a:lnSpc>
                <a:spcPts val="1950"/>
              </a:lnSpc>
              <a:spcAft>
                <a:spcPts val="1950"/>
              </a:spcAft>
            </a:pPr>
            <a:r>
              <a:rPr lang="en-US" sz="1400" b="1" dirty="0">
                <a:solidFill>
                  <a:srgbClr val="51565E"/>
                </a:solidFill>
                <a:latin typeface="Roboto" panose="02000000000000000000" pitchFamily="2" charset="0"/>
              </a:rPr>
              <a:t>Simplicity and Scalability</a:t>
            </a:r>
            <a:r>
              <a:rPr lang="en-US" sz="1400" dirty="0">
                <a:solidFill>
                  <a:srgbClr val="51565E"/>
                </a:solidFill>
                <a:latin typeface="Roboto" panose="02000000000000000000" pitchFamily="2" charset="0"/>
              </a:rPr>
              <a:t>: TCP/IP's design was intentionally made simple and scalable, allowing for easy adaptation to various network environments and technologies. </a:t>
            </a:r>
          </a:p>
          <a:p>
            <a:pPr>
              <a:lnSpc>
                <a:spcPts val="1950"/>
              </a:lnSpc>
              <a:spcAft>
                <a:spcPts val="1950"/>
              </a:spcAft>
            </a:pPr>
            <a:r>
              <a:rPr lang="en-US" sz="1400" b="1" dirty="0">
                <a:solidFill>
                  <a:srgbClr val="51565E"/>
                </a:solidFill>
                <a:latin typeface="Roboto" panose="02000000000000000000" pitchFamily="2" charset="0"/>
              </a:rPr>
              <a:t>Reliability and Error Handling</a:t>
            </a:r>
            <a:r>
              <a:rPr lang="en-US" sz="1400" dirty="0">
                <a:solidFill>
                  <a:srgbClr val="51565E"/>
                </a:solidFill>
                <a:latin typeface="Roboto" panose="02000000000000000000" pitchFamily="2" charset="0"/>
              </a:rPr>
              <a:t>: TCP/IP provides mechanisms for ensuring reliable data delivery, including error detection and retransmission of lost packets.</a:t>
            </a:r>
          </a:p>
          <a:p>
            <a:pPr>
              <a:lnSpc>
                <a:spcPts val="1950"/>
              </a:lnSpc>
              <a:spcAft>
                <a:spcPts val="1950"/>
              </a:spcAft>
            </a:pPr>
            <a:r>
              <a:rPr lang="en-US" sz="1400" b="1" dirty="0">
                <a:solidFill>
                  <a:srgbClr val="51565E"/>
                </a:solidFill>
                <a:latin typeface="Roboto" panose="02000000000000000000" pitchFamily="2" charset="0"/>
              </a:rPr>
              <a:t>Open and Non-Proprietary</a:t>
            </a:r>
            <a:r>
              <a:rPr lang="en-US" sz="1400" dirty="0">
                <a:solidFill>
                  <a:srgbClr val="51565E"/>
                </a:solidFill>
                <a:latin typeface="Roboto" panose="02000000000000000000" pitchFamily="2" charset="0"/>
              </a:rPr>
              <a:t>: Being open and non-proprietary, TCP/IP allows for easy modification, development, and implementation by various organizations and individuals.  </a:t>
            </a:r>
          </a:p>
          <a:p>
            <a:pPr>
              <a:lnSpc>
                <a:spcPts val="1950"/>
              </a:lnSpc>
              <a:spcAft>
                <a:spcPts val="1950"/>
              </a:spcAft>
            </a:pPr>
            <a:r>
              <a:rPr lang="en-US" sz="1400" b="1" dirty="0">
                <a:solidFill>
                  <a:srgbClr val="51565E"/>
                </a:solidFill>
                <a:latin typeface="Roboto" panose="02000000000000000000" pitchFamily="2" charset="0"/>
              </a:rPr>
              <a:t>Interoperability</a:t>
            </a:r>
            <a:r>
              <a:rPr lang="en-US" sz="1400" dirty="0">
                <a:solidFill>
                  <a:srgbClr val="51565E"/>
                </a:solidFill>
                <a:latin typeface="Roboto" panose="02000000000000000000" pitchFamily="2" charset="0"/>
              </a:rPr>
              <a:t>: TCP/IP promotes interoperability between different vendors' equipment, ensuring that devices from different manufacturers can communicate seamlessly. </a:t>
            </a:r>
          </a:p>
          <a:p>
            <a:pPr>
              <a:lnSpc>
                <a:spcPts val="1950"/>
              </a:lnSpc>
              <a:spcAft>
                <a:spcPts val="1950"/>
              </a:spcAft>
            </a:pPr>
            <a:r>
              <a:rPr lang="en-US" sz="1400" b="1" dirty="0">
                <a:solidFill>
                  <a:srgbClr val="51565E"/>
                </a:solidFill>
                <a:latin typeface="Roboto" panose="02000000000000000000" pitchFamily="2" charset="0"/>
              </a:rPr>
              <a:t>No Strong Competition</a:t>
            </a:r>
            <a:r>
              <a:rPr lang="en-US" sz="1400" dirty="0">
                <a:solidFill>
                  <a:srgbClr val="51565E"/>
                </a:solidFill>
                <a:latin typeface="Roboto" panose="02000000000000000000" pitchFamily="2" charset="0"/>
              </a:rPr>
              <a:t>: When TCP/IP was first introduced, it lacked strong competitors, allowing it to establish itself as the dominant protocol suite.</a:t>
            </a:r>
            <a:r>
              <a:rPr lang="en-US" sz="1400" b="0" i="0" dirty="0">
                <a:solidFill>
                  <a:srgbClr val="545D7E"/>
                </a:solidFill>
                <a:effectLst/>
                <a:latin typeface="Google Sans"/>
              </a:rPr>
              <a:t> </a:t>
            </a:r>
          </a:p>
          <a:p>
            <a:pPr>
              <a:lnSpc>
                <a:spcPts val="1950"/>
              </a:lnSpc>
              <a:spcAft>
                <a:spcPts val="1950"/>
              </a:spcAft>
            </a:pPr>
            <a:endParaRPr lang="en-US" sz="1400" dirty="0">
              <a:solidFill>
                <a:srgbClr val="51565E"/>
              </a:solidFill>
              <a:latin typeface="Roboto" panose="02000000000000000000" pitchFamily="2" charset="0"/>
            </a:endParaRPr>
          </a:p>
        </p:txBody>
      </p:sp>
      <p:sp>
        <p:nvSpPr>
          <p:cNvPr id="4" name="AutoShape 2" descr="4 layers">
            <a:extLst>
              <a:ext uri="{FF2B5EF4-FFF2-40B4-BE49-F238E27FC236}">
                <a16:creationId xmlns:a16="http://schemas.microsoft.com/office/drawing/2014/main" id="{3D23D245-3268-8690-BD3E-5444999C29C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NG"/>
          </a:p>
        </p:txBody>
      </p:sp>
      <p:pic>
        <p:nvPicPr>
          <p:cNvPr id="17410" name="Picture 2" descr="Understanding the TCP/IP Model: A ...">
            <a:extLst>
              <a:ext uri="{FF2B5EF4-FFF2-40B4-BE49-F238E27FC236}">
                <a16:creationId xmlns:a16="http://schemas.microsoft.com/office/drawing/2014/main" id="{98C1F2FF-14F9-3B48-EC22-F4101929F1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50556" y="2713581"/>
            <a:ext cx="2616898" cy="26168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80766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5E46BF1-2F13-94C2-CE40-5746D0AE55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38ECB4-59BC-A44B-0B15-67E40D0AF264}"/>
              </a:ext>
            </a:extLst>
          </p:cNvPr>
          <p:cNvSpPr>
            <a:spLocks noGrp="1"/>
          </p:cNvSpPr>
          <p:nvPr>
            <p:ph type="title"/>
          </p:nvPr>
        </p:nvSpPr>
        <p:spPr>
          <a:xfrm>
            <a:off x="581192" y="702156"/>
            <a:ext cx="11029616" cy="1188720"/>
          </a:xfrm>
        </p:spPr>
        <p:txBody>
          <a:bodyPr>
            <a:normAutofit fontScale="90000"/>
          </a:bodyPr>
          <a:lstStyle/>
          <a:p>
            <a:r>
              <a:rPr lang="en-US" dirty="0"/>
              <a:t>Why TCP/IP Became the Standard:</a:t>
            </a:r>
            <a:br>
              <a:rPr lang="en-US" b="0" i="0" dirty="0">
                <a:solidFill>
                  <a:srgbClr val="272C37"/>
                </a:solidFill>
                <a:effectLst/>
                <a:latin typeface="Roboto" panose="02000000000000000000" pitchFamily="2" charset="0"/>
              </a:rPr>
            </a:br>
            <a:br>
              <a:rPr lang="en-US" b="0" i="0" dirty="0">
                <a:solidFill>
                  <a:srgbClr val="272C37"/>
                </a:solidFill>
                <a:effectLst/>
                <a:latin typeface="Roboto" panose="02000000000000000000" pitchFamily="2" charset="0"/>
              </a:rPr>
            </a:br>
            <a:endParaRPr lang="en-NG" dirty="0"/>
          </a:p>
        </p:txBody>
      </p:sp>
      <p:sp>
        <p:nvSpPr>
          <p:cNvPr id="3" name="Content Placeholder 2">
            <a:extLst>
              <a:ext uri="{FF2B5EF4-FFF2-40B4-BE49-F238E27FC236}">
                <a16:creationId xmlns:a16="http://schemas.microsoft.com/office/drawing/2014/main" id="{4D8B5E34-B613-6709-AF91-08290EB9E5E1}"/>
              </a:ext>
            </a:extLst>
          </p:cNvPr>
          <p:cNvSpPr>
            <a:spLocks noGrp="1"/>
          </p:cNvSpPr>
          <p:nvPr>
            <p:ph idx="1"/>
          </p:nvPr>
        </p:nvSpPr>
        <p:spPr>
          <a:xfrm>
            <a:off x="285724" y="1943299"/>
            <a:ext cx="7024758" cy="3634486"/>
          </a:xfrm>
        </p:spPr>
        <p:txBody>
          <a:bodyPr>
            <a:noAutofit/>
          </a:bodyPr>
          <a:lstStyle/>
          <a:p>
            <a:pPr>
              <a:lnSpc>
                <a:spcPts val="1650"/>
              </a:lnSpc>
              <a:spcBef>
                <a:spcPts val="750"/>
              </a:spcBef>
            </a:pPr>
            <a:r>
              <a:rPr lang="en-US" sz="1400" b="1" dirty="0">
                <a:solidFill>
                  <a:srgbClr val="51565E"/>
                </a:solidFill>
                <a:latin typeface="Roboto" panose="02000000000000000000" pitchFamily="2" charset="0"/>
              </a:rPr>
              <a:t>Government Support</a:t>
            </a:r>
            <a:r>
              <a:rPr lang="en-US" sz="1400" dirty="0">
                <a:solidFill>
                  <a:srgbClr val="51565E"/>
                </a:solidFill>
                <a:latin typeface="Roboto" panose="02000000000000000000" pitchFamily="2" charset="0"/>
              </a:rPr>
              <a:t>: The US Department of Defense's adoption of TCP/IP as a standard for military networks further solidified its position as the leading protocol. </a:t>
            </a:r>
          </a:p>
          <a:p>
            <a:pPr>
              <a:lnSpc>
                <a:spcPts val="1650"/>
              </a:lnSpc>
              <a:spcBef>
                <a:spcPts val="750"/>
              </a:spcBef>
            </a:pPr>
            <a:r>
              <a:rPr lang="en-US" sz="1400" b="1" dirty="0">
                <a:solidFill>
                  <a:srgbClr val="51565E"/>
                </a:solidFill>
                <a:latin typeface="Roboto" panose="02000000000000000000" pitchFamily="2" charset="0"/>
              </a:rPr>
              <a:t>Gradual Transition</a:t>
            </a:r>
            <a:r>
              <a:rPr lang="en-US" sz="1400" dirty="0">
                <a:solidFill>
                  <a:srgbClr val="51565E"/>
                </a:solidFill>
                <a:latin typeface="Roboto" panose="02000000000000000000" pitchFamily="2" charset="0"/>
              </a:rPr>
              <a:t>: The transition from ARPANET to TCP/IP was gradual and well-planned, minimizing disruptions and allowing for a smooth adoption. </a:t>
            </a:r>
          </a:p>
          <a:p>
            <a:pPr>
              <a:lnSpc>
                <a:spcPts val="1950"/>
              </a:lnSpc>
              <a:spcAft>
                <a:spcPts val="1950"/>
              </a:spcAft>
            </a:pPr>
            <a:endParaRPr lang="en-US" sz="1400" dirty="0">
              <a:solidFill>
                <a:srgbClr val="51565E"/>
              </a:solidFill>
              <a:latin typeface="Roboto" panose="02000000000000000000" pitchFamily="2" charset="0"/>
            </a:endParaRPr>
          </a:p>
        </p:txBody>
      </p:sp>
      <p:sp>
        <p:nvSpPr>
          <p:cNvPr id="4" name="AutoShape 2" descr="4 layers">
            <a:extLst>
              <a:ext uri="{FF2B5EF4-FFF2-40B4-BE49-F238E27FC236}">
                <a16:creationId xmlns:a16="http://schemas.microsoft.com/office/drawing/2014/main" id="{F6DA6779-CB88-5BCC-DDBA-9FA251A51CB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NG"/>
          </a:p>
        </p:txBody>
      </p:sp>
      <p:pic>
        <p:nvPicPr>
          <p:cNvPr id="5" name="Picture 4" descr="Understanding the TCP/IP Model: A ...">
            <a:extLst>
              <a:ext uri="{FF2B5EF4-FFF2-40B4-BE49-F238E27FC236}">
                <a16:creationId xmlns:a16="http://schemas.microsoft.com/office/drawing/2014/main" id="{901123D1-F1F4-6747-B1FE-8B08831CEB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01271" y="2610885"/>
            <a:ext cx="2522676" cy="25226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954132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9AE04B6-5E2A-EA46-EBF0-BCB6ADD367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B3AD31-7F2B-11A2-9234-887BF7612D21}"/>
              </a:ext>
            </a:extLst>
          </p:cNvPr>
          <p:cNvSpPr>
            <a:spLocks noGrp="1"/>
          </p:cNvSpPr>
          <p:nvPr>
            <p:ph type="title"/>
          </p:nvPr>
        </p:nvSpPr>
        <p:spPr>
          <a:xfrm>
            <a:off x="581192" y="702156"/>
            <a:ext cx="11029616" cy="1188720"/>
          </a:xfrm>
        </p:spPr>
        <p:txBody>
          <a:bodyPr>
            <a:normAutofit fontScale="90000"/>
          </a:bodyPr>
          <a:lstStyle/>
          <a:p>
            <a:r>
              <a:rPr lang="en-US" dirty="0"/>
              <a:t>TCP/IP VS OSI</a:t>
            </a:r>
            <a:br>
              <a:rPr lang="en-US" b="0" i="0" dirty="0">
                <a:solidFill>
                  <a:srgbClr val="272C37"/>
                </a:solidFill>
                <a:effectLst/>
                <a:latin typeface="Roboto" panose="02000000000000000000" pitchFamily="2" charset="0"/>
              </a:rPr>
            </a:br>
            <a:br>
              <a:rPr lang="en-US" b="0" i="0" dirty="0">
                <a:solidFill>
                  <a:srgbClr val="272C37"/>
                </a:solidFill>
                <a:effectLst/>
                <a:latin typeface="Roboto" panose="02000000000000000000" pitchFamily="2" charset="0"/>
              </a:rPr>
            </a:br>
            <a:endParaRPr lang="en-NG" dirty="0"/>
          </a:p>
        </p:txBody>
      </p:sp>
      <p:pic>
        <p:nvPicPr>
          <p:cNvPr id="6" name="Picture 5">
            <a:extLst>
              <a:ext uri="{FF2B5EF4-FFF2-40B4-BE49-F238E27FC236}">
                <a16:creationId xmlns:a16="http://schemas.microsoft.com/office/drawing/2014/main" id="{C0501EAE-4F50-37A4-0867-FC0536F570D7}"/>
              </a:ext>
            </a:extLst>
          </p:cNvPr>
          <p:cNvPicPr>
            <a:picLocks noChangeAspect="1"/>
          </p:cNvPicPr>
          <p:nvPr/>
        </p:nvPicPr>
        <p:blipFill>
          <a:blip r:embed="rId2"/>
          <a:stretch>
            <a:fillRect/>
          </a:stretch>
        </p:blipFill>
        <p:spPr>
          <a:xfrm>
            <a:off x="2927073" y="1058147"/>
            <a:ext cx="6641024" cy="5625528"/>
          </a:xfrm>
          <a:prstGeom prst="rect">
            <a:avLst/>
          </a:prstGeom>
        </p:spPr>
      </p:pic>
    </p:spTree>
    <p:extLst>
      <p:ext uri="{BB962C8B-B14F-4D97-AF65-F5344CB8AC3E}">
        <p14:creationId xmlns:p14="http://schemas.microsoft.com/office/powerpoint/2010/main" val="168980958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CAE0DE8-D730-C71D-A91D-095CECBB8C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22E41F-9AAD-28FF-CFB0-7EAEF3F9774C}"/>
              </a:ext>
            </a:extLst>
          </p:cNvPr>
          <p:cNvSpPr>
            <a:spLocks noGrp="1"/>
          </p:cNvSpPr>
          <p:nvPr>
            <p:ph type="title"/>
          </p:nvPr>
        </p:nvSpPr>
        <p:spPr>
          <a:xfrm>
            <a:off x="581192" y="702156"/>
            <a:ext cx="11029616" cy="1188720"/>
          </a:xfrm>
        </p:spPr>
        <p:txBody>
          <a:bodyPr>
            <a:normAutofit/>
          </a:bodyPr>
          <a:lstStyle/>
          <a:p>
            <a:pPr algn="l">
              <a:buNone/>
            </a:pPr>
            <a:r>
              <a:rPr lang="en-US" dirty="0"/>
              <a:t>Data transmission in TCP/IP networks</a:t>
            </a:r>
            <a:br>
              <a:rPr lang="en-US" b="1" i="0" dirty="0">
                <a:solidFill>
                  <a:srgbClr val="0D0D0D"/>
                </a:solidFill>
                <a:effectLst/>
                <a:latin typeface="a1-serif-bold"/>
              </a:rPr>
            </a:br>
            <a:endParaRPr lang="en-NG" dirty="0"/>
          </a:p>
        </p:txBody>
      </p:sp>
      <p:sp>
        <p:nvSpPr>
          <p:cNvPr id="3" name="Content Placeholder 2">
            <a:extLst>
              <a:ext uri="{FF2B5EF4-FFF2-40B4-BE49-F238E27FC236}">
                <a16:creationId xmlns:a16="http://schemas.microsoft.com/office/drawing/2014/main" id="{36A770CF-C7D5-075E-A8F1-244C0DFB58C5}"/>
              </a:ext>
            </a:extLst>
          </p:cNvPr>
          <p:cNvSpPr>
            <a:spLocks noGrp="1"/>
          </p:cNvSpPr>
          <p:nvPr>
            <p:ph idx="1"/>
          </p:nvPr>
        </p:nvSpPr>
        <p:spPr>
          <a:xfrm>
            <a:off x="429841" y="2435086"/>
            <a:ext cx="7024758" cy="3634486"/>
          </a:xfrm>
        </p:spPr>
        <p:txBody>
          <a:bodyPr>
            <a:noAutofit/>
          </a:bodyPr>
          <a:lstStyle/>
          <a:p>
            <a:pPr marL="0" indent="0">
              <a:lnSpc>
                <a:spcPts val="1650"/>
              </a:lnSpc>
              <a:spcBef>
                <a:spcPts val="750"/>
              </a:spcBef>
              <a:buNone/>
            </a:pPr>
            <a:r>
              <a:rPr lang="en-US" sz="1400" dirty="0">
                <a:solidFill>
                  <a:srgbClr val="51565E"/>
                </a:solidFill>
                <a:latin typeface="Roboto" panose="02000000000000000000" pitchFamily="2" charset="0"/>
              </a:rPr>
              <a:t>In the TCP/IP communication, data is transmitted using data packets. These packets carry information between the sender and the receiver. A data packet consists of three main components: the header, the payload and the footer.</a:t>
            </a:r>
          </a:p>
          <a:p>
            <a:pPr marL="0" indent="0">
              <a:lnSpc>
                <a:spcPts val="1650"/>
              </a:lnSpc>
              <a:spcBef>
                <a:spcPts val="750"/>
              </a:spcBef>
              <a:buNone/>
            </a:pPr>
            <a:endParaRPr lang="en-US" sz="1400" dirty="0">
              <a:solidFill>
                <a:srgbClr val="51565E"/>
              </a:solidFill>
              <a:latin typeface="Roboto" panose="02000000000000000000" pitchFamily="2" charset="0"/>
            </a:endParaRPr>
          </a:p>
          <a:p>
            <a:pPr algn="l" rtl="0">
              <a:buFont typeface="+mj-lt"/>
              <a:buAutoNum type="arabicPeriod"/>
            </a:pPr>
            <a:r>
              <a:rPr lang="en-US" sz="1400" b="1" dirty="0">
                <a:solidFill>
                  <a:srgbClr val="51565E"/>
                </a:solidFill>
                <a:latin typeface="Roboto" panose="02000000000000000000" pitchFamily="2" charset="0"/>
              </a:rPr>
              <a:t>Header</a:t>
            </a:r>
            <a:r>
              <a:rPr lang="en-US" sz="1400" dirty="0">
                <a:solidFill>
                  <a:srgbClr val="51565E"/>
                </a:solidFill>
                <a:latin typeface="Roboto" panose="02000000000000000000" pitchFamily="2" charset="0"/>
              </a:rPr>
              <a:t>: Contains metadata, including source and destination addresses, sequence numbers and protocol information. This ensures packets are delivered to the right location and in the correct order.</a:t>
            </a:r>
            <a:br>
              <a:rPr lang="en-US" sz="1400" dirty="0">
                <a:solidFill>
                  <a:srgbClr val="51565E"/>
                </a:solidFill>
                <a:latin typeface="Roboto" panose="02000000000000000000" pitchFamily="2" charset="0"/>
              </a:rPr>
            </a:br>
            <a:endParaRPr lang="en-US" sz="1400" dirty="0">
              <a:solidFill>
                <a:srgbClr val="51565E"/>
              </a:solidFill>
              <a:latin typeface="Roboto" panose="02000000000000000000" pitchFamily="2" charset="0"/>
            </a:endParaRPr>
          </a:p>
          <a:p>
            <a:pPr algn="l" rtl="0">
              <a:buFont typeface="+mj-lt"/>
              <a:buAutoNum type="arabicPeriod"/>
            </a:pPr>
            <a:r>
              <a:rPr lang="en-US" sz="1400" b="1" dirty="0">
                <a:solidFill>
                  <a:srgbClr val="51565E"/>
                </a:solidFill>
                <a:latin typeface="Roboto" panose="02000000000000000000" pitchFamily="2" charset="0"/>
              </a:rPr>
              <a:t>Payload</a:t>
            </a:r>
            <a:r>
              <a:rPr lang="en-US" sz="1400" dirty="0">
                <a:solidFill>
                  <a:srgbClr val="51565E"/>
                </a:solidFill>
                <a:latin typeface="Roboto" panose="02000000000000000000" pitchFamily="2" charset="0"/>
              </a:rPr>
              <a:t>: That is the actual content of the packet, such as text, images or files, being transmitted from the sender to the recipient.</a:t>
            </a:r>
            <a:br>
              <a:rPr lang="en-US" sz="1400" b="0" i="0" dirty="0">
                <a:solidFill>
                  <a:srgbClr val="505050"/>
                </a:solidFill>
                <a:effectLst/>
                <a:latin typeface="a1-sans-regular"/>
              </a:rPr>
            </a:br>
            <a:endParaRPr lang="en-US" sz="1400" b="0" i="0" dirty="0">
              <a:solidFill>
                <a:srgbClr val="505050"/>
              </a:solidFill>
              <a:effectLst/>
              <a:latin typeface="a1-sans-regular"/>
            </a:endParaRPr>
          </a:p>
          <a:p>
            <a:pPr>
              <a:buFont typeface="+mj-lt"/>
              <a:buAutoNum type="arabicPeriod"/>
            </a:pPr>
            <a:r>
              <a:rPr lang="en-US" sz="1400" b="1" dirty="0">
                <a:solidFill>
                  <a:srgbClr val="51565E"/>
                </a:solidFill>
                <a:latin typeface="Roboto" panose="02000000000000000000" pitchFamily="2" charset="0"/>
              </a:rPr>
              <a:t>Footer</a:t>
            </a:r>
            <a:r>
              <a:rPr lang="en-US" sz="1400" dirty="0">
                <a:solidFill>
                  <a:srgbClr val="51565E"/>
                </a:solidFill>
                <a:latin typeface="Roboto" panose="02000000000000000000" pitchFamily="2" charset="0"/>
              </a:rPr>
              <a:t>: Also known as the trailer, this optional component helps verify data integrity during transmission. If packets are incomplete or corrupted, TCP requests retransmission.</a:t>
            </a:r>
          </a:p>
          <a:p>
            <a:pPr>
              <a:lnSpc>
                <a:spcPts val="1950"/>
              </a:lnSpc>
              <a:spcAft>
                <a:spcPts val="1950"/>
              </a:spcAft>
            </a:pPr>
            <a:endParaRPr lang="en-US" sz="1400" dirty="0">
              <a:solidFill>
                <a:srgbClr val="51565E"/>
              </a:solidFill>
              <a:latin typeface="Roboto" panose="02000000000000000000" pitchFamily="2" charset="0"/>
            </a:endParaRPr>
          </a:p>
        </p:txBody>
      </p:sp>
      <p:sp>
        <p:nvSpPr>
          <p:cNvPr id="4" name="AutoShape 2" descr="4 layers">
            <a:extLst>
              <a:ext uri="{FF2B5EF4-FFF2-40B4-BE49-F238E27FC236}">
                <a16:creationId xmlns:a16="http://schemas.microsoft.com/office/drawing/2014/main" id="{52ACE0ED-D256-C25F-B050-74D096C8F7F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NG"/>
          </a:p>
        </p:txBody>
      </p:sp>
      <p:pic>
        <p:nvPicPr>
          <p:cNvPr id="6" name="Picture 5">
            <a:extLst>
              <a:ext uri="{FF2B5EF4-FFF2-40B4-BE49-F238E27FC236}">
                <a16:creationId xmlns:a16="http://schemas.microsoft.com/office/drawing/2014/main" id="{E5C01836-894E-0A02-A783-5EA4EFA9B533}"/>
              </a:ext>
            </a:extLst>
          </p:cNvPr>
          <p:cNvPicPr>
            <a:picLocks noChangeAspect="1"/>
          </p:cNvPicPr>
          <p:nvPr/>
        </p:nvPicPr>
        <p:blipFill>
          <a:blip r:embed="rId2"/>
          <a:stretch>
            <a:fillRect/>
          </a:stretch>
        </p:blipFill>
        <p:spPr>
          <a:xfrm>
            <a:off x="8304395" y="2514600"/>
            <a:ext cx="3081317" cy="2808449"/>
          </a:xfrm>
          <a:prstGeom prst="rect">
            <a:avLst/>
          </a:prstGeom>
        </p:spPr>
      </p:pic>
    </p:spTree>
    <p:extLst>
      <p:ext uri="{BB962C8B-B14F-4D97-AF65-F5344CB8AC3E}">
        <p14:creationId xmlns:p14="http://schemas.microsoft.com/office/powerpoint/2010/main" val="15410089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8086D3B-12CE-C72B-9F17-7D2BAA767E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3700D1-7ED3-F040-78DA-5CA3D2B8F6D4}"/>
              </a:ext>
            </a:extLst>
          </p:cNvPr>
          <p:cNvSpPr>
            <a:spLocks noGrp="1"/>
          </p:cNvSpPr>
          <p:nvPr>
            <p:ph type="title"/>
          </p:nvPr>
        </p:nvSpPr>
        <p:spPr>
          <a:xfrm>
            <a:off x="581192" y="702156"/>
            <a:ext cx="11029616" cy="1188720"/>
          </a:xfrm>
        </p:spPr>
        <p:txBody>
          <a:bodyPr>
            <a:normAutofit/>
          </a:bodyPr>
          <a:lstStyle/>
          <a:p>
            <a:pPr algn="l">
              <a:buNone/>
            </a:pPr>
            <a:r>
              <a:rPr lang="en-US" dirty="0"/>
              <a:t>Data transmission in TCP/IP networks</a:t>
            </a:r>
            <a:br>
              <a:rPr lang="en-US" b="1" i="0" dirty="0">
                <a:solidFill>
                  <a:srgbClr val="0D0D0D"/>
                </a:solidFill>
                <a:effectLst/>
                <a:latin typeface="a1-serif-bold"/>
              </a:rPr>
            </a:br>
            <a:endParaRPr lang="en-NG" dirty="0"/>
          </a:p>
        </p:txBody>
      </p:sp>
      <p:sp>
        <p:nvSpPr>
          <p:cNvPr id="3" name="Content Placeholder 2">
            <a:extLst>
              <a:ext uri="{FF2B5EF4-FFF2-40B4-BE49-F238E27FC236}">
                <a16:creationId xmlns:a16="http://schemas.microsoft.com/office/drawing/2014/main" id="{F098ADAB-4337-F056-AC4C-3ABDC46AFA8C}"/>
              </a:ext>
            </a:extLst>
          </p:cNvPr>
          <p:cNvSpPr>
            <a:spLocks noGrp="1"/>
          </p:cNvSpPr>
          <p:nvPr>
            <p:ph idx="1"/>
          </p:nvPr>
        </p:nvSpPr>
        <p:spPr>
          <a:xfrm>
            <a:off x="429841" y="2435086"/>
            <a:ext cx="7024758" cy="3634486"/>
          </a:xfrm>
        </p:spPr>
        <p:txBody>
          <a:bodyPr>
            <a:noAutofit/>
          </a:bodyPr>
          <a:lstStyle/>
          <a:p>
            <a:pPr algn="just">
              <a:lnSpc>
                <a:spcPts val="1650"/>
              </a:lnSpc>
              <a:spcBef>
                <a:spcPts val="750"/>
              </a:spcBef>
            </a:pPr>
            <a:r>
              <a:rPr lang="en-US" sz="1400" dirty="0">
                <a:solidFill>
                  <a:srgbClr val="51565E"/>
                </a:solidFill>
                <a:latin typeface="Roboto" panose="02000000000000000000" pitchFamily="2" charset="0"/>
              </a:rPr>
              <a:t>During communication, the Transport Layer divides data into packets and assigns sequence numbers to them. </a:t>
            </a:r>
          </a:p>
          <a:p>
            <a:pPr algn="just">
              <a:lnSpc>
                <a:spcPts val="1650"/>
              </a:lnSpc>
              <a:spcBef>
                <a:spcPts val="750"/>
              </a:spcBef>
            </a:pPr>
            <a:r>
              <a:rPr lang="en-US" sz="1400" dirty="0">
                <a:solidFill>
                  <a:srgbClr val="51565E"/>
                </a:solidFill>
                <a:latin typeface="Roboto" panose="02000000000000000000" pitchFamily="2" charset="0"/>
              </a:rPr>
              <a:t>The Internet Layer adds addressing and routing information, ensuring packets navigate networks independently. </a:t>
            </a:r>
          </a:p>
          <a:p>
            <a:pPr algn="just">
              <a:lnSpc>
                <a:spcPts val="1650"/>
              </a:lnSpc>
              <a:spcBef>
                <a:spcPts val="750"/>
              </a:spcBef>
            </a:pPr>
            <a:r>
              <a:rPr lang="en-US" sz="1400" dirty="0">
                <a:solidFill>
                  <a:srgbClr val="51565E"/>
                </a:solidFill>
                <a:latin typeface="Roboto" panose="02000000000000000000" pitchFamily="2" charset="0"/>
              </a:rPr>
              <a:t>The data packets travel independently along different paths across the internet, ensuring a reliable and fault-tolerant transmission. </a:t>
            </a:r>
          </a:p>
          <a:p>
            <a:pPr algn="just">
              <a:lnSpc>
                <a:spcPts val="1650"/>
              </a:lnSpc>
              <a:spcBef>
                <a:spcPts val="750"/>
              </a:spcBef>
            </a:pPr>
            <a:r>
              <a:rPr lang="en-US" sz="1400" dirty="0">
                <a:solidFill>
                  <a:srgbClr val="51565E"/>
                </a:solidFill>
                <a:latin typeface="Roboto" panose="02000000000000000000" pitchFamily="2" charset="0"/>
              </a:rPr>
              <a:t>On arrival in the TC/IP application layer, the receiving device reassembles the packets into the original data.</a:t>
            </a:r>
          </a:p>
        </p:txBody>
      </p:sp>
      <p:sp>
        <p:nvSpPr>
          <p:cNvPr id="4" name="AutoShape 2" descr="4 layers">
            <a:extLst>
              <a:ext uri="{FF2B5EF4-FFF2-40B4-BE49-F238E27FC236}">
                <a16:creationId xmlns:a16="http://schemas.microsoft.com/office/drawing/2014/main" id="{6A83E6CA-0B85-16E6-D2D2-6B4EC07E11C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NG"/>
          </a:p>
        </p:txBody>
      </p:sp>
      <p:pic>
        <p:nvPicPr>
          <p:cNvPr id="6" name="Picture 5">
            <a:extLst>
              <a:ext uri="{FF2B5EF4-FFF2-40B4-BE49-F238E27FC236}">
                <a16:creationId xmlns:a16="http://schemas.microsoft.com/office/drawing/2014/main" id="{2331959B-7216-7ED4-A30A-40D0A111B06E}"/>
              </a:ext>
            </a:extLst>
          </p:cNvPr>
          <p:cNvPicPr>
            <a:picLocks noChangeAspect="1"/>
          </p:cNvPicPr>
          <p:nvPr/>
        </p:nvPicPr>
        <p:blipFill>
          <a:blip r:embed="rId2"/>
          <a:stretch>
            <a:fillRect/>
          </a:stretch>
        </p:blipFill>
        <p:spPr>
          <a:xfrm>
            <a:off x="8304395" y="2514600"/>
            <a:ext cx="3081317" cy="2808449"/>
          </a:xfrm>
          <a:prstGeom prst="rect">
            <a:avLst/>
          </a:prstGeom>
        </p:spPr>
      </p:pic>
    </p:spTree>
    <p:extLst>
      <p:ext uri="{BB962C8B-B14F-4D97-AF65-F5344CB8AC3E}">
        <p14:creationId xmlns:p14="http://schemas.microsoft.com/office/powerpoint/2010/main" val="32513720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DF0FB7A-F882-6644-BCCA-95479C3E8A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CE4DE5-914E-894B-225E-6545A81B193C}"/>
              </a:ext>
            </a:extLst>
          </p:cNvPr>
          <p:cNvSpPr>
            <a:spLocks noGrp="1"/>
          </p:cNvSpPr>
          <p:nvPr>
            <p:ph type="title"/>
          </p:nvPr>
        </p:nvSpPr>
        <p:spPr>
          <a:xfrm>
            <a:off x="581192" y="702156"/>
            <a:ext cx="11029616" cy="1188720"/>
          </a:xfrm>
        </p:spPr>
        <p:txBody>
          <a:bodyPr>
            <a:normAutofit/>
          </a:bodyPr>
          <a:lstStyle/>
          <a:p>
            <a:pPr algn="l">
              <a:buNone/>
            </a:pPr>
            <a:r>
              <a:rPr lang="en-US" dirty="0"/>
              <a:t>TCP/IP – BUSINESS CASE</a:t>
            </a:r>
            <a:br>
              <a:rPr lang="en-US" b="1" i="0" dirty="0">
                <a:solidFill>
                  <a:srgbClr val="0D0D0D"/>
                </a:solidFill>
                <a:effectLst/>
                <a:latin typeface="a1-serif-bold"/>
              </a:rPr>
            </a:br>
            <a:endParaRPr lang="en-NG" dirty="0"/>
          </a:p>
        </p:txBody>
      </p:sp>
      <p:sp>
        <p:nvSpPr>
          <p:cNvPr id="3" name="Content Placeholder 2">
            <a:extLst>
              <a:ext uri="{FF2B5EF4-FFF2-40B4-BE49-F238E27FC236}">
                <a16:creationId xmlns:a16="http://schemas.microsoft.com/office/drawing/2014/main" id="{94EE74D4-45BD-2E75-F913-A072ED483002}"/>
              </a:ext>
            </a:extLst>
          </p:cNvPr>
          <p:cNvSpPr>
            <a:spLocks noGrp="1"/>
          </p:cNvSpPr>
          <p:nvPr>
            <p:ph idx="1"/>
          </p:nvPr>
        </p:nvSpPr>
        <p:spPr>
          <a:xfrm>
            <a:off x="534202" y="2281029"/>
            <a:ext cx="7024758" cy="3634486"/>
          </a:xfrm>
        </p:spPr>
        <p:txBody>
          <a:bodyPr>
            <a:noAutofit/>
          </a:bodyPr>
          <a:lstStyle/>
          <a:p>
            <a:pPr marL="0" indent="0" algn="just">
              <a:buNone/>
            </a:pPr>
            <a:r>
              <a:rPr lang="en-US" sz="1400" dirty="0">
                <a:solidFill>
                  <a:srgbClr val="51565E"/>
                </a:solidFill>
                <a:latin typeface="Roboto" panose="02000000000000000000" pitchFamily="2" charset="0"/>
              </a:rPr>
              <a:t>TCP and IP form the foundation for numerous business-critical applications and network solutions in companies. It allows reliable communication between devices and supports a variety of technologies that define the modern work environment.</a:t>
            </a:r>
          </a:p>
          <a:p>
            <a:pPr marL="0" indent="0" algn="just">
              <a:buNone/>
            </a:pPr>
            <a:endParaRPr lang="en-US" sz="1400" dirty="0">
              <a:solidFill>
                <a:srgbClr val="51565E"/>
              </a:solidFill>
              <a:latin typeface="Roboto" panose="02000000000000000000" pitchFamily="2" charset="0"/>
            </a:endParaRPr>
          </a:p>
          <a:p>
            <a:r>
              <a:rPr lang="en-US" sz="1400" b="1" dirty="0">
                <a:solidFill>
                  <a:srgbClr val="51565E"/>
                </a:solidFill>
                <a:latin typeface="Roboto" panose="02000000000000000000" pitchFamily="2" charset="0"/>
              </a:rPr>
              <a:t>VPNs and Remote Access</a:t>
            </a:r>
            <a:r>
              <a:rPr lang="en-US" sz="1400" dirty="0">
                <a:solidFill>
                  <a:srgbClr val="51565E"/>
                </a:solidFill>
                <a:latin typeface="Roboto" panose="02000000000000000000" pitchFamily="2" charset="0"/>
              </a:rPr>
              <a:t>: One of the most common applications of the TCP/IP model in businesses is Virtual Private Networks (VPNs). Employees can securely access the company network even when working remotely. TCP/IP protocols and standards ensure the reliable transmission of data packets while protecting them from unauthorized access.</a:t>
            </a:r>
          </a:p>
          <a:p>
            <a:r>
              <a:rPr lang="en-US" sz="1400" b="1" dirty="0">
                <a:solidFill>
                  <a:srgbClr val="51565E"/>
                </a:solidFill>
                <a:latin typeface="Roboto" panose="02000000000000000000" pitchFamily="2" charset="0"/>
              </a:rPr>
              <a:t>Firewalls and security solutions</a:t>
            </a:r>
            <a:r>
              <a:rPr lang="en-US" sz="1400" dirty="0">
                <a:solidFill>
                  <a:srgbClr val="51565E"/>
                </a:solidFill>
                <a:latin typeface="Roboto" panose="02000000000000000000" pitchFamily="2" charset="0"/>
              </a:rPr>
              <a:t>: The model also supports the use of firewalls in corporate networks, which filter network traffic based on TCP/IP data, identifying and blocking potential threats.</a:t>
            </a:r>
          </a:p>
          <a:p>
            <a:r>
              <a:rPr lang="en-US" sz="1400" b="1" dirty="0">
                <a:solidFill>
                  <a:srgbClr val="51565E"/>
                </a:solidFill>
                <a:latin typeface="Roboto" panose="02000000000000000000" pitchFamily="2" charset="0"/>
              </a:rPr>
              <a:t>IT management and network infrastructure</a:t>
            </a:r>
            <a:r>
              <a:rPr lang="en-US" sz="1400" dirty="0">
                <a:solidFill>
                  <a:srgbClr val="51565E"/>
                </a:solidFill>
                <a:latin typeface="Roboto" panose="02000000000000000000" pitchFamily="2" charset="0"/>
              </a:rPr>
              <a:t>: Network administrators can use TCP/IP protocols like SNMP (Simple Network Management Protocol) or ICMP (Internet Control Message Protocol) to monitor device status and detect issues early.</a:t>
            </a:r>
          </a:p>
          <a:p>
            <a:r>
              <a:rPr lang="en-US" sz="1400" b="1" dirty="0">
                <a:solidFill>
                  <a:srgbClr val="51565E"/>
                </a:solidFill>
                <a:latin typeface="Roboto" panose="02000000000000000000" pitchFamily="2" charset="0"/>
              </a:rPr>
              <a:t>Communication and data transfer</a:t>
            </a:r>
            <a:r>
              <a:rPr lang="en-US" sz="1400" dirty="0">
                <a:solidFill>
                  <a:srgbClr val="51565E"/>
                </a:solidFill>
                <a:latin typeface="Roboto" panose="02000000000000000000" pitchFamily="2" charset="0"/>
              </a:rPr>
              <a:t>: Business applications such as emails, web conferencing or file transfers rely on protocols built on the TCP/IP model. It ensures these services operate reliably and efficiently.</a:t>
            </a:r>
          </a:p>
        </p:txBody>
      </p:sp>
      <p:sp>
        <p:nvSpPr>
          <p:cNvPr id="4" name="AutoShape 2" descr="4 layers">
            <a:extLst>
              <a:ext uri="{FF2B5EF4-FFF2-40B4-BE49-F238E27FC236}">
                <a16:creationId xmlns:a16="http://schemas.microsoft.com/office/drawing/2014/main" id="{AAB5D951-E963-EB77-27DA-81FC490980A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NG"/>
          </a:p>
        </p:txBody>
      </p:sp>
      <p:pic>
        <p:nvPicPr>
          <p:cNvPr id="6" name="Picture 5">
            <a:extLst>
              <a:ext uri="{FF2B5EF4-FFF2-40B4-BE49-F238E27FC236}">
                <a16:creationId xmlns:a16="http://schemas.microsoft.com/office/drawing/2014/main" id="{2B3FA397-90D6-A86D-3D8B-7489253C9438}"/>
              </a:ext>
            </a:extLst>
          </p:cNvPr>
          <p:cNvPicPr>
            <a:picLocks noChangeAspect="1"/>
          </p:cNvPicPr>
          <p:nvPr/>
        </p:nvPicPr>
        <p:blipFill>
          <a:blip r:embed="rId2"/>
          <a:stretch>
            <a:fillRect/>
          </a:stretch>
        </p:blipFill>
        <p:spPr>
          <a:xfrm>
            <a:off x="8304395" y="2514600"/>
            <a:ext cx="3081317" cy="2808449"/>
          </a:xfrm>
          <a:prstGeom prst="rect">
            <a:avLst/>
          </a:prstGeom>
        </p:spPr>
      </p:pic>
    </p:spTree>
    <p:extLst>
      <p:ext uri="{BB962C8B-B14F-4D97-AF65-F5344CB8AC3E}">
        <p14:creationId xmlns:p14="http://schemas.microsoft.com/office/powerpoint/2010/main" val="14579675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D1CE6D6-F40B-3487-3A13-7600F6787B06}"/>
            </a:ext>
          </a:extLst>
        </p:cNvPr>
        <p:cNvGrpSpPr/>
        <p:nvPr/>
      </p:nvGrpSpPr>
      <p:grpSpPr>
        <a:xfrm>
          <a:off x="0" y="0"/>
          <a:ext cx="0" cy="0"/>
          <a:chOff x="0" y="0"/>
          <a:chExt cx="0" cy="0"/>
        </a:xfrm>
      </p:grpSpPr>
      <p:sp>
        <p:nvSpPr>
          <p:cNvPr id="18439" name="Rectangle 18438">
            <a:extLst>
              <a:ext uri="{FF2B5EF4-FFF2-40B4-BE49-F238E27FC236}">
                <a16:creationId xmlns:a16="http://schemas.microsoft.com/office/drawing/2014/main" id="{E9751CB9-7B25-4EB8-9A6F-82F822549F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41" name="Rectangle 18440">
            <a:extLst>
              <a:ext uri="{FF2B5EF4-FFF2-40B4-BE49-F238E27FC236}">
                <a16:creationId xmlns:a16="http://schemas.microsoft.com/office/drawing/2014/main" id="{E1317383-CF3B-4B02-9512-BECBEF6362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18443" name="Rectangle 18442">
            <a:extLst>
              <a:ext uri="{FF2B5EF4-FFF2-40B4-BE49-F238E27FC236}">
                <a16:creationId xmlns:a16="http://schemas.microsoft.com/office/drawing/2014/main" id="{B1D4C7A0-6DF2-4F2D-A45D-F111582974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18445" name="Rectangle 18444">
            <a:extLst>
              <a:ext uri="{FF2B5EF4-FFF2-40B4-BE49-F238E27FC236}">
                <a16:creationId xmlns:a16="http://schemas.microsoft.com/office/drawing/2014/main" id="{DBF3943D-BCB6-4B31-809D-A005686483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18447" name="Rectangle 18446">
            <a:extLst>
              <a:ext uri="{FF2B5EF4-FFF2-40B4-BE49-F238E27FC236}">
                <a16:creationId xmlns:a16="http://schemas.microsoft.com/office/drawing/2014/main" id="{39373A6F-2E1F-4613-8E1D-D68057D29F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2377" y="601200"/>
            <a:ext cx="3707477" cy="562497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2" name="Title 1">
            <a:extLst>
              <a:ext uri="{FF2B5EF4-FFF2-40B4-BE49-F238E27FC236}">
                <a16:creationId xmlns:a16="http://schemas.microsoft.com/office/drawing/2014/main" id="{EA94E9B7-07B0-DFEB-4CF3-07EDDB3C68AF}"/>
              </a:ext>
            </a:extLst>
          </p:cNvPr>
          <p:cNvSpPr>
            <a:spLocks noGrp="1"/>
          </p:cNvSpPr>
          <p:nvPr>
            <p:ph type="title"/>
          </p:nvPr>
        </p:nvSpPr>
        <p:spPr>
          <a:xfrm>
            <a:off x="601255" y="702155"/>
            <a:ext cx="3409783" cy="1300365"/>
          </a:xfrm>
        </p:spPr>
        <p:txBody>
          <a:bodyPr>
            <a:normAutofit/>
          </a:bodyPr>
          <a:lstStyle/>
          <a:p>
            <a:pPr>
              <a:lnSpc>
                <a:spcPct val="90000"/>
              </a:lnSpc>
              <a:buNone/>
            </a:pPr>
            <a:r>
              <a:rPr lang="en-US" dirty="0">
                <a:solidFill>
                  <a:srgbClr val="FFFFFF"/>
                </a:solidFill>
              </a:rPr>
              <a:t>TCP/IP – PRACTICAL FLOW</a:t>
            </a:r>
            <a:br>
              <a:rPr lang="en-US" b="1" i="0" dirty="0">
                <a:solidFill>
                  <a:srgbClr val="FFFFFF"/>
                </a:solidFill>
                <a:effectLst/>
                <a:latin typeface="a1-serif-bold"/>
              </a:rPr>
            </a:br>
            <a:endParaRPr lang="en-NG" dirty="0">
              <a:solidFill>
                <a:srgbClr val="FFFFFF"/>
              </a:solidFill>
            </a:endParaRPr>
          </a:p>
        </p:txBody>
      </p:sp>
      <p:sp>
        <p:nvSpPr>
          <p:cNvPr id="3" name="Content Placeholder 2">
            <a:extLst>
              <a:ext uri="{FF2B5EF4-FFF2-40B4-BE49-F238E27FC236}">
                <a16:creationId xmlns:a16="http://schemas.microsoft.com/office/drawing/2014/main" id="{73719C89-F70D-EE96-4263-FCDEF13A5B2E}"/>
              </a:ext>
            </a:extLst>
          </p:cNvPr>
          <p:cNvSpPr>
            <a:spLocks noGrp="1"/>
          </p:cNvSpPr>
          <p:nvPr>
            <p:ph idx="1"/>
          </p:nvPr>
        </p:nvSpPr>
        <p:spPr>
          <a:xfrm>
            <a:off x="601255" y="2177142"/>
            <a:ext cx="3409782" cy="3823607"/>
          </a:xfrm>
        </p:spPr>
        <p:txBody>
          <a:bodyPr>
            <a:normAutofit/>
          </a:bodyPr>
          <a:lstStyle/>
          <a:p>
            <a:pPr marL="0" indent="0">
              <a:lnSpc>
                <a:spcPct val="100000"/>
              </a:lnSpc>
              <a:buNone/>
            </a:pPr>
            <a:r>
              <a:rPr lang="en-US" sz="1400" dirty="0">
                <a:solidFill>
                  <a:srgbClr val="FFFFFF"/>
                </a:solidFill>
                <a:latin typeface="Roboto" panose="02000000000000000000" pitchFamily="2" charset="0"/>
              </a:rPr>
              <a:t>Whenever you send something over the internet — a message, a photo, a file — the TCP/IP model divides that data into packets according to a four-layer procedure. The data first goes through these layers in one order, and then in reverse order as the data is reassembled on the receiving end.</a:t>
            </a:r>
          </a:p>
          <a:p>
            <a:pPr marL="0" indent="0">
              <a:lnSpc>
                <a:spcPct val="100000"/>
              </a:lnSpc>
              <a:buNone/>
            </a:pPr>
            <a:r>
              <a:rPr lang="en-US" sz="1400" dirty="0">
                <a:solidFill>
                  <a:srgbClr val="FFFFFF"/>
                </a:solidFill>
                <a:latin typeface="Roboto" panose="02000000000000000000" pitchFamily="2" charset="0"/>
              </a:rPr>
              <a:t>The TCP/IP model works because the whole process is standardized. Without standardization, communication would go haywire and slow things down — and fast internet service relies on efficiency. As the global standard, the TCP/IP model is one of the most efficient ways to transfer data over the internet.</a:t>
            </a:r>
          </a:p>
        </p:txBody>
      </p:sp>
      <p:pic>
        <p:nvPicPr>
          <p:cNvPr id="18434" name="Picture 2" descr="Data sent over the internet goes through four layers on the way out and then again in reverse order on the way back in, as it's reassembled on the receiving end.">
            <a:extLst>
              <a:ext uri="{FF2B5EF4-FFF2-40B4-BE49-F238E27FC236}">
                <a16:creationId xmlns:a16="http://schemas.microsoft.com/office/drawing/2014/main" id="{8459A4F0-E311-D442-F853-957514C02C7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592231" y="1866127"/>
            <a:ext cx="6831503" cy="3108333"/>
          </a:xfrm>
          <a:prstGeom prst="rect">
            <a:avLst/>
          </a:prstGeom>
          <a:noFill/>
          <a:extLst>
            <a:ext uri="{909E8E84-426E-40DD-AFC4-6F175D3DCCD1}">
              <a14:hiddenFill xmlns:a14="http://schemas.microsoft.com/office/drawing/2010/main">
                <a:solidFill>
                  <a:srgbClr val="FFFFFF"/>
                </a:solidFill>
              </a14:hiddenFill>
            </a:ext>
          </a:extLst>
        </p:spPr>
      </p:pic>
      <p:sp>
        <p:nvSpPr>
          <p:cNvPr id="4" name="AutoShape 2" descr="4 layers">
            <a:extLst>
              <a:ext uri="{FF2B5EF4-FFF2-40B4-BE49-F238E27FC236}">
                <a16:creationId xmlns:a16="http://schemas.microsoft.com/office/drawing/2014/main" id="{873B772F-C522-FEA6-2D3B-04CD6CAAF50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NG"/>
          </a:p>
        </p:txBody>
      </p:sp>
    </p:spTree>
    <p:extLst>
      <p:ext uri="{BB962C8B-B14F-4D97-AF65-F5344CB8AC3E}">
        <p14:creationId xmlns:p14="http://schemas.microsoft.com/office/powerpoint/2010/main" val="469996621"/>
      </p:ext>
    </p:extLst>
  </p:cSld>
  <p:clrMapOvr>
    <a:overrideClrMapping bg1="dk1" tx1="lt1" bg2="dk2" tx2="lt2" accent1="accent1" accent2="accent2" accent3="accent3" accent4="accent4" accent5="accent5" accent6="accent6" hlink="hlink" folHlink="folHlink"/>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D7638E1-B9AB-D412-BD5E-F04BE23A78DB}"/>
            </a:ext>
          </a:extLst>
        </p:cNvPr>
        <p:cNvGrpSpPr/>
        <p:nvPr/>
      </p:nvGrpSpPr>
      <p:grpSpPr>
        <a:xfrm>
          <a:off x="0" y="0"/>
          <a:ext cx="0" cy="0"/>
          <a:chOff x="0" y="0"/>
          <a:chExt cx="0" cy="0"/>
        </a:xfrm>
      </p:grpSpPr>
      <p:sp useBgFill="1">
        <p:nvSpPr>
          <p:cNvPr id="21511" name="Rectangle 21510">
            <a:extLst>
              <a:ext uri="{FF2B5EF4-FFF2-40B4-BE49-F238E27FC236}">
                <a16:creationId xmlns:a16="http://schemas.microsoft.com/office/drawing/2014/main" id="{FBB53F82-F191-4EEB-AB7B-F69E634FA3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F96EF8D-20C7-DBB6-B0BF-25833348EA14}"/>
              </a:ext>
            </a:extLst>
          </p:cNvPr>
          <p:cNvSpPr>
            <a:spLocks noGrp="1"/>
          </p:cNvSpPr>
          <p:nvPr>
            <p:ph type="title"/>
          </p:nvPr>
        </p:nvSpPr>
        <p:spPr>
          <a:xfrm>
            <a:off x="581192" y="702156"/>
            <a:ext cx="11029616" cy="1188720"/>
          </a:xfrm>
        </p:spPr>
        <p:txBody>
          <a:bodyPr>
            <a:normAutofit/>
          </a:bodyPr>
          <a:lstStyle/>
          <a:p>
            <a:pPr>
              <a:lnSpc>
                <a:spcPct val="90000"/>
              </a:lnSpc>
            </a:pPr>
            <a:r>
              <a:rPr lang="en-US" sz="2600" dirty="0"/>
              <a:t>UDP (User Datagram Protocol)</a:t>
            </a:r>
            <a:br>
              <a:rPr lang="en-US" sz="2600" b="1" i="0" dirty="0">
                <a:effectLst/>
                <a:latin typeface="Inter"/>
              </a:rPr>
            </a:br>
            <a:br>
              <a:rPr lang="en-US" sz="2600" b="1" i="0" dirty="0">
                <a:effectLst/>
                <a:latin typeface="a1-serif-bold"/>
              </a:rPr>
            </a:br>
            <a:endParaRPr lang="en-NG" sz="2600" dirty="0"/>
          </a:p>
        </p:txBody>
      </p:sp>
      <p:sp>
        <p:nvSpPr>
          <p:cNvPr id="21513" name="Rectangle 21512">
            <a:extLst>
              <a:ext uri="{FF2B5EF4-FFF2-40B4-BE49-F238E27FC236}">
                <a16:creationId xmlns:a16="http://schemas.microsoft.com/office/drawing/2014/main" id="{8616AA08-3831-473D-B61B-89484A33CF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21515" name="Rectangle 21514">
            <a:extLst>
              <a:ext uri="{FF2B5EF4-FFF2-40B4-BE49-F238E27FC236}">
                <a16:creationId xmlns:a16="http://schemas.microsoft.com/office/drawing/2014/main" id="{8431B918-3A1C-46BA-9430-CAD97D9DA0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21517" name="Rectangle 21516">
            <a:extLst>
              <a:ext uri="{FF2B5EF4-FFF2-40B4-BE49-F238E27FC236}">
                <a16:creationId xmlns:a16="http://schemas.microsoft.com/office/drawing/2014/main" id="{8400935A-2F82-4DC4-A4E1-E12EFB8C27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21519" name="Rectangle 21518">
            <a:extLst>
              <a:ext uri="{FF2B5EF4-FFF2-40B4-BE49-F238E27FC236}">
                <a16:creationId xmlns:a16="http://schemas.microsoft.com/office/drawing/2014/main" id="{A3D5D599-1CAE-4C92-B5AE-8E51AF6D47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3" y="2180496"/>
            <a:ext cx="5404639" cy="4045683"/>
          </a:xfrm>
          <a:prstGeom prst="rect">
            <a:avLst/>
          </a:prstGeom>
          <a:solidFill>
            <a:schemeClr val="bg1"/>
          </a:solidFill>
          <a:ln w="38100">
            <a:solidFill>
              <a:srgbClr val="4653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1506" name="Picture 2" descr="User Datagram Protocol | Learn More ...">
            <a:extLst>
              <a:ext uri="{FF2B5EF4-FFF2-40B4-BE49-F238E27FC236}">
                <a16:creationId xmlns:a16="http://schemas.microsoft.com/office/drawing/2014/main" id="{75F60B23-CBFB-645D-CD76-6938BF291BEC}"/>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80698" y="3069357"/>
            <a:ext cx="4748741" cy="2264784"/>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2443FBE0-443F-58AF-A00D-14D469098A31}"/>
              </a:ext>
            </a:extLst>
          </p:cNvPr>
          <p:cNvSpPr>
            <a:spLocks noGrp="1"/>
          </p:cNvSpPr>
          <p:nvPr>
            <p:ph idx="1"/>
          </p:nvPr>
        </p:nvSpPr>
        <p:spPr>
          <a:xfrm>
            <a:off x="6335805" y="2180496"/>
            <a:ext cx="5275001" cy="4045683"/>
          </a:xfrm>
        </p:spPr>
        <p:txBody>
          <a:bodyPr>
            <a:normAutofit/>
          </a:bodyPr>
          <a:lstStyle/>
          <a:p>
            <a:pPr marL="0" indent="0">
              <a:lnSpc>
                <a:spcPct val="100000"/>
              </a:lnSpc>
              <a:buNone/>
            </a:pPr>
            <a:r>
              <a:rPr lang="en-US">
                <a:latin typeface="Roboto" panose="02000000000000000000" pitchFamily="2" charset="0"/>
              </a:rPr>
              <a:t>User Datagram Protocol (UDP) is a communications protocol for time-sensitive applications like gaming, playing videos, or Domain Name System (DNS) lookups. UDP results in speedier communication because it does not spend time forming a firm connection with the destination before transferring the data. Because establishing the connection takes time, eliminating this step results in faster data transfer speeds.</a:t>
            </a:r>
          </a:p>
          <a:p>
            <a:pPr marL="0" indent="0">
              <a:lnSpc>
                <a:spcPct val="100000"/>
              </a:lnSpc>
              <a:buNone/>
            </a:pPr>
            <a:endParaRPr lang="en-US">
              <a:latin typeface="Roboto" panose="02000000000000000000" pitchFamily="2" charset="0"/>
            </a:endParaRPr>
          </a:p>
          <a:p>
            <a:pPr marL="0" indent="0">
              <a:lnSpc>
                <a:spcPct val="100000"/>
              </a:lnSpc>
              <a:buNone/>
            </a:pPr>
            <a:r>
              <a:rPr lang="en-US">
                <a:latin typeface="Roboto" panose="02000000000000000000" pitchFamily="2" charset="0"/>
              </a:rPr>
              <a:t>However, UDP can also cause data packets to get lost as they go from the source to the destination. It can also make it relatively easy for a hacker to execute a distributed denial-of-service (DDoS) attack.</a:t>
            </a:r>
          </a:p>
        </p:txBody>
      </p:sp>
      <p:sp>
        <p:nvSpPr>
          <p:cNvPr id="4" name="AutoShape 2" descr="4 layers">
            <a:extLst>
              <a:ext uri="{FF2B5EF4-FFF2-40B4-BE49-F238E27FC236}">
                <a16:creationId xmlns:a16="http://schemas.microsoft.com/office/drawing/2014/main" id="{99652F6A-214C-5147-76C3-CC0ECA2E983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NG"/>
          </a:p>
        </p:txBody>
      </p:sp>
    </p:spTree>
    <p:extLst>
      <p:ext uri="{BB962C8B-B14F-4D97-AF65-F5344CB8AC3E}">
        <p14:creationId xmlns:p14="http://schemas.microsoft.com/office/powerpoint/2010/main" val="134238437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3121B79-CD47-C132-693D-DAE9A52A446C}"/>
            </a:ext>
          </a:extLst>
        </p:cNvPr>
        <p:cNvGrpSpPr/>
        <p:nvPr/>
      </p:nvGrpSpPr>
      <p:grpSpPr>
        <a:xfrm>
          <a:off x="0" y="0"/>
          <a:ext cx="0" cy="0"/>
          <a:chOff x="0" y="0"/>
          <a:chExt cx="0" cy="0"/>
        </a:xfrm>
      </p:grpSpPr>
      <p:sp useBgFill="1">
        <p:nvSpPr>
          <p:cNvPr id="22545" name="Rectangle 22544">
            <a:extLst>
              <a:ext uri="{FF2B5EF4-FFF2-40B4-BE49-F238E27FC236}">
                <a16:creationId xmlns:a16="http://schemas.microsoft.com/office/drawing/2014/main" id="{FBB53F82-F191-4EEB-AB7B-F69E634FA3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7F139F1-AA52-2C03-36B3-CA74420054AD}"/>
              </a:ext>
            </a:extLst>
          </p:cNvPr>
          <p:cNvSpPr>
            <a:spLocks noGrp="1"/>
          </p:cNvSpPr>
          <p:nvPr>
            <p:ph type="title"/>
          </p:nvPr>
        </p:nvSpPr>
        <p:spPr>
          <a:xfrm>
            <a:off x="581192" y="702156"/>
            <a:ext cx="11029616" cy="1188720"/>
          </a:xfrm>
        </p:spPr>
        <p:txBody>
          <a:bodyPr>
            <a:normAutofit/>
          </a:bodyPr>
          <a:lstStyle/>
          <a:p>
            <a:pPr>
              <a:buNone/>
            </a:pPr>
            <a:r>
              <a:rPr lang="en-US"/>
              <a:t>UDP (User Datagram Protocol)</a:t>
            </a:r>
            <a:br>
              <a:rPr lang="en-US" b="1" i="0">
                <a:effectLst/>
                <a:latin typeface="a1-serif-bold"/>
              </a:rPr>
            </a:br>
            <a:endParaRPr lang="en-NG"/>
          </a:p>
        </p:txBody>
      </p:sp>
      <p:sp>
        <p:nvSpPr>
          <p:cNvPr id="22546" name="Rectangle 22545">
            <a:extLst>
              <a:ext uri="{FF2B5EF4-FFF2-40B4-BE49-F238E27FC236}">
                <a16:creationId xmlns:a16="http://schemas.microsoft.com/office/drawing/2014/main" id="{8616AA08-3831-473D-B61B-89484A33CF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22547" name="Rectangle 22546">
            <a:extLst>
              <a:ext uri="{FF2B5EF4-FFF2-40B4-BE49-F238E27FC236}">
                <a16:creationId xmlns:a16="http://schemas.microsoft.com/office/drawing/2014/main" id="{8431B918-3A1C-46BA-9430-CAD97D9DA0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22548" name="Rectangle 22547">
            <a:extLst>
              <a:ext uri="{FF2B5EF4-FFF2-40B4-BE49-F238E27FC236}">
                <a16:creationId xmlns:a16="http://schemas.microsoft.com/office/drawing/2014/main" id="{8400935A-2F82-4DC4-A4E1-E12EFB8C27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3" name="Content Placeholder 2">
            <a:extLst>
              <a:ext uri="{FF2B5EF4-FFF2-40B4-BE49-F238E27FC236}">
                <a16:creationId xmlns:a16="http://schemas.microsoft.com/office/drawing/2014/main" id="{3B90674C-8816-E21A-B1C4-493BCB222713}"/>
              </a:ext>
            </a:extLst>
          </p:cNvPr>
          <p:cNvSpPr>
            <a:spLocks noGrp="1"/>
          </p:cNvSpPr>
          <p:nvPr>
            <p:ph idx="1"/>
          </p:nvPr>
        </p:nvSpPr>
        <p:spPr>
          <a:xfrm>
            <a:off x="581193" y="2180496"/>
            <a:ext cx="6917210" cy="4045683"/>
          </a:xfrm>
        </p:spPr>
        <p:txBody>
          <a:bodyPr>
            <a:normAutofit/>
          </a:bodyPr>
          <a:lstStyle/>
          <a:p>
            <a:pPr marL="0" indent="0">
              <a:buNone/>
            </a:pPr>
            <a:r>
              <a:rPr lang="en-US" dirty="0">
                <a:latin typeface="Roboto" panose="02000000000000000000" pitchFamily="2" charset="0"/>
              </a:rPr>
              <a:t>In many cases, particularly with Transmission Control Protocol (TCP), when data is transferred across the internet, it not only has to be sent from the destination but also the receiving end has to signal that it is ready for the data to arrive. Once both of these aspects of the communication are fulfilled, the transmission can begin. However, with UDP, the data is sent before a connection has been firmly established. This can result in problems with the data transfer, and it also presents an opportunity for hackers who seek to execute DDoS attacks.</a:t>
            </a:r>
          </a:p>
        </p:txBody>
      </p:sp>
      <p:sp>
        <p:nvSpPr>
          <p:cNvPr id="22549" name="Rectangle 22548">
            <a:extLst>
              <a:ext uri="{FF2B5EF4-FFF2-40B4-BE49-F238E27FC236}">
                <a16:creationId xmlns:a16="http://schemas.microsoft.com/office/drawing/2014/main" id="{A3D5D599-1CAE-4C92-B5AE-8E51AF6D47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6" y="2180496"/>
            <a:ext cx="3703321" cy="4045683"/>
          </a:xfrm>
          <a:prstGeom prst="rect">
            <a:avLst/>
          </a:prstGeom>
          <a:solidFill>
            <a:schemeClr val="bg1"/>
          </a:solidFill>
          <a:ln w="38100">
            <a:solidFill>
              <a:srgbClr val="4653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530" name="Picture 2" descr="What Is User Datagram Protocol?">
            <a:extLst>
              <a:ext uri="{FF2B5EF4-FFF2-40B4-BE49-F238E27FC236}">
                <a16:creationId xmlns:a16="http://schemas.microsoft.com/office/drawing/2014/main" id="{3E093067-B0CB-EC46-EB98-747E5561BEC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363915" y="3283815"/>
            <a:ext cx="3059782" cy="1835869"/>
          </a:xfrm>
          <a:prstGeom prst="rect">
            <a:avLst/>
          </a:prstGeom>
          <a:noFill/>
          <a:extLst>
            <a:ext uri="{909E8E84-426E-40DD-AFC4-6F175D3DCCD1}">
              <a14:hiddenFill xmlns:a14="http://schemas.microsoft.com/office/drawing/2010/main">
                <a:solidFill>
                  <a:srgbClr val="FFFFFF"/>
                </a:solidFill>
              </a14:hiddenFill>
            </a:ext>
          </a:extLst>
        </p:spPr>
      </p:pic>
      <p:sp>
        <p:nvSpPr>
          <p:cNvPr id="4" name="AutoShape 2" descr="4 layers">
            <a:extLst>
              <a:ext uri="{FF2B5EF4-FFF2-40B4-BE49-F238E27FC236}">
                <a16:creationId xmlns:a16="http://schemas.microsoft.com/office/drawing/2014/main" id="{5F081CAF-72CE-0D46-F48E-E6DEE4B7529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NG"/>
          </a:p>
        </p:txBody>
      </p:sp>
    </p:spTree>
    <p:extLst>
      <p:ext uri="{BB962C8B-B14F-4D97-AF65-F5344CB8AC3E}">
        <p14:creationId xmlns:p14="http://schemas.microsoft.com/office/powerpoint/2010/main" val="366384003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72FEEE2-3D23-1654-7466-FC1726F1031F}"/>
            </a:ext>
          </a:extLst>
        </p:cNvPr>
        <p:cNvGrpSpPr/>
        <p:nvPr/>
      </p:nvGrpSpPr>
      <p:grpSpPr>
        <a:xfrm>
          <a:off x="0" y="0"/>
          <a:ext cx="0" cy="0"/>
          <a:chOff x="0" y="0"/>
          <a:chExt cx="0" cy="0"/>
        </a:xfrm>
      </p:grpSpPr>
      <p:sp>
        <p:nvSpPr>
          <p:cNvPr id="23559" name="Rectangle 23558">
            <a:extLst>
              <a:ext uri="{FF2B5EF4-FFF2-40B4-BE49-F238E27FC236}">
                <a16:creationId xmlns:a16="http://schemas.microsoft.com/office/drawing/2014/main" id="{E9751CB9-7B25-4EB8-9A6F-82F822549F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561" name="Rectangle 23560">
            <a:extLst>
              <a:ext uri="{FF2B5EF4-FFF2-40B4-BE49-F238E27FC236}">
                <a16:creationId xmlns:a16="http://schemas.microsoft.com/office/drawing/2014/main" id="{E1317383-CF3B-4B02-9512-BECBEF6362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23563" name="Rectangle 23562">
            <a:extLst>
              <a:ext uri="{FF2B5EF4-FFF2-40B4-BE49-F238E27FC236}">
                <a16:creationId xmlns:a16="http://schemas.microsoft.com/office/drawing/2014/main" id="{B1D4C7A0-6DF2-4F2D-A45D-F111582974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23565" name="Rectangle 23564">
            <a:extLst>
              <a:ext uri="{FF2B5EF4-FFF2-40B4-BE49-F238E27FC236}">
                <a16:creationId xmlns:a16="http://schemas.microsoft.com/office/drawing/2014/main" id="{DBF3943D-BCB6-4B31-809D-A005686483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23567" name="Rectangle 23566">
            <a:extLst>
              <a:ext uri="{FF2B5EF4-FFF2-40B4-BE49-F238E27FC236}">
                <a16:creationId xmlns:a16="http://schemas.microsoft.com/office/drawing/2014/main" id="{39373A6F-2E1F-4613-8E1D-D68057D29F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2377" y="601200"/>
            <a:ext cx="3707477" cy="562497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2" name="Title 1">
            <a:extLst>
              <a:ext uri="{FF2B5EF4-FFF2-40B4-BE49-F238E27FC236}">
                <a16:creationId xmlns:a16="http://schemas.microsoft.com/office/drawing/2014/main" id="{AFC7072C-BE6A-124D-5201-361FDA2F5231}"/>
              </a:ext>
            </a:extLst>
          </p:cNvPr>
          <p:cNvSpPr>
            <a:spLocks noGrp="1"/>
          </p:cNvSpPr>
          <p:nvPr>
            <p:ph type="title"/>
          </p:nvPr>
        </p:nvSpPr>
        <p:spPr>
          <a:xfrm>
            <a:off x="601255" y="702155"/>
            <a:ext cx="3409783" cy="1300365"/>
          </a:xfrm>
        </p:spPr>
        <p:txBody>
          <a:bodyPr>
            <a:normAutofit/>
          </a:bodyPr>
          <a:lstStyle/>
          <a:p>
            <a:pPr>
              <a:buNone/>
            </a:pPr>
            <a:r>
              <a:rPr lang="en-US">
                <a:solidFill>
                  <a:srgbClr val="FFFFFF"/>
                </a:solidFill>
              </a:rPr>
              <a:t>HOW UDP WORKS</a:t>
            </a:r>
            <a:br>
              <a:rPr lang="en-US" b="1" i="0">
                <a:solidFill>
                  <a:srgbClr val="FFFFFF"/>
                </a:solidFill>
                <a:effectLst/>
                <a:latin typeface="a1-serif-bold"/>
              </a:rPr>
            </a:br>
            <a:endParaRPr lang="en-NG">
              <a:solidFill>
                <a:srgbClr val="FFFFFF"/>
              </a:solidFill>
            </a:endParaRPr>
          </a:p>
        </p:txBody>
      </p:sp>
      <p:sp>
        <p:nvSpPr>
          <p:cNvPr id="3" name="Content Placeholder 2">
            <a:extLst>
              <a:ext uri="{FF2B5EF4-FFF2-40B4-BE49-F238E27FC236}">
                <a16:creationId xmlns:a16="http://schemas.microsoft.com/office/drawing/2014/main" id="{43DCE2B3-B495-1D9F-B701-A59C92342DF3}"/>
              </a:ext>
            </a:extLst>
          </p:cNvPr>
          <p:cNvSpPr>
            <a:spLocks noGrp="1"/>
          </p:cNvSpPr>
          <p:nvPr>
            <p:ph idx="1"/>
          </p:nvPr>
        </p:nvSpPr>
        <p:spPr>
          <a:xfrm>
            <a:off x="601255" y="2177142"/>
            <a:ext cx="3409782" cy="3823607"/>
          </a:xfrm>
        </p:spPr>
        <p:txBody>
          <a:bodyPr>
            <a:normAutofit/>
          </a:bodyPr>
          <a:lstStyle/>
          <a:p>
            <a:pPr marL="0" indent="0">
              <a:lnSpc>
                <a:spcPct val="100000"/>
              </a:lnSpc>
              <a:buNone/>
            </a:pPr>
            <a:r>
              <a:rPr lang="en-US" sz="1200">
                <a:solidFill>
                  <a:srgbClr val="FFFFFF"/>
                </a:solidFill>
                <a:latin typeface="Roboto" panose="02000000000000000000" pitchFamily="2" charset="0"/>
              </a:rPr>
              <a:t>In comparison to other networking protocols, the process behind UDP is fairly simple. A target computer is identified and the data packets, called “datagrams,” are sent to it. There is nothing in place to indicate the order in which the packets should arrive. There is also no process for checking if the datagrams reached the destination.</a:t>
            </a:r>
          </a:p>
          <a:p>
            <a:pPr marL="0" indent="0">
              <a:lnSpc>
                <a:spcPct val="100000"/>
              </a:lnSpc>
              <a:buNone/>
            </a:pPr>
            <a:endParaRPr lang="en-US" sz="1200">
              <a:solidFill>
                <a:srgbClr val="FFFFFF"/>
              </a:solidFill>
              <a:latin typeface="Roboto" panose="02000000000000000000" pitchFamily="2" charset="0"/>
            </a:endParaRPr>
          </a:p>
          <a:p>
            <a:pPr marL="0" indent="0">
              <a:lnSpc>
                <a:spcPct val="100000"/>
              </a:lnSpc>
              <a:buNone/>
            </a:pPr>
            <a:r>
              <a:rPr lang="en-US" sz="1200">
                <a:solidFill>
                  <a:srgbClr val="FFFFFF"/>
                </a:solidFill>
                <a:latin typeface="Roboto" panose="02000000000000000000" pitchFamily="2" charset="0"/>
              </a:rPr>
              <a:t>Even though UDP comes with checksums, which are meant to ensure the integrity of the data, and port numbers, which help differentiate the role the data plays at the source and destination, the lack of an obligatory handshake presents a problem. The program the user is executing with the help of UDP is left exposed to unreliable facets of the underlying network.</a:t>
            </a:r>
          </a:p>
          <a:p>
            <a:pPr marL="0" indent="0">
              <a:lnSpc>
                <a:spcPct val="100000"/>
              </a:lnSpc>
              <a:buNone/>
            </a:pPr>
            <a:endParaRPr lang="en-US" sz="1200">
              <a:solidFill>
                <a:srgbClr val="FFFFFF"/>
              </a:solidFill>
              <a:latin typeface="Roboto" panose="02000000000000000000" pitchFamily="2" charset="0"/>
            </a:endParaRPr>
          </a:p>
        </p:txBody>
      </p:sp>
      <p:pic>
        <p:nvPicPr>
          <p:cNvPr id="23554" name="Picture 2" descr="User Datagram Protocol: UDP Vs TCP ...">
            <a:extLst>
              <a:ext uri="{FF2B5EF4-FFF2-40B4-BE49-F238E27FC236}">
                <a16:creationId xmlns:a16="http://schemas.microsoft.com/office/drawing/2014/main" id="{D4E9C520-FD64-8906-6838-91059F6EE78A}"/>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592231" y="1723159"/>
            <a:ext cx="6831503" cy="3394268"/>
          </a:xfrm>
          <a:prstGeom prst="rect">
            <a:avLst/>
          </a:prstGeom>
          <a:noFill/>
          <a:extLst>
            <a:ext uri="{909E8E84-426E-40DD-AFC4-6F175D3DCCD1}">
              <a14:hiddenFill xmlns:a14="http://schemas.microsoft.com/office/drawing/2010/main">
                <a:solidFill>
                  <a:srgbClr val="FFFFFF"/>
                </a:solidFill>
              </a14:hiddenFill>
            </a:ext>
          </a:extLst>
        </p:spPr>
      </p:pic>
      <p:sp>
        <p:nvSpPr>
          <p:cNvPr id="4" name="AutoShape 2" descr="4 layers">
            <a:extLst>
              <a:ext uri="{FF2B5EF4-FFF2-40B4-BE49-F238E27FC236}">
                <a16:creationId xmlns:a16="http://schemas.microsoft.com/office/drawing/2014/main" id="{94173E94-4400-C2A8-C381-868AA4150B9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NG"/>
          </a:p>
        </p:txBody>
      </p:sp>
    </p:spTree>
    <p:extLst>
      <p:ext uri="{BB962C8B-B14F-4D97-AF65-F5344CB8AC3E}">
        <p14:creationId xmlns:p14="http://schemas.microsoft.com/office/powerpoint/2010/main" val="3785362823"/>
      </p:ext>
    </p:extLst>
  </p:cSld>
  <p:clrMapOvr>
    <a:overrideClrMapping bg1="dk1" tx1="lt1" bg2="dk2" tx2="lt2" accent1="accent1" accent2="accent2" accent3="accent3" accent4="accent4" accent5="accent5" accent6="accent6" hlink="hlink" folHlink="folHlink"/>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35B6AAC-9990-9A2E-867D-26D73076FD71}"/>
            </a:ext>
          </a:extLst>
        </p:cNvPr>
        <p:cNvGrpSpPr/>
        <p:nvPr/>
      </p:nvGrpSpPr>
      <p:grpSpPr>
        <a:xfrm>
          <a:off x="0" y="0"/>
          <a:ext cx="0" cy="0"/>
          <a:chOff x="0" y="0"/>
          <a:chExt cx="0" cy="0"/>
        </a:xfrm>
      </p:grpSpPr>
      <p:sp useBgFill="1">
        <p:nvSpPr>
          <p:cNvPr id="24596" name="Rectangle 24595">
            <a:extLst>
              <a:ext uri="{FF2B5EF4-FFF2-40B4-BE49-F238E27FC236}">
                <a16:creationId xmlns:a16="http://schemas.microsoft.com/office/drawing/2014/main" id="{FBB53F82-F191-4EEB-AB7B-F69E634FA3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11ADA80-CB31-E89B-31B2-1ED252778C00}"/>
              </a:ext>
            </a:extLst>
          </p:cNvPr>
          <p:cNvSpPr>
            <a:spLocks noGrp="1"/>
          </p:cNvSpPr>
          <p:nvPr>
            <p:ph type="title"/>
          </p:nvPr>
        </p:nvSpPr>
        <p:spPr>
          <a:xfrm>
            <a:off x="581192" y="702156"/>
            <a:ext cx="11029616" cy="1188720"/>
          </a:xfrm>
        </p:spPr>
        <p:txBody>
          <a:bodyPr>
            <a:normAutofit/>
          </a:bodyPr>
          <a:lstStyle/>
          <a:p>
            <a:pPr>
              <a:buNone/>
            </a:pPr>
            <a:r>
              <a:rPr lang="en-US" dirty="0"/>
              <a:t>HOW UDP WORKS</a:t>
            </a:r>
            <a:br>
              <a:rPr lang="en-US" b="1" i="0">
                <a:effectLst/>
                <a:latin typeface="a1-serif-bold"/>
              </a:rPr>
            </a:br>
            <a:endParaRPr lang="en-NG"/>
          </a:p>
        </p:txBody>
      </p:sp>
      <p:sp>
        <p:nvSpPr>
          <p:cNvPr id="24598" name="Rectangle 24597">
            <a:extLst>
              <a:ext uri="{FF2B5EF4-FFF2-40B4-BE49-F238E27FC236}">
                <a16:creationId xmlns:a16="http://schemas.microsoft.com/office/drawing/2014/main" id="{8616AA08-3831-473D-B61B-89484A33CF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24600" name="Rectangle 24599">
            <a:extLst>
              <a:ext uri="{FF2B5EF4-FFF2-40B4-BE49-F238E27FC236}">
                <a16:creationId xmlns:a16="http://schemas.microsoft.com/office/drawing/2014/main" id="{8431B918-3A1C-46BA-9430-CAD97D9DA0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24602" name="Rectangle 24601">
            <a:extLst>
              <a:ext uri="{FF2B5EF4-FFF2-40B4-BE49-F238E27FC236}">
                <a16:creationId xmlns:a16="http://schemas.microsoft.com/office/drawing/2014/main" id="{8400935A-2F82-4DC4-A4E1-E12EFB8C27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24604" name="Rectangle 24603">
            <a:extLst>
              <a:ext uri="{FF2B5EF4-FFF2-40B4-BE49-F238E27FC236}">
                <a16:creationId xmlns:a16="http://schemas.microsoft.com/office/drawing/2014/main" id="{A3D5D599-1CAE-4C92-B5AE-8E51AF6D47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3" y="2180496"/>
            <a:ext cx="5404639" cy="4045683"/>
          </a:xfrm>
          <a:prstGeom prst="rect">
            <a:avLst/>
          </a:prstGeom>
          <a:solidFill>
            <a:schemeClr val="bg1"/>
          </a:solidFill>
          <a:ln w="38100">
            <a:solidFill>
              <a:srgbClr val="4653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580" name="Picture 4" descr="UDP (User Datagram Protocol) - VPN Wiki ...">
            <a:extLst>
              <a:ext uri="{FF2B5EF4-FFF2-40B4-BE49-F238E27FC236}">
                <a16:creationId xmlns:a16="http://schemas.microsoft.com/office/drawing/2014/main" id="{C319B587-E49F-4855-F077-E12CA874D2A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80698" y="3395940"/>
            <a:ext cx="4748741" cy="1611619"/>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86C69F00-F56C-9801-AA4D-A7FE7DE3D907}"/>
              </a:ext>
            </a:extLst>
          </p:cNvPr>
          <p:cNvSpPr>
            <a:spLocks noGrp="1"/>
          </p:cNvSpPr>
          <p:nvPr>
            <p:ph idx="1"/>
          </p:nvPr>
        </p:nvSpPr>
        <p:spPr>
          <a:xfrm>
            <a:off x="6335805" y="2180496"/>
            <a:ext cx="5275001" cy="4045683"/>
          </a:xfrm>
        </p:spPr>
        <p:txBody>
          <a:bodyPr>
            <a:normAutofit/>
          </a:bodyPr>
          <a:lstStyle/>
          <a:p>
            <a:pPr marL="0" indent="0">
              <a:lnSpc>
                <a:spcPct val="100000"/>
              </a:lnSpc>
              <a:buNone/>
            </a:pPr>
            <a:endParaRPr lang="en-US" dirty="0">
              <a:latin typeface="Roboto" panose="02000000000000000000" pitchFamily="2" charset="0"/>
            </a:endParaRPr>
          </a:p>
          <a:p>
            <a:pPr marL="0" indent="0">
              <a:lnSpc>
                <a:spcPct val="100000"/>
              </a:lnSpc>
              <a:buNone/>
            </a:pPr>
            <a:r>
              <a:rPr lang="en-US" dirty="0">
                <a:latin typeface="Roboto" panose="02000000000000000000" pitchFamily="2" charset="0"/>
              </a:rPr>
              <a:t>As a result, the data may get delivered, and it may not. In addition, the order in which it arrives is not controlled, as it is in TCP, so the way the data appears at the final destination may be glitchy, out of order, or have blank spots.</a:t>
            </a:r>
          </a:p>
          <a:p>
            <a:pPr marL="0" indent="0">
              <a:lnSpc>
                <a:spcPct val="100000"/>
              </a:lnSpc>
              <a:buNone/>
            </a:pPr>
            <a:endParaRPr lang="en-US" dirty="0">
              <a:latin typeface="Roboto" panose="02000000000000000000" pitchFamily="2" charset="0"/>
            </a:endParaRPr>
          </a:p>
          <a:p>
            <a:pPr marL="0" indent="0">
              <a:lnSpc>
                <a:spcPct val="100000"/>
              </a:lnSpc>
              <a:buNone/>
            </a:pPr>
            <a:r>
              <a:rPr lang="en-US" dirty="0">
                <a:latin typeface="Roboto" panose="02000000000000000000" pitchFamily="2" charset="0"/>
              </a:rPr>
              <a:t>However, in a situation where there is no need to check for errors or correct the data that has been sent, this may not pose a significant problem. This is one reason why UDP is used in video applications. Getting the video signal to its destination on time is worth the occasional glitches.</a:t>
            </a:r>
          </a:p>
        </p:txBody>
      </p:sp>
      <p:sp>
        <p:nvSpPr>
          <p:cNvPr id="4" name="AutoShape 2" descr="4 layers">
            <a:extLst>
              <a:ext uri="{FF2B5EF4-FFF2-40B4-BE49-F238E27FC236}">
                <a16:creationId xmlns:a16="http://schemas.microsoft.com/office/drawing/2014/main" id="{89F81890-448B-C0D4-C306-88AC9343D82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NG"/>
          </a:p>
        </p:txBody>
      </p:sp>
    </p:spTree>
    <p:extLst>
      <p:ext uri="{BB962C8B-B14F-4D97-AF65-F5344CB8AC3E}">
        <p14:creationId xmlns:p14="http://schemas.microsoft.com/office/powerpoint/2010/main" val="357784641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CA246-A1EE-A0B1-C5D6-9A9190851DC6}"/>
              </a:ext>
            </a:extLst>
          </p:cNvPr>
          <p:cNvSpPr>
            <a:spLocks noGrp="1"/>
          </p:cNvSpPr>
          <p:nvPr>
            <p:ph type="title"/>
          </p:nvPr>
        </p:nvSpPr>
        <p:spPr/>
        <p:txBody>
          <a:bodyPr/>
          <a:lstStyle/>
          <a:p>
            <a:r>
              <a:rPr lang="en-US" dirty="0"/>
              <a:t>TCP VS UPD</a:t>
            </a:r>
            <a:endParaRPr lang="en-NG" dirty="0"/>
          </a:p>
        </p:txBody>
      </p:sp>
      <p:sp>
        <p:nvSpPr>
          <p:cNvPr id="3" name="Content Placeholder 2">
            <a:extLst>
              <a:ext uri="{FF2B5EF4-FFF2-40B4-BE49-F238E27FC236}">
                <a16:creationId xmlns:a16="http://schemas.microsoft.com/office/drawing/2014/main" id="{9D2834C5-16CF-5567-0E3C-1AA80E82A258}"/>
              </a:ext>
            </a:extLst>
          </p:cNvPr>
          <p:cNvSpPr>
            <a:spLocks noGrp="1"/>
          </p:cNvSpPr>
          <p:nvPr>
            <p:ph idx="1"/>
          </p:nvPr>
        </p:nvSpPr>
        <p:spPr/>
        <p:txBody>
          <a:bodyPr>
            <a:normAutofit lnSpcReduction="10000"/>
          </a:bodyPr>
          <a:lstStyle/>
          <a:p>
            <a:pPr>
              <a:spcAft>
                <a:spcPts val="1875"/>
              </a:spcAft>
            </a:pPr>
            <a:r>
              <a:rPr lang="en-US" dirty="0">
                <a:latin typeface="Roboto" panose="02000000000000000000" pitchFamily="2" charset="0"/>
              </a:rPr>
              <a:t>As data is transferred from one point to another, it is given a header, which tells devices what to do with it. The UDP header is a simple 8-byte fixed header. With TCP, on the other hand, the header can vary from 20 to 60 bytes. The fields for UDP port numbers are 16 bits long, giving them a range that goes from 0 up to 65535. The header consists of a 16-bit source port, a 16-bit destination port, a 16-bit length, and a 16-bit checksum. This is the information used to send the datagram toward its destination. The sending process does not involve any verification of a connection between the source and the destination.</a:t>
            </a:r>
          </a:p>
          <a:p>
            <a:pPr algn="l">
              <a:spcBef>
                <a:spcPts val="1875"/>
              </a:spcBef>
              <a:spcAft>
                <a:spcPts val="1875"/>
              </a:spcAft>
            </a:pPr>
            <a:r>
              <a:rPr lang="en-US" dirty="0">
                <a:latin typeface="Roboto" panose="02000000000000000000" pitchFamily="2" charset="0"/>
              </a:rPr>
              <a:t>TCP is different in that it requires a handshake between where the data originates and where it is headed. This makes TCP more reliable than UDP. In the course of a TCP communication, the data can only be sent along after the destination and source have been formally linked. With UDP, because no link is required, the data can be sent right away.</a:t>
            </a:r>
          </a:p>
          <a:p>
            <a:endParaRPr lang="en-NG" dirty="0"/>
          </a:p>
        </p:txBody>
      </p:sp>
    </p:spTree>
    <p:extLst>
      <p:ext uri="{BB962C8B-B14F-4D97-AF65-F5344CB8AC3E}">
        <p14:creationId xmlns:p14="http://schemas.microsoft.com/office/powerpoint/2010/main" val="238471897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D4FDD4-5E64-4745-5305-F954CD7A0B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A8F7C5-3A49-7E14-C5FC-A8CBD9E6B489}"/>
              </a:ext>
            </a:extLst>
          </p:cNvPr>
          <p:cNvSpPr>
            <a:spLocks noGrp="1"/>
          </p:cNvSpPr>
          <p:nvPr>
            <p:ph type="title"/>
          </p:nvPr>
        </p:nvSpPr>
        <p:spPr/>
        <p:txBody>
          <a:bodyPr/>
          <a:lstStyle/>
          <a:p>
            <a:r>
              <a:rPr lang="en-US" dirty="0"/>
              <a:t>TCP VS UPD</a:t>
            </a:r>
            <a:endParaRPr lang="en-NG" dirty="0"/>
          </a:p>
        </p:txBody>
      </p:sp>
      <p:sp>
        <p:nvSpPr>
          <p:cNvPr id="3" name="Content Placeholder 2">
            <a:extLst>
              <a:ext uri="{FF2B5EF4-FFF2-40B4-BE49-F238E27FC236}">
                <a16:creationId xmlns:a16="http://schemas.microsoft.com/office/drawing/2014/main" id="{21394BA3-CF68-7335-C6BA-130C9229EB5D}"/>
              </a:ext>
            </a:extLst>
          </p:cNvPr>
          <p:cNvSpPr>
            <a:spLocks noGrp="1"/>
          </p:cNvSpPr>
          <p:nvPr>
            <p:ph idx="1"/>
          </p:nvPr>
        </p:nvSpPr>
        <p:spPr/>
        <p:txBody>
          <a:bodyPr>
            <a:normAutofit/>
          </a:bodyPr>
          <a:lstStyle/>
          <a:p>
            <a:pPr>
              <a:spcBef>
                <a:spcPts val="1875"/>
              </a:spcBef>
              <a:spcAft>
                <a:spcPts val="1875"/>
              </a:spcAft>
            </a:pPr>
            <a:r>
              <a:rPr lang="en-US" dirty="0">
                <a:latin typeface="Roboto" panose="02000000000000000000" pitchFamily="2" charset="0"/>
              </a:rPr>
              <a:t>Another difference between TCP and UDP communications is that with TCP, the order in which the packets need to be received is confirmed before the transmission begins. Also, TCP provides for the confirmation that the packets arrived as intended. In the event that the packet does not arrive, TCP dictates that it needs to be sent again. UDP does not require any confirmation, checking, or resending.</a:t>
            </a:r>
          </a:p>
          <a:p>
            <a:pPr algn="l">
              <a:spcBef>
                <a:spcPts val="1875"/>
              </a:spcBef>
              <a:spcAft>
                <a:spcPts val="1875"/>
              </a:spcAft>
            </a:pPr>
            <a:r>
              <a:rPr lang="en-US" dirty="0">
                <a:latin typeface="Roboto" panose="02000000000000000000" pitchFamily="2" charset="0"/>
              </a:rPr>
              <a:t>If an application uses UDP, the users assume the risk of errors, the data not reaching its destination, or being duplicated. The reward for accepting this trade-off is better speed. UDP itself is not necessarily to blame for the data loss. The information in the header is sufficient to get the data where it needs to go, and the chronological order of the sending of the datagrams should keep them in order. </a:t>
            </a:r>
          </a:p>
          <a:p>
            <a:endParaRPr lang="en-NG" dirty="0"/>
          </a:p>
        </p:txBody>
      </p:sp>
    </p:spTree>
    <p:extLst>
      <p:ext uri="{BB962C8B-B14F-4D97-AF65-F5344CB8AC3E}">
        <p14:creationId xmlns:p14="http://schemas.microsoft.com/office/powerpoint/2010/main" val="109984951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F483DB-FEB1-72E7-A829-219142232E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184ECC-3EC2-3EA9-D4CC-A0AFDB39D67D}"/>
              </a:ext>
            </a:extLst>
          </p:cNvPr>
          <p:cNvSpPr>
            <a:spLocks noGrp="1"/>
          </p:cNvSpPr>
          <p:nvPr>
            <p:ph type="title"/>
          </p:nvPr>
        </p:nvSpPr>
        <p:spPr/>
        <p:txBody>
          <a:bodyPr/>
          <a:lstStyle/>
          <a:p>
            <a:r>
              <a:rPr lang="en-US" dirty="0"/>
              <a:t>TCP VS UPD</a:t>
            </a:r>
            <a:endParaRPr lang="en-NG" dirty="0"/>
          </a:p>
        </p:txBody>
      </p:sp>
      <p:pic>
        <p:nvPicPr>
          <p:cNvPr id="25602" name="Picture 2" descr="User Datagram Protocol (UDP) - CyberHoot">
            <a:extLst>
              <a:ext uri="{FF2B5EF4-FFF2-40B4-BE49-F238E27FC236}">
                <a16:creationId xmlns:a16="http://schemas.microsoft.com/office/drawing/2014/main" id="{D1737B0F-FCE7-2E81-46FF-ABDF70ADC0A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62213" y="2341563"/>
            <a:ext cx="7267574" cy="36337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7779456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5EBF1CD-BE7B-8CB7-FBD7-71545F69C725}"/>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DD651B61-325E-4E73-8445-38B0DE8AAA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12" name="Rectangle 11">
            <a:extLst>
              <a:ext uri="{FF2B5EF4-FFF2-40B4-BE49-F238E27FC236}">
                <a16:creationId xmlns:a16="http://schemas.microsoft.com/office/drawing/2014/main" id="{B42E5253-D3AC-4AC2-B766-8B34F13C2F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14" name="Rectangle 13">
            <a:extLst>
              <a:ext uri="{FF2B5EF4-FFF2-40B4-BE49-F238E27FC236}">
                <a16:creationId xmlns:a16="http://schemas.microsoft.com/office/drawing/2014/main" id="{10AE8D57-436A-4073-9A75-15BB5949F8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16" name="Rectangle 15">
            <a:extLst>
              <a:ext uri="{FF2B5EF4-FFF2-40B4-BE49-F238E27FC236}">
                <a16:creationId xmlns:a16="http://schemas.microsoft.com/office/drawing/2014/main" id="{E2852671-8EB6-4EAF-8AF8-65CF3FD66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useBgFill="1">
        <p:nvSpPr>
          <p:cNvPr id="18" name="Rectangle 17">
            <a:extLst>
              <a:ext uri="{FF2B5EF4-FFF2-40B4-BE49-F238E27FC236}">
                <a16:creationId xmlns:a16="http://schemas.microsoft.com/office/drawing/2014/main" id="{26B4480E-B7FF-4481-890E-043A69AE6F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 name="Group 19">
            <a:extLst>
              <a:ext uri="{FF2B5EF4-FFF2-40B4-BE49-F238E27FC236}">
                <a16:creationId xmlns:a16="http://schemas.microsoft.com/office/drawing/2014/main" id="{79394E1F-0B5F-497D-B2A6-8383A2A5483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38068" y="457200"/>
            <a:ext cx="3703320" cy="5935133"/>
            <a:chOff x="438068" y="457200"/>
            <a:chExt cx="3703320" cy="5935133"/>
          </a:xfrm>
        </p:grpSpPr>
        <p:sp>
          <p:nvSpPr>
            <p:cNvPr id="21" name="Rectangle 20">
              <a:extLst>
                <a:ext uri="{FF2B5EF4-FFF2-40B4-BE49-F238E27FC236}">
                  <a16:creationId xmlns:a16="http://schemas.microsoft.com/office/drawing/2014/main" id="{1F1FF39A-AC3C-4066-9D4C-519AA22812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068" y="601201"/>
              <a:ext cx="3702134" cy="5791132"/>
            </a:xfrm>
            <a:prstGeom prst="rect">
              <a:avLst/>
            </a:prstGeom>
            <a:solidFill>
              <a:srgbClr val="465359">
                <a:alpha val="97000"/>
              </a:srgb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22" name="Rectangle 21">
              <a:extLst>
                <a:ext uri="{FF2B5EF4-FFF2-40B4-BE49-F238E27FC236}">
                  <a16:creationId xmlns:a16="http://schemas.microsoft.com/office/drawing/2014/main" id="{64C13BAB-7C00-4D21-A857-E3D41C0A2A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068"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grpSp>
      <p:sp>
        <p:nvSpPr>
          <p:cNvPr id="2" name="Title 1">
            <a:extLst>
              <a:ext uri="{FF2B5EF4-FFF2-40B4-BE49-F238E27FC236}">
                <a16:creationId xmlns:a16="http://schemas.microsoft.com/office/drawing/2014/main" id="{A8B6F60D-B711-E5FA-26B8-FCCC1E395765}"/>
              </a:ext>
            </a:extLst>
          </p:cNvPr>
          <p:cNvSpPr>
            <a:spLocks noGrp="1"/>
          </p:cNvSpPr>
          <p:nvPr>
            <p:ph type="title"/>
          </p:nvPr>
        </p:nvSpPr>
        <p:spPr>
          <a:xfrm>
            <a:off x="584200" y="1524001"/>
            <a:ext cx="3412067" cy="3478384"/>
          </a:xfrm>
        </p:spPr>
        <p:txBody>
          <a:bodyPr vert="horz" lIns="91440" tIns="45720" rIns="91440" bIns="45720" rtlCol="0" anchor="b">
            <a:normAutofit/>
          </a:bodyPr>
          <a:lstStyle/>
          <a:p>
            <a:r>
              <a:rPr lang="en-US" sz="3600">
                <a:solidFill>
                  <a:srgbClr val="FFFFFF"/>
                </a:solidFill>
              </a:rPr>
              <a:t>COMMON PROTOCOL AND USE CASE</a:t>
            </a:r>
          </a:p>
        </p:txBody>
      </p:sp>
      <p:pic>
        <p:nvPicPr>
          <p:cNvPr id="5" name="Picture 4" descr="A table with text on it&#10;&#10;AI-generated content may be incorrect.">
            <a:extLst>
              <a:ext uri="{FF2B5EF4-FFF2-40B4-BE49-F238E27FC236}">
                <a16:creationId xmlns:a16="http://schemas.microsoft.com/office/drawing/2014/main" id="{A3D91C85-F0A8-537D-7B43-4A9EFC877A91}"/>
              </a:ext>
            </a:extLst>
          </p:cNvPr>
          <p:cNvPicPr>
            <a:picLocks noChangeAspect="1"/>
          </p:cNvPicPr>
          <p:nvPr/>
        </p:nvPicPr>
        <p:blipFill>
          <a:blip r:embed="rId2"/>
          <a:stretch>
            <a:fillRect/>
          </a:stretch>
        </p:blipFill>
        <p:spPr>
          <a:xfrm>
            <a:off x="4765053" y="753481"/>
            <a:ext cx="6764864" cy="5327328"/>
          </a:xfrm>
          <a:prstGeom prst="rect">
            <a:avLst/>
          </a:prstGeom>
        </p:spPr>
      </p:pic>
    </p:spTree>
    <p:extLst>
      <p:ext uri="{BB962C8B-B14F-4D97-AF65-F5344CB8AC3E}">
        <p14:creationId xmlns:p14="http://schemas.microsoft.com/office/powerpoint/2010/main" val="88673468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9B3665E-2650-E1B0-41C7-E1183E66D5DA}"/>
            </a:ext>
          </a:extLst>
        </p:cNvPr>
        <p:cNvGrpSpPr/>
        <p:nvPr/>
      </p:nvGrpSpPr>
      <p:grpSpPr>
        <a:xfrm>
          <a:off x="0" y="0"/>
          <a:ext cx="0" cy="0"/>
          <a:chOff x="0" y="0"/>
          <a:chExt cx="0" cy="0"/>
        </a:xfrm>
      </p:grpSpPr>
      <p:sp>
        <p:nvSpPr>
          <p:cNvPr id="41" name="Rectangle 40">
            <a:extLst>
              <a:ext uri="{FF2B5EF4-FFF2-40B4-BE49-F238E27FC236}">
                <a16:creationId xmlns:a16="http://schemas.microsoft.com/office/drawing/2014/main" id="{DD651B61-325E-4E73-8445-38B0DE8AAA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42" name="Rectangle 41">
            <a:extLst>
              <a:ext uri="{FF2B5EF4-FFF2-40B4-BE49-F238E27FC236}">
                <a16:creationId xmlns:a16="http://schemas.microsoft.com/office/drawing/2014/main" id="{B42E5253-D3AC-4AC2-B766-8B34F13C2F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43" name="Rectangle 42">
            <a:extLst>
              <a:ext uri="{FF2B5EF4-FFF2-40B4-BE49-F238E27FC236}">
                <a16:creationId xmlns:a16="http://schemas.microsoft.com/office/drawing/2014/main" id="{10AE8D57-436A-4073-9A75-15BB5949F8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44" name="Rectangle 43">
            <a:extLst>
              <a:ext uri="{FF2B5EF4-FFF2-40B4-BE49-F238E27FC236}">
                <a16:creationId xmlns:a16="http://schemas.microsoft.com/office/drawing/2014/main" id="{E2852671-8EB6-4EAF-8AF8-65CF3FD66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useBgFill="1">
        <p:nvSpPr>
          <p:cNvPr id="45" name="Rectangle 44">
            <a:extLst>
              <a:ext uri="{FF2B5EF4-FFF2-40B4-BE49-F238E27FC236}">
                <a16:creationId xmlns:a16="http://schemas.microsoft.com/office/drawing/2014/main" id="{26B4480E-B7FF-4481-890E-043A69AE6F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6" name="Group 45">
            <a:extLst>
              <a:ext uri="{FF2B5EF4-FFF2-40B4-BE49-F238E27FC236}">
                <a16:creationId xmlns:a16="http://schemas.microsoft.com/office/drawing/2014/main" id="{79394E1F-0B5F-497D-B2A6-8383A2A5483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38068" y="457200"/>
            <a:ext cx="3703320" cy="5935133"/>
            <a:chOff x="438068" y="457200"/>
            <a:chExt cx="3703320" cy="5935133"/>
          </a:xfrm>
        </p:grpSpPr>
        <p:sp>
          <p:nvSpPr>
            <p:cNvPr id="38" name="Rectangle 37">
              <a:extLst>
                <a:ext uri="{FF2B5EF4-FFF2-40B4-BE49-F238E27FC236}">
                  <a16:creationId xmlns:a16="http://schemas.microsoft.com/office/drawing/2014/main" id="{1F1FF39A-AC3C-4066-9D4C-519AA22812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068" y="601201"/>
              <a:ext cx="3702134" cy="5791132"/>
            </a:xfrm>
            <a:prstGeom prst="rect">
              <a:avLst/>
            </a:prstGeom>
            <a:solidFill>
              <a:srgbClr val="465359">
                <a:alpha val="97000"/>
              </a:srgb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47" name="Rectangle 46">
              <a:extLst>
                <a:ext uri="{FF2B5EF4-FFF2-40B4-BE49-F238E27FC236}">
                  <a16:creationId xmlns:a16="http://schemas.microsoft.com/office/drawing/2014/main" id="{64C13BAB-7C00-4D21-A857-E3D41C0A2A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068"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grpSp>
      <p:sp>
        <p:nvSpPr>
          <p:cNvPr id="2" name="Title 1">
            <a:extLst>
              <a:ext uri="{FF2B5EF4-FFF2-40B4-BE49-F238E27FC236}">
                <a16:creationId xmlns:a16="http://schemas.microsoft.com/office/drawing/2014/main" id="{7354AE05-C459-7250-4133-67D83CE95C36}"/>
              </a:ext>
            </a:extLst>
          </p:cNvPr>
          <p:cNvSpPr>
            <a:spLocks noGrp="1"/>
          </p:cNvSpPr>
          <p:nvPr>
            <p:ph type="title"/>
          </p:nvPr>
        </p:nvSpPr>
        <p:spPr>
          <a:xfrm>
            <a:off x="584200" y="1524001"/>
            <a:ext cx="3412067" cy="3478384"/>
          </a:xfrm>
        </p:spPr>
        <p:txBody>
          <a:bodyPr vert="horz" lIns="91440" tIns="45720" rIns="91440" bIns="45720" rtlCol="0" anchor="b">
            <a:normAutofit/>
          </a:bodyPr>
          <a:lstStyle/>
          <a:p>
            <a:r>
              <a:rPr lang="en-US" sz="3600">
                <a:solidFill>
                  <a:srgbClr val="FFFFFF"/>
                </a:solidFill>
              </a:rPr>
              <a:t>COMMON PROTOCOL AND USE CASE</a:t>
            </a:r>
          </a:p>
        </p:txBody>
      </p:sp>
      <p:pic>
        <p:nvPicPr>
          <p:cNvPr id="4" name="Picture 3">
            <a:extLst>
              <a:ext uri="{FF2B5EF4-FFF2-40B4-BE49-F238E27FC236}">
                <a16:creationId xmlns:a16="http://schemas.microsoft.com/office/drawing/2014/main" id="{1D674591-5C6E-9B8B-BC74-28ED25B5E477}"/>
              </a:ext>
            </a:extLst>
          </p:cNvPr>
          <p:cNvPicPr>
            <a:picLocks noChangeAspect="1"/>
          </p:cNvPicPr>
          <p:nvPr/>
        </p:nvPicPr>
        <p:blipFill>
          <a:blip r:embed="rId2"/>
          <a:stretch>
            <a:fillRect/>
          </a:stretch>
        </p:blipFill>
        <p:spPr>
          <a:xfrm>
            <a:off x="4765053" y="1573719"/>
            <a:ext cx="6764864" cy="3686852"/>
          </a:xfrm>
          <a:prstGeom prst="rect">
            <a:avLst/>
          </a:prstGeom>
        </p:spPr>
      </p:pic>
    </p:spTree>
    <p:extLst>
      <p:ext uri="{BB962C8B-B14F-4D97-AF65-F5344CB8AC3E}">
        <p14:creationId xmlns:p14="http://schemas.microsoft.com/office/powerpoint/2010/main" val="67753795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E359966-797E-E386-A9EF-9549C2EF21BA}"/>
            </a:ext>
          </a:extLst>
        </p:cNvPr>
        <p:cNvGrpSpPr/>
        <p:nvPr/>
      </p:nvGrpSpPr>
      <p:grpSpPr>
        <a:xfrm>
          <a:off x="0" y="0"/>
          <a:ext cx="0" cy="0"/>
          <a:chOff x="0" y="0"/>
          <a:chExt cx="0" cy="0"/>
        </a:xfrm>
      </p:grpSpPr>
      <p:sp>
        <p:nvSpPr>
          <p:cNvPr id="52" name="Rectangle 51">
            <a:extLst>
              <a:ext uri="{FF2B5EF4-FFF2-40B4-BE49-F238E27FC236}">
                <a16:creationId xmlns:a16="http://schemas.microsoft.com/office/drawing/2014/main" id="{DD651B61-325E-4E73-8445-38B0DE8AAA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54" name="Rectangle 53">
            <a:extLst>
              <a:ext uri="{FF2B5EF4-FFF2-40B4-BE49-F238E27FC236}">
                <a16:creationId xmlns:a16="http://schemas.microsoft.com/office/drawing/2014/main" id="{B42E5253-D3AC-4AC2-B766-8B34F13C2F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56" name="Rectangle 55">
            <a:extLst>
              <a:ext uri="{FF2B5EF4-FFF2-40B4-BE49-F238E27FC236}">
                <a16:creationId xmlns:a16="http://schemas.microsoft.com/office/drawing/2014/main" id="{10AE8D57-436A-4073-9A75-15BB5949F8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58" name="Rectangle 57">
            <a:extLst>
              <a:ext uri="{FF2B5EF4-FFF2-40B4-BE49-F238E27FC236}">
                <a16:creationId xmlns:a16="http://schemas.microsoft.com/office/drawing/2014/main" id="{E2852671-8EB6-4EAF-8AF8-65CF3FD66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useBgFill="1">
        <p:nvSpPr>
          <p:cNvPr id="60" name="Rectangle 59">
            <a:extLst>
              <a:ext uri="{FF2B5EF4-FFF2-40B4-BE49-F238E27FC236}">
                <a16:creationId xmlns:a16="http://schemas.microsoft.com/office/drawing/2014/main" id="{26B4480E-B7FF-4481-890E-043A69AE6F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2" name="Group 61">
            <a:extLst>
              <a:ext uri="{FF2B5EF4-FFF2-40B4-BE49-F238E27FC236}">
                <a16:creationId xmlns:a16="http://schemas.microsoft.com/office/drawing/2014/main" id="{79394E1F-0B5F-497D-B2A6-8383A2A5483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38068" y="457200"/>
            <a:ext cx="3703320" cy="5935133"/>
            <a:chOff x="438068" y="457200"/>
            <a:chExt cx="3703320" cy="5935133"/>
          </a:xfrm>
        </p:grpSpPr>
        <p:sp>
          <p:nvSpPr>
            <p:cNvPr id="63" name="Rectangle 62">
              <a:extLst>
                <a:ext uri="{FF2B5EF4-FFF2-40B4-BE49-F238E27FC236}">
                  <a16:creationId xmlns:a16="http://schemas.microsoft.com/office/drawing/2014/main" id="{1F1FF39A-AC3C-4066-9D4C-519AA22812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068" y="601201"/>
              <a:ext cx="3702134" cy="5791132"/>
            </a:xfrm>
            <a:prstGeom prst="rect">
              <a:avLst/>
            </a:prstGeom>
            <a:solidFill>
              <a:srgbClr val="465359">
                <a:alpha val="97000"/>
              </a:srgb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sp>
          <p:nvSpPr>
            <p:cNvPr id="64" name="Rectangle 63">
              <a:extLst>
                <a:ext uri="{FF2B5EF4-FFF2-40B4-BE49-F238E27FC236}">
                  <a16:creationId xmlns:a16="http://schemas.microsoft.com/office/drawing/2014/main" id="{64C13BAB-7C00-4D21-A857-E3D41C0A2A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38068"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NG"/>
            </a:p>
          </p:txBody>
        </p:sp>
      </p:grpSp>
      <p:sp>
        <p:nvSpPr>
          <p:cNvPr id="2" name="Title 1">
            <a:extLst>
              <a:ext uri="{FF2B5EF4-FFF2-40B4-BE49-F238E27FC236}">
                <a16:creationId xmlns:a16="http://schemas.microsoft.com/office/drawing/2014/main" id="{A1A2C7D3-C12B-67A5-C9B7-B36FBA802870}"/>
              </a:ext>
            </a:extLst>
          </p:cNvPr>
          <p:cNvSpPr>
            <a:spLocks noGrp="1"/>
          </p:cNvSpPr>
          <p:nvPr>
            <p:ph type="title"/>
          </p:nvPr>
        </p:nvSpPr>
        <p:spPr>
          <a:xfrm>
            <a:off x="584200" y="1524001"/>
            <a:ext cx="3412067" cy="3478384"/>
          </a:xfrm>
        </p:spPr>
        <p:txBody>
          <a:bodyPr vert="horz" lIns="91440" tIns="45720" rIns="91440" bIns="45720" rtlCol="0" anchor="b">
            <a:normAutofit/>
          </a:bodyPr>
          <a:lstStyle/>
          <a:p>
            <a:r>
              <a:rPr lang="en-US" sz="3600">
                <a:solidFill>
                  <a:srgbClr val="FFFFFF"/>
                </a:solidFill>
              </a:rPr>
              <a:t>COMMON PROTOCOL AND USE CASE</a:t>
            </a:r>
          </a:p>
        </p:txBody>
      </p:sp>
      <p:pic>
        <p:nvPicPr>
          <p:cNvPr id="5" name="Picture 4" descr="A table with black text&#10;&#10;AI-generated content may be incorrect.">
            <a:extLst>
              <a:ext uri="{FF2B5EF4-FFF2-40B4-BE49-F238E27FC236}">
                <a16:creationId xmlns:a16="http://schemas.microsoft.com/office/drawing/2014/main" id="{EEE0CCDA-3CB3-51CF-AFC9-8E9699152C89}"/>
              </a:ext>
            </a:extLst>
          </p:cNvPr>
          <p:cNvPicPr>
            <a:picLocks noChangeAspect="1"/>
          </p:cNvPicPr>
          <p:nvPr/>
        </p:nvPicPr>
        <p:blipFill>
          <a:blip r:embed="rId2"/>
          <a:stretch>
            <a:fillRect/>
          </a:stretch>
        </p:blipFill>
        <p:spPr>
          <a:xfrm>
            <a:off x="5768268" y="618067"/>
            <a:ext cx="4758433" cy="5598157"/>
          </a:xfrm>
          <a:prstGeom prst="rect">
            <a:avLst/>
          </a:prstGeom>
        </p:spPr>
      </p:pic>
    </p:spTree>
    <p:extLst>
      <p:ext uri="{BB962C8B-B14F-4D97-AF65-F5344CB8AC3E}">
        <p14:creationId xmlns:p14="http://schemas.microsoft.com/office/powerpoint/2010/main" val="183866198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508BD-7936-D4F7-D159-884F978BC30C}"/>
              </a:ext>
            </a:extLst>
          </p:cNvPr>
          <p:cNvSpPr>
            <a:spLocks noGrp="1"/>
          </p:cNvSpPr>
          <p:nvPr>
            <p:ph type="title"/>
          </p:nvPr>
        </p:nvSpPr>
        <p:spPr/>
        <p:txBody>
          <a:bodyPr/>
          <a:lstStyle/>
          <a:p>
            <a:endParaRPr lang="en-NG" dirty="0"/>
          </a:p>
        </p:txBody>
      </p:sp>
      <p:sp>
        <p:nvSpPr>
          <p:cNvPr id="3" name="Content Placeholder 2">
            <a:extLst>
              <a:ext uri="{FF2B5EF4-FFF2-40B4-BE49-F238E27FC236}">
                <a16:creationId xmlns:a16="http://schemas.microsoft.com/office/drawing/2014/main" id="{05F06389-9314-1228-85B9-9459D28C804D}"/>
              </a:ext>
            </a:extLst>
          </p:cNvPr>
          <p:cNvSpPr>
            <a:spLocks noGrp="1"/>
          </p:cNvSpPr>
          <p:nvPr>
            <p:ph idx="1"/>
          </p:nvPr>
        </p:nvSpPr>
        <p:spPr/>
        <p:txBody>
          <a:bodyPr/>
          <a:lstStyle/>
          <a:p>
            <a:endParaRPr lang="en-NG" dirty="0"/>
          </a:p>
        </p:txBody>
      </p:sp>
    </p:spTree>
    <p:extLst>
      <p:ext uri="{BB962C8B-B14F-4D97-AF65-F5344CB8AC3E}">
        <p14:creationId xmlns:p14="http://schemas.microsoft.com/office/powerpoint/2010/main" val="1927116878"/>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D289AE2-D2AE-49D1-AFAC-3A79F6794255}">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3.xml><?xml version="1.0" encoding="utf-8"?>
<ds:datastoreItem xmlns:ds="http://schemas.openxmlformats.org/officeDocument/2006/customXml" ds:itemID="{41E7CA09-9778-4414-AE97-8064B12DA30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{D41AB3C1-36D1-4BF5-B947-5FE175623093}tf33552983_win32</Template>
  <TotalTime>24230</TotalTime>
  <Words>4447</Words>
  <Application>Microsoft Office PowerPoint</Application>
  <PresentationFormat>Widescreen</PresentationFormat>
  <Paragraphs>223</Paragraphs>
  <Slides>55</Slides>
  <Notes>3</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55</vt:i4>
      </vt:variant>
    </vt:vector>
  </HeadingPairs>
  <TitlesOfParts>
    <vt:vector size="67" baseType="lpstr">
      <vt:lpstr>a1-sans-regular</vt:lpstr>
      <vt:lpstr>a1-serif-bold</vt:lpstr>
      <vt:lpstr>Arial</vt:lpstr>
      <vt:lpstr>Calibri</vt:lpstr>
      <vt:lpstr>Franklin Gothic Book</vt:lpstr>
      <vt:lpstr>Franklin Gothic Demi</vt:lpstr>
      <vt:lpstr>Google Sans</vt:lpstr>
      <vt:lpstr>Inter</vt:lpstr>
      <vt:lpstr>Roboto</vt:lpstr>
      <vt:lpstr>Source Sans Pro</vt:lpstr>
      <vt:lpstr>Wingdings 2</vt:lpstr>
      <vt:lpstr>DividendVTI</vt:lpstr>
      <vt:lpstr>ALTSCHOOL OF Cybersecurity (BARAKA 2025)</vt:lpstr>
      <vt:lpstr>Refresher-  Last week</vt:lpstr>
      <vt:lpstr>Classless Inter-Domain Routing (CIDR) Notation  </vt:lpstr>
      <vt:lpstr>Classless Inter-Domain Routing (CIDR) Notation  </vt:lpstr>
      <vt:lpstr>CIDR Notation - SYNTAX  </vt:lpstr>
      <vt:lpstr>Variable Length Subnet Masking (VLSM)    </vt:lpstr>
      <vt:lpstr>Variable Length Subnet Masking (VLSM)    </vt:lpstr>
      <vt:lpstr>Variable Length Subnet Masking (VLSM)    </vt:lpstr>
      <vt:lpstr>Variable Length Subnet Masking (VLSM)    </vt:lpstr>
      <vt:lpstr>MONTH 2 -  WEEK 4</vt:lpstr>
      <vt:lpstr>Introduction to Network Protocols and Services </vt:lpstr>
      <vt:lpstr>Network protocol</vt:lpstr>
      <vt:lpstr>Network Protocol – WHAT THEY DO</vt:lpstr>
      <vt:lpstr>Network Protocol – WHY THEY ARE ESSENTIAL</vt:lpstr>
      <vt:lpstr>Types of network protocols </vt:lpstr>
      <vt:lpstr>TYPES OF network protocols -  Network Communication Protocols</vt:lpstr>
      <vt:lpstr>TYPES OF network protocols -  Network SECURITY Protocols</vt:lpstr>
      <vt:lpstr>TYPES OF network protocols -  Network MANAGEMENT Protocols</vt:lpstr>
      <vt:lpstr>Understanding the TCP or IP Protocol Suite   </vt:lpstr>
      <vt:lpstr>TCP or IP Protocol Suite</vt:lpstr>
      <vt:lpstr>TCP or IP Protocol Suite</vt:lpstr>
      <vt:lpstr>TCP or IP Protocol Suite - FEATURES</vt:lpstr>
      <vt:lpstr>TCP or IP Protocol Suite - FEATURES</vt:lpstr>
      <vt:lpstr>TCP or IP Protocol Suite – APPLICATION LAYER</vt:lpstr>
      <vt:lpstr>TCP or IP Protocol Suite – APPLICATION LAYER</vt:lpstr>
      <vt:lpstr>TCP or IP Protocol Suite - Transport Layer </vt:lpstr>
      <vt:lpstr>TCP or IP Protocol Suite - Transport Layer </vt:lpstr>
      <vt:lpstr>TCP or IP Protocol Suite - INTERNET Layer </vt:lpstr>
      <vt:lpstr>TCP or IP Protocol Suite - INTERNET Layer </vt:lpstr>
      <vt:lpstr>TCP or IP Protocol Suite - Network Access Layer  </vt:lpstr>
      <vt:lpstr>Understanding the TCP or IP Protocol Suite   </vt:lpstr>
      <vt:lpstr>How Does TCP/IP Work?  </vt:lpstr>
      <vt:lpstr>How Does TCP/IP Work?  </vt:lpstr>
      <vt:lpstr>REFRESHER – LAST CLASS</vt:lpstr>
      <vt:lpstr>MONTH 2 -  WEEK 4  (DAY 2)</vt:lpstr>
      <vt:lpstr>Why TCP IP became the standard and its impact today    </vt:lpstr>
      <vt:lpstr>TCP/IP - its impact today  </vt:lpstr>
      <vt:lpstr>Why TCP/IP Became the Standard:  </vt:lpstr>
      <vt:lpstr>Why TCP/IP Became the Standard:  </vt:lpstr>
      <vt:lpstr>TCP/IP VS OSI  </vt:lpstr>
      <vt:lpstr>Data transmission in TCP/IP networks </vt:lpstr>
      <vt:lpstr>Data transmission in TCP/IP networks </vt:lpstr>
      <vt:lpstr>TCP/IP – BUSINESS CASE </vt:lpstr>
      <vt:lpstr>TCP/IP – PRACTICAL FLOW </vt:lpstr>
      <vt:lpstr>UDP (User Datagram Protocol)  </vt:lpstr>
      <vt:lpstr>UDP (User Datagram Protocol) </vt:lpstr>
      <vt:lpstr>HOW UDP WORKS </vt:lpstr>
      <vt:lpstr>HOW UDP WORKS </vt:lpstr>
      <vt:lpstr>TCP VS UPD</vt:lpstr>
      <vt:lpstr>TCP VS UPD</vt:lpstr>
      <vt:lpstr>TCP VS UPD</vt:lpstr>
      <vt:lpstr>COMMON PROTOCOL AND USE CASE</vt:lpstr>
      <vt:lpstr>COMMON PROTOCOL AND USE CASE</vt:lpstr>
      <vt:lpstr>COMMON PROTOCOL AND USE CASE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Oluwafemi Adebiyi</dc:creator>
  <cp:lastModifiedBy>Oluwafemi Adebiyi</cp:lastModifiedBy>
  <cp:revision>12</cp:revision>
  <dcterms:created xsi:type="dcterms:W3CDTF">2025-03-19T13:29:09Z</dcterms:created>
  <dcterms:modified xsi:type="dcterms:W3CDTF">2025-04-30T13:03:56Z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