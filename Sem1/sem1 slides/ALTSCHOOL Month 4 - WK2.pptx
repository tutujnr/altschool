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notesSlides/notesSlide1.xml" ContentType="application/vnd.openxmlformats-officedocument.presentationml.notesSlide+xml"/>
  <Override PartName="/ppt/theme/themeOverride8.xml" ContentType="application/vnd.openxmlformats-officedocument.themeOverride+xml"/>
  <Override PartName="/ppt/notesSlides/notesSlide2.xml" ContentType="application/vnd.openxmlformats-officedocument.presentationml.notesSlide+xml"/>
  <Override PartName="/ppt/theme/themeOverride9.xml" ContentType="application/vnd.openxmlformats-officedocument.themeOverride+xml"/>
  <Override PartName="/ppt/notesSlides/notesSlide3.xml" ContentType="application/vnd.openxmlformats-officedocument.presentationml.notesSlide+xml"/>
  <Override PartName="/ppt/theme/themeOverride10.xml" ContentType="application/vnd.openxmlformats-officedocument.themeOverride+xml"/>
  <Override PartName="/ppt/notesSlides/notesSlide4.xml" ContentType="application/vnd.openxmlformats-officedocument.presentationml.notesSlide+xml"/>
  <Override PartName="/ppt/theme/themeOverride11.xml" ContentType="application/vnd.openxmlformats-officedocument.themeOverride+xml"/>
  <Override PartName="/ppt/notesSlides/notesSlide5.xml" ContentType="application/vnd.openxmlformats-officedocument.presentationml.notesSlide+xml"/>
  <Override PartName="/ppt/theme/themeOverride12.xml" ContentType="application/vnd.openxmlformats-officedocument.themeOverride+xml"/>
  <Override PartName="/ppt/notesSlides/notesSlide6.xml" ContentType="application/vnd.openxmlformats-officedocument.presentationml.notesSlide+xml"/>
  <Override PartName="/ppt/theme/themeOverride13.xml" ContentType="application/vnd.openxmlformats-officedocument.themeOverride+xml"/>
  <Override PartName="/ppt/notesSlides/notesSlide7.xml" ContentType="application/vnd.openxmlformats-officedocument.presentationml.notesSlide+xml"/>
  <Override PartName="/ppt/theme/themeOverride14.xml" ContentType="application/vnd.openxmlformats-officedocument.themeOverride+xml"/>
  <Override PartName="/ppt/notesSlides/notesSlide8.xml" ContentType="application/vnd.openxmlformats-officedocument.presentationml.notesSlide+xml"/>
  <Override PartName="/ppt/theme/themeOverride15.xml" ContentType="application/vnd.openxmlformats-officedocument.themeOverride+xml"/>
  <Override PartName="/ppt/notesSlides/notesSlide9.xml" ContentType="application/vnd.openxmlformats-officedocument.presentationml.notesSlide+xml"/>
  <Override PartName="/ppt/theme/themeOverride16.xml" ContentType="application/vnd.openxmlformats-officedocument.themeOverride+xml"/>
  <Override PartName="/ppt/notesSlides/notesSlide10.xml" ContentType="application/vnd.openxmlformats-officedocument.presentationml.notesSlide+xml"/>
  <Override PartName="/ppt/theme/themeOverride17.xml" ContentType="application/vnd.openxmlformats-officedocument.themeOverride+xml"/>
  <Override PartName="/ppt/notesSlides/notesSlide11.xml" ContentType="application/vnd.openxmlformats-officedocument.presentationml.notesSlide+xml"/>
  <Override PartName="/ppt/theme/themeOverride18.xml" ContentType="application/vnd.openxmlformats-officedocument.themeOverride+xml"/>
  <Override PartName="/ppt/notesSlides/notesSlide12.xml" ContentType="application/vnd.openxmlformats-officedocument.presentationml.notesSlide+xml"/>
  <Override PartName="/ppt/theme/themeOverride19.xml" ContentType="application/vnd.openxmlformats-officedocument.themeOverride+xml"/>
  <Override PartName="/ppt/notesSlides/notesSlide13.xml" ContentType="application/vnd.openxmlformats-officedocument.presentationml.notesSlide+xml"/>
  <Override PartName="/ppt/theme/themeOverride20.xml" ContentType="application/vnd.openxmlformats-officedocument.themeOverride+xml"/>
  <Override PartName="/ppt/notesSlides/notesSlide14.xml" ContentType="application/vnd.openxmlformats-officedocument.presentationml.notesSlide+xml"/>
  <Override PartName="/ppt/theme/themeOverride21.xml" ContentType="application/vnd.openxmlformats-officedocument.themeOverride+xml"/>
  <Override PartName="/ppt/notesSlides/notesSlide15.xml" ContentType="application/vnd.openxmlformats-officedocument.presentationml.notesSlide+xml"/>
  <Override PartName="/ppt/theme/themeOverride22.xml" ContentType="application/vnd.openxmlformats-officedocument.themeOverride+xml"/>
  <Override PartName="/ppt/notesSlides/notesSlide16.xml" ContentType="application/vnd.openxmlformats-officedocument.presentationml.notesSlide+xml"/>
  <Override PartName="/ppt/theme/themeOverride23.xml" ContentType="application/vnd.openxmlformats-officedocument.themeOverride+xml"/>
  <Override PartName="/ppt/notesSlides/notesSlide17.xml" ContentType="application/vnd.openxmlformats-officedocument.presentationml.notesSlide+xml"/>
  <Override PartName="/ppt/theme/themeOverride24.xml" ContentType="application/vnd.openxmlformats-officedocument.themeOverride+xml"/>
  <Override PartName="/ppt/notesSlides/notesSlide18.xml" ContentType="application/vnd.openxmlformats-officedocument.presentationml.notesSlide+xml"/>
  <Override PartName="/ppt/theme/themeOverride25.xml" ContentType="application/vnd.openxmlformats-officedocument.themeOverride+xml"/>
  <Override PartName="/ppt/notesSlides/notesSlide19.xml" ContentType="application/vnd.openxmlformats-officedocument.presentationml.notesSlide+xml"/>
  <Override PartName="/ppt/theme/themeOverride26.xml" ContentType="application/vnd.openxmlformats-officedocument.themeOverride+xml"/>
  <Override PartName="/ppt/notesSlides/notesSlide20.xml" ContentType="application/vnd.openxmlformats-officedocument.presentationml.notesSlide+xml"/>
  <Override PartName="/ppt/theme/themeOverride27.xml" ContentType="application/vnd.openxmlformats-officedocument.themeOverride+xml"/>
  <Override PartName="/ppt/notesSlides/notesSlide21.xml" ContentType="application/vnd.openxmlformats-officedocument.presentationml.notesSlide+xml"/>
  <Override PartName="/ppt/theme/themeOverride28.xml" ContentType="application/vnd.openxmlformats-officedocument.themeOverride+xml"/>
  <Override PartName="/ppt/notesSlides/notesSlide22.xml" ContentType="application/vnd.openxmlformats-officedocument.presentationml.notesSlide+xml"/>
  <Override PartName="/ppt/theme/themeOverride29.xml" ContentType="application/vnd.openxmlformats-officedocument.themeOverr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81"/>
  </p:notesMasterIdLst>
  <p:sldIdLst>
    <p:sldId id="257" r:id="rId5"/>
    <p:sldId id="359" r:id="rId6"/>
    <p:sldId id="260" r:id="rId7"/>
    <p:sldId id="302" r:id="rId8"/>
    <p:sldId id="633" r:id="rId9"/>
    <p:sldId id="672" r:id="rId10"/>
    <p:sldId id="674" r:id="rId11"/>
    <p:sldId id="682" r:id="rId12"/>
    <p:sldId id="634" r:id="rId13"/>
    <p:sldId id="673" r:id="rId14"/>
    <p:sldId id="675" r:id="rId15"/>
    <p:sldId id="676" r:id="rId16"/>
    <p:sldId id="683" r:id="rId17"/>
    <p:sldId id="677" r:id="rId18"/>
    <p:sldId id="678" r:id="rId19"/>
    <p:sldId id="680" r:id="rId20"/>
    <p:sldId id="681" r:id="rId21"/>
    <p:sldId id="684" r:id="rId22"/>
    <p:sldId id="685" r:id="rId23"/>
    <p:sldId id="686" r:id="rId24"/>
    <p:sldId id="687" r:id="rId25"/>
    <p:sldId id="688" r:id="rId26"/>
    <p:sldId id="689" r:id="rId27"/>
    <p:sldId id="690" r:id="rId28"/>
    <p:sldId id="691" r:id="rId29"/>
    <p:sldId id="679" r:id="rId30"/>
    <p:sldId id="692" r:id="rId31"/>
    <p:sldId id="693" r:id="rId32"/>
    <p:sldId id="694" r:id="rId33"/>
    <p:sldId id="695" r:id="rId34"/>
    <p:sldId id="697" r:id="rId35"/>
    <p:sldId id="698" r:id="rId36"/>
    <p:sldId id="699" r:id="rId37"/>
    <p:sldId id="700" r:id="rId38"/>
    <p:sldId id="701" r:id="rId39"/>
    <p:sldId id="702" r:id="rId40"/>
    <p:sldId id="703" r:id="rId41"/>
    <p:sldId id="704" r:id="rId42"/>
    <p:sldId id="705" r:id="rId43"/>
    <p:sldId id="706" r:id="rId44"/>
    <p:sldId id="707" r:id="rId45"/>
    <p:sldId id="708" r:id="rId46"/>
    <p:sldId id="709" r:id="rId47"/>
    <p:sldId id="710" r:id="rId48"/>
    <p:sldId id="711" r:id="rId49"/>
    <p:sldId id="712" r:id="rId50"/>
    <p:sldId id="714" r:id="rId51"/>
    <p:sldId id="715" r:id="rId52"/>
    <p:sldId id="713" r:id="rId53"/>
    <p:sldId id="716" r:id="rId54"/>
    <p:sldId id="717" r:id="rId55"/>
    <p:sldId id="718" r:id="rId56"/>
    <p:sldId id="719" r:id="rId57"/>
    <p:sldId id="721" r:id="rId58"/>
    <p:sldId id="720" r:id="rId59"/>
    <p:sldId id="722" r:id="rId60"/>
    <p:sldId id="723" r:id="rId61"/>
    <p:sldId id="724" r:id="rId62"/>
    <p:sldId id="725" r:id="rId63"/>
    <p:sldId id="726" r:id="rId64"/>
    <p:sldId id="727" r:id="rId65"/>
    <p:sldId id="728" r:id="rId66"/>
    <p:sldId id="729" r:id="rId67"/>
    <p:sldId id="730" r:id="rId68"/>
    <p:sldId id="731" r:id="rId69"/>
    <p:sldId id="732" r:id="rId70"/>
    <p:sldId id="733" r:id="rId71"/>
    <p:sldId id="734" r:id="rId72"/>
    <p:sldId id="735" r:id="rId73"/>
    <p:sldId id="736" r:id="rId74"/>
    <p:sldId id="737" r:id="rId75"/>
    <p:sldId id="738" r:id="rId76"/>
    <p:sldId id="739" r:id="rId77"/>
    <p:sldId id="740" r:id="rId78"/>
    <p:sldId id="741" r:id="rId79"/>
    <p:sldId id="742"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6" autoAdjust="0"/>
    <p:restoredTop sz="94619" autoAdjust="0"/>
  </p:normalViewPr>
  <p:slideViewPr>
    <p:cSldViewPr snapToGrid="0">
      <p:cViewPr varScale="1">
        <p:scale>
          <a:sx n="101" d="100"/>
          <a:sy n="101" d="100"/>
        </p:scale>
        <p:origin x="69" y="2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en-NG" smtClean="0"/>
              <a:t>04/06/2025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en-NG" smtClean="0"/>
              <a:t>‹#›</a:t>
            </a:fld>
            <a:endParaRPr lang="en-NG"/>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44F6D5-FFE7-49F7-9D51-00EE85B0B2CE}" type="slidenum">
              <a:rPr lang="en-NG" smtClean="0"/>
              <a:t>51</a:t>
            </a:fld>
            <a:endParaRPr lang="en-NG"/>
          </a:p>
        </p:txBody>
      </p:sp>
    </p:spTree>
    <p:extLst>
      <p:ext uri="{BB962C8B-B14F-4D97-AF65-F5344CB8AC3E}">
        <p14:creationId xmlns:p14="http://schemas.microsoft.com/office/powerpoint/2010/main" val="4010727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6BC86-8377-2093-E62D-1B6F531D1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35E526-9AE5-D170-220B-65C0D09F8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FF265-0F6B-D01A-828C-E339FBE18E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60A400-D723-2B59-77B0-9119E6793E52}"/>
              </a:ext>
            </a:extLst>
          </p:cNvPr>
          <p:cNvSpPr>
            <a:spLocks noGrp="1"/>
          </p:cNvSpPr>
          <p:nvPr>
            <p:ph type="sldNum" sz="quarter" idx="5"/>
          </p:nvPr>
        </p:nvSpPr>
        <p:spPr/>
        <p:txBody>
          <a:bodyPr/>
          <a:lstStyle/>
          <a:p>
            <a:fld id="{A544F6D5-FFE7-49F7-9D51-00EE85B0B2CE}" type="slidenum">
              <a:rPr lang="en-NG" smtClean="0"/>
              <a:t>52</a:t>
            </a:fld>
            <a:endParaRPr lang="en-NG"/>
          </a:p>
        </p:txBody>
      </p:sp>
    </p:spTree>
    <p:extLst>
      <p:ext uri="{BB962C8B-B14F-4D97-AF65-F5344CB8AC3E}">
        <p14:creationId xmlns:p14="http://schemas.microsoft.com/office/powerpoint/2010/main" val="3235815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90089-BFE4-F8A9-F34D-E7686A0B85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C3DCD-661E-BD27-C32C-CB55857C7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2504EF-02E2-9EFE-33FA-F89EC6C19E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7A91AA-7BF8-7730-42C9-761D7B1F4D12}"/>
              </a:ext>
            </a:extLst>
          </p:cNvPr>
          <p:cNvSpPr>
            <a:spLocks noGrp="1"/>
          </p:cNvSpPr>
          <p:nvPr>
            <p:ph type="sldNum" sz="quarter" idx="5"/>
          </p:nvPr>
        </p:nvSpPr>
        <p:spPr/>
        <p:txBody>
          <a:bodyPr/>
          <a:lstStyle/>
          <a:p>
            <a:fld id="{A544F6D5-FFE7-49F7-9D51-00EE85B0B2CE}" type="slidenum">
              <a:rPr lang="en-NG" smtClean="0"/>
              <a:t>53</a:t>
            </a:fld>
            <a:endParaRPr lang="en-NG"/>
          </a:p>
        </p:txBody>
      </p:sp>
    </p:spTree>
    <p:extLst>
      <p:ext uri="{BB962C8B-B14F-4D97-AF65-F5344CB8AC3E}">
        <p14:creationId xmlns:p14="http://schemas.microsoft.com/office/powerpoint/2010/main" val="988464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1D9C1-B60C-E366-2B07-6F088CCEB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DD98A-53AE-9C84-85E7-6C6F52DD6D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3B6EE-442C-D8DB-D6E0-5B926F1BAD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57BBDA-4C43-BE9F-0EFA-87BD1C95FC91}"/>
              </a:ext>
            </a:extLst>
          </p:cNvPr>
          <p:cNvSpPr>
            <a:spLocks noGrp="1"/>
          </p:cNvSpPr>
          <p:nvPr>
            <p:ph type="sldNum" sz="quarter" idx="5"/>
          </p:nvPr>
        </p:nvSpPr>
        <p:spPr/>
        <p:txBody>
          <a:bodyPr/>
          <a:lstStyle/>
          <a:p>
            <a:fld id="{A544F6D5-FFE7-49F7-9D51-00EE85B0B2CE}" type="slidenum">
              <a:rPr lang="en-NG" smtClean="0"/>
              <a:t>54</a:t>
            </a:fld>
            <a:endParaRPr lang="en-NG"/>
          </a:p>
        </p:txBody>
      </p:sp>
    </p:spTree>
    <p:extLst>
      <p:ext uri="{BB962C8B-B14F-4D97-AF65-F5344CB8AC3E}">
        <p14:creationId xmlns:p14="http://schemas.microsoft.com/office/powerpoint/2010/main" val="3568566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481D-6125-1A4E-79E3-470D8B18A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1DA46-41B6-4262-1FB2-3F53B5E94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A186D-912C-F4AE-2841-73AA3C5411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BEABEB-34BD-E38F-7D7D-9918C90673E4}"/>
              </a:ext>
            </a:extLst>
          </p:cNvPr>
          <p:cNvSpPr>
            <a:spLocks noGrp="1"/>
          </p:cNvSpPr>
          <p:nvPr>
            <p:ph type="sldNum" sz="quarter" idx="5"/>
          </p:nvPr>
        </p:nvSpPr>
        <p:spPr/>
        <p:txBody>
          <a:bodyPr/>
          <a:lstStyle/>
          <a:p>
            <a:fld id="{A544F6D5-FFE7-49F7-9D51-00EE85B0B2CE}" type="slidenum">
              <a:rPr lang="en-NG" smtClean="0"/>
              <a:t>55</a:t>
            </a:fld>
            <a:endParaRPr lang="en-NG"/>
          </a:p>
        </p:txBody>
      </p:sp>
    </p:spTree>
    <p:extLst>
      <p:ext uri="{BB962C8B-B14F-4D97-AF65-F5344CB8AC3E}">
        <p14:creationId xmlns:p14="http://schemas.microsoft.com/office/powerpoint/2010/main" val="2964251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B8AC5-1FAD-8AA3-D42B-639A00829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0F5CD-11E2-AC67-6A26-A4673EA9E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936D0-3FA6-C4AA-4FB9-49C84BDA71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AA4D6E-3037-1B3B-5021-B7ED13E4FB9F}"/>
              </a:ext>
            </a:extLst>
          </p:cNvPr>
          <p:cNvSpPr>
            <a:spLocks noGrp="1"/>
          </p:cNvSpPr>
          <p:nvPr>
            <p:ph type="sldNum" sz="quarter" idx="5"/>
          </p:nvPr>
        </p:nvSpPr>
        <p:spPr/>
        <p:txBody>
          <a:bodyPr/>
          <a:lstStyle/>
          <a:p>
            <a:fld id="{A544F6D5-FFE7-49F7-9D51-00EE85B0B2CE}" type="slidenum">
              <a:rPr lang="en-NG" smtClean="0"/>
              <a:t>56</a:t>
            </a:fld>
            <a:endParaRPr lang="en-NG"/>
          </a:p>
        </p:txBody>
      </p:sp>
    </p:spTree>
    <p:extLst>
      <p:ext uri="{BB962C8B-B14F-4D97-AF65-F5344CB8AC3E}">
        <p14:creationId xmlns:p14="http://schemas.microsoft.com/office/powerpoint/2010/main" val="2757896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22D98-40AF-515F-CE38-026420A38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9C8DF-22F7-42F6-3227-8C5ED06A8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38FCE-3525-D6EF-4AF8-447192C4EA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42FA5A-B628-DF9D-8A19-F4E5AA817566}"/>
              </a:ext>
            </a:extLst>
          </p:cNvPr>
          <p:cNvSpPr>
            <a:spLocks noGrp="1"/>
          </p:cNvSpPr>
          <p:nvPr>
            <p:ph type="sldNum" sz="quarter" idx="5"/>
          </p:nvPr>
        </p:nvSpPr>
        <p:spPr/>
        <p:txBody>
          <a:bodyPr/>
          <a:lstStyle/>
          <a:p>
            <a:fld id="{A544F6D5-FFE7-49F7-9D51-00EE85B0B2CE}" type="slidenum">
              <a:rPr lang="en-NG" smtClean="0"/>
              <a:t>57</a:t>
            </a:fld>
            <a:endParaRPr lang="en-NG"/>
          </a:p>
        </p:txBody>
      </p:sp>
    </p:spTree>
    <p:extLst>
      <p:ext uri="{BB962C8B-B14F-4D97-AF65-F5344CB8AC3E}">
        <p14:creationId xmlns:p14="http://schemas.microsoft.com/office/powerpoint/2010/main" val="4064012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562CA-72C4-6717-00CD-58C1E2832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689B4-B585-3690-8CE3-9007F3E56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174E7-8ED4-927D-C4A9-C90B9513FC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7E1A6A-C0DB-EC11-D0F7-87F7ABA3CCD1}"/>
              </a:ext>
            </a:extLst>
          </p:cNvPr>
          <p:cNvSpPr>
            <a:spLocks noGrp="1"/>
          </p:cNvSpPr>
          <p:nvPr>
            <p:ph type="sldNum" sz="quarter" idx="5"/>
          </p:nvPr>
        </p:nvSpPr>
        <p:spPr/>
        <p:txBody>
          <a:bodyPr/>
          <a:lstStyle/>
          <a:p>
            <a:fld id="{A544F6D5-FFE7-49F7-9D51-00EE85B0B2CE}" type="slidenum">
              <a:rPr lang="en-NG" smtClean="0"/>
              <a:t>58</a:t>
            </a:fld>
            <a:endParaRPr lang="en-NG"/>
          </a:p>
        </p:txBody>
      </p:sp>
    </p:spTree>
    <p:extLst>
      <p:ext uri="{BB962C8B-B14F-4D97-AF65-F5344CB8AC3E}">
        <p14:creationId xmlns:p14="http://schemas.microsoft.com/office/powerpoint/2010/main" val="2031457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8C72F-3D10-A4A4-10FA-6EA51C043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D0CC0-6DDF-110C-A5E5-4321C3F30D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90E1D-CB39-9359-048D-C8AD24BD44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621F1F-E42D-C583-4FBA-72DF44009F48}"/>
              </a:ext>
            </a:extLst>
          </p:cNvPr>
          <p:cNvSpPr>
            <a:spLocks noGrp="1"/>
          </p:cNvSpPr>
          <p:nvPr>
            <p:ph type="sldNum" sz="quarter" idx="5"/>
          </p:nvPr>
        </p:nvSpPr>
        <p:spPr/>
        <p:txBody>
          <a:bodyPr/>
          <a:lstStyle/>
          <a:p>
            <a:fld id="{A544F6D5-FFE7-49F7-9D51-00EE85B0B2CE}" type="slidenum">
              <a:rPr lang="en-NG" smtClean="0"/>
              <a:t>59</a:t>
            </a:fld>
            <a:endParaRPr lang="en-NG"/>
          </a:p>
        </p:txBody>
      </p:sp>
    </p:spTree>
    <p:extLst>
      <p:ext uri="{BB962C8B-B14F-4D97-AF65-F5344CB8AC3E}">
        <p14:creationId xmlns:p14="http://schemas.microsoft.com/office/powerpoint/2010/main" val="89439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5C808-CB62-88F4-21AF-8C8A8FEF6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7B953-3C76-387B-2680-02AFF2FD2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EDACB6-4F1F-FCD4-A9CD-5F263F7DD9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11DD6E-849C-AD5E-87B3-3E074B1D5869}"/>
              </a:ext>
            </a:extLst>
          </p:cNvPr>
          <p:cNvSpPr>
            <a:spLocks noGrp="1"/>
          </p:cNvSpPr>
          <p:nvPr>
            <p:ph type="sldNum" sz="quarter" idx="5"/>
          </p:nvPr>
        </p:nvSpPr>
        <p:spPr/>
        <p:txBody>
          <a:bodyPr/>
          <a:lstStyle/>
          <a:p>
            <a:fld id="{A544F6D5-FFE7-49F7-9D51-00EE85B0B2CE}" type="slidenum">
              <a:rPr lang="en-NG" smtClean="0"/>
              <a:t>60</a:t>
            </a:fld>
            <a:endParaRPr lang="en-NG"/>
          </a:p>
        </p:txBody>
      </p:sp>
    </p:spTree>
    <p:extLst>
      <p:ext uri="{BB962C8B-B14F-4D97-AF65-F5344CB8AC3E}">
        <p14:creationId xmlns:p14="http://schemas.microsoft.com/office/powerpoint/2010/main" val="1595613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5F175-2D21-6657-62E6-5B7D24BA0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4CEB3-2582-358D-7189-58232B3FC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137BE3-84B9-1B13-8D42-2A814D5560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6678A1-46C8-7FA4-3356-5756BF2B01DA}"/>
              </a:ext>
            </a:extLst>
          </p:cNvPr>
          <p:cNvSpPr>
            <a:spLocks noGrp="1"/>
          </p:cNvSpPr>
          <p:nvPr>
            <p:ph type="sldNum" sz="quarter" idx="5"/>
          </p:nvPr>
        </p:nvSpPr>
        <p:spPr/>
        <p:txBody>
          <a:bodyPr/>
          <a:lstStyle/>
          <a:p>
            <a:fld id="{A544F6D5-FFE7-49F7-9D51-00EE85B0B2CE}" type="slidenum">
              <a:rPr lang="en-NG" smtClean="0"/>
              <a:t>62</a:t>
            </a:fld>
            <a:endParaRPr lang="en-NG"/>
          </a:p>
        </p:txBody>
      </p:sp>
    </p:spTree>
    <p:extLst>
      <p:ext uri="{BB962C8B-B14F-4D97-AF65-F5344CB8AC3E}">
        <p14:creationId xmlns:p14="http://schemas.microsoft.com/office/powerpoint/2010/main" val="4005774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65CE-A6A8-0142-8909-CFC09E600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7DAC05-BF53-88B3-5671-EA95D3A93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DFE20-E6C0-D525-5CAD-AE295D77FD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7DFEF9-52C4-2DB4-554B-A81060F52554}"/>
              </a:ext>
            </a:extLst>
          </p:cNvPr>
          <p:cNvSpPr>
            <a:spLocks noGrp="1"/>
          </p:cNvSpPr>
          <p:nvPr>
            <p:ph type="sldNum" sz="quarter" idx="5"/>
          </p:nvPr>
        </p:nvSpPr>
        <p:spPr/>
        <p:txBody>
          <a:bodyPr/>
          <a:lstStyle/>
          <a:p>
            <a:fld id="{A544F6D5-FFE7-49F7-9D51-00EE85B0B2CE}" type="slidenum">
              <a:rPr lang="en-NG" smtClean="0"/>
              <a:t>63</a:t>
            </a:fld>
            <a:endParaRPr lang="en-NG"/>
          </a:p>
        </p:txBody>
      </p:sp>
    </p:spTree>
    <p:extLst>
      <p:ext uri="{BB962C8B-B14F-4D97-AF65-F5344CB8AC3E}">
        <p14:creationId xmlns:p14="http://schemas.microsoft.com/office/powerpoint/2010/main" val="1346035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BC048-9114-3947-22F2-9D47F160C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4DBEE-657C-C955-B38B-99501F31C3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7778A-6F43-E5F8-B308-654446F828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B11AB8-CF83-B42F-E589-D24235ADE9A2}"/>
              </a:ext>
            </a:extLst>
          </p:cNvPr>
          <p:cNvSpPr>
            <a:spLocks noGrp="1"/>
          </p:cNvSpPr>
          <p:nvPr>
            <p:ph type="sldNum" sz="quarter" idx="5"/>
          </p:nvPr>
        </p:nvSpPr>
        <p:spPr/>
        <p:txBody>
          <a:bodyPr/>
          <a:lstStyle/>
          <a:p>
            <a:fld id="{A544F6D5-FFE7-49F7-9D51-00EE85B0B2CE}" type="slidenum">
              <a:rPr lang="en-NG" smtClean="0"/>
              <a:t>64</a:t>
            </a:fld>
            <a:endParaRPr lang="en-NG"/>
          </a:p>
        </p:txBody>
      </p:sp>
    </p:spTree>
    <p:extLst>
      <p:ext uri="{BB962C8B-B14F-4D97-AF65-F5344CB8AC3E}">
        <p14:creationId xmlns:p14="http://schemas.microsoft.com/office/powerpoint/2010/main" val="8630287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3E6A8-9A3E-02E3-0BF2-48608CC9F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46C547-85BB-9F3D-05A3-05DE1BB52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6DE30-A81A-1A48-32AE-C0207545BF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37C040-F62D-4BDC-6DCD-0E94D5666C71}"/>
              </a:ext>
            </a:extLst>
          </p:cNvPr>
          <p:cNvSpPr>
            <a:spLocks noGrp="1"/>
          </p:cNvSpPr>
          <p:nvPr>
            <p:ph type="sldNum" sz="quarter" idx="5"/>
          </p:nvPr>
        </p:nvSpPr>
        <p:spPr/>
        <p:txBody>
          <a:bodyPr/>
          <a:lstStyle/>
          <a:p>
            <a:fld id="{A544F6D5-FFE7-49F7-9D51-00EE85B0B2CE}" type="slidenum">
              <a:rPr lang="en-NG" smtClean="0"/>
              <a:t>65</a:t>
            </a:fld>
            <a:endParaRPr lang="en-NG"/>
          </a:p>
        </p:txBody>
      </p:sp>
    </p:spTree>
    <p:extLst>
      <p:ext uri="{BB962C8B-B14F-4D97-AF65-F5344CB8AC3E}">
        <p14:creationId xmlns:p14="http://schemas.microsoft.com/office/powerpoint/2010/main" val="2538518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89D8-818D-409E-C749-7DC10236A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A85A8-4302-0EC9-7105-1DF5E58F8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08388-7300-3B6A-D2F5-04F37F1C84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C60B73-825B-9395-81A4-A82DBF15949A}"/>
              </a:ext>
            </a:extLst>
          </p:cNvPr>
          <p:cNvSpPr>
            <a:spLocks noGrp="1"/>
          </p:cNvSpPr>
          <p:nvPr>
            <p:ph type="sldNum" sz="quarter" idx="5"/>
          </p:nvPr>
        </p:nvSpPr>
        <p:spPr/>
        <p:txBody>
          <a:bodyPr/>
          <a:lstStyle/>
          <a:p>
            <a:fld id="{A544F6D5-FFE7-49F7-9D51-00EE85B0B2CE}" type="slidenum">
              <a:rPr lang="en-NG" smtClean="0"/>
              <a:t>66</a:t>
            </a:fld>
            <a:endParaRPr lang="en-NG"/>
          </a:p>
        </p:txBody>
      </p:sp>
    </p:spTree>
    <p:extLst>
      <p:ext uri="{BB962C8B-B14F-4D97-AF65-F5344CB8AC3E}">
        <p14:creationId xmlns:p14="http://schemas.microsoft.com/office/powerpoint/2010/main" val="34631546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3C104-3EB9-AA84-7309-DCA1C5902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EBEDF-04C0-F8DF-B328-771271D7F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F17DA-92BA-658B-783B-7F3452A00C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805269-74D8-0EFA-8E0A-B9EC0044A2B8}"/>
              </a:ext>
            </a:extLst>
          </p:cNvPr>
          <p:cNvSpPr>
            <a:spLocks noGrp="1"/>
          </p:cNvSpPr>
          <p:nvPr>
            <p:ph type="sldNum" sz="quarter" idx="5"/>
          </p:nvPr>
        </p:nvSpPr>
        <p:spPr/>
        <p:txBody>
          <a:bodyPr/>
          <a:lstStyle/>
          <a:p>
            <a:fld id="{A544F6D5-FFE7-49F7-9D51-00EE85B0B2CE}" type="slidenum">
              <a:rPr lang="en-NG" smtClean="0"/>
              <a:t>67</a:t>
            </a:fld>
            <a:endParaRPr lang="en-NG"/>
          </a:p>
        </p:txBody>
      </p:sp>
    </p:spTree>
    <p:extLst>
      <p:ext uri="{BB962C8B-B14F-4D97-AF65-F5344CB8AC3E}">
        <p14:creationId xmlns:p14="http://schemas.microsoft.com/office/powerpoint/2010/main" val="30899306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F2AB0-4DCA-05EC-AA95-48DDDE960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3BC57-B165-EEFE-7B27-A40ABC39D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1DDAFA-DFDA-6063-BD98-80CD3F621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5FD918-A1C0-CEF3-2706-9AC40B3427F7}"/>
              </a:ext>
            </a:extLst>
          </p:cNvPr>
          <p:cNvSpPr>
            <a:spLocks noGrp="1"/>
          </p:cNvSpPr>
          <p:nvPr>
            <p:ph type="sldNum" sz="quarter" idx="5"/>
          </p:nvPr>
        </p:nvSpPr>
        <p:spPr/>
        <p:txBody>
          <a:bodyPr/>
          <a:lstStyle/>
          <a:p>
            <a:fld id="{A544F6D5-FFE7-49F7-9D51-00EE85B0B2CE}" type="slidenum">
              <a:rPr lang="en-NG" smtClean="0"/>
              <a:t>68</a:t>
            </a:fld>
            <a:endParaRPr lang="en-NG"/>
          </a:p>
        </p:txBody>
      </p:sp>
    </p:spTree>
    <p:extLst>
      <p:ext uri="{BB962C8B-B14F-4D97-AF65-F5344CB8AC3E}">
        <p14:creationId xmlns:p14="http://schemas.microsoft.com/office/powerpoint/2010/main" val="2284906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0B2D-312F-1BA1-3F2A-030EB9AF52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EE90C-ABB5-A67F-3CF5-4E4A394B81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BF2E01-3C68-419E-F3D1-D3F65EB27B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F5D7F-6F56-8D54-0DC0-427D86913F0D}"/>
              </a:ext>
            </a:extLst>
          </p:cNvPr>
          <p:cNvSpPr>
            <a:spLocks noGrp="1"/>
          </p:cNvSpPr>
          <p:nvPr>
            <p:ph type="sldNum" sz="quarter" idx="5"/>
          </p:nvPr>
        </p:nvSpPr>
        <p:spPr/>
        <p:txBody>
          <a:bodyPr/>
          <a:lstStyle/>
          <a:p>
            <a:fld id="{A544F6D5-FFE7-49F7-9D51-00EE85B0B2CE}" type="slidenum">
              <a:rPr lang="en-NG" smtClean="0"/>
              <a:t>69</a:t>
            </a:fld>
            <a:endParaRPr lang="en-NG"/>
          </a:p>
        </p:txBody>
      </p:sp>
    </p:spTree>
    <p:extLst>
      <p:ext uri="{BB962C8B-B14F-4D97-AF65-F5344CB8AC3E}">
        <p14:creationId xmlns:p14="http://schemas.microsoft.com/office/powerpoint/2010/main" val="3425329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E9832-8671-668B-25AA-0110578EB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04B31-869B-181C-D991-D77918AFC2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A876DB-2D40-6134-C70F-48CCE7DB17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0064E4-63E5-FE28-689A-9E6197672677}"/>
              </a:ext>
            </a:extLst>
          </p:cNvPr>
          <p:cNvSpPr>
            <a:spLocks noGrp="1"/>
          </p:cNvSpPr>
          <p:nvPr>
            <p:ph type="sldNum" sz="quarter" idx="5"/>
          </p:nvPr>
        </p:nvSpPr>
        <p:spPr/>
        <p:txBody>
          <a:bodyPr/>
          <a:lstStyle/>
          <a:p>
            <a:fld id="{A544F6D5-FFE7-49F7-9D51-00EE85B0B2CE}" type="slidenum">
              <a:rPr lang="en-NG" smtClean="0"/>
              <a:t>70</a:t>
            </a:fld>
            <a:endParaRPr lang="en-NG"/>
          </a:p>
        </p:txBody>
      </p:sp>
    </p:spTree>
    <p:extLst>
      <p:ext uri="{BB962C8B-B14F-4D97-AF65-F5344CB8AC3E}">
        <p14:creationId xmlns:p14="http://schemas.microsoft.com/office/powerpoint/2010/main" val="1544832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31E38-8550-B08A-C4F0-2525F20A5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AF906-7119-6F21-E15C-06EDF0676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21F33-0333-3BB6-0941-971D7D7F99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9D5B60-AAD4-CCC1-73B6-F416DDE241FE}"/>
              </a:ext>
            </a:extLst>
          </p:cNvPr>
          <p:cNvSpPr>
            <a:spLocks noGrp="1"/>
          </p:cNvSpPr>
          <p:nvPr>
            <p:ph type="sldNum" sz="quarter" idx="5"/>
          </p:nvPr>
        </p:nvSpPr>
        <p:spPr/>
        <p:txBody>
          <a:bodyPr/>
          <a:lstStyle/>
          <a:p>
            <a:fld id="{A544F6D5-FFE7-49F7-9D51-00EE85B0B2CE}" type="slidenum">
              <a:rPr lang="en-NG" smtClean="0"/>
              <a:t>72</a:t>
            </a:fld>
            <a:endParaRPr lang="en-NG"/>
          </a:p>
        </p:txBody>
      </p:sp>
    </p:spTree>
    <p:extLst>
      <p:ext uri="{BB962C8B-B14F-4D97-AF65-F5344CB8AC3E}">
        <p14:creationId xmlns:p14="http://schemas.microsoft.com/office/powerpoint/2010/main" val="7111304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D97C2-5F17-147A-BB60-5E18D33E8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4215D-9226-BB98-E193-9359122B6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8A5F5-1971-EE6D-19B9-398712B851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4C52E8-F160-0F95-EC7B-A8E2402A7E21}"/>
              </a:ext>
            </a:extLst>
          </p:cNvPr>
          <p:cNvSpPr>
            <a:spLocks noGrp="1"/>
          </p:cNvSpPr>
          <p:nvPr>
            <p:ph type="sldNum" sz="quarter" idx="5"/>
          </p:nvPr>
        </p:nvSpPr>
        <p:spPr/>
        <p:txBody>
          <a:bodyPr/>
          <a:lstStyle/>
          <a:p>
            <a:fld id="{A544F6D5-FFE7-49F7-9D51-00EE85B0B2CE}" type="slidenum">
              <a:rPr lang="en-NG" smtClean="0"/>
              <a:t>73</a:t>
            </a:fld>
            <a:endParaRPr lang="en-NG"/>
          </a:p>
        </p:txBody>
      </p:sp>
    </p:spTree>
    <p:extLst>
      <p:ext uri="{BB962C8B-B14F-4D97-AF65-F5344CB8AC3E}">
        <p14:creationId xmlns:p14="http://schemas.microsoft.com/office/powerpoint/2010/main" val="276203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24084-C094-2A4A-0FFD-4C6F57AB1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8262-0550-8E58-DAB5-11B4235C35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C9B328-6386-379C-07CB-B5DF7DD0F5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86BA26-F273-7880-89DC-71632D33511D}"/>
              </a:ext>
            </a:extLst>
          </p:cNvPr>
          <p:cNvSpPr>
            <a:spLocks noGrp="1"/>
          </p:cNvSpPr>
          <p:nvPr>
            <p:ph type="sldNum" sz="quarter" idx="5"/>
          </p:nvPr>
        </p:nvSpPr>
        <p:spPr/>
        <p:txBody>
          <a:bodyPr/>
          <a:lstStyle/>
          <a:p>
            <a:fld id="{A544F6D5-FFE7-49F7-9D51-00EE85B0B2CE}" type="slidenum">
              <a:rPr lang="en-NG" smtClean="0"/>
              <a:t>74</a:t>
            </a:fld>
            <a:endParaRPr lang="en-NG"/>
          </a:p>
        </p:txBody>
      </p:sp>
    </p:spTree>
    <p:extLst>
      <p:ext uri="{BB962C8B-B14F-4D97-AF65-F5344CB8AC3E}">
        <p14:creationId xmlns:p14="http://schemas.microsoft.com/office/powerpoint/2010/main" val="25477577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CA14-C916-BBBE-6D0F-BDF2A3164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210A6-1614-9982-49A7-AD06FEBE77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EE4E5-25FA-8091-0F43-384056B7F0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0DBFED-9690-221B-36C2-91320EA10FC7}"/>
              </a:ext>
            </a:extLst>
          </p:cNvPr>
          <p:cNvSpPr>
            <a:spLocks noGrp="1"/>
          </p:cNvSpPr>
          <p:nvPr>
            <p:ph type="sldNum" sz="quarter" idx="5"/>
          </p:nvPr>
        </p:nvSpPr>
        <p:spPr/>
        <p:txBody>
          <a:bodyPr/>
          <a:lstStyle/>
          <a:p>
            <a:fld id="{A544F6D5-FFE7-49F7-9D51-00EE85B0B2CE}" type="slidenum">
              <a:rPr lang="en-NG" smtClean="0"/>
              <a:t>75</a:t>
            </a:fld>
            <a:endParaRPr lang="en-NG"/>
          </a:p>
        </p:txBody>
      </p:sp>
    </p:spTree>
    <p:extLst>
      <p:ext uri="{BB962C8B-B14F-4D97-AF65-F5344CB8AC3E}">
        <p14:creationId xmlns:p14="http://schemas.microsoft.com/office/powerpoint/2010/main" val="12236397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6/4/2025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6/4/2025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6/4/2025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6/4/2025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aws.amazon.com/what-is-cloud-comput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microsoft.com/en-us/security/business/identity-access/azure-active-directory-single-sign-on"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23.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23.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23.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23.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23.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23.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23.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23.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23.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16.xml"/><Relationship Id="rId4" Type="http://schemas.openxmlformats.org/officeDocument/2006/relationships/image" Target="../media/image23.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17.xml"/><Relationship Id="rId4" Type="http://schemas.openxmlformats.org/officeDocument/2006/relationships/image" Target="../media/image24.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18.xml"/><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9.xml"/><Relationship Id="rId4" Type="http://schemas.openxmlformats.org/officeDocument/2006/relationships/image" Target="../media/image25.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25.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21.xml"/><Relationship Id="rId4" Type="http://schemas.openxmlformats.org/officeDocument/2006/relationships/image" Target="../media/image25.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22.xml"/><Relationship Id="rId4" Type="http://schemas.openxmlformats.org/officeDocument/2006/relationships/image" Target="../media/image25.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hemeOverride" Target="../theme/themeOverride23.xml"/><Relationship Id="rId5" Type="http://schemas.openxmlformats.org/officeDocument/2006/relationships/image" Target="../media/image25.png"/><Relationship Id="rId4" Type="http://schemas.openxmlformats.org/officeDocument/2006/relationships/hyperlink" Target="https://heimdalsecurity.com/blog/privileged-account-and-session-management-pasm/" TargetMode="Externa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24.xml"/><Relationship Id="rId4" Type="http://schemas.openxmlformats.org/officeDocument/2006/relationships/image" Target="../media/image25.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25.xml"/><Relationship Id="rId4" Type="http://schemas.openxmlformats.org/officeDocument/2006/relationships/image" Target="../media/image2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26.xml"/><Relationship Id="rId4" Type="http://schemas.openxmlformats.org/officeDocument/2006/relationships/image" Target="../media/image26.jpe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hemeOverride" Target="../theme/themeOverride27.xml"/><Relationship Id="rId4" Type="http://schemas.openxmlformats.org/officeDocument/2006/relationships/image" Target="../media/image26.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hemeOverride" Target="../theme/themeOverride28.xml"/><Relationship Id="rId4" Type="http://schemas.openxmlformats.org/officeDocument/2006/relationships/image" Target="../media/image26.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hemeOverride" Target="../theme/themeOverride29.xml"/><Relationship Id="rId4" Type="http://schemas.openxmlformats.org/officeDocument/2006/relationships/image" Target="../media/image26.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3 – WEEK 3</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A0DC-C434-B3B4-0363-3B35ABFDD03A}"/>
              </a:ext>
            </a:extLst>
          </p:cNvPr>
          <p:cNvSpPr>
            <a:spLocks noGrp="1"/>
          </p:cNvSpPr>
          <p:nvPr>
            <p:ph type="title"/>
          </p:nvPr>
        </p:nvSpPr>
        <p:spPr/>
        <p:txBody>
          <a:bodyPr/>
          <a:lstStyle/>
          <a:p>
            <a:r>
              <a:rPr lang="en-US" dirty="0"/>
              <a:t>Refresher-  week2</a:t>
            </a:r>
            <a:endParaRPr lang="en-NG" dirty="0"/>
          </a:p>
        </p:txBody>
      </p:sp>
      <p:sp>
        <p:nvSpPr>
          <p:cNvPr id="6" name="Content Placeholder 2">
            <a:extLst>
              <a:ext uri="{FF2B5EF4-FFF2-40B4-BE49-F238E27FC236}">
                <a16:creationId xmlns:a16="http://schemas.microsoft.com/office/drawing/2014/main" id="{A5E726F5-BF1E-8512-B467-8B05C670538A}"/>
              </a:ext>
            </a:extLst>
          </p:cNvPr>
          <p:cNvSpPr txBox="1">
            <a:spLocks/>
          </p:cNvSpPr>
          <p:nvPr/>
        </p:nvSpPr>
        <p:spPr>
          <a:xfrm>
            <a:off x="623498" y="2668929"/>
            <a:ext cx="11029950" cy="3633787"/>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Network Security</a:t>
            </a:r>
          </a:p>
          <a:p>
            <a:pPr lvl="1"/>
            <a:r>
              <a:rPr lang="en-US"/>
              <a:t>Introduction to Network Security</a:t>
            </a:r>
          </a:p>
          <a:p>
            <a:pPr lvl="1"/>
            <a:r>
              <a:rPr lang="en-US"/>
              <a:t>Types of Threats to Network Security</a:t>
            </a:r>
          </a:p>
          <a:p>
            <a:pPr lvl="1"/>
            <a:r>
              <a:rPr lang="en-US"/>
              <a:t>Introduction to Firewall and IDS/IPS</a:t>
            </a:r>
          </a:p>
          <a:p>
            <a:pPr lvl="1"/>
            <a:r>
              <a:rPr lang="en-US"/>
              <a:t>Virtual Private Networks (VPNs)</a:t>
            </a:r>
          </a:p>
          <a:p>
            <a:pPr lvl="1"/>
            <a:r>
              <a:rPr lang="en-US"/>
              <a:t>Network Security Best Practices</a:t>
            </a:r>
          </a:p>
          <a:p>
            <a:endParaRPr lang="en-US"/>
          </a:p>
          <a:p>
            <a:r>
              <a:rPr lang="en-US"/>
              <a:t>Setting Up VLans</a:t>
            </a:r>
          </a:p>
          <a:p>
            <a:pPr lvl="1"/>
            <a:r>
              <a:rPr lang="en-US"/>
              <a:t>Configuring VLans and Network Security</a:t>
            </a:r>
          </a:p>
          <a:p>
            <a:pPr lvl="1"/>
            <a:r>
              <a:rPr lang="en-US"/>
              <a:t>Setting up VLans in Cisco Packet Tracer</a:t>
            </a:r>
          </a:p>
          <a:p>
            <a:pPr lvl="1"/>
            <a:r>
              <a:rPr lang="en-US"/>
              <a:t>Setting up basic firewall rules</a:t>
            </a:r>
          </a:p>
          <a:p>
            <a:pPr marL="324000" lvl="1" indent="0">
              <a:buFont typeface="Wingdings 2" panose="05020102010507070707" pitchFamily="18" charset="2"/>
              <a:buNone/>
            </a:pPr>
            <a:endParaRPr lang="en-US"/>
          </a:p>
          <a:p>
            <a:pPr lvl="2"/>
            <a:endParaRPr lang="en-US"/>
          </a:p>
          <a:p>
            <a:endParaRPr lang="en-NG" dirty="0"/>
          </a:p>
        </p:txBody>
      </p:sp>
    </p:spTree>
    <p:extLst>
      <p:ext uri="{BB962C8B-B14F-4D97-AF65-F5344CB8AC3E}">
        <p14:creationId xmlns:p14="http://schemas.microsoft.com/office/powerpoint/2010/main" val="8418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MONTH 3 -  WEEK 4</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a:bodyPr>
          <a:lstStyle/>
          <a:p>
            <a:r>
              <a:rPr lang="en-US" dirty="0"/>
              <a:t>Cloud Computing Concepts</a:t>
            </a:r>
          </a:p>
          <a:p>
            <a:pPr lvl="1"/>
            <a:r>
              <a:rPr lang="en-US" dirty="0"/>
              <a:t>Introduction to Cloud Computing</a:t>
            </a:r>
          </a:p>
          <a:p>
            <a:pPr lvl="1"/>
            <a:r>
              <a:rPr lang="en-US" dirty="0"/>
              <a:t>Introduction to Cloud Computing Models (IaaS, SaaS, PaaS)</a:t>
            </a:r>
          </a:p>
          <a:p>
            <a:pPr lvl="1"/>
            <a:r>
              <a:rPr lang="en-US" dirty="0"/>
              <a:t>Benefits and Challenges of Cloud Computing</a:t>
            </a:r>
          </a:p>
          <a:p>
            <a:pPr lvl="1"/>
            <a:r>
              <a:rPr lang="en-US" dirty="0"/>
              <a:t>Cloud Service Providers (AWS, Azure, GCP, Huawei &amp; Oracle)</a:t>
            </a:r>
          </a:p>
          <a:p>
            <a:pPr lvl="1"/>
            <a:r>
              <a:rPr lang="en-US" dirty="0"/>
              <a:t>Cloud Security Basics (Shared Responsibility Model)</a:t>
            </a:r>
          </a:p>
          <a:p>
            <a:pPr lvl="1"/>
            <a:r>
              <a:rPr lang="en-US" dirty="0"/>
              <a:t>Securing Cloud Infrastructure and Data</a:t>
            </a:r>
          </a:p>
          <a:p>
            <a:pPr lvl="1"/>
            <a:r>
              <a:rPr lang="en-US" dirty="0"/>
              <a:t>Compliance in the Cloud</a:t>
            </a:r>
          </a:p>
          <a:p>
            <a:pPr lvl="1"/>
            <a:r>
              <a:rPr lang="en-US" dirty="0"/>
              <a:t>Class Demo and Assignment</a:t>
            </a:r>
          </a:p>
          <a:p>
            <a:endParaRPr lang="en-US" dirty="0"/>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4FD3-15E9-5865-B87C-64743D0622C4}"/>
              </a:ext>
            </a:extLst>
          </p:cNvPr>
          <p:cNvSpPr>
            <a:spLocks noGrp="1"/>
          </p:cNvSpPr>
          <p:nvPr>
            <p:ph type="title"/>
          </p:nvPr>
        </p:nvSpPr>
        <p:spPr/>
        <p:txBody>
          <a:bodyPr>
            <a:normAutofit/>
          </a:bodyPr>
          <a:lstStyle/>
          <a:p>
            <a:r>
              <a:rPr lang="en-US" dirty="0"/>
              <a:t>Introduction to Cloud Computing</a:t>
            </a:r>
            <a:br>
              <a:rPr lang="en-US" dirty="0"/>
            </a:br>
            <a:endParaRPr lang="en-US" dirty="0"/>
          </a:p>
        </p:txBody>
      </p:sp>
      <p:sp>
        <p:nvSpPr>
          <p:cNvPr id="3" name="Text Placeholder 2">
            <a:extLst>
              <a:ext uri="{FF2B5EF4-FFF2-40B4-BE49-F238E27FC236}">
                <a16:creationId xmlns:a16="http://schemas.microsoft.com/office/drawing/2014/main" id="{97FBB6EF-E130-3B34-984F-FA630B72816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91CF7F-3CDC-E001-9407-FB6032F05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3F9DC-593B-E2C3-AC7D-4069BF1ED656}"/>
              </a:ext>
            </a:extLst>
          </p:cNvPr>
          <p:cNvSpPr>
            <a:spLocks noGrp="1"/>
          </p:cNvSpPr>
          <p:nvPr>
            <p:ph type="title"/>
          </p:nvPr>
        </p:nvSpPr>
        <p:spPr>
          <a:xfrm>
            <a:off x="581192" y="702156"/>
            <a:ext cx="11029616" cy="1188720"/>
          </a:xfrm>
        </p:spPr>
        <p:txBody>
          <a:bodyPr>
            <a:normAutofit fontScale="90000"/>
          </a:bodyPr>
          <a:lstStyle/>
          <a:p>
            <a:r>
              <a:rPr lang="en-US" dirty="0"/>
              <a:t>WHAT IS Cloud computing ?</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CE6933AC-0DD4-A639-F8C6-1BB8CF29DD9A}"/>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Cloud computing is the on-demand delivery of IT resources over the Internet with pay-as-you-go pricing. </a:t>
            </a:r>
          </a:p>
          <a:p>
            <a:pPr>
              <a:lnSpc>
                <a:spcPts val="1950"/>
              </a:lnSpc>
              <a:spcAft>
                <a:spcPts val="1950"/>
              </a:spcAft>
            </a:pPr>
            <a:r>
              <a:rPr lang="en-US" sz="1400" dirty="0">
                <a:solidFill>
                  <a:srgbClr val="51565E"/>
                </a:solidFill>
                <a:latin typeface="Roboto" panose="02000000000000000000" pitchFamily="2" charset="0"/>
              </a:rPr>
              <a:t>Instead of buying, owning, and maintaining physical data centers and servers, you can access technology services, such as computing power, storage, and databases, on an as-needed basis from a cloud provider like Amazon Web Services (AWS), Microsoft Azure, HUAWEI, Google Cloud Platform, Oracle Cloud Platform </a:t>
            </a:r>
            <a:r>
              <a:rPr lang="en-US" sz="1400" dirty="0" err="1">
                <a:solidFill>
                  <a:srgbClr val="51565E"/>
                </a:solidFill>
                <a:latin typeface="Roboto" panose="02000000000000000000" pitchFamily="2" charset="0"/>
              </a:rPr>
              <a:t>etc</a:t>
            </a:r>
            <a:br>
              <a:rPr lang="en-US" sz="1400" dirty="0"/>
            </a:br>
            <a:endParaRPr lang="en-US" sz="1400" b="0" i="0" dirty="0">
              <a:solidFill>
                <a:srgbClr val="51565E"/>
              </a:solidFill>
              <a:effectLst/>
              <a:latin typeface="Roboto" panose="02000000000000000000" pitchFamily="2" charset="0"/>
            </a:endParaRPr>
          </a:p>
        </p:txBody>
      </p:sp>
      <p:pic>
        <p:nvPicPr>
          <p:cNvPr id="1028" name="Picture 4" descr="Cloud Computing? - Computer Science ...">
            <a:extLst>
              <a:ext uri="{FF2B5EF4-FFF2-40B4-BE49-F238E27FC236}">
                <a16:creationId xmlns:a16="http://schemas.microsoft.com/office/drawing/2014/main" id="{7DCEF896-856E-866C-84BE-7F0933EC1C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9168" y="2785841"/>
            <a:ext cx="2710487" cy="1803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85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00551B-57D0-A31A-DEE2-AD10AB022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ED091-9317-E10B-D59F-224611995F59}"/>
              </a:ext>
            </a:extLst>
          </p:cNvPr>
          <p:cNvSpPr>
            <a:spLocks noGrp="1"/>
          </p:cNvSpPr>
          <p:nvPr>
            <p:ph type="title"/>
          </p:nvPr>
        </p:nvSpPr>
        <p:spPr>
          <a:xfrm>
            <a:off x="581192" y="702156"/>
            <a:ext cx="11029616" cy="1188720"/>
          </a:xfrm>
        </p:spPr>
        <p:txBody>
          <a:bodyPr>
            <a:normAutofit fontScale="90000"/>
          </a:bodyPr>
          <a:lstStyle/>
          <a:p>
            <a:r>
              <a:rPr lang="en-US" dirty="0"/>
              <a:t>Cloud computing</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24CA2090-460A-B23B-E9F4-112A0CB30AEE}"/>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Organizations of every type, size, and industry are using the cloud for a wide variety of use cases, such as data backup, disaster recovery, email, virtual desktops, software development and testing, big data analytics, and customer-facing web applications. </a:t>
            </a:r>
          </a:p>
          <a:p>
            <a:pPr>
              <a:lnSpc>
                <a:spcPts val="1950"/>
              </a:lnSpc>
              <a:spcAft>
                <a:spcPts val="1950"/>
              </a:spcAft>
            </a:pPr>
            <a:r>
              <a:rPr lang="en-US" sz="1400" dirty="0">
                <a:solidFill>
                  <a:srgbClr val="51565E"/>
                </a:solidFill>
                <a:latin typeface="Roboto" panose="02000000000000000000" pitchFamily="2" charset="0"/>
              </a:rPr>
              <a:t>For example, healthcare companies are using the cloud to develop more personalized treatments for patients. Financial services companies are using the cloud to power real-time fraud detection and prevention. And video game makers are using the cloud to deliver online games to millions of players around the world.</a:t>
            </a:r>
            <a:br>
              <a:rPr lang="en-US" sz="1400" dirty="0">
                <a:solidFill>
                  <a:srgbClr val="51565E"/>
                </a:solidFill>
                <a:latin typeface="Roboto" panose="02000000000000000000" pitchFamily="2" charset="0"/>
              </a:rPr>
            </a:br>
            <a:endParaRPr lang="en-US" sz="1400" dirty="0">
              <a:solidFill>
                <a:srgbClr val="51565E"/>
              </a:solidFill>
              <a:latin typeface="Roboto" panose="02000000000000000000" pitchFamily="2" charset="0"/>
            </a:endParaRPr>
          </a:p>
        </p:txBody>
      </p:sp>
      <p:pic>
        <p:nvPicPr>
          <p:cNvPr id="2050" name="Picture 2" descr="Cloud Computing? - Computer Science ...">
            <a:extLst>
              <a:ext uri="{FF2B5EF4-FFF2-40B4-BE49-F238E27FC236}">
                <a16:creationId xmlns:a16="http://schemas.microsoft.com/office/drawing/2014/main" id="{B0A734B5-DD07-7D3A-CA8A-4ECA1B476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3444" y="315916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087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EB7970-C8D6-A402-6580-A07180D11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EF381-FFE2-34FB-F3E6-A27CA7A34236}"/>
              </a:ext>
            </a:extLst>
          </p:cNvPr>
          <p:cNvSpPr>
            <a:spLocks noGrp="1"/>
          </p:cNvSpPr>
          <p:nvPr>
            <p:ph type="title"/>
          </p:nvPr>
        </p:nvSpPr>
        <p:spPr>
          <a:xfrm>
            <a:off x="581192" y="702156"/>
            <a:ext cx="11029616" cy="1188720"/>
          </a:xfrm>
        </p:spPr>
        <p:txBody>
          <a:bodyPr>
            <a:normAutofit fontScale="90000"/>
          </a:bodyPr>
          <a:lstStyle/>
          <a:p>
            <a:r>
              <a:rPr lang="en-US" dirty="0"/>
              <a:t>Cloud computing</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EF1DDE9-312A-93C1-015D-E1CC06E68B88}"/>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Cloud computing is providing developers and IT departments with the ability to focus on what matters most and avoid undifferentiated work like procurement, maintenance, and capacity planning. As cloud computing has grown in popularity, several different models and deployment strategies have emerged to help meet the specific needs of different users. Each type of </a:t>
            </a:r>
            <a:r>
              <a:rPr lang="en-US" sz="1400" dirty="0">
                <a:solidFill>
                  <a:srgbClr val="51565E"/>
                </a:solidFill>
                <a:latin typeface="Roboto" panose="02000000000000000000" pitchFamily="2" charset="0"/>
                <a:hlinkClick r:id="rId2">
                  <a:extLst>
                    <a:ext uri="{A12FA001-AC4F-418D-AE19-62706E023703}">
                      <ahyp:hlinkClr xmlns:ahyp="http://schemas.microsoft.com/office/drawing/2018/hyperlinkcolor" val="tx"/>
                    </a:ext>
                  </a:extLst>
                </a:hlinkClick>
              </a:rPr>
              <a:t>cloud service</a:t>
            </a:r>
            <a:r>
              <a:rPr lang="en-US" sz="1400" dirty="0">
                <a:solidFill>
                  <a:srgbClr val="51565E"/>
                </a:solidFill>
                <a:latin typeface="Roboto" panose="02000000000000000000" pitchFamily="2" charset="0"/>
              </a:rPr>
              <a:t>, and deployment method, provides you with different levels of control, flexibility, and management. .</a:t>
            </a:r>
            <a:br>
              <a:rPr lang="en-US" sz="1400" dirty="0">
                <a:solidFill>
                  <a:srgbClr val="51565E"/>
                </a:solidFill>
                <a:latin typeface="Roboto" panose="02000000000000000000" pitchFamily="2" charset="0"/>
              </a:rPr>
            </a:br>
            <a:endParaRPr lang="en-US" sz="1400" dirty="0">
              <a:solidFill>
                <a:srgbClr val="51565E"/>
              </a:solidFill>
              <a:latin typeface="Roboto" panose="02000000000000000000" pitchFamily="2" charset="0"/>
            </a:endParaRPr>
          </a:p>
        </p:txBody>
      </p:sp>
      <p:pic>
        <p:nvPicPr>
          <p:cNvPr id="2050" name="Picture 2" descr="Cloud Computing? - Computer Science ...">
            <a:extLst>
              <a:ext uri="{FF2B5EF4-FFF2-40B4-BE49-F238E27FC236}">
                <a16:creationId xmlns:a16="http://schemas.microsoft.com/office/drawing/2014/main" id="{627E374D-2D54-276C-4DC1-80699ED60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3444" y="315916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878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5A47-0155-8476-C2D2-C4D014E2C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5D7ED-2C60-9D0C-C717-B08CCDE76F91}"/>
              </a:ext>
            </a:extLst>
          </p:cNvPr>
          <p:cNvSpPr>
            <a:spLocks noGrp="1"/>
          </p:cNvSpPr>
          <p:nvPr>
            <p:ph type="title"/>
          </p:nvPr>
        </p:nvSpPr>
        <p:spPr/>
        <p:txBody>
          <a:bodyPr>
            <a:normAutofit/>
          </a:bodyPr>
          <a:lstStyle/>
          <a:p>
            <a:r>
              <a:rPr lang="en-US" dirty="0"/>
              <a:t>Introduction to Cloud Computing MODELS</a:t>
            </a:r>
            <a:br>
              <a:rPr lang="en-US" dirty="0"/>
            </a:br>
            <a:endParaRPr lang="en-US" dirty="0"/>
          </a:p>
        </p:txBody>
      </p:sp>
      <p:sp>
        <p:nvSpPr>
          <p:cNvPr id="3" name="Text Placeholder 2">
            <a:extLst>
              <a:ext uri="{FF2B5EF4-FFF2-40B4-BE49-F238E27FC236}">
                <a16:creationId xmlns:a16="http://schemas.microsoft.com/office/drawing/2014/main" id="{4D63859F-D015-FDCF-8208-67713BC5EBFD}"/>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19557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CE01BD-B8C3-D9CF-62E9-C5C15CBDC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60815-4579-2FE9-06EF-C3C17A1F38CC}"/>
              </a:ext>
            </a:extLst>
          </p:cNvPr>
          <p:cNvSpPr>
            <a:spLocks noGrp="1"/>
          </p:cNvSpPr>
          <p:nvPr>
            <p:ph type="title"/>
          </p:nvPr>
        </p:nvSpPr>
        <p:spPr>
          <a:xfrm>
            <a:off x="273234" y="572559"/>
            <a:ext cx="11029616" cy="1188720"/>
          </a:xfrm>
        </p:spPr>
        <p:txBody>
          <a:bodyPr>
            <a:normAutofit/>
          </a:bodyPr>
          <a:lstStyle/>
          <a:p>
            <a:r>
              <a:rPr lang="en-US" dirty="0"/>
              <a:t>Cloud Computing Models (IaaS, SaaS, PaaS)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B5F90E9-3E92-C493-27F8-AC7B3D81C664}"/>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The three main types of cloud computing models include Infrastructure as a Service, Platform as a Service, and Software as a Service. Each type of cloud computing models  provides different levels of control, flexibility, and management so that you can select the right set of services for your needs. </a:t>
            </a:r>
          </a:p>
          <a:p>
            <a:pPr>
              <a:lnSpc>
                <a:spcPts val="1950"/>
              </a:lnSpc>
              <a:spcAft>
                <a:spcPts val="1950"/>
              </a:spcAft>
            </a:pPr>
            <a:endParaRPr lang="en-US" sz="1400" b="0" i="0" dirty="0">
              <a:solidFill>
                <a:srgbClr val="51565E"/>
              </a:solidFill>
              <a:effectLst/>
              <a:latin typeface="Roboto" panose="02000000000000000000" pitchFamily="2" charset="0"/>
            </a:endParaRPr>
          </a:p>
        </p:txBody>
      </p:sp>
      <p:pic>
        <p:nvPicPr>
          <p:cNvPr id="3074" name="Picture 2" descr="Cloud Computing Models - TatvaSoft Blog">
            <a:extLst>
              <a:ext uri="{FF2B5EF4-FFF2-40B4-BE49-F238E27FC236}">
                <a16:creationId xmlns:a16="http://schemas.microsoft.com/office/drawing/2014/main" id="{2517AB7C-7478-9193-4CE8-EE45CF9B7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2950" y="2908629"/>
            <a:ext cx="30099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074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C22FC0-DA4A-D2ED-45E3-98937CAA9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5F6F1-559B-11D9-505F-0A760EB1F7B2}"/>
              </a:ext>
            </a:extLst>
          </p:cNvPr>
          <p:cNvSpPr>
            <a:spLocks noGrp="1"/>
          </p:cNvSpPr>
          <p:nvPr>
            <p:ph type="title"/>
          </p:nvPr>
        </p:nvSpPr>
        <p:spPr>
          <a:xfrm>
            <a:off x="273234" y="572559"/>
            <a:ext cx="11029616" cy="1188720"/>
          </a:xfrm>
        </p:spPr>
        <p:txBody>
          <a:bodyPr>
            <a:normAutofit/>
          </a:bodyPr>
          <a:lstStyle/>
          <a:p>
            <a:r>
              <a:rPr lang="en-US" sz="2800" dirty="0">
                <a:solidFill>
                  <a:srgbClr val="51565E"/>
                </a:solidFill>
                <a:latin typeface="Roboto" panose="02000000000000000000" pitchFamily="2" charset="0"/>
              </a:rPr>
              <a:t>Infrastructure as a Service </a:t>
            </a:r>
            <a:r>
              <a:rPr lang="en-US" dirty="0"/>
              <a:t>(IAAS)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586706A-ED3A-C566-59C8-F9D0D20ED3CB}"/>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Infrastructure as a Service (IaaS)</a:t>
            </a:r>
          </a:p>
          <a:p>
            <a:pPr lvl="1">
              <a:lnSpc>
                <a:spcPts val="1950"/>
              </a:lnSpc>
              <a:spcAft>
                <a:spcPts val="1950"/>
              </a:spcAft>
            </a:pPr>
            <a:r>
              <a:rPr lang="en-US" dirty="0">
                <a:solidFill>
                  <a:srgbClr val="51565E"/>
                </a:solidFill>
                <a:latin typeface="Roboto" panose="02000000000000000000" pitchFamily="2" charset="0"/>
              </a:rPr>
              <a:t>IaaS contains the basic building blocks for cloud IT. It typically provides access to networking features, computers (virtual or on dedicated hardware), and data storage space. IaaS gives you the highest level of flexibility and management control over your IT resources. It is most similar to the existing IT resources with which many IT departments and developers are familiar. </a:t>
            </a:r>
          </a:p>
          <a:p>
            <a:pPr>
              <a:lnSpc>
                <a:spcPts val="1950"/>
              </a:lnSpc>
              <a:spcAft>
                <a:spcPts val="1950"/>
              </a:spcAft>
            </a:pPr>
            <a:endParaRPr lang="en-US" sz="1400" b="0" i="0" dirty="0">
              <a:solidFill>
                <a:srgbClr val="51565E"/>
              </a:solidFill>
              <a:effectLst/>
              <a:latin typeface="Roboto" panose="02000000000000000000" pitchFamily="2" charset="0"/>
            </a:endParaRPr>
          </a:p>
        </p:txBody>
      </p:sp>
      <p:pic>
        <p:nvPicPr>
          <p:cNvPr id="4098" name="Picture 2" descr="Cloud Services | Types of Cloud Services | Cloud Services Benefits">
            <a:extLst>
              <a:ext uri="{FF2B5EF4-FFF2-40B4-BE49-F238E27FC236}">
                <a16:creationId xmlns:a16="http://schemas.microsoft.com/office/drawing/2014/main" id="{76BD0A63-5FEB-56DE-EA07-BE40A8D8F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2091" y="2662657"/>
            <a:ext cx="4256164" cy="213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640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37AB21-ABCF-ED1E-850E-F9E420AFD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0F61C-7A94-9C7D-E2E0-DCB19BDAAA2C}"/>
              </a:ext>
            </a:extLst>
          </p:cNvPr>
          <p:cNvSpPr>
            <a:spLocks noGrp="1"/>
          </p:cNvSpPr>
          <p:nvPr>
            <p:ph type="title"/>
          </p:nvPr>
        </p:nvSpPr>
        <p:spPr>
          <a:xfrm>
            <a:off x="273234" y="572559"/>
            <a:ext cx="11029616" cy="1188720"/>
          </a:xfrm>
        </p:spPr>
        <p:txBody>
          <a:bodyPr>
            <a:normAutofit/>
          </a:bodyPr>
          <a:lstStyle/>
          <a:p>
            <a:r>
              <a:rPr lang="en-US" dirty="0">
                <a:solidFill>
                  <a:srgbClr val="51565E"/>
                </a:solidFill>
                <a:latin typeface="Roboto" panose="02000000000000000000" pitchFamily="2" charset="0"/>
              </a:rPr>
              <a:t>Platform</a:t>
            </a:r>
            <a:r>
              <a:rPr lang="en-US" sz="2800" dirty="0">
                <a:solidFill>
                  <a:srgbClr val="51565E"/>
                </a:solidFill>
                <a:latin typeface="Roboto" panose="02000000000000000000" pitchFamily="2" charset="0"/>
              </a:rPr>
              <a:t> as a Service </a:t>
            </a:r>
            <a:r>
              <a:rPr lang="en-US" dirty="0"/>
              <a:t>(PAAS)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56D52C97-E49D-E317-9DDB-D7B54A791803}"/>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Platform as a Service (PaaS)</a:t>
            </a:r>
          </a:p>
          <a:p>
            <a:pPr lvl="1">
              <a:lnSpc>
                <a:spcPts val="1950"/>
              </a:lnSpc>
              <a:spcAft>
                <a:spcPts val="1950"/>
              </a:spcAft>
            </a:pPr>
            <a:r>
              <a:rPr lang="en-US" dirty="0">
                <a:solidFill>
                  <a:srgbClr val="51565E"/>
                </a:solidFill>
                <a:latin typeface="Roboto" panose="02000000000000000000" pitchFamily="2" charset="0"/>
              </a:rPr>
              <a:t>PaaS vendors remove the need for organizations to manage the underlying infrastructure (usually hardware and operating systems), and this integration allows you to focus on the deployment and management of your applications. This helps you be more efficient, as you don’t need to worry about resource procurement, capacity planning, software maintenance, patching, or any of the other undifferentiated heavy lifting involved in running your application.</a:t>
            </a:r>
          </a:p>
        </p:txBody>
      </p:sp>
      <p:pic>
        <p:nvPicPr>
          <p:cNvPr id="5122" name="Picture 2" descr="Cloud Services | Types of Cloud Services | Cloud Services Benefits">
            <a:extLst>
              <a:ext uri="{FF2B5EF4-FFF2-40B4-BE49-F238E27FC236}">
                <a16:creationId xmlns:a16="http://schemas.microsoft.com/office/drawing/2014/main" id="{9025710C-D784-4DEC-F5E1-A94D8E0F1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5675" y="2867158"/>
            <a:ext cx="4670988" cy="2338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165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43014E-1D4A-1B8E-B944-E55A39DA5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21711-F8D7-EA84-2BFF-0843131E1D0C}"/>
              </a:ext>
            </a:extLst>
          </p:cNvPr>
          <p:cNvSpPr>
            <a:spLocks noGrp="1"/>
          </p:cNvSpPr>
          <p:nvPr>
            <p:ph type="title"/>
          </p:nvPr>
        </p:nvSpPr>
        <p:spPr>
          <a:xfrm>
            <a:off x="273234" y="572559"/>
            <a:ext cx="11029616" cy="1188720"/>
          </a:xfrm>
        </p:spPr>
        <p:txBody>
          <a:bodyPr>
            <a:normAutofit/>
          </a:bodyPr>
          <a:lstStyle/>
          <a:p>
            <a:r>
              <a:rPr lang="en-US" dirty="0">
                <a:solidFill>
                  <a:srgbClr val="51565E"/>
                </a:solidFill>
                <a:latin typeface="Roboto" panose="02000000000000000000" pitchFamily="2" charset="0"/>
              </a:rPr>
              <a:t>Software</a:t>
            </a:r>
            <a:r>
              <a:rPr lang="en-US" sz="2800" dirty="0">
                <a:solidFill>
                  <a:srgbClr val="51565E"/>
                </a:solidFill>
                <a:latin typeface="Roboto" panose="02000000000000000000" pitchFamily="2" charset="0"/>
              </a:rPr>
              <a:t> as a Service </a:t>
            </a:r>
            <a:r>
              <a:rPr lang="en-US" dirty="0"/>
              <a:t>(SAAS)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8CA55B2-456C-8CA1-48DB-B3D6AD435160}"/>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Software as a Service (SaaS)</a:t>
            </a:r>
          </a:p>
          <a:p>
            <a:pPr lvl="1">
              <a:lnSpc>
                <a:spcPts val="1950"/>
              </a:lnSpc>
              <a:spcAft>
                <a:spcPts val="1950"/>
              </a:spcAft>
            </a:pPr>
            <a:r>
              <a:rPr lang="en-US" dirty="0">
                <a:solidFill>
                  <a:srgbClr val="51565E"/>
                </a:solidFill>
                <a:latin typeface="Roboto" panose="02000000000000000000" pitchFamily="2" charset="0"/>
              </a:rPr>
              <a:t>SaaS vendors provide you with software applications that are run and managed by the vendor. In most cases, people referring to SaaS are referring to third-party end-user applications. With a SaaS offering you do not have to worry about how the service is maintained or how the underlying infrastructure is managed; you only need think about how you will use that particular piece of software. A common example of a SaaS application is web-based email where you can send and receive email without having to manage feature additions or maintain the servers and operating systems that the email program is running on.</a:t>
            </a:r>
          </a:p>
        </p:txBody>
      </p:sp>
      <p:pic>
        <p:nvPicPr>
          <p:cNvPr id="6146" name="Picture 2" descr="Cloud Services | Types of Cloud Services | Cloud Services Benefits">
            <a:extLst>
              <a:ext uri="{FF2B5EF4-FFF2-40B4-BE49-F238E27FC236}">
                <a16:creationId xmlns:a16="http://schemas.microsoft.com/office/drawing/2014/main" id="{5052ABFF-A784-003D-45A0-AECF2FF15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6229" y="2821097"/>
            <a:ext cx="4696762" cy="2351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24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F737-D5B5-81C3-8382-C2626F770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B8253-6329-43D3-8841-6EA29A0D6BE7}"/>
              </a:ext>
            </a:extLst>
          </p:cNvPr>
          <p:cNvSpPr>
            <a:spLocks noGrp="1"/>
          </p:cNvSpPr>
          <p:nvPr>
            <p:ph type="title"/>
          </p:nvPr>
        </p:nvSpPr>
        <p:spPr/>
        <p:txBody>
          <a:bodyPr>
            <a:normAutofit/>
          </a:bodyPr>
          <a:lstStyle/>
          <a:p>
            <a:r>
              <a:rPr lang="en-US" dirty="0"/>
              <a:t>BENEFITS to Cloud Computing</a:t>
            </a:r>
            <a:br>
              <a:rPr lang="en-US" dirty="0"/>
            </a:br>
            <a:endParaRPr lang="en-US" dirty="0"/>
          </a:p>
        </p:txBody>
      </p:sp>
      <p:sp>
        <p:nvSpPr>
          <p:cNvPr id="3" name="Text Placeholder 2">
            <a:extLst>
              <a:ext uri="{FF2B5EF4-FFF2-40B4-BE49-F238E27FC236}">
                <a16:creationId xmlns:a16="http://schemas.microsoft.com/office/drawing/2014/main" id="{FE5ECBEC-B5C0-352B-77C3-B042CA590ACE}"/>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312390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B6C510-82CB-4256-3C4F-34BABE499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DC6A6-1DB8-74FE-A3B9-E5B35EBE8211}"/>
              </a:ext>
            </a:extLst>
          </p:cNvPr>
          <p:cNvSpPr>
            <a:spLocks noGrp="1"/>
          </p:cNvSpPr>
          <p:nvPr>
            <p:ph type="title"/>
          </p:nvPr>
        </p:nvSpPr>
        <p:spPr>
          <a:xfrm>
            <a:off x="273234" y="572559"/>
            <a:ext cx="11029616" cy="1188720"/>
          </a:xfrm>
        </p:spPr>
        <p:txBody>
          <a:bodyPr>
            <a:normAutofit/>
          </a:bodyPr>
          <a:lstStyle/>
          <a:p>
            <a:r>
              <a:rPr lang="en-US" dirty="0"/>
              <a:t>benefits of Cloud computing - AGILITY</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CF92BA6-3314-F543-BB1B-5C3E6ABD0003}"/>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AGILITY</a:t>
            </a:r>
          </a:p>
          <a:p>
            <a:pPr lvl="1">
              <a:lnSpc>
                <a:spcPts val="1950"/>
              </a:lnSpc>
              <a:spcAft>
                <a:spcPts val="1950"/>
              </a:spcAft>
            </a:pPr>
            <a:r>
              <a:rPr lang="en-US" dirty="0">
                <a:solidFill>
                  <a:srgbClr val="51565E"/>
                </a:solidFill>
                <a:latin typeface="Roboto" panose="02000000000000000000" pitchFamily="2" charset="0"/>
              </a:rPr>
              <a:t>The cloud gives you easy access to a broad range of technologies so that you can innovate faster and build nearly anything that you can imagine. You can quickly spin up resources as you need them–from infrastructure services, such as compute, storage, and databases, to Internet of Things, machine learning, data lakes and analytics, and much more.</a:t>
            </a:r>
          </a:p>
          <a:p>
            <a:pPr lvl="1">
              <a:lnSpc>
                <a:spcPts val="1950"/>
              </a:lnSpc>
              <a:spcAft>
                <a:spcPts val="1950"/>
              </a:spcAft>
            </a:pPr>
            <a:r>
              <a:rPr lang="en-US" dirty="0">
                <a:solidFill>
                  <a:srgbClr val="51565E"/>
                </a:solidFill>
                <a:latin typeface="Roboto" panose="02000000000000000000" pitchFamily="2" charset="0"/>
              </a:rPr>
              <a:t>You can deploy technology services in a matter of minutes, and get from idea to implementation several orders of magnitude faster than before. This gives you the freedom to experiment, test new ideas to differentiate customer experiences, and transform your business</a:t>
            </a:r>
          </a:p>
          <a:p>
            <a:pPr lvl="1">
              <a:lnSpc>
                <a:spcPts val="1950"/>
              </a:lnSpc>
              <a:spcAft>
                <a:spcPts val="1950"/>
              </a:spcAft>
            </a:pPr>
            <a:endParaRPr lang="en-US" dirty="0">
              <a:solidFill>
                <a:srgbClr val="51565E"/>
              </a:solidFill>
              <a:latin typeface="Roboto" panose="02000000000000000000" pitchFamily="2" charset="0"/>
            </a:endParaRPr>
          </a:p>
        </p:txBody>
      </p:sp>
      <p:pic>
        <p:nvPicPr>
          <p:cNvPr id="4" name="Picture 3">
            <a:extLst>
              <a:ext uri="{FF2B5EF4-FFF2-40B4-BE49-F238E27FC236}">
                <a16:creationId xmlns:a16="http://schemas.microsoft.com/office/drawing/2014/main" id="{CB56C85E-2B0C-506D-B2F2-6A9BA3C07109}"/>
              </a:ext>
            </a:extLst>
          </p:cNvPr>
          <p:cNvPicPr>
            <a:picLocks noChangeAspect="1"/>
          </p:cNvPicPr>
          <p:nvPr/>
        </p:nvPicPr>
        <p:blipFill>
          <a:blip r:embed="rId2"/>
          <a:stretch>
            <a:fillRect/>
          </a:stretch>
        </p:blipFill>
        <p:spPr>
          <a:xfrm>
            <a:off x="7898397" y="3078500"/>
            <a:ext cx="2876550" cy="1590675"/>
          </a:xfrm>
          <a:prstGeom prst="rect">
            <a:avLst/>
          </a:prstGeom>
        </p:spPr>
      </p:pic>
    </p:spTree>
    <p:extLst>
      <p:ext uri="{BB962C8B-B14F-4D97-AF65-F5344CB8AC3E}">
        <p14:creationId xmlns:p14="http://schemas.microsoft.com/office/powerpoint/2010/main" val="2020638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19FF47-6198-3B5D-42F2-4B924F827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10536-7ECE-B44B-A691-B484389FE3E3}"/>
              </a:ext>
            </a:extLst>
          </p:cNvPr>
          <p:cNvSpPr>
            <a:spLocks noGrp="1"/>
          </p:cNvSpPr>
          <p:nvPr>
            <p:ph type="title"/>
          </p:nvPr>
        </p:nvSpPr>
        <p:spPr>
          <a:xfrm>
            <a:off x="273234" y="572559"/>
            <a:ext cx="11029616" cy="1188720"/>
          </a:xfrm>
        </p:spPr>
        <p:txBody>
          <a:bodyPr>
            <a:normAutofit/>
          </a:bodyPr>
          <a:lstStyle/>
          <a:p>
            <a:r>
              <a:rPr lang="en-US" dirty="0"/>
              <a:t>benefits of Cloud computing - ELASTICITY</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D56A0C8-93FA-24A2-BE2E-3A3E743829A1}"/>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ELASTICITY</a:t>
            </a:r>
          </a:p>
          <a:p>
            <a:pPr lvl="1">
              <a:lnSpc>
                <a:spcPts val="1950"/>
              </a:lnSpc>
              <a:spcAft>
                <a:spcPts val="1950"/>
              </a:spcAft>
            </a:pPr>
            <a:r>
              <a:rPr lang="en-US" dirty="0">
                <a:solidFill>
                  <a:srgbClr val="51565E"/>
                </a:solidFill>
                <a:latin typeface="Roboto" panose="02000000000000000000" pitchFamily="2" charset="0"/>
              </a:rPr>
              <a:t>With cloud computing, you don’t have to over-provision resources up front to handle peak levels of business activity in the future. Instead, you provision the amount of resources that you actually need. You can scale these resources up or down to instantly grow and shrink capacity as your business needs change. </a:t>
            </a:r>
          </a:p>
        </p:txBody>
      </p:sp>
      <p:pic>
        <p:nvPicPr>
          <p:cNvPr id="9218" name="Picture 2" descr="Cloud, elastic, elasticity icon ...">
            <a:extLst>
              <a:ext uri="{FF2B5EF4-FFF2-40B4-BE49-F238E27FC236}">
                <a16:creationId xmlns:a16="http://schemas.microsoft.com/office/drawing/2014/main" id="{20533659-E8DA-0389-0126-653ED3666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1551" y="297610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132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A88B4-829F-0102-F716-9AC7025AD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0B46B-361C-DEC1-8962-2CBC22D2146E}"/>
              </a:ext>
            </a:extLst>
          </p:cNvPr>
          <p:cNvSpPr>
            <a:spLocks noGrp="1"/>
          </p:cNvSpPr>
          <p:nvPr>
            <p:ph type="title"/>
          </p:nvPr>
        </p:nvSpPr>
        <p:spPr>
          <a:xfrm>
            <a:off x="273234" y="572559"/>
            <a:ext cx="11029616" cy="1188720"/>
          </a:xfrm>
        </p:spPr>
        <p:txBody>
          <a:bodyPr>
            <a:normAutofit/>
          </a:bodyPr>
          <a:lstStyle/>
          <a:p>
            <a:r>
              <a:rPr lang="en-US" dirty="0"/>
              <a:t>benefits of Cloud computing – COST SAVINGS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ABB2977-3395-7D1A-BEA7-4B970C561F90}"/>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COST SAVINGS</a:t>
            </a:r>
          </a:p>
          <a:p>
            <a:pPr lvl="1">
              <a:lnSpc>
                <a:spcPts val="1950"/>
              </a:lnSpc>
              <a:spcAft>
                <a:spcPts val="1950"/>
              </a:spcAft>
            </a:pPr>
            <a:r>
              <a:rPr lang="en-US" dirty="0">
                <a:solidFill>
                  <a:srgbClr val="51565E"/>
                </a:solidFill>
                <a:latin typeface="Roboto" panose="02000000000000000000" pitchFamily="2" charset="0"/>
              </a:rPr>
              <a:t>The cloud allows you to trade fixed expenses (such as data centers and physical servers) for variable expenses, and only pay for IT as you consume it. Plus, the variable expenses are much lower than what you would pay to do it yourself because of the economies of scale. </a:t>
            </a:r>
          </a:p>
        </p:txBody>
      </p:sp>
      <p:pic>
        <p:nvPicPr>
          <p:cNvPr id="10242" name="Picture 2" descr="How Does Organization Keep Cloud Costs ...">
            <a:extLst>
              <a:ext uri="{FF2B5EF4-FFF2-40B4-BE49-F238E27FC236}">
                <a16:creationId xmlns:a16="http://schemas.microsoft.com/office/drawing/2014/main" id="{F8967868-735A-E389-498D-049028BBB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725" y="280227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529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CFEA8B-F097-520B-B9AA-9568D3338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37240-07F4-5590-B107-244D58198222}"/>
              </a:ext>
            </a:extLst>
          </p:cNvPr>
          <p:cNvSpPr>
            <a:spLocks noGrp="1"/>
          </p:cNvSpPr>
          <p:nvPr>
            <p:ph type="title"/>
          </p:nvPr>
        </p:nvSpPr>
        <p:spPr>
          <a:xfrm>
            <a:off x="273234" y="572559"/>
            <a:ext cx="11029616" cy="1188720"/>
          </a:xfrm>
        </p:spPr>
        <p:txBody>
          <a:bodyPr>
            <a:normAutofit/>
          </a:bodyPr>
          <a:lstStyle/>
          <a:p>
            <a:r>
              <a:rPr lang="en-US" dirty="0"/>
              <a:t>benefits of Cloud computing – speed</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B2B052CD-F985-7E99-B26C-1A9B734443F6}"/>
              </a:ext>
            </a:extLst>
          </p:cNvPr>
          <p:cNvSpPr>
            <a:spLocks noGrp="1"/>
          </p:cNvSpPr>
          <p:nvPr>
            <p:ph idx="1"/>
          </p:nvPr>
        </p:nvSpPr>
        <p:spPr>
          <a:xfrm>
            <a:off x="581192" y="2056595"/>
            <a:ext cx="6530281" cy="3634486"/>
          </a:xfrm>
        </p:spPr>
        <p:txBody>
          <a:bodyPr>
            <a:noAutofit/>
          </a:bodyPr>
          <a:lstStyle/>
          <a:p>
            <a:pPr algn="l">
              <a:spcBef>
                <a:spcPts val="3000"/>
              </a:spcBef>
              <a:spcAft>
                <a:spcPts val="1125"/>
              </a:spcAft>
            </a:pPr>
            <a:r>
              <a:rPr lang="en-US" sz="1400" dirty="0">
                <a:solidFill>
                  <a:srgbClr val="51565E"/>
                </a:solidFill>
                <a:latin typeface="Roboto" panose="02000000000000000000" pitchFamily="2" charset="0"/>
              </a:rPr>
              <a:t>DEPLOY GLOBALLY IN MINUTES</a:t>
            </a:r>
          </a:p>
          <a:p>
            <a:pPr lvl="1">
              <a:lnSpc>
                <a:spcPts val="1950"/>
              </a:lnSpc>
              <a:spcAft>
                <a:spcPts val="1950"/>
              </a:spcAft>
            </a:pPr>
            <a:r>
              <a:rPr lang="en-US" dirty="0">
                <a:solidFill>
                  <a:srgbClr val="51565E"/>
                </a:solidFill>
                <a:latin typeface="Roboto" panose="02000000000000000000" pitchFamily="2" charset="0"/>
              </a:rPr>
              <a:t>With the cloud, you can expand to new geographic regions and deploy globally in minutes. For example, AWS, Azure and GCP has infrastructure all over the world, so you can deploy your application in multiple physical locations with just a few clicks. Putting applications in closer proximity to end users reduces latency and improves their experience.</a:t>
            </a:r>
          </a:p>
        </p:txBody>
      </p:sp>
      <p:pic>
        <p:nvPicPr>
          <p:cNvPr id="11268" name="Picture 4" descr="Enterprise Networking Planet">
            <a:extLst>
              <a:ext uri="{FF2B5EF4-FFF2-40B4-BE49-F238E27FC236}">
                <a16:creationId xmlns:a16="http://schemas.microsoft.com/office/drawing/2014/main" id="{1D774230-6D18-8DC0-E238-54719475B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4825" y="3131603"/>
            <a:ext cx="3248025"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34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D0A7E-FF59-E209-7FEE-069F88F51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F72AE-9818-451C-8BCA-22868132F7BA}"/>
              </a:ext>
            </a:extLst>
          </p:cNvPr>
          <p:cNvSpPr>
            <a:spLocks noGrp="1"/>
          </p:cNvSpPr>
          <p:nvPr>
            <p:ph type="title"/>
          </p:nvPr>
        </p:nvSpPr>
        <p:spPr/>
        <p:txBody>
          <a:bodyPr>
            <a:normAutofit/>
          </a:bodyPr>
          <a:lstStyle/>
          <a:p>
            <a:r>
              <a:rPr lang="en-US" dirty="0"/>
              <a:t>Cloud SERVICE PROVIDERS</a:t>
            </a:r>
            <a:br>
              <a:rPr lang="en-US" dirty="0"/>
            </a:br>
            <a:endParaRPr lang="en-US" dirty="0"/>
          </a:p>
        </p:txBody>
      </p:sp>
      <p:sp>
        <p:nvSpPr>
          <p:cNvPr id="3" name="Text Placeholder 2">
            <a:extLst>
              <a:ext uri="{FF2B5EF4-FFF2-40B4-BE49-F238E27FC236}">
                <a16:creationId xmlns:a16="http://schemas.microsoft.com/office/drawing/2014/main" id="{942A4051-1C8D-D019-46CE-F24415D5D58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050789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EB5F91-63CE-A94F-32E7-D23EA0188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71170-2282-EA62-FE05-576AA3ECFFF9}"/>
              </a:ext>
            </a:extLst>
          </p:cNvPr>
          <p:cNvSpPr>
            <a:spLocks noGrp="1"/>
          </p:cNvSpPr>
          <p:nvPr>
            <p:ph type="title"/>
          </p:nvPr>
        </p:nvSpPr>
        <p:spPr>
          <a:xfrm>
            <a:off x="273234" y="572559"/>
            <a:ext cx="11029616" cy="1188720"/>
          </a:xfrm>
        </p:spPr>
        <p:txBody>
          <a:bodyPr>
            <a:normAutofit/>
          </a:bodyPr>
          <a:lstStyle/>
          <a:p>
            <a:r>
              <a:rPr lang="en-US" dirty="0"/>
              <a:t>Cloud SERVICE Provider’s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28B8D1C-FAC7-3FF7-475F-D0A2B441B926}"/>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The term “cloud services” refers to a wide range of services delivered to companies and customers over the Internet. These services make it easy for employees to have access to various business applications and information. Whether they’re aware of it, from checking email to collaborating on documents, most employees use cloud services throughout the workday. Cloud computing vendors and service providers fully manage services provided through cloud computing. You don’t have to host applications on your servers. Instead, they can be accessed from the servers of a cloud service provider.</a:t>
            </a:r>
          </a:p>
        </p:txBody>
      </p:sp>
      <p:pic>
        <p:nvPicPr>
          <p:cNvPr id="12290" name="Picture 2" descr="What are Cloud Service Providers | How ...">
            <a:extLst>
              <a:ext uri="{FF2B5EF4-FFF2-40B4-BE49-F238E27FC236}">
                <a16:creationId xmlns:a16="http://schemas.microsoft.com/office/drawing/2014/main" id="{6B2D2724-4C4F-1AEE-A4BD-09992E237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119" y="2809530"/>
            <a:ext cx="3014231" cy="2050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5562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E54392-CD81-7E45-DB72-0A32D982B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7BB4F-9643-3CDD-CDCE-DC323F87D7FB}"/>
              </a:ext>
            </a:extLst>
          </p:cNvPr>
          <p:cNvSpPr>
            <a:spLocks noGrp="1"/>
          </p:cNvSpPr>
          <p:nvPr>
            <p:ph type="title"/>
          </p:nvPr>
        </p:nvSpPr>
        <p:spPr>
          <a:xfrm>
            <a:off x="273234" y="572559"/>
            <a:ext cx="11029616" cy="1188720"/>
          </a:xfrm>
        </p:spPr>
        <p:txBody>
          <a:bodyPr>
            <a:normAutofit/>
          </a:bodyPr>
          <a:lstStyle/>
          <a:p>
            <a:r>
              <a:rPr lang="en-US" dirty="0"/>
              <a:t>Cloud SERVICE Provider	-  AZURE </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53D09E9-06DF-A224-0A78-89290EEBEEBB}"/>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Microsoft Azure is a cloud computing platform and service offered by Microsoft that provides a wide range of solutions including computing, storage, networking, databases, AI, and DevOps tools. It enables organizations to build, deploy, and manage applications through Microsoft-managed data centers across the globe. Azure supports hybrid cloud setups, multiple programming languages, and frameworks, making it ideal for businesses of all sizes to scale efficiently and securely.</a:t>
            </a:r>
          </a:p>
        </p:txBody>
      </p:sp>
      <p:pic>
        <p:nvPicPr>
          <p:cNvPr id="13314" name="Picture 2" descr="Microsoft Azure - Integrations with ...">
            <a:extLst>
              <a:ext uri="{FF2B5EF4-FFF2-40B4-BE49-F238E27FC236}">
                <a16:creationId xmlns:a16="http://schemas.microsoft.com/office/drawing/2014/main" id="{38BFC078-96C6-1548-B521-D98A41399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7505" y="2871121"/>
            <a:ext cx="3541736" cy="1983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336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F72309-C22E-3AE1-ED8C-E160EAC7F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6131F-2CDE-B365-FE5F-AA9489ED0385}"/>
              </a:ext>
            </a:extLst>
          </p:cNvPr>
          <p:cNvSpPr>
            <a:spLocks noGrp="1"/>
          </p:cNvSpPr>
          <p:nvPr>
            <p:ph type="title"/>
          </p:nvPr>
        </p:nvSpPr>
        <p:spPr>
          <a:xfrm>
            <a:off x="273234" y="572559"/>
            <a:ext cx="11029616" cy="1188720"/>
          </a:xfrm>
        </p:spPr>
        <p:txBody>
          <a:bodyPr>
            <a:normAutofit/>
          </a:bodyPr>
          <a:lstStyle/>
          <a:p>
            <a:r>
              <a:rPr lang="en-US" dirty="0"/>
              <a:t>Cloud SERVICE Provider	-  AWS </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676059E-A738-7533-3D2D-FF9823AD0351}"/>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Amazon Web Services (AWS) is a comprehensive cloud computing platform by Amazon that offers on-demand services such as computing power, storage, databases, machine learning, and analytics. It enables businesses to build and scale applications efficiently through a global network of data centers. Known for its flexibility, security, and vast service offerings, AWS supports various workloads including web hosting, big data, DevOps, and enterprise applications.</a:t>
            </a:r>
          </a:p>
        </p:txBody>
      </p:sp>
      <p:pic>
        <p:nvPicPr>
          <p:cNvPr id="14338" name="Picture 2" descr="Amazon Web Services (AWS) - inovex GmbH">
            <a:extLst>
              <a:ext uri="{FF2B5EF4-FFF2-40B4-BE49-F238E27FC236}">
                <a16:creationId xmlns:a16="http://schemas.microsoft.com/office/drawing/2014/main" id="{C3E28620-F546-F89C-6784-7B3264F5F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5240" y="2674873"/>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127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44DF7C-4E9C-DEDF-600E-8FE7F9E78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1A1D0-4142-5E3A-3130-5139840C6B2A}"/>
              </a:ext>
            </a:extLst>
          </p:cNvPr>
          <p:cNvSpPr>
            <a:spLocks noGrp="1"/>
          </p:cNvSpPr>
          <p:nvPr>
            <p:ph type="title"/>
          </p:nvPr>
        </p:nvSpPr>
        <p:spPr>
          <a:xfrm>
            <a:off x="273234" y="572559"/>
            <a:ext cx="11029616" cy="1188720"/>
          </a:xfrm>
        </p:spPr>
        <p:txBody>
          <a:bodyPr>
            <a:normAutofit/>
          </a:bodyPr>
          <a:lstStyle/>
          <a:p>
            <a:r>
              <a:rPr lang="en-US" dirty="0"/>
              <a:t>Cloud SERVICE Provider	-  GCP </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604315B-A34A-5E82-F100-F9C0171E2AC1}"/>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Google Cloud Platform (GCP) is a suite of cloud computing services offered by Google that enables organizations to build, deploy, and scale applications using Google’s infrastructure. It provides services for computing, storage, databases, machine learning, analytics, and more. GCP is known for its strong data analytics capabilities, AI tools, and integration with open-source technologies. It supports modern cloud-native development and offers a secure, scalable environment for businesses of all sizes.</a:t>
            </a:r>
          </a:p>
        </p:txBody>
      </p:sp>
      <p:pic>
        <p:nvPicPr>
          <p:cNvPr id="15362" name="Picture 2" descr="Google Cloud Platform (GCP) - The Core Tech">
            <a:extLst>
              <a:ext uri="{FF2B5EF4-FFF2-40B4-BE49-F238E27FC236}">
                <a16:creationId xmlns:a16="http://schemas.microsoft.com/office/drawing/2014/main" id="{DDA5B0A8-9F6A-9DF7-5836-480F7BD22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3641" y="3035638"/>
            <a:ext cx="27241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376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CEFADF-7840-8B8C-2822-67A48E29A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965D2-85E2-B29F-2E89-36C8D207F455}"/>
              </a:ext>
            </a:extLst>
          </p:cNvPr>
          <p:cNvSpPr>
            <a:spLocks noGrp="1"/>
          </p:cNvSpPr>
          <p:nvPr>
            <p:ph type="title"/>
          </p:nvPr>
        </p:nvSpPr>
        <p:spPr>
          <a:xfrm>
            <a:off x="273234" y="572559"/>
            <a:ext cx="11029616" cy="1188720"/>
          </a:xfrm>
        </p:spPr>
        <p:txBody>
          <a:bodyPr>
            <a:normAutofit/>
          </a:bodyPr>
          <a:lstStyle/>
          <a:p>
            <a:r>
              <a:rPr lang="en-US" dirty="0"/>
              <a:t>Cloud SERVICE Provider	-  ORACLE</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358F97F-07F0-9D0F-A9BE-EB7F0F1A13C3}"/>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Oracle Cloud is a cloud computing platform offered by Oracle that provides a comprehensive suite of services, including computing, storage, databases, analytics, AI, and enterprise applications. It is known for its powerful database services, especially Oracle Autonomous Database, and is designed for high performance, security, and scalability. Oracle Cloud supports hybrid and multi-cloud environments, making it ideal for enterprise workloads and mission-critical applications.</a:t>
            </a:r>
          </a:p>
        </p:txBody>
      </p:sp>
      <p:pic>
        <p:nvPicPr>
          <p:cNvPr id="16386" name="Picture 2" descr="Oracle Cloud">
            <a:extLst>
              <a:ext uri="{FF2B5EF4-FFF2-40B4-BE49-F238E27FC236}">
                <a16:creationId xmlns:a16="http://schemas.microsoft.com/office/drawing/2014/main" id="{5873DFC6-D5BD-AD5C-22CF-D8666DE97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3685" y="2647408"/>
            <a:ext cx="2581275"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50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0B6E52-E7B4-66CA-274E-A04E5F71C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CC7E2-DE03-F7D5-2973-DF79CC8517B8}"/>
              </a:ext>
            </a:extLst>
          </p:cNvPr>
          <p:cNvSpPr>
            <a:spLocks noGrp="1"/>
          </p:cNvSpPr>
          <p:nvPr>
            <p:ph type="title"/>
          </p:nvPr>
        </p:nvSpPr>
        <p:spPr>
          <a:xfrm>
            <a:off x="273234" y="572559"/>
            <a:ext cx="11029616" cy="1188720"/>
          </a:xfrm>
        </p:spPr>
        <p:txBody>
          <a:bodyPr>
            <a:normAutofit/>
          </a:bodyPr>
          <a:lstStyle/>
          <a:p>
            <a:r>
              <a:rPr lang="en-US" dirty="0"/>
              <a:t>Cloud SERVICE Provider	-  HUAWEI</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99F27DB-CC83-C91B-1941-74B954A8F395}"/>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Huawei Cloud is a cloud computing platform provided by Huawei, offering a wide range of services including computing, storage, AI, big data, and networking. It supports digital transformation for businesses across various industries with a focus on innovation, security, and cost-efficiency. Known for its strong presence in Asia, Huawei Cloud enables scalable and intelligent cloud solutions, and supports hybrid and multi-cloud environments.</a:t>
            </a:r>
          </a:p>
        </p:txBody>
      </p:sp>
      <p:pic>
        <p:nvPicPr>
          <p:cNvPr id="17410" name="Picture 2" descr="South African cloud market boosts ...">
            <a:extLst>
              <a:ext uri="{FF2B5EF4-FFF2-40B4-BE49-F238E27FC236}">
                <a16:creationId xmlns:a16="http://schemas.microsoft.com/office/drawing/2014/main" id="{A067EBFD-43F8-A506-48A4-489C639616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1847" y="2572022"/>
            <a:ext cx="283845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148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35FF-7CD7-4FCE-67EE-772E9480A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FF60E-1AAF-7DF5-FFF6-F2E926A7F72A}"/>
              </a:ext>
            </a:extLst>
          </p:cNvPr>
          <p:cNvSpPr>
            <a:spLocks noGrp="1"/>
          </p:cNvSpPr>
          <p:nvPr>
            <p:ph type="title"/>
          </p:nvPr>
        </p:nvSpPr>
        <p:spPr/>
        <p:txBody>
          <a:bodyPr>
            <a:normAutofit/>
          </a:bodyPr>
          <a:lstStyle/>
          <a:p>
            <a:r>
              <a:rPr lang="en-US" dirty="0"/>
              <a:t>Cloud SHARED RESPONSIBILITY</a:t>
            </a:r>
            <a:br>
              <a:rPr lang="en-US" dirty="0"/>
            </a:br>
            <a:endParaRPr lang="en-US" dirty="0"/>
          </a:p>
        </p:txBody>
      </p:sp>
      <p:sp>
        <p:nvSpPr>
          <p:cNvPr id="3" name="Text Placeholder 2">
            <a:extLst>
              <a:ext uri="{FF2B5EF4-FFF2-40B4-BE49-F238E27FC236}">
                <a16:creationId xmlns:a16="http://schemas.microsoft.com/office/drawing/2014/main" id="{9C44DE97-746E-2A81-1A85-804CE07CB09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1522858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226788-3B83-9413-E5A5-B62E67CD0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AC117-FA95-7CCD-407B-B5B36EA1CEB6}"/>
              </a:ext>
            </a:extLst>
          </p:cNvPr>
          <p:cNvSpPr>
            <a:spLocks noGrp="1"/>
          </p:cNvSpPr>
          <p:nvPr>
            <p:ph type="title"/>
          </p:nvPr>
        </p:nvSpPr>
        <p:spPr>
          <a:xfrm>
            <a:off x="273234" y="572559"/>
            <a:ext cx="11029616" cy="1188720"/>
          </a:xfrm>
        </p:spPr>
        <p:txBody>
          <a:bodyPr>
            <a:normAutofit/>
          </a:bodyPr>
          <a:lstStyle/>
          <a:p>
            <a:r>
              <a:rPr lang="en-US" dirty="0">
                <a:solidFill>
                  <a:srgbClr val="51565E"/>
                </a:solidFill>
                <a:latin typeface="Roboto" panose="02000000000000000000" pitchFamily="2" charset="0"/>
              </a:rPr>
              <a:t>RESPONSIBILITY MATRIX</a:t>
            </a:r>
            <a:br>
              <a:rPr lang="en-US" b="0" i="0" dirty="0">
                <a:solidFill>
                  <a:srgbClr val="272C37"/>
                </a:solidFill>
                <a:effectLst/>
                <a:latin typeface="Roboto" panose="02000000000000000000" pitchFamily="2" charset="0"/>
              </a:rPr>
            </a:br>
            <a:endParaRPr lang="en-NG" dirty="0"/>
          </a:p>
        </p:txBody>
      </p:sp>
      <p:pic>
        <p:nvPicPr>
          <p:cNvPr id="7170" name="Picture 2" descr="An Introduction to Cloud Computing, Cloud Service Models, and Cloud  Deployment Models | by Joy Joel | AWS in Plain English">
            <a:extLst>
              <a:ext uri="{FF2B5EF4-FFF2-40B4-BE49-F238E27FC236}">
                <a16:creationId xmlns:a16="http://schemas.microsoft.com/office/drawing/2014/main" id="{0FCADAA6-D5AE-B3D2-74AF-E3ECBEA524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298" y="1858036"/>
            <a:ext cx="8837619" cy="423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79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22C73-7D4B-F08C-2A32-DF55F9FA9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3F449-D801-19F7-C329-A3B656D819C6}"/>
              </a:ext>
            </a:extLst>
          </p:cNvPr>
          <p:cNvSpPr>
            <a:spLocks noGrp="1"/>
          </p:cNvSpPr>
          <p:nvPr>
            <p:ph type="title"/>
          </p:nvPr>
        </p:nvSpPr>
        <p:spPr/>
        <p:txBody>
          <a:bodyPr>
            <a:normAutofit/>
          </a:bodyPr>
          <a:lstStyle/>
          <a:p>
            <a:r>
              <a:rPr lang="en-US" dirty="0"/>
              <a:t>Securing Cloud Infrastructure and Data</a:t>
            </a:r>
            <a:br>
              <a:rPr lang="en-US" dirty="0"/>
            </a:br>
            <a:endParaRPr lang="en-US" dirty="0"/>
          </a:p>
        </p:txBody>
      </p:sp>
      <p:sp>
        <p:nvSpPr>
          <p:cNvPr id="3" name="Text Placeholder 2">
            <a:extLst>
              <a:ext uri="{FF2B5EF4-FFF2-40B4-BE49-F238E27FC236}">
                <a16:creationId xmlns:a16="http://schemas.microsoft.com/office/drawing/2014/main" id="{038F2034-EF39-2EEC-0760-C0336FACE2F2}"/>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3663469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A996B2-76B5-5621-C110-7B1F53DF6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47278-D91C-2084-7EB7-2DDD5562F2B7}"/>
              </a:ext>
            </a:extLst>
          </p:cNvPr>
          <p:cNvSpPr>
            <a:spLocks noGrp="1"/>
          </p:cNvSpPr>
          <p:nvPr>
            <p:ph type="title"/>
          </p:nvPr>
        </p:nvSpPr>
        <p:spPr>
          <a:xfrm>
            <a:off x="273234" y="572559"/>
            <a:ext cx="11029616" cy="1188720"/>
          </a:xfrm>
        </p:spPr>
        <p:txBody>
          <a:bodyPr>
            <a:normAutofit/>
          </a:bodyPr>
          <a:lstStyle/>
          <a:p>
            <a:r>
              <a:rPr lang="en-US" dirty="0"/>
              <a:t>Securing Cloud Infrastructure and Data</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26FF582-8305-CAB0-FAE6-09674643881B}"/>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Identity and Access Management (IAM) </a:t>
            </a:r>
          </a:p>
          <a:p>
            <a:pPr lvl="2">
              <a:lnSpc>
                <a:spcPts val="1950"/>
              </a:lnSpc>
              <a:spcAft>
                <a:spcPts val="1950"/>
              </a:spcAft>
            </a:pPr>
            <a:r>
              <a:rPr lang="en-US" b="1" dirty="0"/>
              <a:t>IAM</a:t>
            </a:r>
            <a:r>
              <a:rPr lang="en-US" dirty="0"/>
              <a:t> is the framework of policies and technologies that ensures the </a:t>
            </a:r>
            <a:r>
              <a:rPr lang="en-US" b="1" dirty="0"/>
              <a:t>right individuals have the appropriate access</a:t>
            </a:r>
            <a:r>
              <a:rPr lang="en-US" dirty="0"/>
              <a:t> to technology resources in cloud environments. It is foundational to securing cloud infrastructure, as it controls </a:t>
            </a:r>
            <a:r>
              <a:rPr lang="en-US" b="1" dirty="0"/>
              <a:t>who can access what, when, and how.</a:t>
            </a:r>
            <a:endParaRPr lang="en-US" dirty="0">
              <a:solidFill>
                <a:srgbClr val="51565E"/>
              </a:solidFill>
              <a:latin typeface="Roboto" panose="02000000000000000000" pitchFamily="2" charset="0"/>
            </a:endParaRPr>
          </a:p>
        </p:txBody>
      </p:sp>
      <p:pic>
        <p:nvPicPr>
          <p:cNvPr id="18435" name="Picture 3" descr="Identity and Access Management (IAM ...">
            <a:extLst>
              <a:ext uri="{FF2B5EF4-FFF2-40B4-BE49-F238E27FC236}">
                <a16:creationId xmlns:a16="http://schemas.microsoft.com/office/drawing/2014/main" id="{E24DFAD3-7ED1-8977-3422-F200368C2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0890" y="3202325"/>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712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D420E-FA75-A989-904C-698F16220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7262A-505A-EAC4-9203-0673D198F5F2}"/>
              </a:ext>
            </a:extLst>
          </p:cNvPr>
          <p:cNvSpPr>
            <a:spLocks noGrp="1"/>
          </p:cNvSpPr>
          <p:nvPr>
            <p:ph type="title"/>
          </p:nvPr>
        </p:nvSpPr>
        <p:spPr>
          <a:xfrm>
            <a:off x="273234" y="572559"/>
            <a:ext cx="11029616" cy="1188720"/>
          </a:xfrm>
        </p:spPr>
        <p:txBody>
          <a:bodyPr>
            <a:normAutofit/>
          </a:bodyPr>
          <a:lstStyle/>
          <a:p>
            <a:r>
              <a:rPr lang="en-US" dirty="0"/>
              <a:t>Securing Cloud Infrastructure and Data</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61CADABE-9199-A880-0C9E-DF9DAF25E936}"/>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Network Security</a:t>
            </a:r>
          </a:p>
          <a:p>
            <a:pPr lvl="2">
              <a:lnSpc>
                <a:spcPts val="1950"/>
              </a:lnSpc>
              <a:spcAft>
                <a:spcPts val="1950"/>
              </a:spcAft>
            </a:pPr>
            <a:r>
              <a:rPr lang="en-US" dirty="0"/>
              <a:t>Network security is a critical pillar in protecting cloud infrastructure by controlling and monitoring the flow of data between systems, users, and services. It ensures that only authorized traffic is allowed, prevents unauthorized access, and detects malicious activities within the network.</a:t>
            </a:r>
          </a:p>
        </p:txBody>
      </p:sp>
      <p:pic>
        <p:nvPicPr>
          <p:cNvPr id="19458" name="Picture 2" descr="The Importance of Network Security ...">
            <a:extLst>
              <a:ext uri="{FF2B5EF4-FFF2-40B4-BE49-F238E27FC236}">
                <a16:creationId xmlns:a16="http://schemas.microsoft.com/office/drawing/2014/main" id="{17F64E66-4AD0-58B5-5DD7-1826DCF187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350" y="3183225"/>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450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1FEBE-C655-1227-6A4E-E9C25A668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75C6D-969F-B630-5987-81A7D9CA0B2B}"/>
              </a:ext>
            </a:extLst>
          </p:cNvPr>
          <p:cNvSpPr>
            <a:spLocks noGrp="1"/>
          </p:cNvSpPr>
          <p:nvPr>
            <p:ph type="title"/>
          </p:nvPr>
        </p:nvSpPr>
        <p:spPr/>
        <p:txBody>
          <a:bodyPr/>
          <a:lstStyle/>
          <a:p>
            <a:r>
              <a:rPr lang="en-US" dirty="0"/>
              <a:t>Refresher-  LAST CLASS</a:t>
            </a:r>
            <a:endParaRPr lang="en-NG" dirty="0"/>
          </a:p>
        </p:txBody>
      </p:sp>
      <p:sp>
        <p:nvSpPr>
          <p:cNvPr id="6" name="Content Placeholder 2">
            <a:extLst>
              <a:ext uri="{FF2B5EF4-FFF2-40B4-BE49-F238E27FC236}">
                <a16:creationId xmlns:a16="http://schemas.microsoft.com/office/drawing/2014/main" id="{3BA7CA11-8E09-CC38-16B4-CFA1B6D76F12}"/>
              </a:ext>
            </a:extLst>
          </p:cNvPr>
          <p:cNvSpPr txBox="1">
            <a:spLocks/>
          </p:cNvSpPr>
          <p:nvPr/>
        </p:nvSpPr>
        <p:spPr>
          <a:xfrm>
            <a:off x="623498" y="2668929"/>
            <a:ext cx="11029950" cy="3633787"/>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400" dirty="0"/>
              <a:t>Identity and Access Management</a:t>
            </a:r>
          </a:p>
          <a:p>
            <a:pPr lvl="1"/>
            <a:r>
              <a:rPr lang="en-US" dirty="0"/>
              <a:t>Introduction to Identity and Access Management Principles</a:t>
            </a:r>
          </a:p>
          <a:p>
            <a:pPr lvl="1"/>
            <a:r>
              <a:rPr lang="en-US" dirty="0"/>
              <a:t>Core Concepts -  Identification, Authentication, Authorization, Accountability</a:t>
            </a:r>
          </a:p>
          <a:p>
            <a:pPr lvl="1"/>
            <a:r>
              <a:rPr lang="en-US" dirty="0"/>
              <a:t>Identity and Access Management (IAM) Components and Architecture</a:t>
            </a:r>
          </a:p>
          <a:p>
            <a:pPr lvl="1"/>
            <a:r>
              <a:rPr lang="en-US" dirty="0"/>
              <a:t>IAM Architecture</a:t>
            </a:r>
          </a:p>
          <a:p>
            <a:pPr lvl="1"/>
            <a:r>
              <a:rPr lang="en-US" dirty="0"/>
              <a:t>IAM Architecture Models</a:t>
            </a:r>
          </a:p>
          <a:p>
            <a:pPr lvl="1"/>
            <a:r>
              <a:rPr lang="en-US" dirty="0"/>
              <a:t>Authentication Methods</a:t>
            </a:r>
          </a:p>
          <a:p>
            <a:pPr marL="324000" lvl="1" indent="0">
              <a:buFont typeface="Wingdings 2" panose="05020102010507070707" pitchFamily="18" charset="2"/>
              <a:buNone/>
            </a:pPr>
            <a:endParaRPr lang="en-US" dirty="0"/>
          </a:p>
          <a:p>
            <a:pPr lvl="2"/>
            <a:endParaRPr lang="en-US" dirty="0"/>
          </a:p>
          <a:p>
            <a:endParaRPr lang="en-NG" dirty="0"/>
          </a:p>
        </p:txBody>
      </p:sp>
    </p:spTree>
    <p:extLst>
      <p:ext uri="{BB962C8B-B14F-4D97-AF65-F5344CB8AC3E}">
        <p14:creationId xmlns:p14="http://schemas.microsoft.com/office/powerpoint/2010/main" val="3661319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FA475F-AEBC-3DBD-AD6E-C237CE34E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61D4F-4B27-E40C-4B1D-15903207ABC1}"/>
              </a:ext>
            </a:extLst>
          </p:cNvPr>
          <p:cNvSpPr>
            <a:spLocks noGrp="1"/>
          </p:cNvSpPr>
          <p:nvPr>
            <p:ph type="title"/>
          </p:nvPr>
        </p:nvSpPr>
        <p:spPr>
          <a:xfrm>
            <a:off x="273234" y="572559"/>
            <a:ext cx="11029616" cy="1188720"/>
          </a:xfrm>
        </p:spPr>
        <p:txBody>
          <a:bodyPr>
            <a:normAutofit/>
          </a:bodyPr>
          <a:lstStyle/>
          <a:p>
            <a:r>
              <a:rPr lang="en-US" dirty="0"/>
              <a:t>Identity AND ACCESS MANAGEMENT</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9507C60C-E10D-AE74-424C-90B0D72411DC}"/>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Identity and Access Management (IAM) is a framework of policies and technologies that ensures the right individuals have access to digital resources within an organization. It involves managing and controlling who can access what applications and resources, as well as what actions they can perform. IAM models can be categorized into four main areas: Identity Governance and Administration (IGA), Access Management (AM), Privileged Access Management (PAM), and Active Directory Management (</a:t>
            </a:r>
            <a:r>
              <a:rPr lang="en-US" dirty="0" err="1"/>
              <a:t>ADMgmt</a:t>
            </a:r>
            <a:r>
              <a:rPr lang="en-US" dirty="0"/>
              <a:t>). </a:t>
            </a:r>
          </a:p>
        </p:txBody>
      </p:sp>
      <p:pic>
        <p:nvPicPr>
          <p:cNvPr id="1026" name="Picture 2" descr="Identity and Access Management ...">
            <a:extLst>
              <a:ext uri="{FF2B5EF4-FFF2-40B4-BE49-F238E27FC236}">
                <a16:creationId xmlns:a16="http://schemas.microsoft.com/office/drawing/2014/main" id="{31907072-980B-AB4E-FCFC-4C0A0E02F4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725" y="310339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90339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59AFFF-37BF-5CFA-C1F0-EDE935DD8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275D9-C63F-2803-2A3C-D31647B3D367}"/>
              </a:ext>
            </a:extLst>
          </p:cNvPr>
          <p:cNvSpPr>
            <a:spLocks noGrp="1"/>
          </p:cNvSpPr>
          <p:nvPr>
            <p:ph type="title"/>
          </p:nvPr>
        </p:nvSpPr>
        <p:spPr>
          <a:xfrm>
            <a:off x="273234" y="572559"/>
            <a:ext cx="11029616" cy="1188720"/>
          </a:xfrm>
        </p:spPr>
        <p:txBody>
          <a:bodyPr>
            <a:normAutofit fontScale="90000"/>
          </a:bodyPr>
          <a:lstStyle/>
          <a:p>
            <a:r>
              <a:rPr lang="en-US" dirty="0"/>
              <a:t>What IAM is and what it does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BCD4637-458B-5B5A-5F48-55A83196ACB4}"/>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IAM gives secure access to company resources—like emails, databases, data, and applications—to verified entities, ideally with a bare minimum of interference. The goal is to manage access so that the right people can do their jobs and the wrong people, like hackers, are denied entry.</a:t>
            </a:r>
          </a:p>
        </p:txBody>
      </p:sp>
      <p:pic>
        <p:nvPicPr>
          <p:cNvPr id="1026" name="Picture 2" descr="Identity and Access Management ...">
            <a:extLst>
              <a:ext uri="{FF2B5EF4-FFF2-40B4-BE49-F238E27FC236}">
                <a16:creationId xmlns:a16="http://schemas.microsoft.com/office/drawing/2014/main" id="{78332090-CFD4-F33B-F9DE-E94D30FA04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725" y="310339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584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DC3AC7-9827-224D-3A17-60059031B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01B6AB-3587-3289-D922-3E4921D938DA}"/>
              </a:ext>
            </a:extLst>
          </p:cNvPr>
          <p:cNvSpPr>
            <a:spLocks noGrp="1"/>
          </p:cNvSpPr>
          <p:nvPr>
            <p:ph type="title"/>
          </p:nvPr>
        </p:nvSpPr>
        <p:spPr>
          <a:xfrm>
            <a:off x="273234" y="572559"/>
            <a:ext cx="11029616" cy="1188720"/>
          </a:xfrm>
        </p:spPr>
        <p:txBody>
          <a:bodyPr>
            <a:normAutofit fontScale="90000"/>
          </a:bodyPr>
          <a:lstStyle/>
          <a:p>
            <a:r>
              <a:rPr lang="en-US" dirty="0"/>
              <a:t>What IAM is and what it does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0B1B637-841C-2E2E-6A87-413E7861A8E7}"/>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The need for secure access extends beyond employees working on company machines. It also includes contractors, vendors, business partners, and people working on personal devices. IAM makes sure that each person who should have access has the right level of access at the right time on the right machine. Because of this, and the role it plays in an organization’s cybersecurity, IAM is a vital part of modern IT.</a:t>
            </a:r>
          </a:p>
          <a:p>
            <a:pPr lvl="1">
              <a:lnSpc>
                <a:spcPts val="1950"/>
              </a:lnSpc>
              <a:spcAft>
                <a:spcPts val="1950"/>
              </a:spcAft>
            </a:pPr>
            <a:r>
              <a:rPr lang="en-US" dirty="0"/>
              <a:t>With an IAM system, the organization can quickly and accurately verify a person’s identity and that they have the necessary permissions to use the requested resource during each access attempt.</a:t>
            </a:r>
          </a:p>
        </p:txBody>
      </p:sp>
      <p:pic>
        <p:nvPicPr>
          <p:cNvPr id="1026" name="Picture 2" descr="Identity and Access Management ...">
            <a:extLst>
              <a:ext uri="{FF2B5EF4-FFF2-40B4-BE49-F238E27FC236}">
                <a16:creationId xmlns:a16="http://schemas.microsoft.com/office/drawing/2014/main" id="{78A03383-FFE3-F11C-D59A-7958B0E1EF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725" y="310339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7978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E3DF60-CAE4-3157-9661-B124462E7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5B454C-3F05-8845-97A9-438C6D15AECB}"/>
              </a:ext>
            </a:extLst>
          </p:cNvPr>
          <p:cNvSpPr>
            <a:spLocks noGrp="1"/>
          </p:cNvSpPr>
          <p:nvPr>
            <p:ph type="title"/>
          </p:nvPr>
        </p:nvSpPr>
        <p:spPr>
          <a:xfrm>
            <a:off x="273234" y="572559"/>
            <a:ext cx="11029616" cy="1188720"/>
          </a:xfrm>
        </p:spPr>
        <p:txBody>
          <a:bodyPr>
            <a:normAutofit fontScale="90000"/>
          </a:bodyPr>
          <a:lstStyle/>
          <a:p>
            <a:r>
              <a:rPr lang="en-US" dirty="0"/>
              <a:t>HOW IAM WORKS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EC16E16-C151-E792-BF00-A187E16E8A72}"/>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There are two parts to granting secure access to an organization’s resources: Identity management and access management.</a:t>
            </a:r>
          </a:p>
          <a:p>
            <a:pPr lvl="2">
              <a:lnSpc>
                <a:spcPts val="1950"/>
              </a:lnSpc>
              <a:spcAft>
                <a:spcPts val="1950"/>
              </a:spcAft>
            </a:pPr>
            <a:r>
              <a:rPr lang="en-US" dirty="0"/>
              <a:t>Identity management </a:t>
            </a:r>
          </a:p>
          <a:p>
            <a:pPr lvl="2">
              <a:lnSpc>
                <a:spcPts val="1950"/>
              </a:lnSpc>
              <a:spcAft>
                <a:spcPts val="1950"/>
              </a:spcAft>
            </a:pPr>
            <a:r>
              <a:rPr lang="en-US" dirty="0"/>
              <a:t>and Access management.</a:t>
            </a:r>
          </a:p>
        </p:txBody>
      </p:sp>
      <p:pic>
        <p:nvPicPr>
          <p:cNvPr id="4" name="Picture 3">
            <a:extLst>
              <a:ext uri="{FF2B5EF4-FFF2-40B4-BE49-F238E27FC236}">
                <a16:creationId xmlns:a16="http://schemas.microsoft.com/office/drawing/2014/main" id="{EFD82E09-E743-22E7-2626-A2BC266EA588}"/>
              </a:ext>
            </a:extLst>
          </p:cNvPr>
          <p:cNvPicPr>
            <a:picLocks noChangeAspect="1"/>
          </p:cNvPicPr>
          <p:nvPr/>
        </p:nvPicPr>
        <p:blipFill>
          <a:blip r:embed="rId2"/>
          <a:stretch>
            <a:fillRect/>
          </a:stretch>
        </p:blipFill>
        <p:spPr>
          <a:xfrm>
            <a:off x="7968665" y="3073738"/>
            <a:ext cx="2847975" cy="1600200"/>
          </a:xfrm>
          <a:prstGeom prst="rect">
            <a:avLst/>
          </a:prstGeom>
        </p:spPr>
      </p:pic>
    </p:spTree>
    <p:extLst>
      <p:ext uri="{BB962C8B-B14F-4D97-AF65-F5344CB8AC3E}">
        <p14:creationId xmlns:p14="http://schemas.microsoft.com/office/powerpoint/2010/main" val="95294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54480A-5A83-C62B-AF3D-1DDE73389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3F1CE-EA26-22B8-CACA-5421E7AA33A7}"/>
              </a:ext>
            </a:extLst>
          </p:cNvPr>
          <p:cNvSpPr>
            <a:spLocks noGrp="1"/>
          </p:cNvSpPr>
          <p:nvPr>
            <p:ph type="title"/>
          </p:nvPr>
        </p:nvSpPr>
        <p:spPr>
          <a:xfrm>
            <a:off x="273234" y="572559"/>
            <a:ext cx="11029616" cy="1188720"/>
          </a:xfrm>
        </p:spPr>
        <p:txBody>
          <a:bodyPr>
            <a:normAutofit fontScale="90000"/>
          </a:bodyPr>
          <a:lstStyle/>
          <a:p>
            <a:r>
              <a:rPr lang="en-US" dirty="0"/>
              <a:t>HOW IAM WORKS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11D8762-9878-C134-7F92-157A4A2A2357}"/>
              </a:ext>
            </a:extLst>
          </p:cNvPr>
          <p:cNvSpPr>
            <a:spLocks noGrp="1"/>
          </p:cNvSpPr>
          <p:nvPr>
            <p:ph idx="1"/>
          </p:nvPr>
        </p:nvSpPr>
        <p:spPr>
          <a:xfrm>
            <a:off x="581192" y="2056595"/>
            <a:ext cx="6530281" cy="3634486"/>
          </a:xfrm>
        </p:spPr>
        <p:txBody>
          <a:bodyPr>
            <a:noAutofit/>
          </a:bodyPr>
          <a:lstStyle/>
          <a:p>
            <a:pPr marL="630000" lvl="2" indent="0">
              <a:lnSpc>
                <a:spcPts val="1950"/>
              </a:lnSpc>
              <a:spcAft>
                <a:spcPts val="1950"/>
              </a:spcAft>
              <a:buNone/>
            </a:pPr>
            <a:r>
              <a:rPr lang="en-US" b="1" dirty="0"/>
              <a:t>Identity management </a:t>
            </a:r>
            <a:r>
              <a:rPr lang="en-US" dirty="0"/>
              <a:t>checks a login attempt against an identity management database, which is an ongoing record of everyone who should have access. This information must be constantly updated as people join or leave the organization, their roles and projects change, and the organization’s scope evolves.</a:t>
            </a:r>
          </a:p>
          <a:p>
            <a:pPr lvl="2">
              <a:lnSpc>
                <a:spcPts val="1950"/>
              </a:lnSpc>
              <a:spcAft>
                <a:spcPts val="1950"/>
              </a:spcAft>
            </a:pPr>
            <a:r>
              <a:rPr lang="en-US" dirty="0"/>
              <a:t>Examples of the kind of information that’s stored in an identity management database include employee names, job titles, managers, direct reports, mobile phone numbers, and personal email addresses. Matching someone’s login information like their username and password with their identity in the database is called authentication.</a:t>
            </a:r>
          </a:p>
        </p:txBody>
      </p:sp>
      <p:pic>
        <p:nvPicPr>
          <p:cNvPr id="4" name="Picture 3">
            <a:extLst>
              <a:ext uri="{FF2B5EF4-FFF2-40B4-BE49-F238E27FC236}">
                <a16:creationId xmlns:a16="http://schemas.microsoft.com/office/drawing/2014/main" id="{046657CE-1C0B-9254-22E3-D2E1266F7E32}"/>
              </a:ext>
            </a:extLst>
          </p:cNvPr>
          <p:cNvPicPr>
            <a:picLocks noChangeAspect="1"/>
          </p:cNvPicPr>
          <p:nvPr/>
        </p:nvPicPr>
        <p:blipFill>
          <a:blip r:embed="rId2"/>
          <a:stretch>
            <a:fillRect/>
          </a:stretch>
        </p:blipFill>
        <p:spPr>
          <a:xfrm>
            <a:off x="7968665" y="3073738"/>
            <a:ext cx="2847975" cy="1600200"/>
          </a:xfrm>
          <a:prstGeom prst="rect">
            <a:avLst/>
          </a:prstGeom>
        </p:spPr>
      </p:pic>
    </p:spTree>
    <p:extLst>
      <p:ext uri="{BB962C8B-B14F-4D97-AF65-F5344CB8AC3E}">
        <p14:creationId xmlns:p14="http://schemas.microsoft.com/office/powerpoint/2010/main" val="1282693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5711D2-6E84-CE03-91F2-2C3B771D7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34DD6-6B21-3697-BF30-46C42D197FDA}"/>
              </a:ext>
            </a:extLst>
          </p:cNvPr>
          <p:cNvSpPr>
            <a:spLocks noGrp="1"/>
          </p:cNvSpPr>
          <p:nvPr>
            <p:ph type="title"/>
          </p:nvPr>
        </p:nvSpPr>
        <p:spPr>
          <a:xfrm>
            <a:off x="273234" y="572559"/>
            <a:ext cx="11029616" cy="1188720"/>
          </a:xfrm>
        </p:spPr>
        <p:txBody>
          <a:bodyPr>
            <a:normAutofit fontScale="90000"/>
          </a:bodyPr>
          <a:lstStyle/>
          <a:p>
            <a:r>
              <a:rPr lang="en-US" dirty="0"/>
              <a:t>HOW IAM WORKS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8B14769-D03C-7147-48AC-AF4A8960F2A0}"/>
              </a:ext>
            </a:extLst>
          </p:cNvPr>
          <p:cNvSpPr>
            <a:spLocks noGrp="1"/>
          </p:cNvSpPr>
          <p:nvPr>
            <p:ph idx="1"/>
          </p:nvPr>
        </p:nvSpPr>
        <p:spPr>
          <a:xfrm>
            <a:off x="581192" y="2056595"/>
            <a:ext cx="6530281" cy="3634486"/>
          </a:xfrm>
        </p:spPr>
        <p:txBody>
          <a:bodyPr>
            <a:noAutofit/>
          </a:bodyPr>
          <a:lstStyle/>
          <a:p>
            <a:pPr marL="630000" lvl="2" indent="0">
              <a:lnSpc>
                <a:spcPts val="1950"/>
              </a:lnSpc>
              <a:spcAft>
                <a:spcPts val="1950"/>
              </a:spcAft>
              <a:buNone/>
            </a:pPr>
            <a:r>
              <a:rPr lang="en-US" dirty="0"/>
              <a:t>For added security, many organizations require users to verify their identities with something called multifactor authentication (MFA). Also known as two-way verification or two-factor authentication (2FA). MFA is more secure than using a username and password alone. It adds a step to the login process where the user must verify their identity with an alternate verification method. These verification methods can include mobile phone numbers and personal email addresses. The IAM system usually sends a one-time code to the alternate verification method, which the user must enter into the login portal within a set time period.</a:t>
            </a:r>
          </a:p>
        </p:txBody>
      </p:sp>
      <p:pic>
        <p:nvPicPr>
          <p:cNvPr id="4" name="Picture 3">
            <a:extLst>
              <a:ext uri="{FF2B5EF4-FFF2-40B4-BE49-F238E27FC236}">
                <a16:creationId xmlns:a16="http://schemas.microsoft.com/office/drawing/2014/main" id="{86FDBA6D-3536-DF8F-5E73-A3F929FEF13D}"/>
              </a:ext>
            </a:extLst>
          </p:cNvPr>
          <p:cNvPicPr>
            <a:picLocks noChangeAspect="1"/>
          </p:cNvPicPr>
          <p:nvPr/>
        </p:nvPicPr>
        <p:blipFill>
          <a:blip r:embed="rId2"/>
          <a:stretch>
            <a:fillRect/>
          </a:stretch>
        </p:blipFill>
        <p:spPr>
          <a:xfrm>
            <a:off x="7968665" y="3073738"/>
            <a:ext cx="2847975" cy="1600200"/>
          </a:xfrm>
          <a:prstGeom prst="rect">
            <a:avLst/>
          </a:prstGeom>
        </p:spPr>
      </p:pic>
    </p:spTree>
    <p:extLst>
      <p:ext uri="{BB962C8B-B14F-4D97-AF65-F5344CB8AC3E}">
        <p14:creationId xmlns:p14="http://schemas.microsoft.com/office/powerpoint/2010/main" val="13895485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5A1031-5102-1DB1-5B5C-8D71D2A01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862A1-9600-4788-8622-00BAE4BE316E}"/>
              </a:ext>
            </a:extLst>
          </p:cNvPr>
          <p:cNvSpPr>
            <a:spLocks noGrp="1"/>
          </p:cNvSpPr>
          <p:nvPr>
            <p:ph type="title"/>
          </p:nvPr>
        </p:nvSpPr>
        <p:spPr>
          <a:xfrm>
            <a:off x="273234" y="572559"/>
            <a:ext cx="11029616" cy="1188720"/>
          </a:xfrm>
        </p:spPr>
        <p:txBody>
          <a:bodyPr>
            <a:normAutofit fontScale="90000"/>
          </a:bodyPr>
          <a:lstStyle/>
          <a:p>
            <a:r>
              <a:rPr lang="en-US" dirty="0"/>
              <a:t>HOW IAM WORKS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8570ED0-7A71-1C3B-13BF-21CCD7A292FD}"/>
              </a:ext>
            </a:extLst>
          </p:cNvPr>
          <p:cNvSpPr>
            <a:spLocks noGrp="1"/>
          </p:cNvSpPr>
          <p:nvPr>
            <p:ph idx="1"/>
          </p:nvPr>
        </p:nvSpPr>
        <p:spPr>
          <a:xfrm>
            <a:off x="581192" y="2056595"/>
            <a:ext cx="6530281" cy="3634486"/>
          </a:xfrm>
        </p:spPr>
        <p:txBody>
          <a:bodyPr>
            <a:noAutofit/>
          </a:bodyPr>
          <a:lstStyle/>
          <a:p>
            <a:pPr marL="630000" lvl="2" indent="0">
              <a:lnSpc>
                <a:spcPts val="1950"/>
              </a:lnSpc>
              <a:spcAft>
                <a:spcPts val="1950"/>
              </a:spcAft>
              <a:buNone/>
            </a:pPr>
            <a:r>
              <a:rPr lang="en-US" b="1" dirty="0"/>
              <a:t>Access management </a:t>
            </a:r>
            <a:r>
              <a:rPr lang="en-US" dirty="0"/>
              <a:t>is the second half of IAM. After the IAM system has verified that the person or thing that’s attempting to access a resource matches their identity, access management keeps track of which resources the person or thing has permission to access. Most organizations grant varying levels of access to resources and data and these levels are determined by factors like job title, tenure, security clearance, and project.</a:t>
            </a:r>
          </a:p>
          <a:p>
            <a:pPr marL="630000" lvl="2" indent="0">
              <a:lnSpc>
                <a:spcPts val="1950"/>
              </a:lnSpc>
              <a:spcAft>
                <a:spcPts val="1950"/>
              </a:spcAft>
              <a:buNone/>
            </a:pPr>
            <a:r>
              <a:rPr lang="en-US" dirty="0"/>
              <a:t>Granting the correct level of access after a user’s identity is authenticated is called authorization. The goal of IAM systems is to make sure that authentication and authorization happen correctly and securely at every access attempt.</a:t>
            </a:r>
          </a:p>
        </p:txBody>
      </p:sp>
      <p:pic>
        <p:nvPicPr>
          <p:cNvPr id="4" name="Picture 3">
            <a:extLst>
              <a:ext uri="{FF2B5EF4-FFF2-40B4-BE49-F238E27FC236}">
                <a16:creationId xmlns:a16="http://schemas.microsoft.com/office/drawing/2014/main" id="{9BBEEB93-9EA0-F0AC-2D35-40A639CE984A}"/>
              </a:ext>
            </a:extLst>
          </p:cNvPr>
          <p:cNvPicPr>
            <a:picLocks noChangeAspect="1"/>
          </p:cNvPicPr>
          <p:nvPr/>
        </p:nvPicPr>
        <p:blipFill>
          <a:blip r:embed="rId2"/>
          <a:stretch>
            <a:fillRect/>
          </a:stretch>
        </p:blipFill>
        <p:spPr>
          <a:xfrm>
            <a:off x="7968665" y="3073738"/>
            <a:ext cx="2847975" cy="1600200"/>
          </a:xfrm>
          <a:prstGeom prst="rect">
            <a:avLst/>
          </a:prstGeom>
        </p:spPr>
      </p:pic>
    </p:spTree>
    <p:extLst>
      <p:ext uri="{BB962C8B-B14F-4D97-AF65-F5344CB8AC3E}">
        <p14:creationId xmlns:p14="http://schemas.microsoft.com/office/powerpoint/2010/main" val="677535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8C1877-CF46-C976-7087-1990A180CE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AE46D-5FE9-D9D9-9A72-3C962E86C385}"/>
              </a:ext>
            </a:extLst>
          </p:cNvPr>
          <p:cNvSpPr>
            <a:spLocks noGrp="1"/>
          </p:cNvSpPr>
          <p:nvPr>
            <p:ph type="title"/>
          </p:nvPr>
        </p:nvSpPr>
        <p:spPr>
          <a:xfrm>
            <a:off x="273234" y="572559"/>
            <a:ext cx="11029616" cy="1188720"/>
          </a:xfrm>
        </p:spPr>
        <p:txBody>
          <a:bodyPr>
            <a:normAutofit fontScale="90000"/>
          </a:bodyPr>
          <a:lstStyle/>
          <a:p>
            <a:r>
              <a:rPr lang="en-US" dirty="0"/>
              <a:t>IMPORTANCE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E73605E-DFEA-5B94-48D8-26B55CE9222D}"/>
              </a:ext>
            </a:extLst>
          </p:cNvPr>
          <p:cNvSpPr>
            <a:spLocks noGrp="1"/>
          </p:cNvSpPr>
          <p:nvPr>
            <p:ph idx="1"/>
          </p:nvPr>
        </p:nvSpPr>
        <p:spPr>
          <a:xfrm>
            <a:off x="581192" y="2056595"/>
            <a:ext cx="6530281" cy="3634486"/>
          </a:xfrm>
        </p:spPr>
        <p:txBody>
          <a:bodyPr>
            <a:noAutofit/>
          </a:bodyPr>
          <a:lstStyle/>
          <a:p>
            <a:pPr marL="630000" lvl="2" indent="0">
              <a:lnSpc>
                <a:spcPts val="1950"/>
              </a:lnSpc>
              <a:spcAft>
                <a:spcPts val="1950"/>
              </a:spcAft>
              <a:buNone/>
            </a:pPr>
            <a:r>
              <a:rPr lang="en-US" dirty="0"/>
              <a:t>One reason IAM is an important part of cybersecurity is that it helps an organization’s IT department strike the right balance between keeping important data and resources inaccessible to most but still accessible to some. IAM makes it possible to set controls that grant secure access to employees and devices while making it difficult or impossible for outsiders to get through.</a:t>
            </a:r>
          </a:p>
        </p:txBody>
      </p:sp>
      <p:pic>
        <p:nvPicPr>
          <p:cNvPr id="3074" name="Picture 2" descr="Why Identity Access Management (IAM) is ...">
            <a:extLst>
              <a:ext uri="{FF2B5EF4-FFF2-40B4-BE49-F238E27FC236}">
                <a16:creationId xmlns:a16="http://schemas.microsoft.com/office/drawing/2014/main" id="{6C867D5F-B86D-BE73-E519-04387DE79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6543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2837AF-53E3-48D2-8048-C675590DE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F1C82-E10C-C8AD-BF4D-B2D4F8C86C7C}"/>
              </a:ext>
            </a:extLst>
          </p:cNvPr>
          <p:cNvSpPr>
            <a:spLocks noGrp="1"/>
          </p:cNvSpPr>
          <p:nvPr>
            <p:ph type="title"/>
          </p:nvPr>
        </p:nvSpPr>
        <p:spPr>
          <a:xfrm>
            <a:off x="273234" y="572559"/>
            <a:ext cx="11029616" cy="1188720"/>
          </a:xfrm>
        </p:spPr>
        <p:txBody>
          <a:bodyPr>
            <a:normAutofit fontScale="90000"/>
          </a:bodyPr>
          <a:lstStyle/>
          <a:p>
            <a:r>
              <a:rPr lang="en-US" dirty="0"/>
              <a:t>IMPORTANCE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C21D5F13-8A00-9F46-F7F4-C56AA04BDB20}"/>
              </a:ext>
            </a:extLst>
          </p:cNvPr>
          <p:cNvSpPr>
            <a:spLocks noGrp="1"/>
          </p:cNvSpPr>
          <p:nvPr>
            <p:ph idx="1"/>
          </p:nvPr>
        </p:nvSpPr>
        <p:spPr>
          <a:xfrm>
            <a:off x="581192" y="2056595"/>
            <a:ext cx="6530281" cy="3634486"/>
          </a:xfrm>
        </p:spPr>
        <p:txBody>
          <a:bodyPr>
            <a:noAutofit/>
          </a:bodyPr>
          <a:lstStyle/>
          <a:p>
            <a:pPr marL="630000" lvl="2" indent="0">
              <a:lnSpc>
                <a:spcPts val="1950"/>
              </a:lnSpc>
              <a:spcAft>
                <a:spcPts val="1950"/>
              </a:spcAft>
              <a:buNone/>
            </a:pPr>
            <a:r>
              <a:rPr lang="en-US" dirty="0"/>
              <a:t>Another reason that IAM is important is that cybercriminals are evolving their methods daily. Sophisticated attacks like phishing emails are one of the most common sources of hacking and data breaches and they target users with existing access. Without IAM, it’s difficult to manage who and what has access to an organization’s systems. Breaches and attacks can run rampant because not only is it difficult to see who has access, it’s also difficult to revoke access from a</a:t>
            </a:r>
          </a:p>
        </p:txBody>
      </p:sp>
      <p:pic>
        <p:nvPicPr>
          <p:cNvPr id="3074" name="Picture 2" descr="Why Identity Access Management (IAM) is ...">
            <a:extLst>
              <a:ext uri="{FF2B5EF4-FFF2-40B4-BE49-F238E27FC236}">
                <a16:creationId xmlns:a16="http://schemas.microsoft.com/office/drawing/2014/main" id="{9E91E1DD-0454-D0CC-09F2-992A8A901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30175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1925E3-3341-997D-AEA3-87E009112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871DB-953A-A181-7364-54EA444D155C}"/>
              </a:ext>
            </a:extLst>
          </p:cNvPr>
          <p:cNvSpPr>
            <a:spLocks noGrp="1"/>
          </p:cNvSpPr>
          <p:nvPr>
            <p:ph type="title"/>
          </p:nvPr>
        </p:nvSpPr>
        <p:spPr>
          <a:xfrm>
            <a:off x="273234" y="572559"/>
            <a:ext cx="11029616" cy="1188720"/>
          </a:xfrm>
        </p:spPr>
        <p:txBody>
          <a:bodyPr>
            <a:normAutofit fontScale="90000"/>
          </a:bodyPr>
          <a:lstStyle/>
          <a:p>
            <a:r>
              <a:rPr lang="en-US" dirty="0"/>
              <a:t>BENEFITS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A56CC9BA-789F-C210-1EFB-92DC04EEA98C}"/>
              </a:ext>
            </a:extLst>
          </p:cNvPr>
          <p:cNvSpPr>
            <a:spLocks noGrp="1"/>
          </p:cNvSpPr>
          <p:nvPr>
            <p:ph idx="1"/>
          </p:nvPr>
        </p:nvSpPr>
        <p:spPr>
          <a:xfrm>
            <a:off x="581192" y="2056595"/>
            <a:ext cx="6530281" cy="3634486"/>
          </a:xfrm>
        </p:spPr>
        <p:txBody>
          <a:bodyPr>
            <a:noAutofit/>
          </a:bodyPr>
          <a:lstStyle/>
          <a:p>
            <a:pPr algn="l">
              <a:buNone/>
            </a:pPr>
            <a:r>
              <a:rPr lang="en-US" sz="1300" dirty="0"/>
              <a:t>The right access for the right people</a:t>
            </a:r>
          </a:p>
          <a:p>
            <a:pPr algn="l"/>
            <a:r>
              <a:rPr lang="en-US" sz="1300" dirty="0"/>
              <a:t>With the ability to create and enforce centralized rules and access privileges, an IAM system makes it easier to ensure that users have access to the resources they need without making it possible for them to access sensitive information they don’t need. This is known as role-based access control (RBAC). RBAC is a scalable way to restrict access to only the people who need that access to perform their role. Roles can be assigned based on a fixed set of permissions or custom settings.</a:t>
            </a:r>
          </a:p>
        </p:txBody>
      </p:sp>
      <p:pic>
        <p:nvPicPr>
          <p:cNvPr id="3074" name="Picture 2" descr="Why Identity Access Management (IAM) is ...">
            <a:extLst>
              <a:ext uri="{FF2B5EF4-FFF2-40B4-BE49-F238E27FC236}">
                <a16:creationId xmlns:a16="http://schemas.microsoft.com/office/drawing/2014/main" id="{3B6888FB-9BB3-167B-1882-ACFE8004D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119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89AFFC-E9C1-28E7-5F2F-EC3678B18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2142F-BB46-040F-0B2C-6FE6DDEE773C}"/>
              </a:ext>
            </a:extLst>
          </p:cNvPr>
          <p:cNvSpPr>
            <a:spLocks noGrp="1"/>
          </p:cNvSpPr>
          <p:nvPr>
            <p:ph type="title"/>
          </p:nvPr>
        </p:nvSpPr>
        <p:spPr>
          <a:xfrm>
            <a:off x="273234" y="572559"/>
            <a:ext cx="11029616" cy="1188720"/>
          </a:xfrm>
        </p:spPr>
        <p:txBody>
          <a:bodyPr>
            <a:normAutofit fontScale="90000"/>
          </a:bodyPr>
          <a:lstStyle/>
          <a:p>
            <a:r>
              <a:rPr lang="en-US" dirty="0"/>
              <a:t>BENEFITS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68EB6250-C936-A323-4386-00F98E50AAEF}"/>
              </a:ext>
            </a:extLst>
          </p:cNvPr>
          <p:cNvSpPr>
            <a:spLocks noGrp="1"/>
          </p:cNvSpPr>
          <p:nvPr>
            <p:ph idx="1"/>
          </p:nvPr>
        </p:nvSpPr>
        <p:spPr>
          <a:xfrm>
            <a:off x="581192" y="2056595"/>
            <a:ext cx="6530281" cy="3634486"/>
          </a:xfrm>
        </p:spPr>
        <p:txBody>
          <a:bodyPr>
            <a:noAutofit/>
          </a:bodyPr>
          <a:lstStyle/>
          <a:p>
            <a:pPr>
              <a:buNone/>
            </a:pPr>
            <a:r>
              <a:rPr lang="en-US" sz="1300" dirty="0"/>
              <a:t>Unhindered productivity</a:t>
            </a:r>
          </a:p>
          <a:p>
            <a:r>
              <a:rPr lang="en-US" sz="1300" dirty="0"/>
              <a:t>As important as security is, productivity and user experience are also important. As tempting as it might be to implement a complicated security system to prevent breaches, having multiple barriers to productivity like multiple logins and passwords is a frustrating user experience. IAM tools like single sign-on (</a:t>
            </a:r>
            <a:r>
              <a:rPr lang="en-US" sz="1300" dirty="0">
                <a:hlinkClick r:id="rId2">
                  <a:extLst>
                    <a:ext uri="{A12FA001-AC4F-418D-AE19-62706E023703}">
                      <ahyp:hlinkClr xmlns:ahyp="http://schemas.microsoft.com/office/drawing/2018/hyperlinkcolor" val="tx"/>
                    </a:ext>
                  </a:extLst>
                </a:hlinkClick>
              </a:rPr>
              <a:t>SSO</a:t>
            </a:r>
            <a:r>
              <a:rPr lang="en-US" sz="1300" dirty="0"/>
              <a:t>) and unified user profiles make it possible to grant secure access to employees across multiple channels like on-premises resources, cloud data, and third-party applications without multiple logins.</a:t>
            </a:r>
          </a:p>
        </p:txBody>
      </p:sp>
      <p:pic>
        <p:nvPicPr>
          <p:cNvPr id="3074" name="Picture 2" descr="Why Identity Access Management (IAM) is ...">
            <a:extLst>
              <a:ext uri="{FF2B5EF4-FFF2-40B4-BE49-F238E27FC236}">
                <a16:creationId xmlns:a16="http://schemas.microsoft.com/office/drawing/2014/main" id="{A861099D-167A-C633-197F-45D37C5EF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6279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0FA9AE-B503-D5A9-7550-4D8CDF008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F10B4C-547C-1E0C-200C-78C709A65AC2}"/>
              </a:ext>
            </a:extLst>
          </p:cNvPr>
          <p:cNvSpPr>
            <a:spLocks noGrp="1"/>
          </p:cNvSpPr>
          <p:nvPr>
            <p:ph type="title"/>
          </p:nvPr>
        </p:nvSpPr>
        <p:spPr>
          <a:xfrm>
            <a:off x="273234" y="572559"/>
            <a:ext cx="11029616" cy="1188720"/>
          </a:xfrm>
        </p:spPr>
        <p:txBody>
          <a:bodyPr>
            <a:normAutofit fontScale="90000"/>
          </a:bodyPr>
          <a:lstStyle/>
          <a:p>
            <a:r>
              <a:rPr lang="en-US" dirty="0"/>
              <a:t>BENEFITS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9D0F9943-13B5-17BE-4C55-F4D470F1A215}"/>
              </a:ext>
            </a:extLst>
          </p:cNvPr>
          <p:cNvSpPr>
            <a:spLocks noGrp="1"/>
          </p:cNvSpPr>
          <p:nvPr>
            <p:ph idx="1"/>
          </p:nvPr>
        </p:nvSpPr>
        <p:spPr>
          <a:xfrm>
            <a:off x="581192" y="2056595"/>
            <a:ext cx="6530281" cy="3634486"/>
          </a:xfrm>
        </p:spPr>
        <p:txBody>
          <a:bodyPr>
            <a:noAutofit/>
          </a:bodyPr>
          <a:lstStyle/>
          <a:p>
            <a:pPr algn="l">
              <a:buNone/>
            </a:pPr>
            <a:r>
              <a:rPr lang="en-US" sz="1300" dirty="0"/>
              <a:t>Protection from data breaches</a:t>
            </a:r>
          </a:p>
          <a:p>
            <a:pPr algn="l"/>
            <a:r>
              <a:rPr lang="en-US" sz="1300" dirty="0"/>
              <a:t>While no security system is infallible, using IAM technology significantly reduces your risk of data breaches. IAM tools like MFA, </a:t>
            </a:r>
            <a:r>
              <a:rPr lang="en-US" sz="1300" dirty="0" err="1"/>
              <a:t>passwordless</a:t>
            </a:r>
            <a:r>
              <a:rPr lang="en-US" sz="1300" dirty="0"/>
              <a:t> authentication, and SSO give users the ability to verify their identities using more than just a username and password, which can be forgotten, shared, or hacked. Expanding user login options with an IAM solution reduces that risk by adding an additional layer of security to the login process that can’t as easily be hacked or shared.</a:t>
            </a:r>
          </a:p>
        </p:txBody>
      </p:sp>
      <p:pic>
        <p:nvPicPr>
          <p:cNvPr id="3074" name="Picture 2" descr="Why Identity Access Management (IAM) is ...">
            <a:extLst>
              <a:ext uri="{FF2B5EF4-FFF2-40B4-BE49-F238E27FC236}">
                <a16:creationId xmlns:a16="http://schemas.microsoft.com/office/drawing/2014/main" id="{C8162FA4-9C5D-2607-DC28-9945D6CE15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999609"/>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324067-5F6E-01D7-4814-4A39646F0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FBB6BE-C76E-A985-BFF7-28E391FDFC58}"/>
              </a:ext>
            </a:extLst>
          </p:cNvPr>
          <p:cNvSpPr>
            <a:spLocks noGrp="1"/>
          </p:cNvSpPr>
          <p:nvPr>
            <p:ph type="title"/>
          </p:nvPr>
        </p:nvSpPr>
        <p:spPr>
          <a:xfrm>
            <a:off x="273234" y="572559"/>
            <a:ext cx="11029616" cy="1188720"/>
          </a:xfrm>
        </p:spPr>
        <p:txBody>
          <a:bodyPr>
            <a:normAutofit fontScale="90000"/>
          </a:bodyPr>
          <a:lstStyle/>
          <a:p>
            <a:r>
              <a:rPr lang="en-US" dirty="0"/>
              <a:t>BENEFITS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86058350-A007-CB70-890D-C8AEFFC9623A}"/>
              </a:ext>
            </a:extLst>
          </p:cNvPr>
          <p:cNvSpPr>
            <a:spLocks noGrp="1"/>
          </p:cNvSpPr>
          <p:nvPr>
            <p:ph idx="1"/>
          </p:nvPr>
        </p:nvSpPr>
        <p:spPr>
          <a:xfrm>
            <a:off x="581192" y="2056595"/>
            <a:ext cx="6530281" cy="3634486"/>
          </a:xfrm>
        </p:spPr>
        <p:txBody>
          <a:bodyPr>
            <a:noAutofit/>
          </a:bodyPr>
          <a:lstStyle/>
          <a:p>
            <a:pPr>
              <a:buFont typeface="Wingdings 2" panose="05020102010507070707" pitchFamily="18" charset="2"/>
              <a:buNone/>
            </a:pPr>
            <a:r>
              <a:rPr lang="en-US" sz="1300" dirty="0"/>
              <a:t>Data encryption</a:t>
            </a:r>
          </a:p>
          <a:p>
            <a:r>
              <a:rPr lang="en-US" sz="1300" dirty="0"/>
              <a:t>One of the reasons IAM is so effective at elevating an organization’s security is that many IAM systems offer encryption tools. These protect sensitive information when it’s transmitted to or from the organization and features like Conditional Access enable IT administrators to set conditions such as device, location, or real-time risk information as conditions for access. This means the data is safe even in the event of a breach because the data can only be decrypted under verified conditions.</a:t>
            </a:r>
          </a:p>
        </p:txBody>
      </p:sp>
      <p:pic>
        <p:nvPicPr>
          <p:cNvPr id="3074" name="Picture 2" descr="Why Identity Access Management (IAM) is ...">
            <a:extLst>
              <a:ext uri="{FF2B5EF4-FFF2-40B4-BE49-F238E27FC236}">
                <a16:creationId xmlns:a16="http://schemas.microsoft.com/office/drawing/2014/main" id="{F54BD638-EFDD-F4D1-487B-54836EAD6A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5679424"/>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249048-AA8C-7F39-F8B8-61B81FCDA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A31D8-6092-C73E-7660-7FE462F379FC}"/>
              </a:ext>
            </a:extLst>
          </p:cNvPr>
          <p:cNvSpPr>
            <a:spLocks noGrp="1"/>
          </p:cNvSpPr>
          <p:nvPr>
            <p:ph type="title"/>
          </p:nvPr>
        </p:nvSpPr>
        <p:spPr>
          <a:xfrm>
            <a:off x="273234" y="572559"/>
            <a:ext cx="11029616" cy="1188720"/>
          </a:xfrm>
        </p:spPr>
        <p:txBody>
          <a:bodyPr>
            <a:normAutofit fontScale="90000"/>
          </a:bodyPr>
          <a:lstStyle/>
          <a:p>
            <a:r>
              <a:rPr lang="en-US" dirty="0"/>
              <a:t>BENEFITS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C479191-A564-1293-DDD6-F136DBB1F177}"/>
              </a:ext>
            </a:extLst>
          </p:cNvPr>
          <p:cNvSpPr>
            <a:spLocks noGrp="1"/>
          </p:cNvSpPr>
          <p:nvPr>
            <p:ph idx="1"/>
          </p:nvPr>
        </p:nvSpPr>
        <p:spPr>
          <a:xfrm>
            <a:off x="581192" y="2056595"/>
            <a:ext cx="6530281" cy="3634486"/>
          </a:xfrm>
        </p:spPr>
        <p:txBody>
          <a:bodyPr>
            <a:noAutofit/>
          </a:bodyPr>
          <a:lstStyle/>
          <a:p>
            <a:pPr marL="0" indent="0">
              <a:buNone/>
            </a:pPr>
            <a:r>
              <a:rPr lang="en-US" sz="1300" dirty="0"/>
              <a:t>Less manual work for IT</a:t>
            </a:r>
          </a:p>
          <a:p>
            <a:r>
              <a:rPr lang="en-US" sz="1300" dirty="0"/>
              <a:t>By automating IT department tasks like helping people reset their passwords, unlock their accounts, and monitoring access logs to identify anomalies, IAM systems can save IT departments time and effort. This frees up the IT department to focus on other important tasks like implementing a Zero Trust strategy throughout the rest of the organization. IAM is essential to Zero Trust, which is a security framework built on the principles of verifying explicitly, using least privileged access, and assuming breach.</a:t>
            </a:r>
          </a:p>
        </p:txBody>
      </p:sp>
      <p:pic>
        <p:nvPicPr>
          <p:cNvPr id="3074" name="Picture 2" descr="Why Identity Access Management (IAM) is ...">
            <a:extLst>
              <a:ext uri="{FF2B5EF4-FFF2-40B4-BE49-F238E27FC236}">
                <a16:creationId xmlns:a16="http://schemas.microsoft.com/office/drawing/2014/main" id="{FD018A43-896F-C0A2-FFC3-5615B5E80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559290"/>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E83604-9204-83A3-6DD4-C592FC218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8AF8C3-E0C2-CD74-0603-BBBC04286A34}"/>
              </a:ext>
            </a:extLst>
          </p:cNvPr>
          <p:cNvSpPr>
            <a:spLocks noGrp="1"/>
          </p:cNvSpPr>
          <p:nvPr>
            <p:ph type="title"/>
          </p:nvPr>
        </p:nvSpPr>
        <p:spPr>
          <a:xfrm>
            <a:off x="273234" y="572559"/>
            <a:ext cx="11029616" cy="1188720"/>
          </a:xfrm>
        </p:spPr>
        <p:txBody>
          <a:bodyPr>
            <a:normAutofit fontScale="90000"/>
          </a:bodyPr>
          <a:lstStyle/>
          <a:p>
            <a:r>
              <a:rPr lang="en-US" dirty="0"/>
              <a:t>BENEFITS OF IAM</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DA0BCB9-1FB7-DF84-0B1B-B5EAEED808BB}"/>
              </a:ext>
            </a:extLst>
          </p:cNvPr>
          <p:cNvSpPr>
            <a:spLocks noGrp="1"/>
          </p:cNvSpPr>
          <p:nvPr>
            <p:ph idx="1"/>
          </p:nvPr>
        </p:nvSpPr>
        <p:spPr>
          <a:xfrm>
            <a:off x="581192" y="2056595"/>
            <a:ext cx="6530281" cy="3634486"/>
          </a:xfrm>
        </p:spPr>
        <p:txBody>
          <a:bodyPr>
            <a:noAutofit/>
          </a:bodyPr>
          <a:lstStyle/>
          <a:p>
            <a:pPr algn="l">
              <a:buNone/>
            </a:pPr>
            <a:r>
              <a:rPr lang="en-US" sz="1300" dirty="0"/>
              <a:t>Improved collaboration and efficiency</a:t>
            </a:r>
          </a:p>
          <a:p>
            <a:pPr algn="l"/>
            <a:r>
              <a:rPr lang="en-US" sz="1300" dirty="0"/>
              <a:t>Seamless collaboration between employees, vendors, contractors, and suppliers is essential to keeping up with the pace of modern work. IAM enables this collaboration by making sure that not only is collaboration secure, it’s also fast and easy. IT administrators can also build role-based automated workflows to speed up the permissions processes for role transfers and new hires, which saves time during onboarding.</a:t>
            </a:r>
          </a:p>
        </p:txBody>
      </p:sp>
      <p:pic>
        <p:nvPicPr>
          <p:cNvPr id="3074" name="Picture 2" descr="Why Identity Access Management (IAM) is ...">
            <a:extLst>
              <a:ext uri="{FF2B5EF4-FFF2-40B4-BE49-F238E27FC236}">
                <a16:creationId xmlns:a16="http://schemas.microsoft.com/office/drawing/2014/main" id="{0273CE3B-5FA4-9607-8206-ECCAF1CD89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8065" y="2811800"/>
            <a:ext cx="2152650" cy="2124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5236235"/>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14E15E-EA0A-5547-9011-9FB540043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BCB130-DD8B-F5A4-CECF-BA3BEC7904D0}"/>
              </a:ext>
            </a:extLst>
          </p:cNvPr>
          <p:cNvSpPr>
            <a:spLocks noGrp="1"/>
          </p:cNvSpPr>
          <p:nvPr>
            <p:ph type="title"/>
          </p:nvPr>
        </p:nvSpPr>
        <p:spPr>
          <a:xfrm>
            <a:off x="273234" y="572559"/>
            <a:ext cx="11029616" cy="1188720"/>
          </a:xfrm>
        </p:spPr>
        <p:txBody>
          <a:bodyPr>
            <a:normAutofit fontScale="90000"/>
          </a:bodyPr>
          <a:lstStyle/>
          <a:p>
            <a:r>
              <a:rPr lang="en-US" dirty="0"/>
              <a:t>IAM ARCHITECTURE</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pic>
        <p:nvPicPr>
          <p:cNvPr id="7" name="Picture 6">
            <a:extLst>
              <a:ext uri="{FF2B5EF4-FFF2-40B4-BE49-F238E27FC236}">
                <a16:creationId xmlns:a16="http://schemas.microsoft.com/office/drawing/2014/main" id="{9BB134F6-FD92-92A3-FE97-C830BCBEBAA5}"/>
              </a:ext>
            </a:extLst>
          </p:cNvPr>
          <p:cNvPicPr>
            <a:picLocks noChangeAspect="1"/>
          </p:cNvPicPr>
          <p:nvPr/>
        </p:nvPicPr>
        <p:blipFill>
          <a:blip r:embed="rId3"/>
          <a:stretch>
            <a:fillRect/>
          </a:stretch>
        </p:blipFill>
        <p:spPr>
          <a:xfrm>
            <a:off x="847854" y="1500186"/>
            <a:ext cx="9980567" cy="5033785"/>
          </a:xfrm>
          <a:prstGeom prst="rect">
            <a:avLst/>
          </a:prstGeom>
        </p:spPr>
      </p:pic>
    </p:spTree>
    <p:extLst>
      <p:ext uri="{BB962C8B-B14F-4D97-AF65-F5344CB8AC3E}">
        <p14:creationId xmlns:p14="http://schemas.microsoft.com/office/powerpoint/2010/main" val="2992823510"/>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A2BC8-6DFB-62F1-97A4-2AE2D393B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E71C5-9D0C-9664-9EE3-A3BA1B245BBB}"/>
              </a:ext>
            </a:extLst>
          </p:cNvPr>
          <p:cNvSpPr>
            <a:spLocks noGrp="1"/>
          </p:cNvSpPr>
          <p:nvPr>
            <p:ph type="title"/>
          </p:nvPr>
        </p:nvSpPr>
        <p:spPr/>
        <p:txBody>
          <a:bodyPr/>
          <a:lstStyle/>
          <a:p>
            <a:r>
              <a:rPr lang="en-US" dirty="0"/>
              <a:t>Refresher-  LAST CLASS</a:t>
            </a:r>
            <a:endParaRPr lang="en-NG" dirty="0"/>
          </a:p>
        </p:txBody>
      </p:sp>
      <p:sp>
        <p:nvSpPr>
          <p:cNvPr id="6" name="Content Placeholder 2">
            <a:extLst>
              <a:ext uri="{FF2B5EF4-FFF2-40B4-BE49-F238E27FC236}">
                <a16:creationId xmlns:a16="http://schemas.microsoft.com/office/drawing/2014/main" id="{62620AB8-A5BB-A679-CE32-DD9A7F55DB93}"/>
              </a:ext>
            </a:extLst>
          </p:cNvPr>
          <p:cNvSpPr txBox="1">
            <a:spLocks/>
          </p:cNvSpPr>
          <p:nvPr/>
        </p:nvSpPr>
        <p:spPr>
          <a:xfrm>
            <a:off x="623498" y="2668929"/>
            <a:ext cx="11029950" cy="3633787"/>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400" dirty="0"/>
              <a:t>Identity and Access Management</a:t>
            </a:r>
          </a:p>
          <a:p>
            <a:pPr lvl="1"/>
            <a:r>
              <a:rPr lang="en-US" dirty="0"/>
              <a:t>Introduction to Identity and Access Management Principles</a:t>
            </a:r>
          </a:p>
          <a:p>
            <a:pPr lvl="1"/>
            <a:r>
              <a:rPr lang="en-US" dirty="0"/>
              <a:t>Core Concepts -  Identification, Authentication, Authorization, Accountability</a:t>
            </a:r>
          </a:p>
          <a:p>
            <a:pPr lvl="1"/>
            <a:r>
              <a:rPr lang="en-US" dirty="0"/>
              <a:t>Identity and Access Management (IAM) Components and Architecture</a:t>
            </a:r>
          </a:p>
          <a:p>
            <a:pPr lvl="1"/>
            <a:r>
              <a:rPr lang="en-US" dirty="0"/>
              <a:t>IAM Architecture</a:t>
            </a:r>
          </a:p>
          <a:p>
            <a:pPr lvl="1"/>
            <a:r>
              <a:rPr lang="en-US" dirty="0"/>
              <a:t>IAM Architecture Models</a:t>
            </a:r>
          </a:p>
          <a:p>
            <a:pPr lvl="1"/>
            <a:r>
              <a:rPr lang="en-US" dirty="0"/>
              <a:t>Authentication Methods</a:t>
            </a:r>
          </a:p>
          <a:p>
            <a:pPr marL="324000" lvl="1" indent="0">
              <a:buFont typeface="Wingdings 2" panose="05020102010507070707" pitchFamily="18" charset="2"/>
              <a:buNone/>
            </a:pPr>
            <a:endParaRPr lang="en-US" dirty="0"/>
          </a:p>
          <a:p>
            <a:pPr lvl="2"/>
            <a:endParaRPr lang="en-US" dirty="0"/>
          </a:p>
          <a:p>
            <a:endParaRPr lang="en-NG" dirty="0"/>
          </a:p>
        </p:txBody>
      </p:sp>
    </p:spTree>
    <p:extLst>
      <p:ext uri="{BB962C8B-B14F-4D97-AF65-F5344CB8AC3E}">
        <p14:creationId xmlns:p14="http://schemas.microsoft.com/office/powerpoint/2010/main" val="40615403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D052-F675-E27A-3C93-75622924C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E5FBB-69A5-4E18-2576-04D9B1D9DDE1}"/>
              </a:ext>
            </a:extLst>
          </p:cNvPr>
          <p:cNvSpPr>
            <a:spLocks noGrp="1"/>
          </p:cNvSpPr>
          <p:nvPr>
            <p:ph type="title"/>
          </p:nvPr>
        </p:nvSpPr>
        <p:spPr/>
        <p:txBody>
          <a:bodyPr/>
          <a:lstStyle/>
          <a:p>
            <a:r>
              <a:rPr lang="en-US" dirty="0"/>
              <a:t>MONTH 4 -  WK1</a:t>
            </a:r>
            <a:endParaRPr lang="en-NG" dirty="0"/>
          </a:p>
        </p:txBody>
      </p:sp>
      <p:sp>
        <p:nvSpPr>
          <p:cNvPr id="6" name="Content Placeholder 2">
            <a:extLst>
              <a:ext uri="{FF2B5EF4-FFF2-40B4-BE49-F238E27FC236}">
                <a16:creationId xmlns:a16="http://schemas.microsoft.com/office/drawing/2014/main" id="{5D8D4193-FE64-6A9E-58C3-F4583C3C1CA3}"/>
              </a:ext>
            </a:extLst>
          </p:cNvPr>
          <p:cNvSpPr txBox="1">
            <a:spLocks/>
          </p:cNvSpPr>
          <p:nvPr/>
        </p:nvSpPr>
        <p:spPr>
          <a:xfrm>
            <a:off x="623498" y="2668929"/>
            <a:ext cx="11029950" cy="3633787"/>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sz="1400" dirty="0"/>
              <a:t>Access Control Models</a:t>
            </a:r>
          </a:p>
          <a:p>
            <a:pPr lvl="1"/>
            <a:r>
              <a:rPr lang="en-US" dirty="0"/>
              <a:t>Introduction to </a:t>
            </a:r>
            <a:r>
              <a:rPr lang="en-US" sz="1400" dirty="0"/>
              <a:t>Access Control Models</a:t>
            </a:r>
            <a:endParaRPr lang="en-US" dirty="0"/>
          </a:p>
          <a:p>
            <a:pPr lvl="1"/>
            <a:r>
              <a:rPr lang="en-US" dirty="0"/>
              <a:t>Overview of </a:t>
            </a:r>
            <a:r>
              <a:rPr lang="en-US" sz="1400" dirty="0"/>
              <a:t>Access Control Models</a:t>
            </a:r>
            <a:endParaRPr lang="en-US" dirty="0"/>
          </a:p>
          <a:p>
            <a:pPr lvl="1"/>
            <a:r>
              <a:rPr lang="en-US" dirty="0"/>
              <a:t>Privilege Management</a:t>
            </a:r>
          </a:p>
          <a:p>
            <a:pPr lvl="1"/>
            <a:r>
              <a:rPr lang="en-US" dirty="0"/>
              <a:t>Least Privilege Principles</a:t>
            </a:r>
          </a:p>
          <a:p>
            <a:pPr lvl="1"/>
            <a:r>
              <a:rPr lang="en-US" dirty="0"/>
              <a:t>User and Group Management</a:t>
            </a:r>
          </a:p>
          <a:p>
            <a:pPr lvl="1"/>
            <a:r>
              <a:rPr lang="en-US" dirty="0"/>
              <a:t>Authentication Methods</a:t>
            </a:r>
          </a:p>
          <a:p>
            <a:pPr lvl="1"/>
            <a:r>
              <a:rPr lang="en-US" dirty="0"/>
              <a:t>AWS/AZURE IAM Basic Demo </a:t>
            </a:r>
          </a:p>
          <a:p>
            <a:pPr marL="324000" lvl="1" indent="0">
              <a:buFont typeface="Wingdings 2" panose="05020102010507070707" pitchFamily="18" charset="2"/>
              <a:buNone/>
            </a:pPr>
            <a:endParaRPr lang="en-US" dirty="0"/>
          </a:p>
          <a:p>
            <a:pPr lvl="2"/>
            <a:endParaRPr lang="en-US" dirty="0"/>
          </a:p>
          <a:p>
            <a:endParaRPr lang="en-NG" dirty="0"/>
          </a:p>
        </p:txBody>
      </p:sp>
    </p:spTree>
    <p:extLst>
      <p:ext uri="{BB962C8B-B14F-4D97-AF65-F5344CB8AC3E}">
        <p14:creationId xmlns:p14="http://schemas.microsoft.com/office/powerpoint/2010/main" val="4843943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A3A79-4E49-03C7-8E06-239A8173F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45904-2ED3-AAA2-F80D-2DED8CB5BEDB}"/>
              </a:ext>
            </a:extLst>
          </p:cNvPr>
          <p:cNvSpPr>
            <a:spLocks noGrp="1"/>
          </p:cNvSpPr>
          <p:nvPr>
            <p:ph type="title"/>
          </p:nvPr>
        </p:nvSpPr>
        <p:spPr/>
        <p:txBody>
          <a:bodyPr>
            <a:normAutofit/>
          </a:bodyPr>
          <a:lstStyle/>
          <a:p>
            <a:r>
              <a:rPr lang="en-US" dirty="0"/>
              <a:t>Introduction to </a:t>
            </a:r>
            <a:r>
              <a:rPr lang="en-US" sz="3600" dirty="0"/>
              <a:t>Access Control Models</a:t>
            </a:r>
            <a:br>
              <a:rPr lang="en-US" dirty="0"/>
            </a:br>
            <a:br>
              <a:rPr lang="en-US" dirty="0"/>
            </a:br>
            <a:endParaRPr lang="en-US" dirty="0"/>
          </a:p>
        </p:txBody>
      </p:sp>
      <p:sp>
        <p:nvSpPr>
          <p:cNvPr id="3" name="Text Placeholder 2">
            <a:extLst>
              <a:ext uri="{FF2B5EF4-FFF2-40B4-BE49-F238E27FC236}">
                <a16:creationId xmlns:a16="http://schemas.microsoft.com/office/drawing/2014/main" id="{19454286-2980-ED9B-F316-B86821347F37}"/>
              </a:ext>
            </a:extLst>
          </p:cNvPr>
          <p:cNvSpPr>
            <a:spLocks noGrp="1"/>
          </p:cNvSpPr>
          <p:nvPr>
            <p:ph type="body" idx="1"/>
          </p:nvPr>
        </p:nvSpPr>
        <p:spPr>
          <a:xfrm>
            <a:off x="653763" y="4541417"/>
            <a:ext cx="11029615" cy="600556"/>
          </a:xfrm>
        </p:spPr>
        <p:txBody>
          <a:bodyPr/>
          <a:lstStyle/>
          <a:p>
            <a:r>
              <a:rPr lang="en-US" dirty="0"/>
              <a:t>Day 2</a:t>
            </a:r>
            <a:endParaRPr lang="en-NG" dirty="0"/>
          </a:p>
        </p:txBody>
      </p:sp>
    </p:spTree>
    <p:extLst>
      <p:ext uri="{BB962C8B-B14F-4D97-AF65-F5344CB8AC3E}">
        <p14:creationId xmlns:p14="http://schemas.microsoft.com/office/powerpoint/2010/main" val="42382610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A9E243-3C2D-2224-A35F-22CCC08468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2C8DE-7AE4-9DF9-6724-61A5CD28FBAF}"/>
              </a:ext>
            </a:extLst>
          </p:cNvPr>
          <p:cNvSpPr>
            <a:spLocks noGrp="1"/>
          </p:cNvSpPr>
          <p:nvPr>
            <p:ph type="title"/>
          </p:nvPr>
        </p:nvSpPr>
        <p:spPr>
          <a:xfrm>
            <a:off x="273234" y="572559"/>
            <a:ext cx="11029616" cy="1188720"/>
          </a:xfrm>
        </p:spPr>
        <p:txBody>
          <a:bodyPr>
            <a:normAutofit fontScale="90000"/>
          </a:bodyPr>
          <a:lstStyle/>
          <a:p>
            <a:r>
              <a:rPr lang="en-US" dirty="0"/>
              <a:t>ACCESS CONTROL MODELS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13768A2-9342-ED6C-F0BE-9F54622FE461}"/>
              </a:ext>
            </a:extLst>
          </p:cNvPr>
          <p:cNvSpPr>
            <a:spLocks noGrp="1"/>
          </p:cNvSpPr>
          <p:nvPr>
            <p:ph idx="1"/>
          </p:nvPr>
        </p:nvSpPr>
        <p:spPr>
          <a:xfrm>
            <a:off x="581192" y="2056595"/>
            <a:ext cx="6530281" cy="3634486"/>
          </a:xfrm>
        </p:spPr>
        <p:txBody>
          <a:bodyPr>
            <a:noAutofit/>
          </a:bodyPr>
          <a:lstStyle/>
          <a:p>
            <a:pPr algn="l">
              <a:buNone/>
            </a:pPr>
            <a:r>
              <a:rPr lang="en-US" sz="1600" dirty="0"/>
              <a:t>Access Control</a:t>
            </a:r>
          </a:p>
          <a:p>
            <a:pPr algn="l"/>
            <a:r>
              <a:rPr lang="en-US" sz="1600" dirty="0"/>
              <a:t>Access control is a fundamental aspect of information security, ensuring that only authorized users can access specific resources in a system. Different models of access control offer unique methods and benefits, catering to various organizational needs.</a:t>
            </a:r>
          </a:p>
        </p:txBody>
      </p:sp>
      <p:pic>
        <p:nvPicPr>
          <p:cNvPr id="4098" name="Picture 2" descr="Access Control Models: RBAC vs. MAC vs. DAC">
            <a:extLst>
              <a:ext uri="{FF2B5EF4-FFF2-40B4-BE49-F238E27FC236}">
                <a16:creationId xmlns:a16="http://schemas.microsoft.com/office/drawing/2014/main" id="{9FC347F8-5B75-99AE-84D9-7B55FF5EB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117162"/>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736512-FB14-7ED0-70C8-8AB2E21CFB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D960D-D73A-9DEF-91FE-E5729285DFC2}"/>
              </a:ext>
            </a:extLst>
          </p:cNvPr>
          <p:cNvSpPr>
            <a:spLocks noGrp="1"/>
          </p:cNvSpPr>
          <p:nvPr>
            <p:ph type="title"/>
          </p:nvPr>
        </p:nvSpPr>
        <p:spPr>
          <a:xfrm>
            <a:off x="273234" y="572559"/>
            <a:ext cx="11029616" cy="1188720"/>
          </a:xfrm>
        </p:spPr>
        <p:txBody>
          <a:bodyPr>
            <a:normAutofit fontScale="90000"/>
          </a:bodyPr>
          <a:lstStyle/>
          <a:p>
            <a:r>
              <a:rPr lang="en-US" dirty="0"/>
              <a:t>ACCESS CONTROL MODELS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DD176B4-9C8D-7210-EF72-F99D142EF189}"/>
              </a:ext>
            </a:extLst>
          </p:cNvPr>
          <p:cNvSpPr>
            <a:spLocks noGrp="1"/>
          </p:cNvSpPr>
          <p:nvPr>
            <p:ph idx="1"/>
          </p:nvPr>
        </p:nvSpPr>
        <p:spPr>
          <a:xfrm>
            <a:off x="581192" y="2056595"/>
            <a:ext cx="6530281" cy="3634486"/>
          </a:xfrm>
        </p:spPr>
        <p:txBody>
          <a:bodyPr>
            <a:noAutofit/>
          </a:bodyPr>
          <a:lstStyle/>
          <a:p>
            <a:pPr algn="l">
              <a:buNone/>
            </a:pPr>
            <a:r>
              <a:rPr lang="en-US" sz="1600" dirty="0"/>
              <a:t>Access Control Model</a:t>
            </a:r>
          </a:p>
          <a:p>
            <a:pPr algn="l"/>
            <a:r>
              <a:rPr lang="en-US" sz="1600" dirty="0"/>
              <a:t>The three primary models are </a:t>
            </a:r>
          </a:p>
          <a:p>
            <a:pPr lvl="1"/>
            <a:r>
              <a:rPr lang="en-US" sz="1300" dirty="0"/>
              <a:t>Role-Based Access Control (RBAC),</a:t>
            </a:r>
          </a:p>
          <a:p>
            <a:pPr lvl="1"/>
            <a:r>
              <a:rPr lang="en-US" sz="1300" dirty="0"/>
              <a:t>Attribute-Based Access Control (ABAC)</a:t>
            </a:r>
          </a:p>
          <a:p>
            <a:pPr lvl="1"/>
            <a:r>
              <a:rPr lang="en-US" sz="1300" dirty="0"/>
              <a:t>Discretionary Access Control (DAC). </a:t>
            </a:r>
          </a:p>
          <a:p>
            <a:pPr marL="324000" lvl="1" indent="0">
              <a:buNone/>
            </a:pPr>
            <a:r>
              <a:rPr lang="en-US" sz="1300" dirty="0"/>
              <a:t>Each model has its distinctive features, advantages, and ideal use cases.</a:t>
            </a:r>
          </a:p>
        </p:txBody>
      </p:sp>
      <p:pic>
        <p:nvPicPr>
          <p:cNvPr id="4098" name="Picture 2" descr="Access Control Models: RBAC vs. MAC vs. DAC">
            <a:extLst>
              <a:ext uri="{FF2B5EF4-FFF2-40B4-BE49-F238E27FC236}">
                <a16:creationId xmlns:a16="http://schemas.microsoft.com/office/drawing/2014/main" id="{178DA144-255E-627B-F2EB-A78096EA1A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902354"/>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F6D5C0-7AE2-3219-D2E2-220B93885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BB8FC-3B50-24C4-2789-B0A07DBB7EB6}"/>
              </a:ext>
            </a:extLst>
          </p:cNvPr>
          <p:cNvSpPr>
            <a:spLocks noGrp="1"/>
          </p:cNvSpPr>
          <p:nvPr>
            <p:ph type="title"/>
          </p:nvPr>
        </p:nvSpPr>
        <p:spPr>
          <a:xfrm>
            <a:off x="273234" y="572559"/>
            <a:ext cx="11029616" cy="1188720"/>
          </a:xfrm>
        </p:spPr>
        <p:txBody>
          <a:bodyPr>
            <a:normAutofit fontScale="90000"/>
          </a:bodyPr>
          <a:lstStyle/>
          <a:p>
            <a:r>
              <a:rPr lang="en-US" dirty="0"/>
              <a:t>ACCESS CONTROL MODELS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75FC716-825D-0DD8-E883-2A29B21FB3D0}"/>
              </a:ext>
            </a:extLst>
          </p:cNvPr>
          <p:cNvSpPr>
            <a:spLocks noGrp="1"/>
          </p:cNvSpPr>
          <p:nvPr>
            <p:ph idx="1"/>
          </p:nvPr>
        </p:nvSpPr>
        <p:spPr>
          <a:xfrm>
            <a:off x="581192" y="2056595"/>
            <a:ext cx="6530281" cy="3634486"/>
          </a:xfrm>
        </p:spPr>
        <p:txBody>
          <a:bodyPr>
            <a:noAutofit/>
          </a:bodyPr>
          <a:lstStyle/>
          <a:p>
            <a:pPr algn="l">
              <a:buNone/>
            </a:pPr>
            <a:r>
              <a:rPr lang="en-US" sz="1600" dirty="0"/>
              <a:t>Access Control Model</a:t>
            </a:r>
          </a:p>
          <a:p>
            <a:pPr algn="l"/>
            <a:r>
              <a:rPr lang="en-US" sz="1600" dirty="0"/>
              <a:t>The three primary models are </a:t>
            </a:r>
          </a:p>
          <a:p>
            <a:pPr lvl="1"/>
            <a:r>
              <a:rPr lang="en-US" sz="1300" dirty="0"/>
              <a:t>Role-Based Access Control (RBAC),</a:t>
            </a:r>
          </a:p>
          <a:p>
            <a:pPr lvl="1"/>
            <a:r>
              <a:rPr lang="en-US" sz="1300" dirty="0"/>
              <a:t>Attribute-Based Access Control (ABAC)</a:t>
            </a:r>
          </a:p>
          <a:p>
            <a:pPr lvl="1"/>
            <a:r>
              <a:rPr lang="en-US" sz="1300" dirty="0"/>
              <a:t>Discretionary Access Control (DAC). </a:t>
            </a:r>
          </a:p>
          <a:p>
            <a:pPr marL="324000" lvl="1" indent="0">
              <a:buNone/>
            </a:pPr>
            <a:r>
              <a:rPr lang="en-US" sz="1300" dirty="0"/>
              <a:t>Each model has its distinctive features, advantages, and ideal use cases.</a:t>
            </a:r>
          </a:p>
        </p:txBody>
      </p:sp>
      <p:pic>
        <p:nvPicPr>
          <p:cNvPr id="4098" name="Picture 2" descr="Access Control Models: RBAC vs. MAC vs. DAC">
            <a:extLst>
              <a:ext uri="{FF2B5EF4-FFF2-40B4-BE49-F238E27FC236}">
                <a16:creationId xmlns:a16="http://schemas.microsoft.com/office/drawing/2014/main" id="{F77E4654-4E98-9982-80C2-A15DB03CC9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431076"/>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016DE3-F0D1-65FB-A5A1-8A6C34B78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BE1180-3E7E-30AE-A7A1-A89CFAD5C6C4}"/>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Role-Based Access Control (RBAC)</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A8CDEED4-8A1E-8689-0A54-B8D27F7F8497}"/>
              </a:ext>
            </a:extLst>
          </p:cNvPr>
          <p:cNvSpPr>
            <a:spLocks noGrp="1"/>
          </p:cNvSpPr>
          <p:nvPr>
            <p:ph idx="1"/>
          </p:nvPr>
        </p:nvSpPr>
        <p:spPr>
          <a:xfrm>
            <a:off x="581192" y="2056595"/>
            <a:ext cx="6530281" cy="3634486"/>
          </a:xfrm>
        </p:spPr>
        <p:txBody>
          <a:bodyPr>
            <a:noAutofit/>
          </a:bodyPr>
          <a:lstStyle/>
          <a:p>
            <a:pPr algn="l"/>
            <a:r>
              <a:rPr lang="en-US" sz="1600" dirty="0"/>
              <a:t>The Role-Based Access Control (RBAC) is one of the most widely used access control models. In RBAC, permissions are assigned to roles, and users are then assigned to these roles. This model simplifies management by grouping permissions into roles rather than assigning permissions directly to users.</a:t>
            </a:r>
          </a:p>
        </p:txBody>
      </p:sp>
      <p:pic>
        <p:nvPicPr>
          <p:cNvPr id="4098" name="Picture 2" descr="Access Control Models: RBAC vs. MAC vs. DAC">
            <a:extLst>
              <a:ext uri="{FF2B5EF4-FFF2-40B4-BE49-F238E27FC236}">
                <a16:creationId xmlns:a16="http://schemas.microsoft.com/office/drawing/2014/main" id="{7A3A9A18-2BFF-E821-4CFA-4010722B68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2418589"/>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0BD37E-709E-CB29-A348-71741207C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333A5B-C7BB-F4B0-629A-EBE2EA22E70D}"/>
              </a:ext>
            </a:extLst>
          </p:cNvPr>
          <p:cNvSpPr>
            <a:spLocks noGrp="1"/>
          </p:cNvSpPr>
          <p:nvPr>
            <p:ph type="title"/>
          </p:nvPr>
        </p:nvSpPr>
        <p:spPr>
          <a:xfrm>
            <a:off x="273234" y="572559"/>
            <a:ext cx="11029616" cy="1188720"/>
          </a:xfrm>
        </p:spPr>
        <p:txBody>
          <a:bodyPr>
            <a:normAutofit/>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 RBAC</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B335A155-834B-3AE4-ECDF-B33C7B9FB6B1}"/>
              </a:ext>
            </a:extLst>
          </p:cNvPr>
          <p:cNvSpPr>
            <a:spLocks noGrp="1"/>
          </p:cNvSpPr>
          <p:nvPr>
            <p:ph idx="1"/>
          </p:nvPr>
        </p:nvSpPr>
        <p:spPr>
          <a:xfrm>
            <a:off x="581192" y="2056595"/>
            <a:ext cx="6530281" cy="3634486"/>
          </a:xfrm>
        </p:spPr>
        <p:txBody>
          <a:bodyPr>
            <a:noAutofit/>
          </a:bodyPr>
          <a:lstStyle/>
          <a:p>
            <a:pPr algn="l"/>
            <a:r>
              <a:rPr lang="en-US" sz="1600" dirty="0"/>
              <a:t>The Role-Based Access Control (RBAC) is one of the most widely used access control models. In RBAC, permissions are assigned to roles, and users are then assigned to these roles. This model simplifies management by grouping permissions into roles rather than assigning permissions directly to users.</a:t>
            </a:r>
          </a:p>
          <a:p>
            <a:pPr marL="0" indent="0" algn="l">
              <a:buNone/>
            </a:pPr>
            <a:br>
              <a:rPr lang="en-US" sz="1600" dirty="0"/>
            </a:br>
            <a:r>
              <a:rPr lang="en-US" sz="1600" dirty="0"/>
              <a:t>Key Features of RBAC:</a:t>
            </a:r>
            <a:br>
              <a:rPr lang="en-US" sz="1600" dirty="0"/>
            </a:br>
            <a:r>
              <a:rPr lang="en-US" sz="1600" dirty="0"/>
              <a:t>1. Roles: Defined based on job functions within an organization.</a:t>
            </a:r>
            <a:br>
              <a:rPr lang="en-US" sz="1600" dirty="0"/>
            </a:br>
            <a:r>
              <a:rPr lang="en-US" sz="1600" dirty="0"/>
              <a:t>2. Permissions: Assigned to roles, not directly to users.</a:t>
            </a:r>
            <a:br>
              <a:rPr lang="en-US" sz="1600" dirty="0"/>
            </a:br>
            <a:r>
              <a:rPr lang="en-US" sz="1600" dirty="0"/>
              <a:t>3. User-Role Assignment: Users are granted roles that provide them with the necessary permissions.</a:t>
            </a:r>
          </a:p>
        </p:txBody>
      </p:sp>
      <p:pic>
        <p:nvPicPr>
          <p:cNvPr id="4098" name="Picture 2" descr="Access Control Models: RBAC vs. MAC vs. DAC">
            <a:extLst>
              <a:ext uri="{FF2B5EF4-FFF2-40B4-BE49-F238E27FC236}">
                <a16:creationId xmlns:a16="http://schemas.microsoft.com/office/drawing/2014/main" id="{EB141C70-5B45-4772-3140-51AF253DD3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5053294"/>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C6D107-513B-7CEC-1194-2500C75AD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428E5-6872-0AC0-4E6A-503B94239D1B}"/>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 </a:t>
            </a:r>
            <a:r>
              <a:rPr lang="en-US" b="1" i="0" dirty="0">
                <a:solidFill>
                  <a:srgbClr val="15171A"/>
                </a:solidFill>
                <a:effectLst/>
                <a:latin typeface="Open Sans" panose="020B0606030504020204" pitchFamily="34" charset="0"/>
              </a:rPr>
              <a:t>(RBAC)</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DE8550D-6E80-885F-DBF8-D56ABAE1F463}"/>
              </a:ext>
            </a:extLst>
          </p:cNvPr>
          <p:cNvSpPr>
            <a:spLocks noGrp="1"/>
          </p:cNvSpPr>
          <p:nvPr>
            <p:ph idx="1"/>
          </p:nvPr>
        </p:nvSpPr>
        <p:spPr>
          <a:xfrm>
            <a:off x="629318" y="2537858"/>
            <a:ext cx="6530281" cy="3634486"/>
          </a:xfrm>
        </p:spPr>
        <p:txBody>
          <a:bodyPr>
            <a:noAutofit/>
          </a:bodyPr>
          <a:lstStyle/>
          <a:p>
            <a:pPr algn="l" fontAlgn="base">
              <a:buNone/>
            </a:pPr>
            <a:r>
              <a:rPr lang="en-US" sz="1600" dirty="0"/>
              <a:t>Benefits of RBAC:</a:t>
            </a:r>
          </a:p>
          <a:p>
            <a:pPr algn="l" fontAlgn="base">
              <a:buFont typeface="Arial" panose="020B0604020202020204" pitchFamily="34" charset="0"/>
              <a:buChar char="•"/>
            </a:pPr>
            <a:r>
              <a:rPr lang="en-US" sz="1600" dirty="0"/>
              <a:t>Simplified Management: Easier to manage permissions by handling roles instead of individual users.</a:t>
            </a:r>
          </a:p>
          <a:p>
            <a:pPr algn="l" fontAlgn="base">
              <a:buFont typeface="Arial" panose="020B0604020202020204" pitchFamily="34" charset="0"/>
              <a:buChar char="•"/>
            </a:pPr>
            <a:r>
              <a:rPr lang="en-US" sz="1600" dirty="0"/>
              <a:t>Scalability: Suitable for large organizations where roles can be reused across different users.</a:t>
            </a:r>
          </a:p>
          <a:p>
            <a:pPr algn="l" fontAlgn="base">
              <a:buFont typeface="Arial" panose="020B0604020202020204" pitchFamily="34" charset="0"/>
              <a:buChar char="•"/>
            </a:pPr>
            <a:r>
              <a:rPr lang="en-US" sz="1600" dirty="0"/>
              <a:t>Least Privilege Enforcement: Ensures users have only the necessary access to perform their job functions.</a:t>
            </a:r>
          </a:p>
          <a:p>
            <a:pPr algn="l" fontAlgn="base">
              <a:buFont typeface="Arial" panose="020B0604020202020204" pitchFamily="34" charset="0"/>
              <a:buChar char="•"/>
            </a:pPr>
            <a:r>
              <a:rPr lang="en-US" sz="1600" dirty="0"/>
              <a:t>Audit and Compliance: Simplifies auditing and compliance processes by providing clear mappings between roles and permissions.</a:t>
            </a:r>
          </a:p>
          <a:p>
            <a:pPr marL="0" indent="0" algn="l">
              <a:buNone/>
            </a:pPr>
            <a:endParaRPr lang="en-US" sz="1600" dirty="0"/>
          </a:p>
          <a:p>
            <a:pPr fontAlgn="base">
              <a:buNone/>
            </a:pPr>
            <a:r>
              <a:rPr lang="en-US" sz="1600" dirty="0"/>
              <a:t>Use Cases for RBAC:</a:t>
            </a:r>
          </a:p>
          <a:p>
            <a:pPr fontAlgn="base">
              <a:buFont typeface="Arial" panose="020B0604020202020204" pitchFamily="34" charset="0"/>
              <a:buChar char="•"/>
            </a:pPr>
            <a:r>
              <a:rPr lang="en-US" sz="1600" dirty="0"/>
              <a:t>Large Enterprises: Where predefined roles can be easily assigned to numerous employees.</a:t>
            </a:r>
          </a:p>
          <a:p>
            <a:pPr fontAlgn="base">
              <a:buFont typeface="Arial" panose="020B0604020202020204" pitchFamily="34" charset="0"/>
              <a:buChar char="•"/>
            </a:pPr>
            <a:r>
              <a:rPr lang="en-US" sz="1600" dirty="0"/>
              <a:t>Regulated Industries: Such as healthcare and finance, where compliance and auditing are critical.</a:t>
            </a:r>
          </a:p>
          <a:p>
            <a:pPr marL="0" indent="0" algn="l">
              <a:buNone/>
            </a:pPr>
            <a:br>
              <a:rPr lang="en-US" sz="1600" dirty="0"/>
            </a:br>
            <a:endParaRPr lang="en-US" sz="1600" dirty="0"/>
          </a:p>
        </p:txBody>
      </p:sp>
      <p:pic>
        <p:nvPicPr>
          <p:cNvPr id="4098" name="Picture 2" descr="Access Control Models: RBAC vs. MAC vs. DAC">
            <a:extLst>
              <a:ext uri="{FF2B5EF4-FFF2-40B4-BE49-F238E27FC236}">
                <a16:creationId xmlns:a16="http://schemas.microsoft.com/office/drawing/2014/main" id="{B75502B3-F344-7D10-7A1D-404A66E100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686522"/>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9158C1-3D1E-3554-9EA7-979C933ED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DD4B6-19B0-F030-4D99-FE29A0F15EAE}"/>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 </a:t>
            </a:r>
            <a:r>
              <a:rPr lang="en-US" b="1" i="0" dirty="0">
                <a:solidFill>
                  <a:srgbClr val="15171A"/>
                </a:solidFill>
                <a:effectLst/>
                <a:latin typeface="Open Sans" panose="020B0606030504020204" pitchFamily="34" charset="0"/>
              </a:rPr>
              <a:t>(ABAC)</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26BB2963-B457-CBC5-12C4-E90C4596E730}"/>
              </a:ext>
            </a:extLst>
          </p:cNvPr>
          <p:cNvSpPr>
            <a:spLocks noGrp="1"/>
          </p:cNvSpPr>
          <p:nvPr>
            <p:ph idx="1"/>
          </p:nvPr>
        </p:nvSpPr>
        <p:spPr>
          <a:xfrm>
            <a:off x="629318" y="2537858"/>
            <a:ext cx="6530281" cy="3634486"/>
          </a:xfrm>
        </p:spPr>
        <p:txBody>
          <a:bodyPr>
            <a:noAutofit/>
          </a:bodyPr>
          <a:lstStyle/>
          <a:p>
            <a:pPr fontAlgn="base">
              <a:buNone/>
            </a:pPr>
            <a:r>
              <a:rPr lang="en-US" sz="1600" dirty="0"/>
              <a:t>Attribute-Based Access Control (ABAC)</a:t>
            </a:r>
          </a:p>
          <a:p>
            <a:pPr fontAlgn="base"/>
            <a:r>
              <a:rPr lang="en-US" sz="1600" dirty="0"/>
              <a:t>Attribute-Based Access Control (ABAC) is a more dynamic and flexible model. It makes access decisions based on attributes associated with users, resources, and the environment. These attributes can include user roles, department, time of access, and more.</a:t>
            </a:r>
          </a:p>
          <a:p>
            <a:pPr fontAlgn="base">
              <a:buFont typeface="Wingdings 2" panose="05020102010507070707" pitchFamily="18" charset="2"/>
              <a:buNone/>
            </a:pPr>
            <a:br>
              <a:rPr lang="en-US" sz="1600" dirty="0"/>
            </a:br>
            <a:r>
              <a:rPr lang="en-US" sz="1600" dirty="0"/>
              <a:t>Key Features of ABAC:</a:t>
            </a:r>
            <a:br>
              <a:rPr lang="en-US" sz="1600" dirty="0"/>
            </a:br>
            <a:r>
              <a:rPr lang="en-US" sz="1600" dirty="0"/>
              <a:t>1. Attributes: Define characteristics of users, resources, and environmental conditions.</a:t>
            </a:r>
            <a:br>
              <a:rPr lang="en-US" sz="1600" dirty="0"/>
            </a:br>
            <a:r>
              <a:rPr lang="en-US" sz="1600" dirty="0"/>
              <a:t>2. Policies: Set rules that evaluate attributes to grant or deny access.</a:t>
            </a:r>
            <a:br>
              <a:rPr lang="en-US" sz="1600" dirty="0"/>
            </a:br>
            <a:r>
              <a:rPr lang="en-US" sz="1600" dirty="0"/>
              <a:t>3. Dynamic Access Decisions: Access is determined in real-time based on current attributes.</a:t>
            </a:r>
            <a:br>
              <a:rPr lang="en-US" sz="1600" dirty="0"/>
            </a:br>
            <a:endParaRPr lang="en-US" sz="1600" dirty="0"/>
          </a:p>
        </p:txBody>
      </p:sp>
      <p:pic>
        <p:nvPicPr>
          <p:cNvPr id="4098" name="Picture 2" descr="Access Control Models: RBAC vs. MAC vs. DAC">
            <a:extLst>
              <a:ext uri="{FF2B5EF4-FFF2-40B4-BE49-F238E27FC236}">
                <a16:creationId xmlns:a16="http://schemas.microsoft.com/office/drawing/2014/main" id="{031D3404-6932-96B7-4D47-BF0C553E5D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1555783"/>
      </p:ext>
    </p:extLst>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A1655E-F437-497A-4728-6BBC89B38C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38C73-E92E-50D2-6EA8-6FAB1B5D3A3C}"/>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 </a:t>
            </a:r>
            <a:r>
              <a:rPr lang="en-US" b="1" i="0" dirty="0">
                <a:solidFill>
                  <a:srgbClr val="15171A"/>
                </a:solidFill>
                <a:effectLst/>
                <a:latin typeface="Open Sans" panose="020B0606030504020204" pitchFamily="34" charset="0"/>
              </a:rPr>
              <a:t>(ABAC)</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EF5B854-A532-6606-5B20-5D042D9280B8}"/>
              </a:ext>
            </a:extLst>
          </p:cNvPr>
          <p:cNvSpPr>
            <a:spLocks noGrp="1"/>
          </p:cNvSpPr>
          <p:nvPr>
            <p:ph idx="1"/>
          </p:nvPr>
        </p:nvSpPr>
        <p:spPr>
          <a:xfrm>
            <a:off x="629318" y="2537858"/>
            <a:ext cx="6530281" cy="3634486"/>
          </a:xfrm>
        </p:spPr>
        <p:txBody>
          <a:bodyPr>
            <a:noAutofit/>
          </a:bodyPr>
          <a:lstStyle/>
          <a:p>
            <a:pPr algn="l" fontAlgn="base">
              <a:buNone/>
            </a:pPr>
            <a:r>
              <a:rPr lang="en-US" sz="1600" dirty="0"/>
              <a:t>Benefits of ABAC:</a:t>
            </a:r>
          </a:p>
          <a:p>
            <a:pPr algn="l" fontAlgn="base">
              <a:buFont typeface="Arial" panose="020B0604020202020204" pitchFamily="34" charset="0"/>
              <a:buChar char="•"/>
            </a:pPr>
            <a:r>
              <a:rPr lang="en-US" sz="1600" dirty="0"/>
              <a:t>Flexibility: Can handle complex access control scenarios and dynamically adapt to changes.</a:t>
            </a:r>
          </a:p>
          <a:p>
            <a:pPr algn="l" fontAlgn="base">
              <a:buFont typeface="Arial" panose="020B0604020202020204" pitchFamily="34" charset="0"/>
              <a:buChar char="•"/>
            </a:pPr>
            <a:r>
              <a:rPr lang="en-US" sz="1600" dirty="0"/>
              <a:t>Granularity: Allows fine-grained access control by considering multiple attributes.</a:t>
            </a:r>
          </a:p>
          <a:p>
            <a:pPr algn="l" fontAlgn="base">
              <a:buFont typeface="Arial" panose="020B0604020202020204" pitchFamily="34" charset="0"/>
              <a:buChar char="•"/>
            </a:pPr>
            <a:r>
              <a:rPr lang="en-US" sz="1600" dirty="0"/>
              <a:t>Context-Aware: Can make access decisions based on real-time contextual information.</a:t>
            </a:r>
          </a:p>
          <a:p>
            <a:pPr fontAlgn="base">
              <a:buNone/>
            </a:pPr>
            <a:br>
              <a:rPr lang="en-US" sz="1600" dirty="0"/>
            </a:br>
            <a:r>
              <a:rPr lang="en-US" sz="1600" dirty="0"/>
              <a:t>Use Cases for ABAC:</a:t>
            </a:r>
          </a:p>
          <a:p>
            <a:pPr fontAlgn="base">
              <a:buFont typeface="Arial" panose="020B0604020202020204" pitchFamily="34" charset="0"/>
              <a:buChar char="•"/>
            </a:pPr>
            <a:r>
              <a:rPr lang="en-US" sz="1600" dirty="0"/>
              <a:t>Dynamic Environments: Where access decisions need to adapt to changing conditions, such as in cloud computing.</a:t>
            </a:r>
          </a:p>
          <a:p>
            <a:pPr fontAlgn="base">
              <a:buFont typeface="Arial" panose="020B0604020202020204" pitchFamily="34" charset="0"/>
              <a:buChar char="•"/>
            </a:pPr>
            <a:r>
              <a:rPr lang="en-US" sz="1600" dirty="0"/>
              <a:t>Highly Regulated Data: Requiring fine-grained control, like in government and defense sectors.</a:t>
            </a:r>
          </a:p>
          <a:p>
            <a:pPr fontAlgn="base">
              <a:buFont typeface="Arial" panose="020B0604020202020204" pitchFamily="34" charset="0"/>
              <a:buChar char="•"/>
            </a:pPr>
            <a:r>
              <a:rPr lang="en-US" sz="1600" dirty="0"/>
              <a:t>Collaborative Environments: Where users from different organizations need varying levels of access.</a:t>
            </a:r>
          </a:p>
          <a:p>
            <a:pPr fontAlgn="base">
              <a:buFont typeface="Wingdings 2" panose="05020102010507070707" pitchFamily="18" charset="2"/>
              <a:buNone/>
            </a:pPr>
            <a:br>
              <a:rPr lang="en-US" sz="1600" dirty="0"/>
            </a:br>
            <a:endParaRPr lang="en-US" sz="1600" dirty="0"/>
          </a:p>
        </p:txBody>
      </p:sp>
      <p:pic>
        <p:nvPicPr>
          <p:cNvPr id="4098" name="Picture 2" descr="Access Control Models: RBAC vs. MAC vs. DAC">
            <a:extLst>
              <a:ext uri="{FF2B5EF4-FFF2-40B4-BE49-F238E27FC236}">
                <a16:creationId xmlns:a16="http://schemas.microsoft.com/office/drawing/2014/main" id="{DBE5AC36-880D-1026-8938-9C8C08F9D2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747999"/>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0248CC-05C5-3BFC-43DD-73CAC4EC3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4EF57-0AF5-42B3-3B68-25DBF94A3AB3}"/>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 </a:t>
            </a:r>
            <a:r>
              <a:rPr lang="en-US" b="1" i="0" dirty="0">
                <a:solidFill>
                  <a:srgbClr val="15171A"/>
                </a:solidFill>
                <a:effectLst/>
                <a:latin typeface="Open Sans" panose="020B0606030504020204" pitchFamily="34" charset="0"/>
              </a:rPr>
              <a:t>(DAC)</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53595F7-9FA0-D5F2-9594-404D934DC422}"/>
              </a:ext>
            </a:extLst>
          </p:cNvPr>
          <p:cNvSpPr>
            <a:spLocks noGrp="1"/>
          </p:cNvSpPr>
          <p:nvPr>
            <p:ph idx="1"/>
          </p:nvPr>
        </p:nvSpPr>
        <p:spPr>
          <a:xfrm>
            <a:off x="677444" y="2188943"/>
            <a:ext cx="6530281" cy="3634486"/>
          </a:xfrm>
        </p:spPr>
        <p:txBody>
          <a:bodyPr>
            <a:noAutofit/>
          </a:bodyPr>
          <a:lstStyle/>
          <a:p>
            <a:pPr marL="0" indent="0" fontAlgn="base">
              <a:buNone/>
            </a:pPr>
            <a:r>
              <a:rPr lang="en-US" sz="1600" dirty="0"/>
              <a:t>Discretionary Access Control (DAC)</a:t>
            </a:r>
          </a:p>
          <a:p>
            <a:pPr fontAlgn="base">
              <a:buFont typeface="Arial" panose="020B0604020202020204" pitchFamily="34" charset="0"/>
              <a:buChar char="•"/>
            </a:pPr>
            <a:r>
              <a:rPr lang="en-US" sz="1600" dirty="0"/>
              <a:t>Discretionary Access Control (DAC), a more advanced type of access control, grants access based on the discretion of the resource owner. In DAC, the owner of a resource decides who can access it and what kind of access they can have.</a:t>
            </a:r>
          </a:p>
          <a:p>
            <a:pPr fontAlgn="base">
              <a:buNone/>
            </a:pPr>
            <a:br>
              <a:rPr lang="en-US" sz="1600" dirty="0"/>
            </a:br>
            <a:r>
              <a:rPr lang="en-US" sz="1600" dirty="0"/>
              <a:t>Key Features of DAC:</a:t>
            </a:r>
            <a:br>
              <a:rPr lang="en-US" sz="1600" dirty="0"/>
            </a:br>
            <a:r>
              <a:rPr lang="en-US" sz="1600" dirty="0"/>
              <a:t>1. Resource Ownership: Users can create resources and control access to them.</a:t>
            </a:r>
            <a:br>
              <a:rPr lang="en-US" sz="1600" dirty="0"/>
            </a:br>
            <a:r>
              <a:rPr lang="en-US" sz="1600" dirty="0"/>
              <a:t>2. Access Control Lists (ACLs): Lists specifying which users or groups have access to a resource and the type of access allowed.</a:t>
            </a:r>
            <a:br>
              <a:rPr lang="en-US" sz="1600" dirty="0"/>
            </a:br>
            <a:r>
              <a:rPr lang="en-US" sz="1600" dirty="0"/>
              <a:t>3. User Discretion: Owners have complete control over their resources.</a:t>
            </a:r>
            <a:br>
              <a:rPr lang="en-US" sz="1600" dirty="0"/>
            </a:br>
            <a:endParaRPr lang="en-US" sz="1600" dirty="0"/>
          </a:p>
        </p:txBody>
      </p:sp>
      <p:pic>
        <p:nvPicPr>
          <p:cNvPr id="4098" name="Picture 2" descr="Access Control Models: RBAC vs. MAC vs. DAC">
            <a:extLst>
              <a:ext uri="{FF2B5EF4-FFF2-40B4-BE49-F238E27FC236}">
                <a16:creationId xmlns:a16="http://schemas.microsoft.com/office/drawing/2014/main" id="{50CE5EA6-C57A-4AD1-5B3C-130B4FC0AA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736033"/>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3177B7-B3DE-E1E8-12AD-BD75C6963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955D9-035F-BF73-743A-6CA839558640}"/>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 </a:t>
            </a:r>
            <a:r>
              <a:rPr lang="en-US" b="1" i="0" dirty="0">
                <a:solidFill>
                  <a:srgbClr val="15171A"/>
                </a:solidFill>
                <a:effectLst/>
                <a:latin typeface="Open Sans" panose="020B0606030504020204" pitchFamily="34" charset="0"/>
              </a:rPr>
              <a:t>(DAC)</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2CEE02F-84D6-CC39-45E3-0BC3E4B3B7EF}"/>
              </a:ext>
            </a:extLst>
          </p:cNvPr>
          <p:cNvSpPr>
            <a:spLocks noGrp="1"/>
          </p:cNvSpPr>
          <p:nvPr>
            <p:ph idx="1"/>
          </p:nvPr>
        </p:nvSpPr>
        <p:spPr>
          <a:xfrm>
            <a:off x="677444" y="2188943"/>
            <a:ext cx="6530281" cy="3634486"/>
          </a:xfrm>
        </p:spPr>
        <p:txBody>
          <a:bodyPr>
            <a:noAutofit/>
          </a:bodyPr>
          <a:lstStyle/>
          <a:p>
            <a:pPr algn="l" fontAlgn="base">
              <a:buNone/>
            </a:pPr>
            <a:r>
              <a:rPr lang="en-US" sz="1600" dirty="0"/>
              <a:t>Benefits of DAC:</a:t>
            </a:r>
          </a:p>
          <a:p>
            <a:pPr algn="l" fontAlgn="base">
              <a:buFont typeface="Arial" panose="020B0604020202020204" pitchFamily="34" charset="0"/>
              <a:buChar char="•"/>
            </a:pPr>
            <a:r>
              <a:rPr lang="en-US" sz="1600" dirty="0"/>
              <a:t>Flexibility: Resource owners can make quick and specific access decisions.</a:t>
            </a:r>
          </a:p>
          <a:p>
            <a:pPr algn="l" fontAlgn="base">
              <a:buFont typeface="Arial" panose="020B0604020202020204" pitchFamily="34" charset="0"/>
              <a:buChar char="•"/>
            </a:pPr>
            <a:r>
              <a:rPr lang="en-US" sz="1600" dirty="0"/>
              <a:t>User Empowerment: Empowers users to control their own data.</a:t>
            </a:r>
          </a:p>
          <a:p>
            <a:pPr fontAlgn="base">
              <a:buFont typeface="Arial" panose="020B0604020202020204" pitchFamily="34" charset="0"/>
              <a:buChar char="•"/>
            </a:pPr>
            <a:r>
              <a:rPr lang="en-US" sz="1600" dirty="0"/>
              <a:t>Simplicity: Easy to understand and implement in small environments.</a:t>
            </a:r>
          </a:p>
          <a:p>
            <a:pPr fontAlgn="base">
              <a:buNone/>
            </a:pPr>
            <a:br>
              <a:rPr lang="en-US" sz="1600" dirty="0"/>
            </a:br>
            <a:r>
              <a:rPr lang="en-US" sz="1600" dirty="0"/>
              <a:t>Use Cases for DAC:</a:t>
            </a:r>
          </a:p>
          <a:p>
            <a:pPr fontAlgn="base">
              <a:buFont typeface="Arial" panose="020B0604020202020204" pitchFamily="34" charset="0"/>
              <a:buChar char="•"/>
            </a:pPr>
            <a:r>
              <a:rPr lang="en-US" sz="1600" dirty="0"/>
              <a:t>Small Organizations: Where the number of users and resources is manageable.</a:t>
            </a:r>
          </a:p>
          <a:p>
            <a:pPr fontAlgn="base">
              <a:buFont typeface="Arial" panose="020B0604020202020204" pitchFamily="34" charset="0"/>
              <a:buChar char="•"/>
            </a:pPr>
            <a:r>
              <a:rPr lang="en-US" sz="1600" dirty="0"/>
              <a:t>Personal Data: Where users need to control access to their own files.</a:t>
            </a:r>
          </a:p>
          <a:p>
            <a:pPr fontAlgn="base">
              <a:buFont typeface="Arial" panose="020B0604020202020204" pitchFamily="34" charset="0"/>
              <a:buChar char="•"/>
            </a:pPr>
            <a:r>
              <a:rPr lang="en-US" sz="1600" dirty="0"/>
              <a:t>Ad-hoc Projects: With temporary teams needing flexible access control.</a:t>
            </a:r>
          </a:p>
          <a:p>
            <a:pPr fontAlgn="base">
              <a:buNone/>
            </a:pPr>
            <a:br>
              <a:rPr lang="en-US" sz="1600" dirty="0"/>
            </a:br>
            <a:endParaRPr lang="en-US" sz="1600" dirty="0"/>
          </a:p>
        </p:txBody>
      </p:sp>
      <p:pic>
        <p:nvPicPr>
          <p:cNvPr id="4098" name="Picture 2" descr="Access Control Models: RBAC vs. MAC vs. DAC">
            <a:extLst>
              <a:ext uri="{FF2B5EF4-FFF2-40B4-BE49-F238E27FC236}">
                <a16:creationId xmlns:a16="http://schemas.microsoft.com/office/drawing/2014/main" id="{F93FB300-02FF-72E2-E238-D26346F89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561473"/>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AE426A-2BB4-17CA-C68C-6AB1EB6F9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1F23C-7FDC-9477-D9A1-D6713EE86559}"/>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OVERVIEW OF </a:t>
            </a:r>
            <a:r>
              <a:rPr lang="en-US" b="1" dirty="0">
                <a:solidFill>
                  <a:srgbClr val="15171A"/>
                </a:solidFill>
                <a:latin typeface="Open Sans" panose="020B0606030504020204" pitchFamily="34" charset="0"/>
              </a:rPr>
              <a:t>ACCESS CONTROL MODELS </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5BA45950-09A6-40B5-4087-87024C65ED17}"/>
              </a:ext>
            </a:extLst>
          </p:cNvPr>
          <p:cNvSpPr>
            <a:spLocks noGrp="1"/>
          </p:cNvSpPr>
          <p:nvPr>
            <p:ph idx="1"/>
          </p:nvPr>
        </p:nvSpPr>
        <p:spPr>
          <a:xfrm>
            <a:off x="677444" y="2188943"/>
            <a:ext cx="6530281" cy="3634486"/>
          </a:xfrm>
        </p:spPr>
        <p:txBody>
          <a:bodyPr>
            <a:noAutofit/>
          </a:bodyPr>
          <a:lstStyle/>
          <a:p>
            <a:pPr fontAlgn="base"/>
            <a:r>
              <a:rPr lang="en-US" sz="1600" dirty="0"/>
              <a:t>Selecting the appropriate access control model depends on various factors, including organizational size, regulatory requirements, and the complexity of the access control needs.</a:t>
            </a:r>
          </a:p>
          <a:p>
            <a:pPr lvl="1" fontAlgn="base">
              <a:buFont typeface="Arial" panose="020B0604020202020204" pitchFamily="34" charset="0"/>
              <a:buChar char="•"/>
            </a:pPr>
            <a:r>
              <a:rPr lang="en-US" sz="1300" dirty="0"/>
              <a:t>RBAC is ideal for large organizations with well-defined roles and responsibilities.</a:t>
            </a:r>
          </a:p>
          <a:p>
            <a:pPr lvl="1" fontAlgn="base">
              <a:buFont typeface="Arial" panose="020B0604020202020204" pitchFamily="34" charset="0"/>
              <a:buChar char="•"/>
            </a:pPr>
            <a:r>
              <a:rPr lang="en-US" sz="1300" dirty="0"/>
              <a:t>ABAC suits dynamic and complex environments requiring fine-grained, context-aware access decisions.</a:t>
            </a:r>
          </a:p>
          <a:p>
            <a:pPr lvl="1" fontAlgn="base">
              <a:buFont typeface="Arial" panose="020B0604020202020204" pitchFamily="34" charset="0"/>
              <a:buChar char="•"/>
            </a:pPr>
            <a:r>
              <a:rPr lang="en-US" sz="1300" dirty="0"/>
              <a:t>DAC works best in smaller, less structured settings where resource owners need control over their data.</a:t>
            </a:r>
          </a:p>
          <a:p>
            <a:pPr fontAlgn="base">
              <a:buNone/>
            </a:pPr>
            <a:br>
              <a:rPr lang="en-US" sz="1600" dirty="0"/>
            </a:br>
            <a:endParaRPr lang="en-US" sz="1600" dirty="0"/>
          </a:p>
        </p:txBody>
      </p:sp>
      <p:pic>
        <p:nvPicPr>
          <p:cNvPr id="4098" name="Picture 2" descr="Access Control Models: RBAC vs. MAC vs. DAC">
            <a:extLst>
              <a:ext uri="{FF2B5EF4-FFF2-40B4-BE49-F238E27FC236}">
                <a16:creationId xmlns:a16="http://schemas.microsoft.com/office/drawing/2014/main" id="{FF7A2CFB-3DC5-CECB-9F21-0A166C505C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55184" y="2676024"/>
            <a:ext cx="2939173" cy="2232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588327"/>
      </p:ext>
    </p:extLst>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2BC7D-480E-8372-459F-788C588A0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78FA1-086C-E448-C706-07B83E9D3EAA}"/>
              </a:ext>
            </a:extLst>
          </p:cNvPr>
          <p:cNvSpPr>
            <a:spLocks noGrp="1"/>
          </p:cNvSpPr>
          <p:nvPr>
            <p:ph type="title"/>
          </p:nvPr>
        </p:nvSpPr>
        <p:spPr/>
        <p:txBody>
          <a:bodyPr>
            <a:normAutofit/>
          </a:bodyPr>
          <a:lstStyle/>
          <a:p>
            <a:r>
              <a:rPr lang="en-US" dirty="0"/>
              <a:t>PRIVILEDGE MANAGEMENT</a:t>
            </a:r>
            <a:br>
              <a:rPr lang="en-US" dirty="0"/>
            </a:br>
            <a:br>
              <a:rPr lang="en-US" dirty="0"/>
            </a:br>
            <a:endParaRPr lang="en-US" dirty="0"/>
          </a:p>
        </p:txBody>
      </p:sp>
      <p:sp>
        <p:nvSpPr>
          <p:cNvPr id="3" name="Text Placeholder 2">
            <a:extLst>
              <a:ext uri="{FF2B5EF4-FFF2-40B4-BE49-F238E27FC236}">
                <a16:creationId xmlns:a16="http://schemas.microsoft.com/office/drawing/2014/main" id="{8A3E3541-E778-D706-9750-37991932B9A5}"/>
              </a:ext>
            </a:extLst>
          </p:cNvPr>
          <p:cNvSpPr>
            <a:spLocks noGrp="1"/>
          </p:cNvSpPr>
          <p:nvPr>
            <p:ph type="body" idx="1"/>
          </p:nvPr>
        </p:nvSpPr>
        <p:spPr>
          <a:xfrm>
            <a:off x="653763" y="4541417"/>
            <a:ext cx="11029615" cy="600556"/>
          </a:xfrm>
        </p:spPr>
        <p:txBody>
          <a:bodyPr/>
          <a:lstStyle/>
          <a:p>
            <a:r>
              <a:rPr lang="en-US" dirty="0"/>
              <a:t>Day 2</a:t>
            </a:r>
            <a:endParaRPr lang="en-NG" dirty="0"/>
          </a:p>
        </p:txBody>
      </p:sp>
    </p:spTree>
    <p:extLst>
      <p:ext uri="{BB962C8B-B14F-4D97-AF65-F5344CB8AC3E}">
        <p14:creationId xmlns:p14="http://schemas.microsoft.com/office/powerpoint/2010/main" val="2965149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0FD40A-8246-0C15-437F-859154EDD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DDEEC-C150-EC01-AEF7-FC411A443AF9}"/>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3ADC472-2B77-AF7A-593C-EB87DB10E8E0}"/>
              </a:ext>
            </a:extLst>
          </p:cNvPr>
          <p:cNvSpPr>
            <a:spLocks noGrp="1"/>
          </p:cNvSpPr>
          <p:nvPr>
            <p:ph idx="1"/>
          </p:nvPr>
        </p:nvSpPr>
        <p:spPr>
          <a:xfrm>
            <a:off x="677444" y="2188943"/>
            <a:ext cx="6530281" cy="3634486"/>
          </a:xfrm>
        </p:spPr>
        <p:txBody>
          <a:bodyPr>
            <a:noAutofit/>
          </a:bodyPr>
          <a:lstStyle/>
          <a:p>
            <a:pPr fontAlgn="base"/>
            <a:r>
              <a:rPr lang="en-US" sz="1600" dirty="0"/>
              <a:t>Privilege management, also known as Privileged Access Management (PAM), is a cybersecurity practice focused on controlling and securing access to privileged accounts within an organization. It ensures that users only have the access they need to perform their jobs, limiting potential damage from unauthorized access or misuse. PAM involves managing the lifecycle of privileged accounts, monitoring their usage, and enforcing security policies to protect sensitive resources. </a:t>
            </a:r>
            <a:br>
              <a:rPr lang="en-US" sz="1600" dirty="0"/>
            </a:br>
            <a:endParaRPr lang="en-US" sz="1600" dirty="0"/>
          </a:p>
        </p:txBody>
      </p:sp>
      <p:pic>
        <p:nvPicPr>
          <p:cNvPr id="5122" name="Picture 2" descr="Endpoint Privilege Management ...">
            <a:extLst>
              <a:ext uri="{FF2B5EF4-FFF2-40B4-BE49-F238E27FC236}">
                <a16:creationId xmlns:a16="http://schemas.microsoft.com/office/drawing/2014/main" id="{A71E24EB-7024-1EE4-5B2E-2E1FDFEBB4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1142" y="2640682"/>
            <a:ext cx="2364774" cy="2087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90877"/>
      </p:ext>
    </p:extLst>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907CCC-88BB-ED5A-74B9-3348A0FA3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B9220-E5B8-D02D-4E0C-BE540590D986}"/>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BB073DE5-554A-A5F7-8BF1-1A59BDC49662}"/>
              </a:ext>
            </a:extLst>
          </p:cNvPr>
          <p:cNvSpPr>
            <a:spLocks noGrp="1"/>
          </p:cNvSpPr>
          <p:nvPr>
            <p:ph idx="1"/>
          </p:nvPr>
        </p:nvSpPr>
        <p:spPr>
          <a:xfrm>
            <a:off x="677444" y="2188943"/>
            <a:ext cx="6530281" cy="3634486"/>
          </a:xfrm>
        </p:spPr>
        <p:txBody>
          <a:bodyPr>
            <a:noAutofit/>
          </a:bodyPr>
          <a:lstStyle/>
          <a:p>
            <a:pPr fontAlgn="base"/>
            <a:r>
              <a:rPr lang="en-US" sz="1600" dirty="0"/>
              <a:t>For cybercriminals, privileged user accounts are nothing more than profitable targets. Why? Because they have elevated permissions, allowing them to gain access to sensitive information and make changes to applications and systems.</a:t>
            </a:r>
            <a:br>
              <a:rPr lang="en-US" sz="1600" dirty="0"/>
            </a:br>
            <a:endParaRPr lang="en-US" sz="1600" dirty="0"/>
          </a:p>
        </p:txBody>
      </p:sp>
      <p:pic>
        <p:nvPicPr>
          <p:cNvPr id="6146" name="Picture 2" descr="article featured image">
            <a:extLst>
              <a:ext uri="{FF2B5EF4-FFF2-40B4-BE49-F238E27FC236}">
                <a16:creationId xmlns:a16="http://schemas.microsoft.com/office/drawing/2014/main" id="{A7BA0E24-77EA-4D2D-412E-A119A0071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9226107"/>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D5E05D-F1F0-1E2F-17D6-D645657BF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A20CEC-D91A-26F5-AE66-C00DD359A85F}"/>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D58FF13C-8C72-789A-76EB-97A3CE74EC48}"/>
              </a:ext>
            </a:extLst>
          </p:cNvPr>
          <p:cNvSpPr>
            <a:spLocks noGrp="1"/>
          </p:cNvSpPr>
          <p:nvPr>
            <p:ph idx="1"/>
          </p:nvPr>
        </p:nvSpPr>
        <p:spPr>
          <a:xfrm>
            <a:off x="677444" y="2188943"/>
            <a:ext cx="6530281" cy="3634486"/>
          </a:xfrm>
        </p:spPr>
        <p:txBody>
          <a:bodyPr>
            <a:noAutofit/>
          </a:bodyPr>
          <a:lstStyle/>
          <a:p>
            <a:pPr fontAlgn="base"/>
            <a:r>
              <a:rPr lang="en-US" sz="1600" dirty="0"/>
              <a:t>For cybercriminals, privileged user accounts are nothing more than profitable targets. Why? Because they have elevated permissions, allowing them to gain access to sensitive information and make changes to applications and systems</a:t>
            </a:r>
            <a:r>
              <a:rPr lang="en-US" sz="1600" dirty="0">
                <a:solidFill>
                  <a:srgbClr val="0A1A65"/>
                </a:solidFill>
                <a:latin typeface="Nunito Sans" panose="020F0502020204030204" pitchFamily="2" charset="0"/>
              </a:rPr>
              <a:t>.</a:t>
            </a:r>
            <a:br>
              <a:rPr lang="en-US" sz="1600" dirty="0"/>
            </a:br>
            <a:endParaRPr lang="en-US" sz="1600" dirty="0"/>
          </a:p>
        </p:txBody>
      </p:sp>
      <p:pic>
        <p:nvPicPr>
          <p:cNvPr id="6146" name="Picture 2" descr="article featured image">
            <a:extLst>
              <a:ext uri="{FF2B5EF4-FFF2-40B4-BE49-F238E27FC236}">
                <a16:creationId xmlns:a16="http://schemas.microsoft.com/office/drawing/2014/main" id="{BEA1CC7D-C9AE-BD42-9E3B-90CACB22E7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664770"/>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967188-1A28-BEA1-D476-2BCB9932F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6FD614-9D83-84FA-DD30-E1FAE37F1AE4}"/>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 – WHY IS IT IMPORTANT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E6D2261-92B2-F30A-ADC1-0204C816D446}"/>
              </a:ext>
            </a:extLst>
          </p:cNvPr>
          <p:cNvSpPr>
            <a:spLocks noGrp="1"/>
          </p:cNvSpPr>
          <p:nvPr>
            <p:ph idx="1"/>
          </p:nvPr>
        </p:nvSpPr>
        <p:spPr>
          <a:xfrm>
            <a:off x="677444" y="2188943"/>
            <a:ext cx="6530281" cy="3634486"/>
          </a:xfrm>
        </p:spPr>
        <p:txBody>
          <a:bodyPr>
            <a:noAutofit/>
          </a:bodyPr>
          <a:lstStyle/>
          <a:p>
            <a:pPr algn="l"/>
            <a:r>
              <a:rPr lang="en-US" sz="1600" dirty="0"/>
              <a:t>Let’s discuss privileged accounts. As the name suggests, privileged account management is related to privileged access management. TPAM tools track and secure privileged accounts to ensure business safety.</a:t>
            </a:r>
          </a:p>
          <a:p>
            <a:pPr marL="0" indent="0" fontAlgn="base">
              <a:buNone/>
            </a:pPr>
            <a:br>
              <a:rPr lang="en-US" sz="1600" dirty="0"/>
            </a:br>
            <a:endParaRPr lang="en-US" sz="1600" dirty="0"/>
          </a:p>
        </p:txBody>
      </p:sp>
      <p:pic>
        <p:nvPicPr>
          <p:cNvPr id="6146" name="Picture 2" descr="article featured image">
            <a:extLst>
              <a:ext uri="{FF2B5EF4-FFF2-40B4-BE49-F238E27FC236}">
                <a16:creationId xmlns:a16="http://schemas.microsoft.com/office/drawing/2014/main" id="{E1DC4F16-BBE2-A2AE-3DB9-F3D8B57C4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0056643"/>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4AAB55-89CA-9B9C-9B1F-3E94B2F30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6AD0E5-F5C0-00FD-BAD1-327E5A1DA446}"/>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 – WHY IS IT IMPORTANT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F15FB46F-BEBF-7EAB-03AA-66C6CF4957E6}"/>
              </a:ext>
            </a:extLst>
          </p:cNvPr>
          <p:cNvSpPr>
            <a:spLocks noGrp="1"/>
          </p:cNvSpPr>
          <p:nvPr>
            <p:ph idx="1"/>
          </p:nvPr>
        </p:nvSpPr>
        <p:spPr>
          <a:xfrm>
            <a:off x="677444" y="2188943"/>
            <a:ext cx="6530281" cy="3634486"/>
          </a:xfrm>
        </p:spPr>
        <p:txBody>
          <a:bodyPr>
            <a:noAutofit/>
          </a:bodyPr>
          <a:lstStyle/>
          <a:p>
            <a:r>
              <a:rPr lang="en-US" sz="1600" dirty="0"/>
              <a:t>Let’s discuss privileged accounts. As the name suggests, privileged account management is related to privileged access management. TPAM tools track and secure privileged accounts to ensure business safety.</a:t>
            </a:r>
          </a:p>
          <a:p>
            <a:r>
              <a:rPr lang="en-US" sz="1600" dirty="0"/>
              <a:t>Privileged accounts are special because they have more control. These accounts can be in different forms and places, like on a company’s own servers or in the cloud. Sometimes, more than one person can use these accounts temporarily.</a:t>
            </a:r>
          </a:p>
          <a:p>
            <a:pPr marL="0" indent="0" fontAlgn="base">
              <a:buNone/>
            </a:pPr>
            <a:br>
              <a:rPr lang="en-US" sz="1600" dirty="0"/>
            </a:br>
            <a:endParaRPr lang="en-US" sz="1600" dirty="0"/>
          </a:p>
        </p:txBody>
      </p:sp>
      <p:pic>
        <p:nvPicPr>
          <p:cNvPr id="6146" name="Picture 2" descr="article featured image">
            <a:extLst>
              <a:ext uri="{FF2B5EF4-FFF2-40B4-BE49-F238E27FC236}">
                <a16:creationId xmlns:a16="http://schemas.microsoft.com/office/drawing/2014/main" id="{F84A2A63-566E-5114-F3A0-EDC4BB1CBF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6948475"/>
      </p:ext>
    </p:extLst>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91163F-AFBD-66FC-AF9A-F270B1E0F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5E41E-3550-0A0D-D094-1346E908BD62}"/>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 – WHY IS IT IMPORTANT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1ACB862-3E86-F05B-269B-BA5C4599F8C8}"/>
              </a:ext>
            </a:extLst>
          </p:cNvPr>
          <p:cNvSpPr>
            <a:spLocks noGrp="1"/>
          </p:cNvSpPr>
          <p:nvPr>
            <p:ph idx="1"/>
          </p:nvPr>
        </p:nvSpPr>
        <p:spPr>
          <a:xfrm>
            <a:off x="677444" y="2188943"/>
            <a:ext cx="6530281" cy="3634486"/>
          </a:xfrm>
        </p:spPr>
        <p:txBody>
          <a:bodyPr>
            <a:noAutofit/>
          </a:bodyPr>
          <a:lstStyle/>
          <a:p>
            <a:r>
              <a:rPr lang="en-US" sz="1600" dirty="0"/>
              <a:t>For instance, the root account on a Mac is a type of privileged account. An account owner for Microsoft Azure/AWS is another. A corporate account for the official </a:t>
            </a:r>
            <a:r>
              <a:rPr lang="en-US" sz="1600" dirty="0" err="1"/>
              <a:t>Altschool</a:t>
            </a:r>
            <a:r>
              <a:rPr lang="en-US" sz="1600" dirty="0"/>
              <a:t> LMS profile is yet another form.</a:t>
            </a:r>
          </a:p>
          <a:p>
            <a:r>
              <a:rPr lang="en-US" sz="1600" dirty="0"/>
              <a:t>These accounts are risky because they can be hacked. Hackers want to get into these accounts because they can access a lot of a company’s important information and systems.</a:t>
            </a:r>
          </a:p>
          <a:p>
            <a:pPr marL="0" indent="0" fontAlgn="base">
              <a:buNone/>
            </a:pPr>
            <a:br>
              <a:rPr lang="en-US" sz="1600" dirty="0"/>
            </a:br>
            <a:endParaRPr lang="en-US" sz="1600" dirty="0"/>
          </a:p>
        </p:txBody>
      </p:sp>
      <p:pic>
        <p:nvPicPr>
          <p:cNvPr id="6146" name="Picture 2" descr="article featured image">
            <a:extLst>
              <a:ext uri="{FF2B5EF4-FFF2-40B4-BE49-F238E27FC236}">
                <a16:creationId xmlns:a16="http://schemas.microsoft.com/office/drawing/2014/main" id="{6EE87457-D88B-4658-0BE3-B2501C2AF6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906431"/>
      </p:ext>
    </p:extLst>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CE3FB1-8F94-026F-81A2-77EDFD4A6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4B51E-5479-A2A6-C6A0-2451BAA437CE}"/>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 – HOW IT WORKS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9C1BA8A-EB5D-C3CA-B414-BB3A6EC66426}"/>
              </a:ext>
            </a:extLst>
          </p:cNvPr>
          <p:cNvSpPr>
            <a:spLocks noGrp="1"/>
          </p:cNvSpPr>
          <p:nvPr>
            <p:ph idx="1"/>
          </p:nvPr>
        </p:nvSpPr>
        <p:spPr>
          <a:xfrm>
            <a:off x="677444" y="2188943"/>
            <a:ext cx="6530281" cy="3634486"/>
          </a:xfrm>
        </p:spPr>
        <p:txBody>
          <a:bodyPr>
            <a:noAutofit/>
          </a:bodyPr>
          <a:lstStyle/>
          <a:p>
            <a:r>
              <a:rPr lang="en-US" sz="1600" dirty="0"/>
              <a:t>Imagine this: Special passwords are kept in a very secure place. Users with special access use a system called PAM to get into their accounts. This access is recorded and is only for certain tasks.</a:t>
            </a:r>
          </a:p>
          <a:p>
            <a:r>
              <a:rPr lang="en-US" sz="1600" dirty="0"/>
              <a:t>For safety, the PAM system often asks why someone is using the account or needs a manager’s okay. Users usually don’t see the actual passwords; they get into their accounts through PAM.</a:t>
            </a:r>
          </a:p>
          <a:p>
            <a:pPr algn="l"/>
            <a:r>
              <a:rPr lang="en-US" sz="1600" dirty="0"/>
              <a:t>Privileged Access Management administrators can follow user activities via the PAM portal and even manage live </a:t>
            </a:r>
            <a:r>
              <a:rPr lang="en-US" sz="1600" dirty="0">
                <a:hlinkClick r:id="rId4">
                  <a:extLst>
                    <a:ext uri="{A12FA001-AC4F-418D-AE19-62706E023703}">
                      <ahyp:hlinkClr xmlns:ahyp="http://schemas.microsoft.com/office/drawing/2018/hyperlinkcolor" val="tx"/>
                    </a:ext>
                  </a:extLst>
                </a:hlinkClick>
              </a:rPr>
              <a:t>sessions</a:t>
            </a:r>
            <a:r>
              <a:rPr lang="en-US" sz="1600" dirty="0"/>
              <a:t> in real time if needed. Besides, new PAM systems use machine learning to track deviations and risk scoring to immediately alert the administrator of dangerous activities.</a:t>
            </a:r>
          </a:p>
          <a:p>
            <a:pPr marL="0" indent="0" fontAlgn="base">
              <a:buNone/>
            </a:pPr>
            <a:br>
              <a:rPr lang="en-US" sz="1600" dirty="0"/>
            </a:br>
            <a:endParaRPr lang="en-US" sz="1600" dirty="0"/>
          </a:p>
        </p:txBody>
      </p:sp>
      <p:pic>
        <p:nvPicPr>
          <p:cNvPr id="6146" name="Picture 2" descr="article featured image">
            <a:extLst>
              <a:ext uri="{FF2B5EF4-FFF2-40B4-BE49-F238E27FC236}">
                <a16:creationId xmlns:a16="http://schemas.microsoft.com/office/drawing/2014/main" id="{F8B2431F-5864-0EEB-2802-355BE9C3E2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696177"/>
      </p:ext>
    </p:extLst>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C1FA18-54EE-1F0B-BE57-6634B5D9D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DB73B-CEAA-862E-B2D5-CCD8EA84505E}"/>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 – BENEFITS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D8059C6-2E18-517F-285E-A07556D6EF0A}"/>
              </a:ext>
            </a:extLst>
          </p:cNvPr>
          <p:cNvSpPr>
            <a:spLocks noGrp="1"/>
          </p:cNvSpPr>
          <p:nvPr>
            <p:ph idx="1"/>
          </p:nvPr>
        </p:nvSpPr>
        <p:spPr>
          <a:xfrm>
            <a:off x="677444" y="2188943"/>
            <a:ext cx="6530281" cy="3634486"/>
          </a:xfrm>
        </p:spPr>
        <p:txBody>
          <a:bodyPr>
            <a:noAutofit/>
          </a:bodyPr>
          <a:lstStyle/>
          <a:p>
            <a:pPr algn="l">
              <a:buNone/>
            </a:pPr>
            <a:r>
              <a:rPr lang="en-US" sz="1600" dirty="0"/>
              <a:t>Enhanced security</a:t>
            </a:r>
          </a:p>
          <a:p>
            <a:pPr algn="l"/>
            <a:r>
              <a:rPr lang="en-US" sz="1600" dirty="0"/>
              <a:t>Privileged Access Management (PAM) helps protect against cyberattacks. It deals with the problem of users having too many passwords or using the same password everywhere. PAM helps manage passwords better and alerts you to possible attacks.</a:t>
            </a:r>
          </a:p>
          <a:p>
            <a:pPr algn="l"/>
            <a:endParaRPr lang="en-US" sz="1600" dirty="0"/>
          </a:p>
          <a:p>
            <a:pPr marL="0" indent="0">
              <a:buNone/>
            </a:pPr>
            <a:r>
              <a:rPr lang="en-US" sz="1600" dirty="0"/>
              <a:t>Better protection against insider threats</a:t>
            </a:r>
          </a:p>
          <a:p>
            <a:r>
              <a:rPr lang="en-US" sz="1600" dirty="0"/>
              <a:t>As surprising as it may sound, a large number of attacks come from within the organization. If it’s not an “inside job”, it’s usually former employees who haven’t been stripped of unnecessary privileges to prevent access after departure.</a:t>
            </a:r>
          </a:p>
          <a:p>
            <a:pPr marL="0" indent="0" fontAlgn="base">
              <a:buNone/>
            </a:pPr>
            <a:br>
              <a:rPr lang="en-US" sz="1600" dirty="0"/>
            </a:br>
            <a:endParaRPr lang="en-US" sz="1600" dirty="0"/>
          </a:p>
        </p:txBody>
      </p:sp>
      <p:pic>
        <p:nvPicPr>
          <p:cNvPr id="6146" name="Picture 2" descr="article featured image">
            <a:extLst>
              <a:ext uri="{FF2B5EF4-FFF2-40B4-BE49-F238E27FC236}">
                <a16:creationId xmlns:a16="http://schemas.microsoft.com/office/drawing/2014/main" id="{422BCA5B-0710-7F6A-9DCD-DD503C1FC1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372228"/>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7EE180-F105-197E-C92D-7C5180379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9CAE5-EB2D-7ACF-02B6-DCB00E94DFFD}"/>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PRIVILEGE MANAGEMENT – BENEFITS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DA3F54B-B86B-C9D0-38DD-B9FD3CF40CFA}"/>
              </a:ext>
            </a:extLst>
          </p:cNvPr>
          <p:cNvSpPr>
            <a:spLocks noGrp="1"/>
          </p:cNvSpPr>
          <p:nvPr>
            <p:ph idx="1"/>
          </p:nvPr>
        </p:nvSpPr>
        <p:spPr>
          <a:xfrm>
            <a:off x="677444" y="2188943"/>
            <a:ext cx="6530281" cy="3634486"/>
          </a:xfrm>
        </p:spPr>
        <p:txBody>
          <a:bodyPr>
            <a:noAutofit/>
          </a:bodyPr>
          <a:lstStyle/>
          <a:p>
            <a:pPr>
              <a:buFont typeface="Wingdings 2" panose="05020102010507070707" pitchFamily="18" charset="2"/>
              <a:buNone/>
            </a:pPr>
            <a:r>
              <a:rPr lang="en-US" sz="1600" dirty="0"/>
              <a:t>Increased productivity</a:t>
            </a:r>
          </a:p>
          <a:p>
            <a:r>
              <a:rPr lang="en-US" sz="1600" dirty="0"/>
              <a:t>PAM makes it easier and faster for users with special access to log into the systems they need. It reduces the hassle of remembering lots of passwords and lets users manage access from one place.</a:t>
            </a:r>
          </a:p>
          <a:p>
            <a:endParaRPr lang="en-US" sz="1600" dirty="0"/>
          </a:p>
          <a:p>
            <a:pPr>
              <a:buFont typeface="Wingdings 2" panose="05020102010507070707" pitchFamily="18" charset="2"/>
              <a:buNone/>
            </a:pPr>
            <a:r>
              <a:rPr lang="en-US" sz="1600" dirty="0"/>
              <a:t>Ensures compliance</a:t>
            </a:r>
          </a:p>
          <a:p>
            <a:r>
              <a:rPr lang="en-US" sz="1600" dirty="0"/>
              <a:t>PAM helps companies follow laws by managing special access and keeping records of who accessed what. It can limit access to important systems, ask for extra approvals, and use stronger security checks</a:t>
            </a:r>
          </a:p>
          <a:p>
            <a:pPr marL="0" indent="0" fontAlgn="base">
              <a:buNone/>
            </a:pPr>
            <a:br>
              <a:rPr lang="en-US" sz="1600" dirty="0"/>
            </a:br>
            <a:endParaRPr lang="en-US" sz="1600" dirty="0"/>
          </a:p>
        </p:txBody>
      </p:sp>
      <p:pic>
        <p:nvPicPr>
          <p:cNvPr id="6146" name="Picture 2" descr="article featured image">
            <a:extLst>
              <a:ext uri="{FF2B5EF4-FFF2-40B4-BE49-F238E27FC236}">
                <a16:creationId xmlns:a16="http://schemas.microsoft.com/office/drawing/2014/main" id="{3BF419AF-DE2E-8BF0-EF95-C82881702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1452" y="3248459"/>
            <a:ext cx="4335880" cy="151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005880"/>
      </p:ext>
    </p:extLst>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8A5C1-49F5-A50F-173F-8FF5613E7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587C4-1572-887A-B23A-FEA083F059FF}"/>
              </a:ext>
            </a:extLst>
          </p:cNvPr>
          <p:cNvSpPr>
            <a:spLocks noGrp="1"/>
          </p:cNvSpPr>
          <p:nvPr>
            <p:ph type="title"/>
          </p:nvPr>
        </p:nvSpPr>
        <p:spPr/>
        <p:txBody>
          <a:bodyPr>
            <a:normAutofit/>
          </a:bodyPr>
          <a:lstStyle/>
          <a:p>
            <a:r>
              <a:rPr lang="en-US" dirty="0"/>
              <a:t>LEAST PRIVILEGE</a:t>
            </a:r>
            <a:br>
              <a:rPr lang="en-US" dirty="0"/>
            </a:br>
            <a:br>
              <a:rPr lang="en-US" dirty="0"/>
            </a:br>
            <a:endParaRPr lang="en-US" dirty="0"/>
          </a:p>
        </p:txBody>
      </p:sp>
      <p:sp>
        <p:nvSpPr>
          <p:cNvPr id="3" name="Text Placeholder 2">
            <a:extLst>
              <a:ext uri="{FF2B5EF4-FFF2-40B4-BE49-F238E27FC236}">
                <a16:creationId xmlns:a16="http://schemas.microsoft.com/office/drawing/2014/main" id="{3881941D-DAF7-45F3-38FB-85C88A028EBA}"/>
              </a:ext>
            </a:extLst>
          </p:cNvPr>
          <p:cNvSpPr>
            <a:spLocks noGrp="1"/>
          </p:cNvSpPr>
          <p:nvPr>
            <p:ph type="body" idx="1"/>
          </p:nvPr>
        </p:nvSpPr>
        <p:spPr>
          <a:xfrm>
            <a:off x="653763" y="4541417"/>
            <a:ext cx="11029615" cy="600556"/>
          </a:xfrm>
        </p:spPr>
        <p:txBody>
          <a:bodyPr/>
          <a:lstStyle/>
          <a:p>
            <a:r>
              <a:rPr lang="en-US" dirty="0"/>
              <a:t>Day 2</a:t>
            </a:r>
            <a:endParaRPr lang="en-NG" dirty="0"/>
          </a:p>
        </p:txBody>
      </p:sp>
    </p:spTree>
    <p:extLst>
      <p:ext uri="{BB962C8B-B14F-4D97-AF65-F5344CB8AC3E}">
        <p14:creationId xmlns:p14="http://schemas.microsoft.com/office/powerpoint/2010/main" val="8073753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813379-7A97-2588-B978-E35C84786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DCE3A8-45AB-BCC4-37D3-5ABF51A66DA3}"/>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LEAST PRIVILEGE PRINCIPLES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C9D39E2C-AA48-8432-36A9-61AF7B65FC03}"/>
              </a:ext>
            </a:extLst>
          </p:cNvPr>
          <p:cNvSpPr>
            <a:spLocks noGrp="1"/>
          </p:cNvSpPr>
          <p:nvPr>
            <p:ph idx="1"/>
          </p:nvPr>
        </p:nvSpPr>
        <p:spPr>
          <a:xfrm>
            <a:off x="677444" y="2188943"/>
            <a:ext cx="6530281" cy="3634486"/>
          </a:xfrm>
        </p:spPr>
        <p:txBody>
          <a:bodyPr>
            <a:noAutofit/>
          </a:bodyPr>
          <a:lstStyle/>
          <a:p>
            <a:pPr>
              <a:buFont typeface="Wingdings 2" panose="05020102010507070707" pitchFamily="18" charset="2"/>
              <a:buNone/>
            </a:pPr>
            <a:r>
              <a:rPr lang="en-US" sz="1600" dirty="0"/>
              <a:t>	The principle of least privilege, also known as </a:t>
            </a:r>
            <a:r>
              <a:rPr lang="en-US" sz="1600" dirty="0" err="1"/>
              <a:t>PoLP</a:t>
            </a:r>
            <a:r>
              <a:rPr lang="en-US" sz="1600" dirty="0"/>
              <a:t>, is a core concept in cybersecurity that dictates users should only have access to the minimum resources and data necessary to perform their job functions. This principle limits the potential attack surface, reducing the impact of a security breach by restricting the amount of damage a compromised account can cause. </a:t>
            </a:r>
          </a:p>
          <a:p>
            <a:pPr marL="0" indent="0" fontAlgn="base">
              <a:buNone/>
            </a:pPr>
            <a:br>
              <a:rPr lang="en-US" sz="1600" dirty="0"/>
            </a:br>
            <a:endParaRPr lang="en-US" sz="1600" dirty="0"/>
          </a:p>
        </p:txBody>
      </p:sp>
      <p:pic>
        <p:nvPicPr>
          <p:cNvPr id="7170" name="Picture 2" descr="Principle of Least Privilege Explained ...">
            <a:extLst>
              <a:ext uri="{FF2B5EF4-FFF2-40B4-BE49-F238E27FC236}">
                <a16:creationId xmlns:a16="http://schemas.microsoft.com/office/drawing/2014/main" id="{1435CB70-D101-7C5B-8D47-F5901FA346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350" y="2929689"/>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5280793"/>
      </p:ext>
    </p:extLst>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71F3AF-0F8C-5D4F-566A-D84571FA19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D98682-22FA-7BBB-B8EE-5BCEEB652963}"/>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LEAST PRIVILEGE PRINCIPLES – HOW IT WORKS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FA547FE-C2F4-B541-2481-76BAB1381B7E}"/>
              </a:ext>
            </a:extLst>
          </p:cNvPr>
          <p:cNvSpPr>
            <a:spLocks noGrp="1"/>
          </p:cNvSpPr>
          <p:nvPr>
            <p:ph idx="1"/>
          </p:nvPr>
        </p:nvSpPr>
        <p:spPr>
          <a:xfrm>
            <a:off x="677444" y="2188943"/>
            <a:ext cx="6530281" cy="3634486"/>
          </a:xfrm>
        </p:spPr>
        <p:txBody>
          <a:bodyPr>
            <a:noAutofit/>
          </a:bodyPr>
          <a:lstStyle/>
          <a:p>
            <a:pPr>
              <a:buFont typeface="Wingdings 2" panose="05020102010507070707" pitchFamily="18" charset="2"/>
              <a:buNone/>
            </a:pPr>
            <a:r>
              <a:rPr lang="en-US" sz="1600" b="0" i="0" dirty="0">
                <a:solidFill>
                  <a:srgbClr val="001D35"/>
                </a:solidFill>
                <a:effectLst/>
                <a:latin typeface="Google Sans"/>
              </a:rPr>
              <a:t>	</a:t>
            </a:r>
            <a:r>
              <a:rPr lang="en-US" sz="1600" dirty="0"/>
              <a:t>The principle of least privilege works by limiting the accessible data, resources, applications and application functions to only that which a user or entity requires to execute their specific task or workflow. Without incorporating the principle of least privilege, organizations create over-privileged users or entities that increase the potential for breaches and misuse of critical systems and data.</a:t>
            </a:r>
            <a:br>
              <a:rPr lang="en-US" sz="1600" dirty="0"/>
            </a:br>
            <a:endParaRPr lang="en-US" sz="1600" dirty="0"/>
          </a:p>
        </p:txBody>
      </p:sp>
      <p:pic>
        <p:nvPicPr>
          <p:cNvPr id="7170" name="Picture 2" descr="Principle of Least Privilege Explained ...">
            <a:extLst>
              <a:ext uri="{FF2B5EF4-FFF2-40B4-BE49-F238E27FC236}">
                <a16:creationId xmlns:a16="http://schemas.microsoft.com/office/drawing/2014/main" id="{3F19F7A9-34C6-373A-F58A-38A8F9DECD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350" y="2929689"/>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454427"/>
      </p:ext>
    </p:extLst>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AD4D79-CC22-3C83-B36F-D9A94CEB5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181FF-CE14-2140-45DE-290211DA2338}"/>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LEAST PRIVILEGE PRINCIPLES – WHY IS IT IMPORTANT</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F61F754D-4223-8E42-01DB-6D955E0D3880}"/>
              </a:ext>
            </a:extLst>
          </p:cNvPr>
          <p:cNvSpPr>
            <a:spLocks noGrp="1"/>
          </p:cNvSpPr>
          <p:nvPr>
            <p:ph idx="1"/>
          </p:nvPr>
        </p:nvSpPr>
        <p:spPr>
          <a:xfrm>
            <a:off x="677444" y="2188943"/>
            <a:ext cx="6530281" cy="3634486"/>
          </a:xfrm>
        </p:spPr>
        <p:txBody>
          <a:bodyPr>
            <a:noAutofit/>
          </a:bodyPr>
          <a:lstStyle/>
          <a:p>
            <a:r>
              <a:rPr lang="en-US" sz="1600" dirty="0"/>
              <a:t>The principle of least privilege is an important information security construct for organizations operating in today’s hybrid workplace to help protect them from cyberattacks and the financial, data and reputational losses that follow when ransomware, malware and other malicious threats impact their operations.</a:t>
            </a:r>
          </a:p>
          <a:p>
            <a:r>
              <a:rPr lang="en-US" sz="1600" dirty="0"/>
              <a:t>The principle of least privilege strikes a balance between usability and security to safeguard critical data and systems by minimizing the attack surface, limiting cyberattacks, enhancing operational performance and reducing the impact of human error</a:t>
            </a:r>
            <a:br>
              <a:rPr lang="en-US" sz="1600" dirty="0"/>
            </a:br>
            <a:endParaRPr lang="en-US" sz="1600" dirty="0"/>
          </a:p>
        </p:txBody>
      </p:sp>
      <p:pic>
        <p:nvPicPr>
          <p:cNvPr id="7170" name="Picture 2" descr="Principle of Least Privilege Explained ...">
            <a:extLst>
              <a:ext uri="{FF2B5EF4-FFF2-40B4-BE49-F238E27FC236}">
                <a16:creationId xmlns:a16="http://schemas.microsoft.com/office/drawing/2014/main" id="{359DA903-EB1F-C17E-34C7-3644D7E983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350" y="2929689"/>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025638"/>
      </p:ext>
    </p:extLst>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3C69EE-40EE-659D-85B7-6FE286AD3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04A8AA-9738-851D-A0C5-6E4CF9032F41}"/>
              </a:ext>
            </a:extLst>
          </p:cNvPr>
          <p:cNvSpPr>
            <a:spLocks noGrp="1"/>
          </p:cNvSpPr>
          <p:nvPr>
            <p:ph type="title"/>
          </p:nvPr>
        </p:nvSpPr>
        <p:spPr>
          <a:xfrm>
            <a:off x="273234" y="572559"/>
            <a:ext cx="11029616" cy="1188720"/>
          </a:xfrm>
        </p:spPr>
        <p:txBody>
          <a:bodyPr>
            <a:normAutofit fontScale="90000"/>
          </a:bodyPr>
          <a:lstStyle/>
          <a:p>
            <a:r>
              <a:rPr lang="en-US" b="1" i="0" dirty="0">
                <a:solidFill>
                  <a:srgbClr val="15171A"/>
                </a:solidFill>
                <a:effectLst/>
                <a:latin typeface="Open Sans" panose="020B0606030504020204" pitchFamily="34" charset="0"/>
              </a:rPr>
              <a:t>LEAST PRIVILEGE PRINCIPLES – BENEFITS</a:t>
            </a:r>
            <a:br>
              <a:rPr lang="en-US" b="1" i="0" dirty="0">
                <a:solidFill>
                  <a:srgbClr val="000000"/>
                </a:solidFill>
                <a:effectLst/>
                <a:latin typeface="Segoe UI" panose="020B0502040204020203" pitchFamily="34"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83C85FAD-8BEE-4B00-26F8-CC7991A9F1BB}"/>
              </a:ext>
            </a:extLst>
          </p:cNvPr>
          <p:cNvSpPr>
            <a:spLocks noGrp="1"/>
          </p:cNvSpPr>
          <p:nvPr>
            <p:ph idx="1"/>
          </p:nvPr>
        </p:nvSpPr>
        <p:spPr>
          <a:xfrm>
            <a:off x="677444" y="2188943"/>
            <a:ext cx="6530281" cy="3634486"/>
          </a:xfrm>
        </p:spPr>
        <p:txBody>
          <a:bodyPr>
            <a:noAutofit/>
          </a:bodyPr>
          <a:lstStyle/>
          <a:p>
            <a:pPr algn="l">
              <a:lnSpc>
                <a:spcPts val="2070"/>
              </a:lnSpc>
              <a:spcAft>
                <a:spcPts val="750"/>
              </a:spcAft>
              <a:buFont typeface="Arial" panose="020B0604020202020204" pitchFamily="34" charset="0"/>
              <a:buChar char="•"/>
            </a:pPr>
            <a:r>
              <a:rPr lang="en-US" sz="1600" dirty="0"/>
              <a:t>Minimizes the attack surface, diminishing avenues a malicious actor can use to access sensitive data or carry out an attack by protecting superuser and administrator privileges.</a:t>
            </a:r>
          </a:p>
          <a:p>
            <a:pPr algn="l">
              <a:lnSpc>
                <a:spcPts val="2070"/>
              </a:lnSpc>
              <a:spcAft>
                <a:spcPts val="750"/>
              </a:spcAft>
              <a:buFont typeface="Arial" panose="020B0604020202020204" pitchFamily="34" charset="0"/>
              <a:buChar char="•"/>
            </a:pPr>
            <a:r>
              <a:rPr lang="en-US" sz="1600" dirty="0"/>
              <a:t>Reduces malware propagation by not allowing users to install unauthorized applications. The principle of least privilege also stops lateral network movement that can launch an attack against other connected devices by limiting malware to the entry point.</a:t>
            </a:r>
          </a:p>
          <a:p>
            <a:pPr algn="l">
              <a:lnSpc>
                <a:spcPts val="2070"/>
              </a:lnSpc>
              <a:spcAft>
                <a:spcPts val="750"/>
              </a:spcAft>
              <a:buFont typeface="Arial" panose="020B0604020202020204" pitchFamily="34" charset="0"/>
              <a:buChar char="•"/>
            </a:pPr>
            <a:r>
              <a:rPr lang="en-US" sz="1600" dirty="0"/>
              <a:t>Improves operational performance with reductions in system downtime that might otherwise occur as a result of a breach, malware spread or incompatibility issues between applications.</a:t>
            </a:r>
          </a:p>
          <a:p>
            <a:pPr algn="l">
              <a:lnSpc>
                <a:spcPts val="2070"/>
              </a:lnSpc>
              <a:spcAft>
                <a:spcPts val="750"/>
              </a:spcAft>
              <a:buFont typeface="Arial" panose="020B0604020202020204" pitchFamily="34" charset="0"/>
              <a:buChar char="•"/>
            </a:pPr>
            <a:r>
              <a:rPr lang="en-US" sz="1600" dirty="0"/>
              <a:t>Safeguards against human error that can happen through mistake, malice or negligence.</a:t>
            </a:r>
          </a:p>
        </p:txBody>
      </p:sp>
      <p:pic>
        <p:nvPicPr>
          <p:cNvPr id="7170" name="Picture 2" descr="Principle of Least Privilege Explained ...">
            <a:extLst>
              <a:ext uri="{FF2B5EF4-FFF2-40B4-BE49-F238E27FC236}">
                <a16:creationId xmlns:a16="http://schemas.microsoft.com/office/drawing/2014/main" id="{BB8BD84A-D66B-7E69-680F-C63E7D8940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5350" y="2929689"/>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2921350"/>
      </p:ext>
    </p:extLst>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F6D8-2332-0F1D-E68E-1B75A2BF2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AC93A-CB74-986A-C0DC-803A9802466F}"/>
              </a:ext>
            </a:extLst>
          </p:cNvPr>
          <p:cNvSpPr>
            <a:spLocks noGrp="1"/>
          </p:cNvSpPr>
          <p:nvPr>
            <p:ph type="title"/>
          </p:nvPr>
        </p:nvSpPr>
        <p:spPr/>
        <p:txBody>
          <a:bodyPr>
            <a:normAutofit/>
          </a:bodyPr>
          <a:lstStyle/>
          <a:p>
            <a:r>
              <a:rPr lang="en-US" dirty="0"/>
              <a:t>USER AND GROUP MANAGEMENT</a:t>
            </a:r>
            <a:br>
              <a:rPr lang="en-US" dirty="0"/>
            </a:br>
            <a:br>
              <a:rPr lang="en-US" dirty="0"/>
            </a:br>
            <a:endParaRPr lang="en-US" dirty="0"/>
          </a:p>
        </p:txBody>
      </p:sp>
      <p:sp>
        <p:nvSpPr>
          <p:cNvPr id="3" name="Text Placeholder 2">
            <a:extLst>
              <a:ext uri="{FF2B5EF4-FFF2-40B4-BE49-F238E27FC236}">
                <a16:creationId xmlns:a16="http://schemas.microsoft.com/office/drawing/2014/main" id="{CBDD8AB0-42C4-183A-BB57-553D971D3EF5}"/>
              </a:ext>
            </a:extLst>
          </p:cNvPr>
          <p:cNvSpPr>
            <a:spLocks noGrp="1"/>
          </p:cNvSpPr>
          <p:nvPr>
            <p:ph type="body" idx="1"/>
          </p:nvPr>
        </p:nvSpPr>
        <p:spPr>
          <a:xfrm>
            <a:off x="653763" y="4541417"/>
            <a:ext cx="11029615" cy="600556"/>
          </a:xfrm>
        </p:spPr>
        <p:txBody>
          <a:bodyPr/>
          <a:lstStyle/>
          <a:p>
            <a:r>
              <a:rPr lang="en-US" dirty="0"/>
              <a:t>Day 2</a:t>
            </a:r>
            <a:endParaRPr lang="en-NG" dirty="0"/>
          </a:p>
        </p:txBody>
      </p:sp>
    </p:spTree>
    <p:extLst>
      <p:ext uri="{BB962C8B-B14F-4D97-AF65-F5344CB8AC3E}">
        <p14:creationId xmlns:p14="http://schemas.microsoft.com/office/powerpoint/2010/main" val="149522989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3.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4.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5.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6.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7.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8.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9.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0.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1.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2.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3.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4.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5.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6.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7.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8.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19.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0.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1.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2.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3.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4.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5.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6.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7.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8.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ppt/theme/themeOverride29.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35416</TotalTime>
  <Words>5296</Words>
  <Application>Microsoft Office PowerPoint</Application>
  <PresentationFormat>Widescreen</PresentationFormat>
  <Paragraphs>313</Paragraphs>
  <Slides>76</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76</vt:i4>
      </vt:variant>
    </vt:vector>
  </HeadingPairs>
  <TitlesOfParts>
    <vt:vector size="87" baseType="lpstr">
      <vt:lpstr>Arial</vt:lpstr>
      <vt:lpstr>Calibri</vt:lpstr>
      <vt:lpstr>Franklin Gothic Book</vt:lpstr>
      <vt:lpstr>Franklin Gothic Demi</vt:lpstr>
      <vt:lpstr>Google Sans</vt:lpstr>
      <vt:lpstr>Nunito Sans</vt:lpstr>
      <vt:lpstr>Open Sans</vt:lpstr>
      <vt:lpstr>Roboto</vt:lpstr>
      <vt:lpstr>Segoe UI</vt:lpstr>
      <vt:lpstr>Wingdings 2</vt:lpstr>
      <vt:lpstr>DividendVTI</vt:lpstr>
      <vt:lpstr>ALTSCHOOL OF Cybersecurity (BARAKA 2025)</vt:lpstr>
      <vt:lpstr>Refresher-  week2</vt:lpstr>
      <vt:lpstr>MONTH 3 -  WEEK 4</vt:lpstr>
      <vt:lpstr>Introduction to Cloud Computing </vt:lpstr>
      <vt:lpstr>WHAT IS Cloud computing ?  </vt:lpstr>
      <vt:lpstr>Cloud computing  </vt:lpstr>
      <vt:lpstr>Cloud computing  </vt:lpstr>
      <vt:lpstr>Introduction to Cloud Computing MODELS </vt:lpstr>
      <vt:lpstr>Cloud Computing Models (IaaS, SaaS, PaaS) </vt:lpstr>
      <vt:lpstr>Infrastructure as a Service (IAAS) </vt:lpstr>
      <vt:lpstr>Platform as a Service (PAAS) </vt:lpstr>
      <vt:lpstr>Software as a Service (SAAS) </vt:lpstr>
      <vt:lpstr>BENEFITS to Cloud Computing </vt:lpstr>
      <vt:lpstr>benefits of Cloud computing - AGILITY </vt:lpstr>
      <vt:lpstr>benefits of Cloud computing - ELASTICITY </vt:lpstr>
      <vt:lpstr>benefits of Cloud computing – COST SAVINGS </vt:lpstr>
      <vt:lpstr>benefits of Cloud computing – speed </vt:lpstr>
      <vt:lpstr>Cloud SERVICE PROVIDERS </vt:lpstr>
      <vt:lpstr>Cloud SERVICE Provider’s </vt:lpstr>
      <vt:lpstr>Cloud SERVICE Provider -  AZURE  </vt:lpstr>
      <vt:lpstr>Cloud SERVICE Provider -  AWS  </vt:lpstr>
      <vt:lpstr>Cloud SERVICE Provider -  GCP  </vt:lpstr>
      <vt:lpstr>Cloud SERVICE Provider -  ORACLE </vt:lpstr>
      <vt:lpstr>Cloud SERVICE Provider -  HUAWEI </vt:lpstr>
      <vt:lpstr>Cloud SHARED RESPONSIBILITY </vt:lpstr>
      <vt:lpstr>RESPONSIBILITY MATRIX </vt:lpstr>
      <vt:lpstr>Securing Cloud Infrastructure and Data </vt:lpstr>
      <vt:lpstr>Securing Cloud Infrastructure and Data </vt:lpstr>
      <vt:lpstr>Securing Cloud Infrastructure and Data </vt:lpstr>
      <vt:lpstr>Refresher-  LAST CLASS</vt:lpstr>
      <vt:lpstr>Identity AND ACCESS MANAGEMENT </vt:lpstr>
      <vt:lpstr>What IAM is and what it does  </vt:lpstr>
      <vt:lpstr>What IAM is and what it does  </vt:lpstr>
      <vt:lpstr>HOW IAM WORKS  </vt:lpstr>
      <vt:lpstr>HOW IAM WORKS  </vt:lpstr>
      <vt:lpstr>HOW IAM WORKS  </vt:lpstr>
      <vt:lpstr>HOW IAM WORKS  </vt:lpstr>
      <vt:lpstr>IMPORTANCE OF IAM  </vt:lpstr>
      <vt:lpstr>IMPORTANCE OF IAM  </vt:lpstr>
      <vt:lpstr>BENEFITS OF IAM  </vt:lpstr>
      <vt:lpstr>BENEFITS OF IAM  </vt:lpstr>
      <vt:lpstr>BENEFITS OF IAM  </vt:lpstr>
      <vt:lpstr>BENEFITS OF IAM  </vt:lpstr>
      <vt:lpstr>BENEFITS OF IAM  </vt:lpstr>
      <vt:lpstr>BENEFITS OF IAM  </vt:lpstr>
      <vt:lpstr>IAM ARCHITECTURE  </vt:lpstr>
      <vt:lpstr>Refresher-  LAST CLASS</vt:lpstr>
      <vt:lpstr>MONTH 4 -  WK1</vt:lpstr>
      <vt:lpstr>Introduction to Access Control Models  </vt:lpstr>
      <vt:lpstr>ACCESS CONTROL MODELS  </vt:lpstr>
      <vt:lpstr>ACCESS CONTROL MODELS  </vt:lpstr>
      <vt:lpstr>ACCESS CONTROL MODELS  </vt:lpstr>
      <vt:lpstr>Role-Based Access Control (RBAC)  </vt:lpstr>
      <vt:lpstr>OVERVIEW OF ACCESS CONTROL MODELS - RBAC </vt:lpstr>
      <vt:lpstr>OVERVIEW OF ACCESS CONTROL MODELS - (RBAC)  </vt:lpstr>
      <vt:lpstr>OVERVIEW OF ACCESS CONTROL MODELS - (ABAC)  </vt:lpstr>
      <vt:lpstr>OVERVIEW OF ACCESS CONTROL MODELS - (ABAC)  </vt:lpstr>
      <vt:lpstr>OVERVIEW OF ACCESS CONTROL MODELS - (DAC)  </vt:lpstr>
      <vt:lpstr>OVERVIEW OF ACCESS CONTROL MODELS - (DAC)  </vt:lpstr>
      <vt:lpstr>OVERVIEW OF ACCESS CONTROL MODELS   </vt:lpstr>
      <vt:lpstr>PRIVILEDGE MANAGEMENT  </vt:lpstr>
      <vt:lpstr>PRIVILEGE MANAGEMENT  </vt:lpstr>
      <vt:lpstr>PRIVILEGE MANAGEMENT  </vt:lpstr>
      <vt:lpstr>PRIVILEGE MANAGEMENT  </vt:lpstr>
      <vt:lpstr>PRIVILEGE MANAGEMENT – WHY IS IT IMPORTANT  </vt:lpstr>
      <vt:lpstr>PRIVILEGE MANAGEMENT – WHY IS IT IMPORTANT  </vt:lpstr>
      <vt:lpstr>PRIVILEGE MANAGEMENT – WHY IS IT IMPORTANT  </vt:lpstr>
      <vt:lpstr>PRIVILEGE MANAGEMENT – HOW IT WORKS  </vt:lpstr>
      <vt:lpstr>PRIVILEGE MANAGEMENT – BENEFITS  </vt:lpstr>
      <vt:lpstr>PRIVILEGE MANAGEMENT – BENEFITS  </vt:lpstr>
      <vt:lpstr>LEAST PRIVILEGE  </vt:lpstr>
      <vt:lpstr>LEAST PRIVILEGE PRINCIPLES  </vt:lpstr>
      <vt:lpstr>LEAST PRIVILEGE PRINCIPLES – HOW IT WORKS  </vt:lpstr>
      <vt:lpstr>LEAST PRIVILEGE PRINCIPLES – WHY IS IT IMPORTANT  </vt:lpstr>
      <vt:lpstr>LEAST PRIVILEGE PRINCIPLES – BENEFITS  </vt:lpstr>
      <vt:lpstr>USER AND GROUP MANAGEMENT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19</cp:revision>
  <dcterms:created xsi:type="dcterms:W3CDTF">2025-03-19T13:29:09Z</dcterms:created>
  <dcterms:modified xsi:type="dcterms:W3CDTF">2025-06-04T16:00:57Z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