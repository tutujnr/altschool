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7"/>
  </p:notesMasterIdLst>
  <p:sldIdLst>
    <p:sldId id="257" r:id="rId5"/>
    <p:sldId id="359" r:id="rId6"/>
    <p:sldId id="260" r:id="rId7"/>
    <p:sldId id="302" r:id="rId8"/>
    <p:sldId id="633" r:id="rId9"/>
    <p:sldId id="672" r:id="rId10"/>
    <p:sldId id="674" r:id="rId11"/>
    <p:sldId id="682" r:id="rId12"/>
    <p:sldId id="634" r:id="rId13"/>
    <p:sldId id="673" r:id="rId14"/>
    <p:sldId id="675" r:id="rId15"/>
    <p:sldId id="676" r:id="rId16"/>
    <p:sldId id="683" r:id="rId17"/>
    <p:sldId id="677" r:id="rId18"/>
    <p:sldId id="678" r:id="rId19"/>
    <p:sldId id="680" r:id="rId20"/>
    <p:sldId id="681" r:id="rId21"/>
    <p:sldId id="684" r:id="rId22"/>
    <p:sldId id="685" r:id="rId23"/>
    <p:sldId id="686" r:id="rId24"/>
    <p:sldId id="687" r:id="rId25"/>
    <p:sldId id="688" r:id="rId26"/>
    <p:sldId id="689" r:id="rId27"/>
    <p:sldId id="690" r:id="rId28"/>
    <p:sldId id="691" r:id="rId29"/>
    <p:sldId id="679" r:id="rId30"/>
    <p:sldId id="692" r:id="rId31"/>
    <p:sldId id="693" r:id="rId32"/>
    <p:sldId id="694" r:id="rId33"/>
    <p:sldId id="695" r:id="rId34"/>
    <p:sldId id="696" r:id="rId35"/>
    <p:sldId id="546"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96" autoAdjust="0"/>
    <p:restoredTop sz="94619" autoAdjust="0"/>
  </p:normalViewPr>
  <p:slideViewPr>
    <p:cSldViewPr snapToGrid="0">
      <p:cViewPr varScale="1">
        <p:scale>
          <a:sx n="101" d="100"/>
          <a:sy n="101" d="100"/>
        </p:scale>
        <p:origin x="69" y="1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en-NG" smtClean="0"/>
              <a:t>23/05/2025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en-NG" smtClean="0"/>
              <a:t>‹#›</a:t>
            </a:fld>
            <a:endParaRPr lang="en-NG"/>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5/23/2025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5/23/2025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5/23/2025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5/23/2025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5/23/2025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5/23/2025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5/23/2025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5/23/2025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5/23/2025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5/23/2025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aws.amazon.com/what-is-cloud-comput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3 – WEEK 3</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A0DC-C434-B3B4-0363-3B35ABFDD03A}"/>
              </a:ext>
            </a:extLst>
          </p:cNvPr>
          <p:cNvSpPr>
            <a:spLocks noGrp="1"/>
          </p:cNvSpPr>
          <p:nvPr>
            <p:ph type="title"/>
          </p:nvPr>
        </p:nvSpPr>
        <p:spPr/>
        <p:txBody>
          <a:bodyPr/>
          <a:lstStyle/>
          <a:p>
            <a:r>
              <a:rPr lang="en-US" dirty="0"/>
              <a:t>Refresher-  week2</a:t>
            </a:r>
            <a:endParaRPr lang="en-NG" dirty="0"/>
          </a:p>
        </p:txBody>
      </p:sp>
      <p:sp>
        <p:nvSpPr>
          <p:cNvPr id="6" name="Content Placeholder 2">
            <a:extLst>
              <a:ext uri="{FF2B5EF4-FFF2-40B4-BE49-F238E27FC236}">
                <a16:creationId xmlns:a16="http://schemas.microsoft.com/office/drawing/2014/main" id="{A5E726F5-BF1E-8512-B467-8B05C670538A}"/>
              </a:ext>
            </a:extLst>
          </p:cNvPr>
          <p:cNvSpPr txBox="1">
            <a:spLocks/>
          </p:cNvSpPr>
          <p:nvPr/>
        </p:nvSpPr>
        <p:spPr>
          <a:xfrm>
            <a:off x="623498" y="2668929"/>
            <a:ext cx="11029950" cy="3633787"/>
          </a:xfrm>
          <a:prstGeom prst="rect">
            <a:avLst/>
          </a:prstGeom>
        </p:spPr>
        <p:txBody>
          <a:bodyPr vert="horz" lIns="91440" tIns="45720" rIns="91440" bIns="45720" rtlCol="0" anchor="ctr">
            <a:normAutofit fontScale="92500" lnSpcReduction="10000"/>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a:t>Network Security</a:t>
            </a:r>
          </a:p>
          <a:p>
            <a:pPr lvl="1"/>
            <a:r>
              <a:rPr lang="en-US"/>
              <a:t>Introduction to Network Security</a:t>
            </a:r>
          </a:p>
          <a:p>
            <a:pPr lvl="1"/>
            <a:r>
              <a:rPr lang="en-US"/>
              <a:t>Types of Threats to Network Security</a:t>
            </a:r>
          </a:p>
          <a:p>
            <a:pPr lvl="1"/>
            <a:r>
              <a:rPr lang="en-US"/>
              <a:t>Introduction to Firewall and IDS/IPS</a:t>
            </a:r>
          </a:p>
          <a:p>
            <a:pPr lvl="1"/>
            <a:r>
              <a:rPr lang="en-US"/>
              <a:t>Virtual Private Networks (VPNs)</a:t>
            </a:r>
          </a:p>
          <a:p>
            <a:pPr lvl="1"/>
            <a:r>
              <a:rPr lang="en-US"/>
              <a:t>Network Security Best Practices</a:t>
            </a:r>
          </a:p>
          <a:p>
            <a:endParaRPr lang="en-US"/>
          </a:p>
          <a:p>
            <a:r>
              <a:rPr lang="en-US"/>
              <a:t>Setting Up VLans</a:t>
            </a:r>
          </a:p>
          <a:p>
            <a:pPr lvl="1"/>
            <a:r>
              <a:rPr lang="en-US"/>
              <a:t>Configuring VLans and Network Security</a:t>
            </a:r>
          </a:p>
          <a:p>
            <a:pPr lvl="1"/>
            <a:r>
              <a:rPr lang="en-US"/>
              <a:t>Setting up VLans in Cisco Packet Tracer</a:t>
            </a:r>
          </a:p>
          <a:p>
            <a:pPr lvl="1"/>
            <a:r>
              <a:rPr lang="en-US"/>
              <a:t>Setting up basic firewall rules</a:t>
            </a:r>
          </a:p>
          <a:p>
            <a:pPr marL="324000" lvl="1" indent="0">
              <a:buFont typeface="Wingdings 2" panose="05020102010507070707" pitchFamily="18" charset="2"/>
              <a:buNone/>
            </a:pPr>
            <a:endParaRPr lang="en-US"/>
          </a:p>
          <a:p>
            <a:pPr lvl="2"/>
            <a:endParaRPr lang="en-US"/>
          </a:p>
          <a:p>
            <a:endParaRPr lang="en-NG" dirty="0"/>
          </a:p>
        </p:txBody>
      </p:sp>
    </p:spTree>
    <p:extLst>
      <p:ext uri="{BB962C8B-B14F-4D97-AF65-F5344CB8AC3E}">
        <p14:creationId xmlns:p14="http://schemas.microsoft.com/office/powerpoint/2010/main" val="8418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MONTH 3 -  WEEK 4</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a:bodyPr>
          <a:lstStyle/>
          <a:p>
            <a:r>
              <a:rPr lang="en-US" dirty="0"/>
              <a:t>Cloud Computing Concepts</a:t>
            </a:r>
          </a:p>
          <a:p>
            <a:pPr lvl="1"/>
            <a:r>
              <a:rPr lang="en-US" dirty="0"/>
              <a:t>Introduction to Cloud Computing</a:t>
            </a:r>
          </a:p>
          <a:p>
            <a:pPr lvl="1"/>
            <a:r>
              <a:rPr lang="en-US" dirty="0"/>
              <a:t>Introduction to Cloud Computing Models (IaaS, SaaS, PaaS)</a:t>
            </a:r>
          </a:p>
          <a:p>
            <a:pPr lvl="1"/>
            <a:r>
              <a:rPr lang="en-US" dirty="0"/>
              <a:t>Benefits and Challenges of Cloud Computing</a:t>
            </a:r>
          </a:p>
          <a:p>
            <a:pPr lvl="1"/>
            <a:r>
              <a:rPr lang="en-US" dirty="0"/>
              <a:t>Cloud Service Providers (AWS, Azure, GCP, Huawei &amp; Oracle)</a:t>
            </a:r>
          </a:p>
          <a:p>
            <a:pPr lvl="1"/>
            <a:r>
              <a:rPr lang="en-US" dirty="0"/>
              <a:t>Cloud Security Basics (Shared Responsibility Model)</a:t>
            </a:r>
          </a:p>
          <a:p>
            <a:pPr lvl="1"/>
            <a:r>
              <a:rPr lang="en-US" dirty="0"/>
              <a:t>Securing Cloud Infrastructure and Data</a:t>
            </a:r>
          </a:p>
          <a:p>
            <a:pPr lvl="1"/>
            <a:r>
              <a:rPr lang="en-US" dirty="0"/>
              <a:t>Compliance in the Cloud</a:t>
            </a:r>
          </a:p>
          <a:p>
            <a:pPr lvl="1"/>
            <a:r>
              <a:rPr lang="en-US" dirty="0"/>
              <a:t>Class Demo and Assignment</a:t>
            </a:r>
          </a:p>
          <a:p>
            <a:endParaRPr lang="en-US" dirty="0"/>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4FD3-15E9-5865-B87C-64743D0622C4}"/>
              </a:ext>
            </a:extLst>
          </p:cNvPr>
          <p:cNvSpPr>
            <a:spLocks noGrp="1"/>
          </p:cNvSpPr>
          <p:nvPr>
            <p:ph type="title"/>
          </p:nvPr>
        </p:nvSpPr>
        <p:spPr/>
        <p:txBody>
          <a:bodyPr>
            <a:normAutofit/>
          </a:bodyPr>
          <a:lstStyle/>
          <a:p>
            <a:r>
              <a:rPr lang="en-US" dirty="0"/>
              <a:t>Introduction to Cloud Computing</a:t>
            </a:r>
            <a:br>
              <a:rPr lang="en-US" dirty="0"/>
            </a:br>
            <a:endParaRPr lang="en-US" dirty="0"/>
          </a:p>
        </p:txBody>
      </p:sp>
      <p:sp>
        <p:nvSpPr>
          <p:cNvPr id="3" name="Text Placeholder 2">
            <a:extLst>
              <a:ext uri="{FF2B5EF4-FFF2-40B4-BE49-F238E27FC236}">
                <a16:creationId xmlns:a16="http://schemas.microsoft.com/office/drawing/2014/main" id="{97FBB6EF-E130-3B34-984F-FA630B72816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971973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91CF7F-3CDC-E001-9407-FB6032F054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3F9DC-593B-E2C3-AC7D-4069BF1ED656}"/>
              </a:ext>
            </a:extLst>
          </p:cNvPr>
          <p:cNvSpPr>
            <a:spLocks noGrp="1"/>
          </p:cNvSpPr>
          <p:nvPr>
            <p:ph type="title"/>
          </p:nvPr>
        </p:nvSpPr>
        <p:spPr>
          <a:xfrm>
            <a:off x="581192" y="702156"/>
            <a:ext cx="11029616" cy="1188720"/>
          </a:xfrm>
        </p:spPr>
        <p:txBody>
          <a:bodyPr>
            <a:normAutofit fontScale="90000"/>
          </a:bodyPr>
          <a:lstStyle/>
          <a:p>
            <a:r>
              <a:rPr lang="en-US" dirty="0"/>
              <a:t>WHAT IS Cloud computing ?</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CE6933AC-0DD4-A639-F8C6-1BB8CF29DD9A}"/>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Cloud computing is the on-demand delivery of IT resources over the Internet with pay-as-you-go pricing. </a:t>
            </a:r>
          </a:p>
          <a:p>
            <a:pPr>
              <a:lnSpc>
                <a:spcPts val="1950"/>
              </a:lnSpc>
              <a:spcAft>
                <a:spcPts val="1950"/>
              </a:spcAft>
            </a:pPr>
            <a:r>
              <a:rPr lang="en-US" sz="1400" dirty="0">
                <a:solidFill>
                  <a:srgbClr val="51565E"/>
                </a:solidFill>
                <a:latin typeface="Roboto" panose="02000000000000000000" pitchFamily="2" charset="0"/>
              </a:rPr>
              <a:t>Instead of buying, owning, and maintaining physical data centers and servers, you can access technology services, such as computing power, storage, and databases, on an as-needed basis from a cloud provider like Amazon Web Services (AWS), Microsoft Azure, HUAWEI, Google Cloud Platform, Oracle Cloud Platform </a:t>
            </a:r>
            <a:r>
              <a:rPr lang="en-US" sz="1400" dirty="0" err="1">
                <a:solidFill>
                  <a:srgbClr val="51565E"/>
                </a:solidFill>
                <a:latin typeface="Roboto" panose="02000000000000000000" pitchFamily="2" charset="0"/>
              </a:rPr>
              <a:t>etc</a:t>
            </a:r>
            <a:br>
              <a:rPr lang="en-US" sz="1400" dirty="0"/>
            </a:br>
            <a:endParaRPr lang="en-US" sz="1400" b="0" i="0" dirty="0">
              <a:solidFill>
                <a:srgbClr val="51565E"/>
              </a:solidFill>
              <a:effectLst/>
              <a:latin typeface="Roboto" panose="02000000000000000000" pitchFamily="2" charset="0"/>
            </a:endParaRPr>
          </a:p>
        </p:txBody>
      </p:sp>
      <p:pic>
        <p:nvPicPr>
          <p:cNvPr id="1028" name="Picture 4" descr="Cloud Computing? - Computer Science ...">
            <a:extLst>
              <a:ext uri="{FF2B5EF4-FFF2-40B4-BE49-F238E27FC236}">
                <a16:creationId xmlns:a16="http://schemas.microsoft.com/office/drawing/2014/main" id="{7DCEF896-856E-866C-84BE-7F0933EC1C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99168" y="2785841"/>
            <a:ext cx="2710487" cy="1803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85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00551B-57D0-A31A-DEE2-AD10AB022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ED091-9317-E10B-D59F-224611995F59}"/>
              </a:ext>
            </a:extLst>
          </p:cNvPr>
          <p:cNvSpPr>
            <a:spLocks noGrp="1"/>
          </p:cNvSpPr>
          <p:nvPr>
            <p:ph type="title"/>
          </p:nvPr>
        </p:nvSpPr>
        <p:spPr>
          <a:xfrm>
            <a:off x="581192" y="702156"/>
            <a:ext cx="11029616" cy="1188720"/>
          </a:xfrm>
        </p:spPr>
        <p:txBody>
          <a:bodyPr>
            <a:normAutofit fontScale="90000"/>
          </a:bodyPr>
          <a:lstStyle/>
          <a:p>
            <a:r>
              <a:rPr lang="en-US" dirty="0"/>
              <a:t>Cloud computing</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24CA2090-460A-B23B-E9F4-112A0CB30AEE}"/>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Organizations of every type, size, and industry are using the cloud for a wide variety of use cases, such as data backup, disaster recovery, email, virtual desktops, software development and testing, big data analytics, and customer-facing web applications. </a:t>
            </a:r>
          </a:p>
          <a:p>
            <a:pPr>
              <a:lnSpc>
                <a:spcPts val="1950"/>
              </a:lnSpc>
              <a:spcAft>
                <a:spcPts val="1950"/>
              </a:spcAft>
            </a:pPr>
            <a:r>
              <a:rPr lang="en-US" sz="1400" dirty="0">
                <a:solidFill>
                  <a:srgbClr val="51565E"/>
                </a:solidFill>
                <a:latin typeface="Roboto" panose="02000000000000000000" pitchFamily="2" charset="0"/>
              </a:rPr>
              <a:t>For example, healthcare companies are using the cloud to develop more personalized treatments for patients. Financial services companies are using the cloud to power real-time fraud detection and prevention. And video game makers are using the cloud to deliver online games to millions of players around the world.</a:t>
            </a:r>
            <a:br>
              <a:rPr lang="en-US" sz="1400" dirty="0">
                <a:solidFill>
                  <a:srgbClr val="51565E"/>
                </a:solidFill>
                <a:latin typeface="Roboto" panose="02000000000000000000" pitchFamily="2" charset="0"/>
              </a:rPr>
            </a:br>
            <a:endParaRPr lang="en-US" sz="1400" dirty="0">
              <a:solidFill>
                <a:srgbClr val="51565E"/>
              </a:solidFill>
              <a:latin typeface="Roboto" panose="02000000000000000000" pitchFamily="2" charset="0"/>
            </a:endParaRPr>
          </a:p>
        </p:txBody>
      </p:sp>
      <p:pic>
        <p:nvPicPr>
          <p:cNvPr id="2050" name="Picture 2" descr="Cloud Computing? - Computer Science ...">
            <a:extLst>
              <a:ext uri="{FF2B5EF4-FFF2-40B4-BE49-F238E27FC236}">
                <a16:creationId xmlns:a16="http://schemas.microsoft.com/office/drawing/2014/main" id="{B0A734B5-DD07-7D3A-CA8A-4ECA1B476D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23444" y="315916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3087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EB7970-C8D6-A402-6580-A07180D11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2EF381-FFE2-34FB-F3E6-A27CA7A34236}"/>
              </a:ext>
            </a:extLst>
          </p:cNvPr>
          <p:cNvSpPr>
            <a:spLocks noGrp="1"/>
          </p:cNvSpPr>
          <p:nvPr>
            <p:ph type="title"/>
          </p:nvPr>
        </p:nvSpPr>
        <p:spPr>
          <a:xfrm>
            <a:off x="581192" y="702156"/>
            <a:ext cx="11029616" cy="1188720"/>
          </a:xfrm>
        </p:spPr>
        <p:txBody>
          <a:bodyPr>
            <a:normAutofit fontScale="90000"/>
          </a:bodyPr>
          <a:lstStyle/>
          <a:p>
            <a:r>
              <a:rPr lang="en-US" dirty="0"/>
              <a:t>Cloud computing</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EF1DDE9-312A-93C1-015D-E1CC06E68B88}"/>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Cloud computing is providing developers and IT departments with the ability to focus on what matters most and avoid undifferentiated work like procurement, maintenance, and capacity planning. As cloud computing has grown in popularity, several different models and deployment strategies have emerged to help meet the specific needs of different users. Each type of </a:t>
            </a:r>
            <a:r>
              <a:rPr lang="en-US" sz="1400" dirty="0">
                <a:solidFill>
                  <a:srgbClr val="51565E"/>
                </a:solidFill>
                <a:latin typeface="Roboto" panose="02000000000000000000" pitchFamily="2" charset="0"/>
                <a:hlinkClick r:id="rId2">
                  <a:extLst>
                    <a:ext uri="{A12FA001-AC4F-418D-AE19-62706E023703}">
                      <ahyp:hlinkClr xmlns:ahyp="http://schemas.microsoft.com/office/drawing/2018/hyperlinkcolor" val="tx"/>
                    </a:ext>
                  </a:extLst>
                </a:hlinkClick>
              </a:rPr>
              <a:t>cloud service</a:t>
            </a:r>
            <a:r>
              <a:rPr lang="en-US" sz="1400" dirty="0">
                <a:solidFill>
                  <a:srgbClr val="51565E"/>
                </a:solidFill>
                <a:latin typeface="Roboto" panose="02000000000000000000" pitchFamily="2" charset="0"/>
              </a:rPr>
              <a:t>, and deployment method, provides you with different levels of control, flexibility, and management. .</a:t>
            </a:r>
            <a:br>
              <a:rPr lang="en-US" sz="1400" dirty="0">
                <a:solidFill>
                  <a:srgbClr val="51565E"/>
                </a:solidFill>
                <a:latin typeface="Roboto" panose="02000000000000000000" pitchFamily="2" charset="0"/>
              </a:rPr>
            </a:br>
            <a:endParaRPr lang="en-US" sz="1400" dirty="0">
              <a:solidFill>
                <a:srgbClr val="51565E"/>
              </a:solidFill>
              <a:latin typeface="Roboto" panose="02000000000000000000" pitchFamily="2" charset="0"/>
            </a:endParaRPr>
          </a:p>
        </p:txBody>
      </p:sp>
      <p:pic>
        <p:nvPicPr>
          <p:cNvPr id="2050" name="Picture 2" descr="Cloud Computing? - Computer Science ...">
            <a:extLst>
              <a:ext uri="{FF2B5EF4-FFF2-40B4-BE49-F238E27FC236}">
                <a16:creationId xmlns:a16="http://schemas.microsoft.com/office/drawing/2014/main" id="{627E374D-2D54-276C-4DC1-80699ED60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23444" y="3159167"/>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87832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85A47-0155-8476-C2D2-C4D014E2C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5D7ED-2C60-9D0C-C717-B08CCDE76F91}"/>
              </a:ext>
            </a:extLst>
          </p:cNvPr>
          <p:cNvSpPr>
            <a:spLocks noGrp="1"/>
          </p:cNvSpPr>
          <p:nvPr>
            <p:ph type="title"/>
          </p:nvPr>
        </p:nvSpPr>
        <p:spPr/>
        <p:txBody>
          <a:bodyPr>
            <a:normAutofit/>
          </a:bodyPr>
          <a:lstStyle/>
          <a:p>
            <a:r>
              <a:rPr lang="en-US" dirty="0"/>
              <a:t>Introduction to Cloud Computing MODELS</a:t>
            </a:r>
            <a:br>
              <a:rPr lang="en-US" dirty="0"/>
            </a:br>
            <a:endParaRPr lang="en-US" dirty="0"/>
          </a:p>
        </p:txBody>
      </p:sp>
      <p:sp>
        <p:nvSpPr>
          <p:cNvPr id="3" name="Text Placeholder 2">
            <a:extLst>
              <a:ext uri="{FF2B5EF4-FFF2-40B4-BE49-F238E27FC236}">
                <a16:creationId xmlns:a16="http://schemas.microsoft.com/office/drawing/2014/main" id="{4D63859F-D015-FDCF-8208-67713BC5EBFD}"/>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1955726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CE01BD-B8C3-D9CF-62E9-C5C15CBDC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60815-4579-2FE9-06EF-C3C17A1F38CC}"/>
              </a:ext>
            </a:extLst>
          </p:cNvPr>
          <p:cNvSpPr>
            <a:spLocks noGrp="1"/>
          </p:cNvSpPr>
          <p:nvPr>
            <p:ph type="title"/>
          </p:nvPr>
        </p:nvSpPr>
        <p:spPr>
          <a:xfrm>
            <a:off x="273234" y="572559"/>
            <a:ext cx="11029616" cy="1188720"/>
          </a:xfrm>
        </p:spPr>
        <p:txBody>
          <a:bodyPr>
            <a:normAutofit/>
          </a:bodyPr>
          <a:lstStyle/>
          <a:p>
            <a:r>
              <a:rPr lang="en-US" dirty="0"/>
              <a:t>Cloud Computing Models (IaaS, SaaS, PaaS)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B5F90E9-3E92-C493-27F8-AC7B3D81C664}"/>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The three main types of cloud computing models include Infrastructure as a Service, Platform as a Service, and Software as a Service. Each type of cloud computing models  provides different levels of control, flexibility, and management so that you can select the right set of services for your needs. </a:t>
            </a:r>
          </a:p>
          <a:p>
            <a:pPr>
              <a:lnSpc>
                <a:spcPts val="1950"/>
              </a:lnSpc>
              <a:spcAft>
                <a:spcPts val="1950"/>
              </a:spcAft>
            </a:pPr>
            <a:endParaRPr lang="en-US" sz="1400" b="0" i="0" dirty="0">
              <a:solidFill>
                <a:srgbClr val="51565E"/>
              </a:solidFill>
              <a:effectLst/>
              <a:latin typeface="Roboto" panose="02000000000000000000" pitchFamily="2" charset="0"/>
            </a:endParaRPr>
          </a:p>
        </p:txBody>
      </p:sp>
      <p:pic>
        <p:nvPicPr>
          <p:cNvPr id="3074" name="Picture 2" descr="Cloud Computing Models - TatvaSoft Blog">
            <a:extLst>
              <a:ext uri="{FF2B5EF4-FFF2-40B4-BE49-F238E27FC236}">
                <a16:creationId xmlns:a16="http://schemas.microsoft.com/office/drawing/2014/main" id="{2517AB7C-7478-9193-4CE8-EE45CF9B70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2950" y="2908629"/>
            <a:ext cx="30099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074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C22FC0-DA4A-D2ED-45E3-98937CAA9D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5F6F1-559B-11D9-505F-0A760EB1F7B2}"/>
              </a:ext>
            </a:extLst>
          </p:cNvPr>
          <p:cNvSpPr>
            <a:spLocks noGrp="1"/>
          </p:cNvSpPr>
          <p:nvPr>
            <p:ph type="title"/>
          </p:nvPr>
        </p:nvSpPr>
        <p:spPr>
          <a:xfrm>
            <a:off x="273234" y="572559"/>
            <a:ext cx="11029616" cy="1188720"/>
          </a:xfrm>
        </p:spPr>
        <p:txBody>
          <a:bodyPr>
            <a:normAutofit/>
          </a:bodyPr>
          <a:lstStyle/>
          <a:p>
            <a:r>
              <a:rPr lang="en-US" sz="2800" dirty="0">
                <a:solidFill>
                  <a:srgbClr val="51565E"/>
                </a:solidFill>
                <a:latin typeface="Roboto" panose="02000000000000000000" pitchFamily="2" charset="0"/>
              </a:rPr>
              <a:t>Infrastructure as a Service </a:t>
            </a:r>
            <a:r>
              <a:rPr lang="en-US" dirty="0"/>
              <a:t>(IAAS)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586706A-ED3A-C566-59C8-F9D0D20ED3CB}"/>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Infrastructure as a Service (IaaS)</a:t>
            </a:r>
          </a:p>
          <a:p>
            <a:pPr lvl="1">
              <a:lnSpc>
                <a:spcPts val="1950"/>
              </a:lnSpc>
              <a:spcAft>
                <a:spcPts val="1950"/>
              </a:spcAft>
            </a:pPr>
            <a:r>
              <a:rPr lang="en-US" dirty="0">
                <a:solidFill>
                  <a:srgbClr val="51565E"/>
                </a:solidFill>
                <a:latin typeface="Roboto" panose="02000000000000000000" pitchFamily="2" charset="0"/>
              </a:rPr>
              <a:t>IaaS contains the basic building blocks for cloud IT. It typically provides access to networking features, computers (virtual or on dedicated hardware), and data storage space. IaaS gives you the highest level of flexibility and management control over your IT resources. It is most similar to the existing IT resources with which many IT departments and developers are familiar. </a:t>
            </a:r>
          </a:p>
          <a:p>
            <a:pPr>
              <a:lnSpc>
                <a:spcPts val="1950"/>
              </a:lnSpc>
              <a:spcAft>
                <a:spcPts val="1950"/>
              </a:spcAft>
            </a:pPr>
            <a:endParaRPr lang="en-US" sz="1400" b="0" i="0" dirty="0">
              <a:solidFill>
                <a:srgbClr val="51565E"/>
              </a:solidFill>
              <a:effectLst/>
              <a:latin typeface="Roboto" panose="02000000000000000000" pitchFamily="2" charset="0"/>
            </a:endParaRPr>
          </a:p>
        </p:txBody>
      </p:sp>
      <p:pic>
        <p:nvPicPr>
          <p:cNvPr id="4098" name="Picture 2" descr="Cloud Services | Types of Cloud Services | Cloud Services Benefits">
            <a:extLst>
              <a:ext uri="{FF2B5EF4-FFF2-40B4-BE49-F238E27FC236}">
                <a16:creationId xmlns:a16="http://schemas.microsoft.com/office/drawing/2014/main" id="{76BD0A63-5FEB-56DE-EA07-BE40A8D8F9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2091" y="2662657"/>
            <a:ext cx="4256164" cy="2130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6405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37AB21-ABCF-ED1E-850E-F9E420AFD5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0F61C-7A94-9C7D-E2E0-DCB19BDAAA2C}"/>
              </a:ext>
            </a:extLst>
          </p:cNvPr>
          <p:cNvSpPr>
            <a:spLocks noGrp="1"/>
          </p:cNvSpPr>
          <p:nvPr>
            <p:ph type="title"/>
          </p:nvPr>
        </p:nvSpPr>
        <p:spPr>
          <a:xfrm>
            <a:off x="273234" y="572559"/>
            <a:ext cx="11029616" cy="1188720"/>
          </a:xfrm>
        </p:spPr>
        <p:txBody>
          <a:bodyPr>
            <a:normAutofit/>
          </a:bodyPr>
          <a:lstStyle/>
          <a:p>
            <a:r>
              <a:rPr lang="en-US" dirty="0">
                <a:solidFill>
                  <a:srgbClr val="51565E"/>
                </a:solidFill>
                <a:latin typeface="Roboto" panose="02000000000000000000" pitchFamily="2" charset="0"/>
              </a:rPr>
              <a:t>Platform</a:t>
            </a:r>
            <a:r>
              <a:rPr lang="en-US" sz="2800" dirty="0">
                <a:solidFill>
                  <a:srgbClr val="51565E"/>
                </a:solidFill>
                <a:latin typeface="Roboto" panose="02000000000000000000" pitchFamily="2" charset="0"/>
              </a:rPr>
              <a:t> as a Service </a:t>
            </a:r>
            <a:r>
              <a:rPr lang="en-US" dirty="0"/>
              <a:t>(PAAS)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56D52C97-E49D-E317-9DDB-D7B54A791803}"/>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Platform as a Service (PaaS)</a:t>
            </a:r>
          </a:p>
          <a:p>
            <a:pPr lvl="1">
              <a:lnSpc>
                <a:spcPts val="1950"/>
              </a:lnSpc>
              <a:spcAft>
                <a:spcPts val="1950"/>
              </a:spcAft>
            </a:pPr>
            <a:r>
              <a:rPr lang="en-US" dirty="0">
                <a:solidFill>
                  <a:srgbClr val="51565E"/>
                </a:solidFill>
                <a:latin typeface="Roboto" panose="02000000000000000000" pitchFamily="2" charset="0"/>
              </a:rPr>
              <a:t>PaaS vendors remove the need for organizations to manage the underlying infrastructure (usually hardware and operating systems), and this integration allows you to focus on the deployment and management of your applications. This helps you be more efficient, as you don’t need to worry about resource procurement, capacity planning, software maintenance, patching, or any of the other undifferentiated heavy lifting involved in running your application.</a:t>
            </a:r>
          </a:p>
        </p:txBody>
      </p:sp>
      <p:pic>
        <p:nvPicPr>
          <p:cNvPr id="5122" name="Picture 2" descr="Cloud Services | Types of Cloud Services | Cloud Services Benefits">
            <a:extLst>
              <a:ext uri="{FF2B5EF4-FFF2-40B4-BE49-F238E27FC236}">
                <a16:creationId xmlns:a16="http://schemas.microsoft.com/office/drawing/2014/main" id="{9025710C-D784-4DEC-F5E1-A94D8E0F1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5675" y="2867158"/>
            <a:ext cx="4670988" cy="2338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165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F43014E-1D4A-1B8E-B944-E55A39DA58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A21711-F8D7-EA84-2BFF-0843131E1D0C}"/>
              </a:ext>
            </a:extLst>
          </p:cNvPr>
          <p:cNvSpPr>
            <a:spLocks noGrp="1"/>
          </p:cNvSpPr>
          <p:nvPr>
            <p:ph type="title"/>
          </p:nvPr>
        </p:nvSpPr>
        <p:spPr>
          <a:xfrm>
            <a:off x="273234" y="572559"/>
            <a:ext cx="11029616" cy="1188720"/>
          </a:xfrm>
        </p:spPr>
        <p:txBody>
          <a:bodyPr>
            <a:normAutofit/>
          </a:bodyPr>
          <a:lstStyle/>
          <a:p>
            <a:r>
              <a:rPr lang="en-US" dirty="0">
                <a:solidFill>
                  <a:srgbClr val="51565E"/>
                </a:solidFill>
                <a:latin typeface="Roboto" panose="02000000000000000000" pitchFamily="2" charset="0"/>
              </a:rPr>
              <a:t>Software</a:t>
            </a:r>
            <a:r>
              <a:rPr lang="en-US" sz="2800" dirty="0">
                <a:solidFill>
                  <a:srgbClr val="51565E"/>
                </a:solidFill>
                <a:latin typeface="Roboto" panose="02000000000000000000" pitchFamily="2" charset="0"/>
              </a:rPr>
              <a:t> as a Service </a:t>
            </a:r>
            <a:r>
              <a:rPr lang="en-US" dirty="0"/>
              <a:t>(SAAS)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8CA55B2-456C-8CA1-48DB-B3D6AD435160}"/>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Software as a Service (SaaS)</a:t>
            </a:r>
          </a:p>
          <a:p>
            <a:pPr lvl="1">
              <a:lnSpc>
                <a:spcPts val="1950"/>
              </a:lnSpc>
              <a:spcAft>
                <a:spcPts val="1950"/>
              </a:spcAft>
            </a:pPr>
            <a:r>
              <a:rPr lang="en-US" dirty="0">
                <a:solidFill>
                  <a:srgbClr val="51565E"/>
                </a:solidFill>
                <a:latin typeface="Roboto" panose="02000000000000000000" pitchFamily="2" charset="0"/>
              </a:rPr>
              <a:t>SaaS vendors provide you with software applications that are run and managed by the vendor. In most cases, people referring to SaaS are referring to third-party end-user applications. With a SaaS offering you do not have to worry about how the service is maintained or how the underlying infrastructure is managed; you only need think about how you will use that particular piece of software. A common example of a SaaS application is web-based email where you can send and receive email without having to manage feature additions or maintain the servers and operating systems that the email program is running on.</a:t>
            </a:r>
          </a:p>
        </p:txBody>
      </p:sp>
      <p:pic>
        <p:nvPicPr>
          <p:cNvPr id="6146" name="Picture 2" descr="Cloud Services | Types of Cloud Services | Cloud Services Benefits">
            <a:extLst>
              <a:ext uri="{FF2B5EF4-FFF2-40B4-BE49-F238E27FC236}">
                <a16:creationId xmlns:a16="http://schemas.microsoft.com/office/drawing/2014/main" id="{5052ABFF-A784-003D-45A0-AECF2FF157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6229" y="2821097"/>
            <a:ext cx="4696762" cy="2351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8245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3F737-D5B5-81C3-8382-C2626F770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B8253-6329-43D3-8841-6EA29A0D6BE7}"/>
              </a:ext>
            </a:extLst>
          </p:cNvPr>
          <p:cNvSpPr>
            <a:spLocks noGrp="1"/>
          </p:cNvSpPr>
          <p:nvPr>
            <p:ph type="title"/>
          </p:nvPr>
        </p:nvSpPr>
        <p:spPr/>
        <p:txBody>
          <a:bodyPr>
            <a:normAutofit/>
          </a:bodyPr>
          <a:lstStyle/>
          <a:p>
            <a:r>
              <a:rPr lang="en-US" dirty="0"/>
              <a:t>BENEFITS to Cloud Computing</a:t>
            </a:r>
            <a:br>
              <a:rPr lang="en-US" dirty="0"/>
            </a:br>
            <a:endParaRPr lang="en-US" dirty="0"/>
          </a:p>
        </p:txBody>
      </p:sp>
      <p:sp>
        <p:nvSpPr>
          <p:cNvPr id="3" name="Text Placeholder 2">
            <a:extLst>
              <a:ext uri="{FF2B5EF4-FFF2-40B4-BE49-F238E27FC236}">
                <a16:creationId xmlns:a16="http://schemas.microsoft.com/office/drawing/2014/main" id="{FE5ECBEC-B5C0-352B-77C3-B042CA590ACE}"/>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312390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B6C510-82CB-4256-3C4F-34BABE4992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DC6A6-1DB8-74FE-A3B9-E5B35EBE8211}"/>
              </a:ext>
            </a:extLst>
          </p:cNvPr>
          <p:cNvSpPr>
            <a:spLocks noGrp="1"/>
          </p:cNvSpPr>
          <p:nvPr>
            <p:ph type="title"/>
          </p:nvPr>
        </p:nvSpPr>
        <p:spPr>
          <a:xfrm>
            <a:off x="273234" y="572559"/>
            <a:ext cx="11029616" cy="1188720"/>
          </a:xfrm>
        </p:spPr>
        <p:txBody>
          <a:bodyPr>
            <a:normAutofit/>
          </a:bodyPr>
          <a:lstStyle/>
          <a:p>
            <a:r>
              <a:rPr lang="en-US" dirty="0"/>
              <a:t>benefits of Cloud computing - AGILITY</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3CF92BA6-3314-F543-BB1B-5C3E6ABD0003}"/>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AGILITY</a:t>
            </a:r>
          </a:p>
          <a:p>
            <a:pPr lvl="1">
              <a:lnSpc>
                <a:spcPts val="1950"/>
              </a:lnSpc>
              <a:spcAft>
                <a:spcPts val="1950"/>
              </a:spcAft>
            </a:pPr>
            <a:r>
              <a:rPr lang="en-US" dirty="0">
                <a:solidFill>
                  <a:srgbClr val="51565E"/>
                </a:solidFill>
                <a:latin typeface="Roboto" panose="02000000000000000000" pitchFamily="2" charset="0"/>
              </a:rPr>
              <a:t>The cloud gives you easy access to a broad range of technologies so that you can innovate faster and build nearly anything that you can imagine. You can quickly spin up resources as you need them–from infrastructure services, such as compute, storage, and databases, to Internet of Things, machine learning, data lakes and analytics, and much more.</a:t>
            </a:r>
          </a:p>
          <a:p>
            <a:pPr lvl="1">
              <a:lnSpc>
                <a:spcPts val="1950"/>
              </a:lnSpc>
              <a:spcAft>
                <a:spcPts val="1950"/>
              </a:spcAft>
            </a:pPr>
            <a:r>
              <a:rPr lang="en-US" dirty="0">
                <a:solidFill>
                  <a:srgbClr val="51565E"/>
                </a:solidFill>
                <a:latin typeface="Roboto" panose="02000000000000000000" pitchFamily="2" charset="0"/>
              </a:rPr>
              <a:t>You can deploy technology services in a matter of minutes, and get from idea to implementation several orders of magnitude faster than before. This gives you the freedom to experiment, test new ideas to differentiate customer experiences, and transform your business</a:t>
            </a:r>
          </a:p>
          <a:p>
            <a:pPr lvl="1">
              <a:lnSpc>
                <a:spcPts val="1950"/>
              </a:lnSpc>
              <a:spcAft>
                <a:spcPts val="1950"/>
              </a:spcAft>
            </a:pPr>
            <a:endParaRPr lang="en-US" dirty="0">
              <a:solidFill>
                <a:srgbClr val="51565E"/>
              </a:solidFill>
              <a:latin typeface="Roboto" panose="02000000000000000000" pitchFamily="2" charset="0"/>
            </a:endParaRPr>
          </a:p>
        </p:txBody>
      </p:sp>
      <p:pic>
        <p:nvPicPr>
          <p:cNvPr id="4" name="Picture 3">
            <a:extLst>
              <a:ext uri="{FF2B5EF4-FFF2-40B4-BE49-F238E27FC236}">
                <a16:creationId xmlns:a16="http://schemas.microsoft.com/office/drawing/2014/main" id="{CB56C85E-2B0C-506D-B2F2-6A9BA3C07109}"/>
              </a:ext>
            </a:extLst>
          </p:cNvPr>
          <p:cNvPicPr>
            <a:picLocks noChangeAspect="1"/>
          </p:cNvPicPr>
          <p:nvPr/>
        </p:nvPicPr>
        <p:blipFill>
          <a:blip r:embed="rId2"/>
          <a:stretch>
            <a:fillRect/>
          </a:stretch>
        </p:blipFill>
        <p:spPr>
          <a:xfrm>
            <a:off x="7898397" y="3078500"/>
            <a:ext cx="2876550" cy="1590675"/>
          </a:xfrm>
          <a:prstGeom prst="rect">
            <a:avLst/>
          </a:prstGeom>
        </p:spPr>
      </p:pic>
    </p:spTree>
    <p:extLst>
      <p:ext uri="{BB962C8B-B14F-4D97-AF65-F5344CB8AC3E}">
        <p14:creationId xmlns:p14="http://schemas.microsoft.com/office/powerpoint/2010/main" val="2020638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19FF47-6198-3B5D-42F2-4B924F827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10536-7ECE-B44B-A691-B484389FE3E3}"/>
              </a:ext>
            </a:extLst>
          </p:cNvPr>
          <p:cNvSpPr>
            <a:spLocks noGrp="1"/>
          </p:cNvSpPr>
          <p:nvPr>
            <p:ph type="title"/>
          </p:nvPr>
        </p:nvSpPr>
        <p:spPr>
          <a:xfrm>
            <a:off x="273234" y="572559"/>
            <a:ext cx="11029616" cy="1188720"/>
          </a:xfrm>
        </p:spPr>
        <p:txBody>
          <a:bodyPr>
            <a:normAutofit/>
          </a:bodyPr>
          <a:lstStyle/>
          <a:p>
            <a:r>
              <a:rPr lang="en-US" dirty="0"/>
              <a:t>benefits of Cloud computing - ELASTICITY</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D56A0C8-93FA-24A2-BE2E-3A3E743829A1}"/>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ELASTICITY</a:t>
            </a:r>
          </a:p>
          <a:p>
            <a:pPr lvl="1">
              <a:lnSpc>
                <a:spcPts val="1950"/>
              </a:lnSpc>
              <a:spcAft>
                <a:spcPts val="1950"/>
              </a:spcAft>
            </a:pPr>
            <a:r>
              <a:rPr lang="en-US" dirty="0">
                <a:solidFill>
                  <a:srgbClr val="51565E"/>
                </a:solidFill>
                <a:latin typeface="Roboto" panose="02000000000000000000" pitchFamily="2" charset="0"/>
              </a:rPr>
              <a:t>With cloud computing, you don’t have to over-provision resources up front to handle peak levels of business activity in the future. Instead, you provision the amount of resources that you actually need. You can scale these resources up or down to instantly grow and shrink capacity as your business needs change. </a:t>
            </a:r>
          </a:p>
        </p:txBody>
      </p:sp>
      <p:pic>
        <p:nvPicPr>
          <p:cNvPr id="9218" name="Picture 2" descr="Cloud, elastic, elasticity icon ...">
            <a:extLst>
              <a:ext uri="{FF2B5EF4-FFF2-40B4-BE49-F238E27FC236}">
                <a16:creationId xmlns:a16="http://schemas.microsoft.com/office/drawing/2014/main" id="{20533659-E8DA-0389-0126-653ED3666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71551" y="297610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6132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EA88B4-829F-0102-F716-9AC7025AD9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D0B46B-361C-DEC1-8962-2CBC22D2146E}"/>
              </a:ext>
            </a:extLst>
          </p:cNvPr>
          <p:cNvSpPr>
            <a:spLocks noGrp="1"/>
          </p:cNvSpPr>
          <p:nvPr>
            <p:ph type="title"/>
          </p:nvPr>
        </p:nvSpPr>
        <p:spPr>
          <a:xfrm>
            <a:off x="273234" y="572559"/>
            <a:ext cx="11029616" cy="1188720"/>
          </a:xfrm>
        </p:spPr>
        <p:txBody>
          <a:bodyPr>
            <a:normAutofit/>
          </a:bodyPr>
          <a:lstStyle/>
          <a:p>
            <a:r>
              <a:rPr lang="en-US" dirty="0"/>
              <a:t>benefits of Cloud computing – COST SAVINGS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0ABB2977-3395-7D1A-BEA7-4B970C561F90}"/>
              </a:ext>
            </a:extLst>
          </p:cNvPr>
          <p:cNvSpPr>
            <a:spLocks noGrp="1"/>
          </p:cNvSpPr>
          <p:nvPr>
            <p:ph idx="1"/>
          </p:nvPr>
        </p:nvSpPr>
        <p:spPr>
          <a:xfrm>
            <a:off x="581192" y="2056595"/>
            <a:ext cx="6530281" cy="3634486"/>
          </a:xfrm>
        </p:spPr>
        <p:txBody>
          <a:bodyPr>
            <a:noAutofit/>
          </a:bodyPr>
          <a:lstStyle/>
          <a:p>
            <a:pPr>
              <a:lnSpc>
                <a:spcPts val="1950"/>
              </a:lnSpc>
              <a:spcAft>
                <a:spcPts val="1950"/>
              </a:spcAft>
            </a:pPr>
            <a:r>
              <a:rPr lang="en-US" sz="1400" dirty="0">
                <a:solidFill>
                  <a:srgbClr val="51565E"/>
                </a:solidFill>
                <a:latin typeface="Roboto" panose="02000000000000000000" pitchFamily="2" charset="0"/>
              </a:rPr>
              <a:t>COST SAVINGS</a:t>
            </a:r>
          </a:p>
          <a:p>
            <a:pPr lvl="1">
              <a:lnSpc>
                <a:spcPts val="1950"/>
              </a:lnSpc>
              <a:spcAft>
                <a:spcPts val="1950"/>
              </a:spcAft>
            </a:pPr>
            <a:r>
              <a:rPr lang="en-US" dirty="0">
                <a:solidFill>
                  <a:srgbClr val="51565E"/>
                </a:solidFill>
                <a:latin typeface="Roboto" panose="02000000000000000000" pitchFamily="2" charset="0"/>
              </a:rPr>
              <a:t>The cloud allows you to trade fixed expenses (such as data centers and physical servers) for variable expenses, and only pay for IT as you consume it. Plus, the variable expenses are much lower than what you would pay to do it yourself because of the economies of scale. </a:t>
            </a:r>
          </a:p>
        </p:txBody>
      </p:sp>
      <p:pic>
        <p:nvPicPr>
          <p:cNvPr id="10242" name="Picture 2" descr="How Does Organization Keep Cloud Costs ...">
            <a:extLst>
              <a:ext uri="{FF2B5EF4-FFF2-40B4-BE49-F238E27FC236}">
                <a16:creationId xmlns:a16="http://schemas.microsoft.com/office/drawing/2014/main" id="{F8967868-735A-E389-498D-049028BBBD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59725" y="2802275"/>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529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CFEA8B-F097-520B-B9AA-9568D33388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537240-07F4-5590-B107-244D58198222}"/>
              </a:ext>
            </a:extLst>
          </p:cNvPr>
          <p:cNvSpPr>
            <a:spLocks noGrp="1"/>
          </p:cNvSpPr>
          <p:nvPr>
            <p:ph type="title"/>
          </p:nvPr>
        </p:nvSpPr>
        <p:spPr>
          <a:xfrm>
            <a:off x="273234" y="572559"/>
            <a:ext cx="11029616" cy="1188720"/>
          </a:xfrm>
        </p:spPr>
        <p:txBody>
          <a:bodyPr>
            <a:normAutofit/>
          </a:bodyPr>
          <a:lstStyle/>
          <a:p>
            <a:r>
              <a:rPr lang="en-US" dirty="0"/>
              <a:t>benefits of Cloud computing – speed</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B2B052CD-F985-7E99-B26C-1A9B734443F6}"/>
              </a:ext>
            </a:extLst>
          </p:cNvPr>
          <p:cNvSpPr>
            <a:spLocks noGrp="1"/>
          </p:cNvSpPr>
          <p:nvPr>
            <p:ph idx="1"/>
          </p:nvPr>
        </p:nvSpPr>
        <p:spPr>
          <a:xfrm>
            <a:off x="581192" y="2056595"/>
            <a:ext cx="6530281" cy="3634486"/>
          </a:xfrm>
        </p:spPr>
        <p:txBody>
          <a:bodyPr>
            <a:noAutofit/>
          </a:bodyPr>
          <a:lstStyle/>
          <a:p>
            <a:pPr algn="l">
              <a:spcBef>
                <a:spcPts val="3000"/>
              </a:spcBef>
              <a:spcAft>
                <a:spcPts val="1125"/>
              </a:spcAft>
            </a:pPr>
            <a:r>
              <a:rPr lang="en-US" sz="1400" dirty="0">
                <a:solidFill>
                  <a:srgbClr val="51565E"/>
                </a:solidFill>
                <a:latin typeface="Roboto" panose="02000000000000000000" pitchFamily="2" charset="0"/>
              </a:rPr>
              <a:t>DEPLOY GLOBALLY IN MINUTES</a:t>
            </a:r>
          </a:p>
          <a:p>
            <a:pPr lvl="1">
              <a:lnSpc>
                <a:spcPts val="1950"/>
              </a:lnSpc>
              <a:spcAft>
                <a:spcPts val="1950"/>
              </a:spcAft>
            </a:pPr>
            <a:r>
              <a:rPr lang="en-US" dirty="0">
                <a:solidFill>
                  <a:srgbClr val="51565E"/>
                </a:solidFill>
                <a:latin typeface="Roboto" panose="02000000000000000000" pitchFamily="2" charset="0"/>
              </a:rPr>
              <a:t>With the cloud, you can expand to new geographic regions and deploy globally in minutes. For example, AWS, Azure and GCP has infrastructure all over the world, so you can deploy your application in multiple physical locations with just a few clicks. Putting applications in closer proximity to end users reduces latency and improves their experience.</a:t>
            </a:r>
          </a:p>
        </p:txBody>
      </p:sp>
      <p:pic>
        <p:nvPicPr>
          <p:cNvPr id="11268" name="Picture 4" descr="Enterprise Networking Planet">
            <a:extLst>
              <a:ext uri="{FF2B5EF4-FFF2-40B4-BE49-F238E27FC236}">
                <a16:creationId xmlns:a16="http://schemas.microsoft.com/office/drawing/2014/main" id="{1D774230-6D18-8DC0-E238-54719475BA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4825" y="3131603"/>
            <a:ext cx="3248025"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345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D0A7E-FF59-E209-7FEE-069F88F518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F72AE-9818-451C-8BCA-22868132F7BA}"/>
              </a:ext>
            </a:extLst>
          </p:cNvPr>
          <p:cNvSpPr>
            <a:spLocks noGrp="1"/>
          </p:cNvSpPr>
          <p:nvPr>
            <p:ph type="title"/>
          </p:nvPr>
        </p:nvSpPr>
        <p:spPr/>
        <p:txBody>
          <a:bodyPr>
            <a:normAutofit/>
          </a:bodyPr>
          <a:lstStyle/>
          <a:p>
            <a:r>
              <a:rPr lang="en-US" dirty="0"/>
              <a:t>Cloud SERVICE PROVIDERS</a:t>
            </a:r>
            <a:br>
              <a:rPr lang="en-US" dirty="0"/>
            </a:br>
            <a:endParaRPr lang="en-US" dirty="0"/>
          </a:p>
        </p:txBody>
      </p:sp>
      <p:sp>
        <p:nvSpPr>
          <p:cNvPr id="3" name="Text Placeholder 2">
            <a:extLst>
              <a:ext uri="{FF2B5EF4-FFF2-40B4-BE49-F238E27FC236}">
                <a16:creationId xmlns:a16="http://schemas.microsoft.com/office/drawing/2014/main" id="{942A4051-1C8D-D019-46CE-F24415D5D58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050789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EB5F91-63CE-A94F-32E7-D23EA01884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971170-2282-EA62-FE05-576AA3ECFFF9}"/>
              </a:ext>
            </a:extLst>
          </p:cNvPr>
          <p:cNvSpPr>
            <a:spLocks noGrp="1"/>
          </p:cNvSpPr>
          <p:nvPr>
            <p:ph type="title"/>
          </p:nvPr>
        </p:nvSpPr>
        <p:spPr>
          <a:xfrm>
            <a:off x="273234" y="572559"/>
            <a:ext cx="11029616" cy="1188720"/>
          </a:xfrm>
        </p:spPr>
        <p:txBody>
          <a:bodyPr>
            <a:normAutofit/>
          </a:bodyPr>
          <a:lstStyle/>
          <a:p>
            <a:r>
              <a:rPr lang="en-US" dirty="0"/>
              <a:t>Cloud SERVICE Provider’s</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28B8D1C-FAC7-3FF7-475F-D0A2B441B926}"/>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The term “cloud services” refers to a wide range of services delivered to companies and customers over the Internet. These services make it easy for employees to have access to various business applications and information. Whether they’re aware of it, from checking email to collaborating on documents, most employees use cloud services throughout the workday. Cloud computing vendors and service providers fully manage services provided through cloud computing. You don’t have to host applications on your servers. Instead, they can be accessed from the servers of a cloud service provider.</a:t>
            </a:r>
          </a:p>
        </p:txBody>
      </p:sp>
      <p:pic>
        <p:nvPicPr>
          <p:cNvPr id="12290" name="Picture 2" descr="What are Cloud Service Providers | How ...">
            <a:extLst>
              <a:ext uri="{FF2B5EF4-FFF2-40B4-BE49-F238E27FC236}">
                <a16:creationId xmlns:a16="http://schemas.microsoft.com/office/drawing/2014/main" id="{6B2D2724-4C4F-1AEE-A4BD-09992E237F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119" y="2809530"/>
            <a:ext cx="3014231" cy="2050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5562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E54392-CD81-7E45-DB72-0A32D982B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A7BB4F-9643-3CDD-CDCE-DC323F87D7FB}"/>
              </a:ext>
            </a:extLst>
          </p:cNvPr>
          <p:cNvSpPr>
            <a:spLocks noGrp="1"/>
          </p:cNvSpPr>
          <p:nvPr>
            <p:ph type="title"/>
          </p:nvPr>
        </p:nvSpPr>
        <p:spPr>
          <a:xfrm>
            <a:off x="273234" y="572559"/>
            <a:ext cx="11029616" cy="1188720"/>
          </a:xfrm>
        </p:spPr>
        <p:txBody>
          <a:bodyPr>
            <a:normAutofit/>
          </a:bodyPr>
          <a:lstStyle/>
          <a:p>
            <a:r>
              <a:rPr lang="en-US" dirty="0"/>
              <a:t>Cloud SERVICE Provider	-  AZURE </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53D09E9-06DF-A224-0A78-89290EEBEEBB}"/>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Microsoft Azure is a cloud computing platform and service offered by Microsoft that provides a wide range of solutions including computing, storage, networking, databases, AI, and DevOps tools. It enables organizations to build, deploy, and manage applications through Microsoft-managed data centers across the globe. Azure supports hybrid cloud setups, multiple programming languages, and frameworks, making it ideal for businesses of all sizes to scale efficiently and securely.</a:t>
            </a:r>
          </a:p>
        </p:txBody>
      </p:sp>
      <p:pic>
        <p:nvPicPr>
          <p:cNvPr id="13314" name="Picture 2" descr="Microsoft Azure - Integrations with ...">
            <a:extLst>
              <a:ext uri="{FF2B5EF4-FFF2-40B4-BE49-F238E27FC236}">
                <a16:creationId xmlns:a16="http://schemas.microsoft.com/office/drawing/2014/main" id="{38BFC078-96C6-1548-B521-D98A413995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77505" y="2871121"/>
            <a:ext cx="3541736" cy="1983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2336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F72309-C22E-3AE1-ED8C-E160EAC7F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76131F-2CDE-B365-FE5F-AA9489ED0385}"/>
              </a:ext>
            </a:extLst>
          </p:cNvPr>
          <p:cNvSpPr>
            <a:spLocks noGrp="1"/>
          </p:cNvSpPr>
          <p:nvPr>
            <p:ph type="title"/>
          </p:nvPr>
        </p:nvSpPr>
        <p:spPr>
          <a:xfrm>
            <a:off x="273234" y="572559"/>
            <a:ext cx="11029616" cy="1188720"/>
          </a:xfrm>
        </p:spPr>
        <p:txBody>
          <a:bodyPr>
            <a:normAutofit/>
          </a:bodyPr>
          <a:lstStyle/>
          <a:p>
            <a:r>
              <a:rPr lang="en-US" dirty="0"/>
              <a:t>Cloud SERVICE Provider	-  AWS </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7676059E-A738-7533-3D2D-FF9823AD0351}"/>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Amazon Web Services (AWS) is a comprehensive cloud computing platform by Amazon that offers on-demand services such as computing power, storage, databases, machine learning, and analytics. It enables businesses to build and scale applications efficiently through a global network of data centers. Known for its flexibility, security, and vast service offerings, AWS supports various workloads including web hosting, big data, DevOps, and enterprise applications.</a:t>
            </a:r>
          </a:p>
        </p:txBody>
      </p:sp>
      <p:pic>
        <p:nvPicPr>
          <p:cNvPr id="14338" name="Picture 2" descr="Amazon Web Services (AWS) - inovex GmbH">
            <a:extLst>
              <a:ext uri="{FF2B5EF4-FFF2-40B4-BE49-F238E27FC236}">
                <a16:creationId xmlns:a16="http://schemas.microsoft.com/office/drawing/2014/main" id="{C3E28620-F546-F89C-6784-7B3264F5F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5240" y="2674873"/>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127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44DF7C-4E9C-DEDF-600E-8FE7F9E789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1A1D0-4142-5E3A-3130-5139840C6B2A}"/>
              </a:ext>
            </a:extLst>
          </p:cNvPr>
          <p:cNvSpPr>
            <a:spLocks noGrp="1"/>
          </p:cNvSpPr>
          <p:nvPr>
            <p:ph type="title"/>
          </p:nvPr>
        </p:nvSpPr>
        <p:spPr>
          <a:xfrm>
            <a:off x="273234" y="572559"/>
            <a:ext cx="11029616" cy="1188720"/>
          </a:xfrm>
        </p:spPr>
        <p:txBody>
          <a:bodyPr>
            <a:normAutofit/>
          </a:bodyPr>
          <a:lstStyle/>
          <a:p>
            <a:r>
              <a:rPr lang="en-US" dirty="0"/>
              <a:t>Cloud SERVICE Provider	-  GCP </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604315B-A34A-5E82-F100-F9C0171E2AC1}"/>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Google Cloud Platform (GCP) is a suite of cloud computing services offered by Google that enables organizations to build, deploy, and scale applications using Google’s infrastructure. It provides services for computing, storage, databases, machine learning, analytics, and more. GCP is known for its strong data analytics capabilities, AI tools, and integration with open-source technologies. It supports modern cloud-native development and offers a secure, scalable environment for businesses of all sizes.</a:t>
            </a:r>
          </a:p>
        </p:txBody>
      </p:sp>
      <p:pic>
        <p:nvPicPr>
          <p:cNvPr id="15362" name="Picture 2" descr="Google Cloud Platform (GCP) - The Core Tech">
            <a:extLst>
              <a:ext uri="{FF2B5EF4-FFF2-40B4-BE49-F238E27FC236}">
                <a16:creationId xmlns:a16="http://schemas.microsoft.com/office/drawing/2014/main" id="{DDA5B0A8-9F6A-9DF7-5836-480F7BD22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3641" y="3035638"/>
            <a:ext cx="2724150"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0376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CEFADF-7840-8B8C-2822-67A48E29A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965D2-85E2-B29F-2E89-36C8D207F455}"/>
              </a:ext>
            </a:extLst>
          </p:cNvPr>
          <p:cNvSpPr>
            <a:spLocks noGrp="1"/>
          </p:cNvSpPr>
          <p:nvPr>
            <p:ph type="title"/>
          </p:nvPr>
        </p:nvSpPr>
        <p:spPr>
          <a:xfrm>
            <a:off x="273234" y="572559"/>
            <a:ext cx="11029616" cy="1188720"/>
          </a:xfrm>
        </p:spPr>
        <p:txBody>
          <a:bodyPr>
            <a:normAutofit/>
          </a:bodyPr>
          <a:lstStyle/>
          <a:p>
            <a:r>
              <a:rPr lang="en-US" dirty="0"/>
              <a:t>Cloud SERVICE Provider	-  ORACLE</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358F97F-07F0-9D0F-A9BE-EB7F0F1A13C3}"/>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Oracle Cloud is a cloud computing platform offered by Oracle that provides a comprehensive suite of services, including computing, storage, databases, analytics, AI, and enterprise applications. It is known for its powerful database services, especially Oracle Autonomous Database, and is designed for high performance, security, and scalability. Oracle Cloud supports hybrid and multi-cloud environments, making it ideal for enterprise workloads and mission-critical applications.</a:t>
            </a:r>
          </a:p>
        </p:txBody>
      </p:sp>
      <p:pic>
        <p:nvPicPr>
          <p:cNvPr id="16386" name="Picture 2" descr="Oracle Cloud">
            <a:extLst>
              <a:ext uri="{FF2B5EF4-FFF2-40B4-BE49-F238E27FC236}">
                <a16:creationId xmlns:a16="http://schemas.microsoft.com/office/drawing/2014/main" id="{5873DFC6-D5BD-AD5C-22CF-D8666DE971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3685" y="2647408"/>
            <a:ext cx="2581275" cy="1771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50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0B6E52-E7B4-66CA-274E-A04E5F71C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0CC7E2-DE03-F7D5-2973-DF79CC8517B8}"/>
              </a:ext>
            </a:extLst>
          </p:cNvPr>
          <p:cNvSpPr>
            <a:spLocks noGrp="1"/>
          </p:cNvSpPr>
          <p:nvPr>
            <p:ph type="title"/>
          </p:nvPr>
        </p:nvSpPr>
        <p:spPr>
          <a:xfrm>
            <a:off x="273234" y="572559"/>
            <a:ext cx="11029616" cy="1188720"/>
          </a:xfrm>
        </p:spPr>
        <p:txBody>
          <a:bodyPr>
            <a:normAutofit/>
          </a:bodyPr>
          <a:lstStyle/>
          <a:p>
            <a:r>
              <a:rPr lang="en-US" dirty="0"/>
              <a:t>Cloud SERVICE Provider	-  HUAWEI</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199F27DB-CC83-C91B-1941-74B954A8F395}"/>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r>
              <a:rPr lang="en-US" dirty="0">
                <a:solidFill>
                  <a:srgbClr val="51565E"/>
                </a:solidFill>
                <a:latin typeface="Roboto" panose="02000000000000000000" pitchFamily="2" charset="0"/>
              </a:rPr>
              <a:t>Huawei Cloud is a cloud computing platform provided by Huawei, offering a wide range of services including computing, storage, AI, big data, and networking. It supports digital transformation for businesses across various industries with a focus on innovation, security, and cost-efficiency. Known for its strong presence in Asia, Huawei Cloud enables scalable and intelligent cloud solutions, and supports hybrid and multi-cloud environments.</a:t>
            </a:r>
          </a:p>
        </p:txBody>
      </p:sp>
      <p:pic>
        <p:nvPicPr>
          <p:cNvPr id="17410" name="Picture 2" descr="South African cloud market boosts ...">
            <a:extLst>
              <a:ext uri="{FF2B5EF4-FFF2-40B4-BE49-F238E27FC236}">
                <a16:creationId xmlns:a16="http://schemas.microsoft.com/office/drawing/2014/main" id="{A067EBFD-43F8-A506-48A4-489C639616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31847" y="2572022"/>
            <a:ext cx="283845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1487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835FF-7CD7-4FCE-67EE-772E9480A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DFF60E-1AAF-7DF5-FFF6-F2E926A7F72A}"/>
              </a:ext>
            </a:extLst>
          </p:cNvPr>
          <p:cNvSpPr>
            <a:spLocks noGrp="1"/>
          </p:cNvSpPr>
          <p:nvPr>
            <p:ph type="title"/>
          </p:nvPr>
        </p:nvSpPr>
        <p:spPr/>
        <p:txBody>
          <a:bodyPr>
            <a:normAutofit/>
          </a:bodyPr>
          <a:lstStyle/>
          <a:p>
            <a:r>
              <a:rPr lang="en-US" dirty="0"/>
              <a:t>Cloud SHARED RESPONSIBILITY</a:t>
            </a:r>
            <a:br>
              <a:rPr lang="en-US" dirty="0"/>
            </a:br>
            <a:endParaRPr lang="en-US" dirty="0"/>
          </a:p>
        </p:txBody>
      </p:sp>
      <p:sp>
        <p:nvSpPr>
          <p:cNvPr id="3" name="Text Placeholder 2">
            <a:extLst>
              <a:ext uri="{FF2B5EF4-FFF2-40B4-BE49-F238E27FC236}">
                <a16:creationId xmlns:a16="http://schemas.microsoft.com/office/drawing/2014/main" id="{9C44DE97-746E-2A81-1A85-804CE07CB09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15228589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C226788-3B83-9413-E5A5-B62E67CD0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3AC117-FA95-7CCD-407B-B5B36EA1CEB6}"/>
              </a:ext>
            </a:extLst>
          </p:cNvPr>
          <p:cNvSpPr>
            <a:spLocks noGrp="1"/>
          </p:cNvSpPr>
          <p:nvPr>
            <p:ph type="title"/>
          </p:nvPr>
        </p:nvSpPr>
        <p:spPr>
          <a:xfrm>
            <a:off x="273234" y="572559"/>
            <a:ext cx="11029616" cy="1188720"/>
          </a:xfrm>
        </p:spPr>
        <p:txBody>
          <a:bodyPr>
            <a:normAutofit/>
          </a:bodyPr>
          <a:lstStyle/>
          <a:p>
            <a:r>
              <a:rPr lang="en-US" dirty="0">
                <a:solidFill>
                  <a:srgbClr val="51565E"/>
                </a:solidFill>
                <a:latin typeface="Roboto" panose="02000000000000000000" pitchFamily="2" charset="0"/>
              </a:rPr>
              <a:t>RESPONSIBILITY MATRIX</a:t>
            </a:r>
            <a:br>
              <a:rPr lang="en-US" b="0" i="0" dirty="0">
                <a:solidFill>
                  <a:srgbClr val="272C37"/>
                </a:solidFill>
                <a:effectLst/>
                <a:latin typeface="Roboto" panose="02000000000000000000" pitchFamily="2" charset="0"/>
              </a:rPr>
            </a:br>
            <a:endParaRPr lang="en-NG" dirty="0"/>
          </a:p>
        </p:txBody>
      </p:sp>
      <p:pic>
        <p:nvPicPr>
          <p:cNvPr id="7170" name="Picture 2" descr="An Introduction to Cloud Computing, Cloud Service Models, and Cloud  Deployment Models | by Joy Joel | AWS in Plain English">
            <a:extLst>
              <a:ext uri="{FF2B5EF4-FFF2-40B4-BE49-F238E27FC236}">
                <a16:creationId xmlns:a16="http://schemas.microsoft.com/office/drawing/2014/main" id="{0FCADAA6-D5AE-B3D2-74AF-E3ECBEA524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298" y="1858036"/>
            <a:ext cx="8837619" cy="423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379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22C73-7D4B-F08C-2A32-DF55F9FA9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A3F449-D801-19F7-C329-A3B656D819C6}"/>
              </a:ext>
            </a:extLst>
          </p:cNvPr>
          <p:cNvSpPr>
            <a:spLocks noGrp="1"/>
          </p:cNvSpPr>
          <p:nvPr>
            <p:ph type="title"/>
          </p:nvPr>
        </p:nvSpPr>
        <p:spPr/>
        <p:txBody>
          <a:bodyPr>
            <a:normAutofit/>
          </a:bodyPr>
          <a:lstStyle/>
          <a:p>
            <a:r>
              <a:rPr lang="en-US" dirty="0"/>
              <a:t>Securing Cloud Infrastructure and Data</a:t>
            </a:r>
            <a:br>
              <a:rPr lang="en-US" dirty="0"/>
            </a:br>
            <a:endParaRPr lang="en-US" dirty="0"/>
          </a:p>
        </p:txBody>
      </p:sp>
      <p:sp>
        <p:nvSpPr>
          <p:cNvPr id="3" name="Text Placeholder 2">
            <a:extLst>
              <a:ext uri="{FF2B5EF4-FFF2-40B4-BE49-F238E27FC236}">
                <a16:creationId xmlns:a16="http://schemas.microsoft.com/office/drawing/2014/main" id="{038F2034-EF39-2EEC-0760-C0336FACE2F2}"/>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3663469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A996B2-76B5-5621-C110-7B1F53DF6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47278-D91C-2084-7EB7-2DDD5562F2B7}"/>
              </a:ext>
            </a:extLst>
          </p:cNvPr>
          <p:cNvSpPr>
            <a:spLocks noGrp="1"/>
          </p:cNvSpPr>
          <p:nvPr>
            <p:ph type="title"/>
          </p:nvPr>
        </p:nvSpPr>
        <p:spPr>
          <a:xfrm>
            <a:off x="273234" y="572559"/>
            <a:ext cx="11029616" cy="1188720"/>
          </a:xfrm>
        </p:spPr>
        <p:txBody>
          <a:bodyPr>
            <a:normAutofit/>
          </a:bodyPr>
          <a:lstStyle/>
          <a:p>
            <a:r>
              <a:rPr lang="en-US" dirty="0"/>
              <a:t>Securing Cloud Infrastructure and Data</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26FF582-8305-CAB0-FAE6-09674643881B}"/>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Identity and Access Management (IAM) </a:t>
            </a:r>
          </a:p>
          <a:p>
            <a:pPr lvl="2">
              <a:lnSpc>
                <a:spcPts val="1950"/>
              </a:lnSpc>
              <a:spcAft>
                <a:spcPts val="1950"/>
              </a:spcAft>
            </a:pPr>
            <a:r>
              <a:rPr lang="en-US" b="1" dirty="0"/>
              <a:t>IAM</a:t>
            </a:r>
            <a:r>
              <a:rPr lang="en-US" dirty="0"/>
              <a:t> is the framework of policies and technologies that ensures the </a:t>
            </a:r>
            <a:r>
              <a:rPr lang="en-US" b="1" dirty="0"/>
              <a:t>right individuals have the appropriate access</a:t>
            </a:r>
            <a:r>
              <a:rPr lang="en-US" dirty="0"/>
              <a:t> to technology resources in cloud environments. It is foundational to securing cloud infrastructure, as it controls </a:t>
            </a:r>
            <a:r>
              <a:rPr lang="en-US" b="1" dirty="0"/>
              <a:t>who can access what, when, and how.</a:t>
            </a:r>
            <a:endParaRPr lang="en-US" dirty="0">
              <a:solidFill>
                <a:srgbClr val="51565E"/>
              </a:solidFill>
              <a:latin typeface="Roboto" panose="02000000000000000000" pitchFamily="2" charset="0"/>
            </a:endParaRPr>
          </a:p>
        </p:txBody>
      </p:sp>
      <p:pic>
        <p:nvPicPr>
          <p:cNvPr id="18435" name="Picture 3" descr="Identity and Access Management (IAM ...">
            <a:extLst>
              <a:ext uri="{FF2B5EF4-FFF2-40B4-BE49-F238E27FC236}">
                <a16:creationId xmlns:a16="http://schemas.microsoft.com/office/drawing/2014/main" id="{E24DFAD3-7ED1-8977-3422-F200368C28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0890" y="3202325"/>
            <a:ext cx="2962275" cy="1543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3712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1D420E-FA75-A989-904C-698F162204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F7262A-505A-EAC4-9203-0673D198F5F2}"/>
              </a:ext>
            </a:extLst>
          </p:cNvPr>
          <p:cNvSpPr>
            <a:spLocks noGrp="1"/>
          </p:cNvSpPr>
          <p:nvPr>
            <p:ph type="title"/>
          </p:nvPr>
        </p:nvSpPr>
        <p:spPr>
          <a:xfrm>
            <a:off x="273234" y="572559"/>
            <a:ext cx="11029616" cy="1188720"/>
          </a:xfrm>
        </p:spPr>
        <p:txBody>
          <a:bodyPr>
            <a:normAutofit/>
          </a:bodyPr>
          <a:lstStyle/>
          <a:p>
            <a:r>
              <a:rPr lang="en-US" dirty="0"/>
              <a:t>Securing Cloud Infrastructure and Data</a:t>
            </a: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61CADABE-9199-A880-0C9E-DF9DAF25E936}"/>
              </a:ext>
            </a:extLst>
          </p:cNvPr>
          <p:cNvSpPr>
            <a:spLocks noGrp="1"/>
          </p:cNvSpPr>
          <p:nvPr>
            <p:ph idx="1"/>
          </p:nvPr>
        </p:nvSpPr>
        <p:spPr>
          <a:xfrm>
            <a:off x="581192" y="2056595"/>
            <a:ext cx="6530281" cy="3634486"/>
          </a:xfrm>
        </p:spPr>
        <p:txBody>
          <a:bodyPr>
            <a:noAutofit/>
          </a:bodyPr>
          <a:lstStyle/>
          <a:p>
            <a:pPr lvl="1">
              <a:lnSpc>
                <a:spcPts val="1950"/>
              </a:lnSpc>
              <a:spcAft>
                <a:spcPts val="1950"/>
              </a:spcAft>
            </a:pPr>
            <a:endParaRPr lang="en-US" dirty="0">
              <a:solidFill>
                <a:srgbClr val="51565E"/>
              </a:solidFill>
              <a:latin typeface="Roboto" panose="02000000000000000000" pitchFamily="2" charset="0"/>
            </a:endParaRPr>
          </a:p>
          <a:p>
            <a:pPr lvl="1">
              <a:lnSpc>
                <a:spcPts val="1950"/>
              </a:lnSpc>
              <a:spcAft>
                <a:spcPts val="1950"/>
              </a:spcAft>
            </a:pPr>
            <a:r>
              <a:rPr lang="en-US" dirty="0"/>
              <a:t>Network Security</a:t>
            </a:r>
          </a:p>
          <a:p>
            <a:pPr lvl="2">
              <a:lnSpc>
                <a:spcPts val="1950"/>
              </a:lnSpc>
              <a:spcAft>
                <a:spcPts val="1950"/>
              </a:spcAft>
            </a:pPr>
            <a:r>
              <a:rPr lang="en-US" dirty="0"/>
              <a:t>Network security is a critical pillar in protecting cloud infrastructure by controlling and monitoring the flow of data between systems, users, and services. It ensures that only authorized traffic is allowed, prevents unauthorized access, and detects malicious activities within the network.</a:t>
            </a:r>
          </a:p>
        </p:txBody>
      </p:sp>
      <p:pic>
        <p:nvPicPr>
          <p:cNvPr id="19458" name="Picture 2" descr="The Importance of Network Security ...">
            <a:extLst>
              <a:ext uri="{FF2B5EF4-FFF2-40B4-BE49-F238E27FC236}">
                <a16:creationId xmlns:a16="http://schemas.microsoft.com/office/drawing/2014/main" id="{17F64E66-4AD0-58B5-5DD7-1826DCF187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45350" y="3183225"/>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34507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1FEBE-C655-1227-6A4E-E9C25A668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475C6D-969F-B630-5987-81A7D9CA0B2B}"/>
              </a:ext>
            </a:extLst>
          </p:cNvPr>
          <p:cNvSpPr>
            <a:spLocks noGrp="1"/>
          </p:cNvSpPr>
          <p:nvPr>
            <p:ph type="title"/>
          </p:nvPr>
        </p:nvSpPr>
        <p:spPr/>
        <p:txBody>
          <a:bodyPr/>
          <a:lstStyle/>
          <a:p>
            <a:r>
              <a:rPr lang="en-US" dirty="0"/>
              <a:t>Refresher-  LAST CLASS</a:t>
            </a:r>
            <a:endParaRPr lang="en-NG" dirty="0"/>
          </a:p>
        </p:txBody>
      </p:sp>
      <p:sp>
        <p:nvSpPr>
          <p:cNvPr id="6" name="Content Placeholder 2">
            <a:extLst>
              <a:ext uri="{FF2B5EF4-FFF2-40B4-BE49-F238E27FC236}">
                <a16:creationId xmlns:a16="http://schemas.microsoft.com/office/drawing/2014/main" id="{3BA7CA11-8E09-CC38-16B4-CFA1B6D76F12}"/>
              </a:ext>
            </a:extLst>
          </p:cNvPr>
          <p:cNvSpPr txBox="1">
            <a:spLocks/>
          </p:cNvSpPr>
          <p:nvPr/>
        </p:nvSpPr>
        <p:spPr>
          <a:xfrm>
            <a:off x="623498" y="2668929"/>
            <a:ext cx="11029950" cy="3633787"/>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r>
              <a:rPr lang="en-US" dirty="0"/>
              <a:t>Cloud Computing Concepts</a:t>
            </a:r>
          </a:p>
          <a:p>
            <a:pPr lvl="1"/>
            <a:r>
              <a:rPr lang="en-US" dirty="0"/>
              <a:t>Introduction to Cloud Computing</a:t>
            </a:r>
          </a:p>
          <a:p>
            <a:pPr lvl="1"/>
            <a:r>
              <a:rPr lang="en-US" dirty="0"/>
              <a:t>Introduction to Cloud Computing Models (IaaS, SaaS, PaaS)</a:t>
            </a:r>
          </a:p>
          <a:p>
            <a:pPr lvl="1"/>
            <a:r>
              <a:rPr lang="en-US" dirty="0"/>
              <a:t>Benefits and Challenges of Cloud Computing</a:t>
            </a:r>
          </a:p>
          <a:p>
            <a:pPr lvl="1"/>
            <a:r>
              <a:rPr lang="en-US" dirty="0"/>
              <a:t>Cloud Service Providers (AWS, Azure, GCP, Huawei &amp; Oracle)</a:t>
            </a:r>
          </a:p>
          <a:p>
            <a:pPr lvl="1"/>
            <a:r>
              <a:rPr lang="en-US" dirty="0"/>
              <a:t>Cloud Security Basics (Shared Responsibility Model)</a:t>
            </a:r>
          </a:p>
          <a:p>
            <a:pPr lvl="1"/>
            <a:r>
              <a:rPr lang="en-US" dirty="0"/>
              <a:t>Securing Cloud Infrastructure and Data</a:t>
            </a:r>
          </a:p>
          <a:p>
            <a:pPr lvl="1"/>
            <a:r>
              <a:rPr lang="en-US" dirty="0"/>
              <a:t>Compliance in the Cloud</a:t>
            </a:r>
          </a:p>
          <a:p>
            <a:pPr lvl="1"/>
            <a:r>
              <a:rPr lang="en-US" dirty="0"/>
              <a:t>Class Demo and Assignment</a:t>
            </a:r>
          </a:p>
          <a:p>
            <a:pPr marL="324000" lvl="1" indent="0">
              <a:buFont typeface="Wingdings 2" panose="05020102010507070707" pitchFamily="18" charset="2"/>
              <a:buNone/>
            </a:pPr>
            <a:endParaRPr lang="en-US" dirty="0"/>
          </a:p>
          <a:p>
            <a:pPr lvl="2"/>
            <a:endParaRPr lang="en-US" dirty="0"/>
          </a:p>
          <a:p>
            <a:endParaRPr lang="en-NG" dirty="0"/>
          </a:p>
        </p:txBody>
      </p:sp>
    </p:spTree>
    <p:extLst>
      <p:ext uri="{BB962C8B-B14F-4D97-AF65-F5344CB8AC3E}">
        <p14:creationId xmlns:p14="http://schemas.microsoft.com/office/powerpoint/2010/main" val="3661319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1B6AA-524B-C5EB-FA9F-E1F5B7495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2674E1-18A6-4BCD-A29B-7FC0CFBE209C}"/>
              </a:ext>
            </a:extLst>
          </p:cNvPr>
          <p:cNvSpPr>
            <a:spLocks noGrp="1"/>
          </p:cNvSpPr>
          <p:nvPr>
            <p:ph type="title"/>
          </p:nvPr>
        </p:nvSpPr>
        <p:spPr/>
        <p:txBody>
          <a:bodyPr/>
          <a:lstStyle/>
          <a:p>
            <a:r>
              <a:rPr lang="en-US" dirty="0"/>
              <a:t>MONTH 4 -  WEEK 1</a:t>
            </a:r>
            <a:endParaRPr lang="en-NG" dirty="0"/>
          </a:p>
        </p:txBody>
      </p:sp>
      <p:sp>
        <p:nvSpPr>
          <p:cNvPr id="4" name="Content Placeholder 2">
            <a:extLst>
              <a:ext uri="{FF2B5EF4-FFF2-40B4-BE49-F238E27FC236}">
                <a16:creationId xmlns:a16="http://schemas.microsoft.com/office/drawing/2014/main" id="{AEBA2CF3-B4DB-0803-C564-0955C2E77AAD}"/>
              </a:ext>
            </a:extLst>
          </p:cNvPr>
          <p:cNvSpPr>
            <a:spLocks noGrp="1"/>
          </p:cNvSpPr>
          <p:nvPr>
            <p:ph idx="1"/>
          </p:nvPr>
        </p:nvSpPr>
        <p:spPr>
          <a:xfrm>
            <a:off x="623498" y="2668929"/>
            <a:ext cx="11029950" cy="3633787"/>
          </a:xfrm>
        </p:spPr>
        <p:txBody>
          <a:bodyPr>
            <a:normAutofit/>
          </a:bodyPr>
          <a:lstStyle/>
          <a:p>
            <a:r>
              <a:rPr lang="en-US" dirty="0"/>
              <a:t>Identity and Access Management</a:t>
            </a:r>
          </a:p>
          <a:p>
            <a:pPr lvl="1"/>
            <a:r>
              <a:rPr lang="en-US" dirty="0"/>
              <a:t>Introduction to Identity and Access Management Principles</a:t>
            </a:r>
          </a:p>
          <a:p>
            <a:pPr lvl="1"/>
            <a:r>
              <a:rPr lang="en-US" dirty="0"/>
              <a:t>Core Concepts -  Identification, Authentication, Authorization</a:t>
            </a:r>
            <a:r>
              <a:rPr lang="en-US"/>
              <a:t>, Accountability</a:t>
            </a:r>
            <a:endParaRPr lang="en-US" dirty="0"/>
          </a:p>
          <a:p>
            <a:pPr lvl="1"/>
            <a:r>
              <a:rPr lang="en-US" dirty="0"/>
              <a:t>Benefits and Challenges of Cloud Computing</a:t>
            </a:r>
          </a:p>
          <a:p>
            <a:pPr lvl="1"/>
            <a:r>
              <a:rPr lang="en-US" dirty="0"/>
              <a:t>Cloud Service Providers (AWS, Azure, GCP, Huawei &amp; Oracle)</a:t>
            </a:r>
          </a:p>
          <a:p>
            <a:pPr lvl="1"/>
            <a:r>
              <a:rPr lang="en-US" dirty="0"/>
              <a:t>Cloud Security Basics (Shared Responsibility Model)</a:t>
            </a:r>
          </a:p>
          <a:p>
            <a:pPr lvl="1"/>
            <a:r>
              <a:rPr lang="en-US" dirty="0"/>
              <a:t>Securing Cloud Infrastructure and Data</a:t>
            </a:r>
          </a:p>
          <a:p>
            <a:pPr lvl="1"/>
            <a:r>
              <a:rPr lang="en-US" dirty="0"/>
              <a:t>Compliance in the Cloud</a:t>
            </a:r>
          </a:p>
          <a:p>
            <a:pPr lvl="1"/>
            <a:r>
              <a:rPr lang="en-US" dirty="0"/>
              <a:t>Class Demo and Assignment</a:t>
            </a:r>
          </a:p>
          <a:p>
            <a:endParaRPr lang="en-US" dirty="0"/>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2335568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08BD-7936-D4F7-D159-884F978BC30C}"/>
              </a:ext>
            </a:extLst>
          </p:cNvPr>
          <p:cNvSpPr>
            <a:spLocks noGrp="1"/>
          </p:cNvSpPr>
          <p:nvPr>
            <p:ph type="title"/>
          </p:nvPr>
        </p:nvSpPr>
        <p:spPr/>
        <p:txBody>
          <a:bodyPr/>
          <a:lstStyle/>
          <a:p>
            <a:endParaRPr lang="en-NG" dirty="0"/>
          </a:p>
        </p:txBody>
      </p:sp>
      <p:sp>
        <p:nvSpPr>
          <p:cNvPr id="3" name="Content Placeholder 2">
            <a:extLst>
              <a:ext uri="{FF2B5EF4-FFF2-40B4-BE49-F238E27FC236}">
                <a16:creationId xmlns:a16="http://schemas.microsoft.com/office/drawing/2014/main" id="{05F06389-9314-1228-85B9-9459D28C804D}"/>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192711687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25359</TotalTime>
  <Words>1907</Words>
  <Application>Microsoft Office PowerPoint</Application>
  <PresentationFormat>Widescreen</PresentationFormat>
  <Paragraphs>115</Paragraphs>
  <Slides>32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Calibri</vt:lpstr>
      <vt:lpstr>Franklin Gothic Book</vt:lpstr>
      <vt:lpstr>Franklin Gothic Demi</vt:lpstr>
      <vt:lpstr>Roboto</vt:lpstr>
      <vt:lpstr>Wingdings 2</vt:lpstr>
      <vt:lpstr>DividendVTI</vt:lpstr>
      <vt:lpstr>ALTSCHOOL OF Cybersecurity (BARAKA 2025)</vt:lpstr>
      <vt:lpstr>Refresher-  week2</vt:lpstr>
      <vt:lpstr>MONTH 3 -  WEEK 4</vt:lpstr>
      <vt:lpstr>Introduction to Cloud Computing </vt:lpstr>
      <vt:lpstr>WHAT IS Cloud computing ?  </vt:lpstr>
      <vt:lpstr>Cloud computing  </vt:lpstr>
      <vt:lpstr>Cloud computing  </vt:lpstr>
      <vt:lpstr>Introduction to Cloud Computing MODELS </vt:lpstr>
      <vt:lpstr>Cloud Computing Models (IaaS, SaaS, PaaS) </vt:lpstr>
      <vt:lpstr>Infrastructure as a Service (IAAS) </vt:lpstr>
      <vt:lpstr>Platform as a Service (PAAS) </vt:lpstr>
      <vt:lpstr>Software as a Service (SAAS) </vt:lpstr>
      <vt:lpstr>BENEFITS to Cloud Computing </vt:lpstr>
      <vt:lpstr>benefits of Cloud computing - AGILITY </vt:lpstr>
      <vt:lpstr>benefits of Cloud computing - ELASTICITY </vt:lpstr>
      <vt:lpstr>benefits of Cloud computing – COST SAVINGS </vt:lpstr>
      <vt:lpstr>benefits of Cloud computing – speed </vt:lpstr>
      <vt:lpstr>Cloud SERVICE PROVIDERS </vt:lpstr>
      <vt:lpstr>Cloud SERVICE Provider’s </vt:lpstr>
      <vt:lpstr>Cloud SERVICE Provider -  AZURE  </vt:lpstr>
      <vt:lpstr>Cloud SERVICE Provider -  AWS  </vt:lpstr>
      <vt:lpstr>Cloud SERVICE Provider -  GCP  </vt:lpstr>
      <vt:lpstr>Cloud SERVICE Provider -  ORACLE </vt:lpstr>
      <vt:lpstr>Cloud SERVICE Provider -  HUAWEI </vt:lpstr>
      <vt:lpstr>Cloud SHARED RESPONSIBILITY </vt:lpstr>
      <vt:lpstr>RESPONSIBILITY MATRIX </vt:lpstr>
      <vt:lpstr>Securing Cloud Infrastructure and Data </vt:lpstr>
      <vt:lpstr>Securing Cloud Infrastructure and Data </vt:lpstr>
      <vt:lpstr>Securing Cloud Infrastructure and Data </vt:lpstr>
      <vt:lpstr>Refresher-  LAST CLASS</vt:lpstr>
      <vt:lpstr>MONTH 4 -  WEEK 1</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16</cp:revision>
  <dcterms:created xsi:type="dcterms:W3CDTF">2025-03-19T13:29:09Z</dcterms:created>
  <dcterms:modified xsi:type="dcterms:W3CDTF">2025-05-23T16:15:33Z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