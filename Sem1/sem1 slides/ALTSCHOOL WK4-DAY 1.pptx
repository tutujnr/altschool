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sldIdLst>
    <p:sldId id="257" r:id="rId5"/>
    <p:sldId id="288" r:id="rId6"/>
    <p:sldId id="260" r:id="rId7"/>
    <p:sldId id="268" r:id="rId8"/>
    <p:sldId id="296" r:id="rId9"/>
    <p:sldId id="297" r:id="rId10"/>
    <p:sldId id="298" r:id="rId11"/>
    <p:sldId id="300" r:id="rId12"/>
    <p:sldId id="29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6" autoAdjust="0"/>
    <p:restoredTop sz="94619" autoAdjust="0"/>
  </p:normalViewPr>
  <p:slideViewPr>
    <p:cSldViewPr snapToGrid="0">
      <p:cViewPr varScale="1">
        <p:scale>
          <a:sx n="66" d="100"/>
          <a:sy n="66" d="100"/>
        </p:scale>
        <p:origin x="75" y="18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Week 4</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D8F4E-4B98-2857-8D00-2D26893C1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00634-5033-7A89-B0D3-38874F6DBB45}"/>
              </a:ext>
            </a:extLst>
          </p:cNvPr>
          <p:cNvSpPr>
            <a:spLocks noGrp="1"/>
          </p:cNvSpPr>
          <p:nvPr>
            <p:ph type="title"/>
          </p:nvPr>
        </p:nvSpPr>
        <p:spPr>
          <a:xfrm>
            <a:off x="581192" y="702156"/>
            <a:ext cx="11029616" cy="1000123"/>
          </a:xfrm>
        </p:spPr>
        <p:txBody>
          <a:bodyPr/>
          <a:lstStyle/>
          <a:p>
            <a:r>
              <a:rPr lang="en-US" dirty="0"/>
              <a:t>REFRESHER – WK 3 DAY2</a:t>
            </a:r>
            <a:endParaRPr lang="en-NG" dirty="0"/>
          </a:p>
        </p:txBody>
      </p:sp>
      <p:sp>
        <p:nvSpPr>
          <p:cNvPr id="3" name="Content Placeholder 2">
            <a:extLst>
              <a:ext uri="{FF2B5EF4-FFF2-40B4-BE49-F238E27FC236}">
                <a16:creationId xmlns:a16="http://schemas.microsoft.com/office/drawing/2014/main" id="{87F4B577-5896-5534-2CB0-3D03EDDA4CCB}"/>
              </a:ext>
            </a:extLst>
          </p:cNvPr>
          <p:cNvSpPr>
            <a:spLocks noGrp="1"/>
          </p:cNvSpPr>
          <p:nvPr>
            <p:ph idx="1"/>
          </p:nvPr>
        </p:nvSpPr>
        <p:spPr>
          <a:xfrm>
            <a:off x="845735" y="2532979"/>
            <a:ext cx="7464378" cy="3237551"/>
          </a:xfrm>
        </p:spPr>
        <p:txBody>
          <a:bodyPr>
            <a:normAutofit/>
          </a:bodyPr>
          <a:lstStyle/>
          <a:p>
            <a:r>
              <a:rPr lang="en-US" dirty="0"/>
              <a:t>Risk Assessment</a:t>
            </a:r>
          </a:p>
          <a:p>
            <a:r>
              <a:rPr lang="en-US" dirty="0"/>
              <a:t>Risk Assessment &amp; Analysis</a:t>
            </a:r>
          </a:p>
          <a:p>
            <a:r>
              <a:rPr lang="en-US" dirty="0"/>
              <a:t>Risk Mitigation (Control Implementation)</a:t>
            </a:r>
          </a:p>
          <a:p>
            <a:r>
              <a:rPr lang="en-US" dirty="0"/>
              <a:t>Risk Monitoring &amp; Detection</a:t>
            </a:r>
          </a:p>
          <a:p>
            <a:r>
              <a:rPr lang="en-US" dirty="0"/>
              <a:t>Incident Response &amp; Recovery</a:t>
            </a:r>
          </a:p>
          <a:p>
            <a:r>
              <a:rPr lang="en-US" dirty="0"/>
              <a:t>Labs: Deployed VM an AWS and Created Sophos Central Account</a:t>
            </a:r>
          </a:p>
          <a:p>
            <a:endParaRPr lang="en-US" dirty="0"/>
          </a:p>
          <a:p>
            <a:endParaRPr lang="en-US" dirty="0"/>
          </a:p>
          <a:p>
            <a:endParaRPr lang="en-NG" dirty="0"/>
          </a:p>
        </p:txBody>
      </p:sp>
    </p:spTree>
    <p:extLst>
      <p:ext uri="{BB962C8B-B14F-4D97-AF65-F5344CB8AC3E}">
        <p14:creationId xmlns:p14="http://schemas.microsoft.com/office/powerpoint/2010/main" val="1774820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Week 4 – DAY 1</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fontScale="70000" lnSpcReduction="20000"/>
          </a:bodyPr>
          <a:lstStyle/>
          <a:p>
            <a:r>
              <a:rPr lang="en-US" dirty="0"/>
              <a:t>Overview Legal Frameworks</a:t>
            </a:r>
          </a:p>
          <a:p>
            <a:pPr lvl="1"/>
            <a:r>
              <a:rPr lang="en-US" dirty="0"/>
              <a:t>Introduction to key Legislation and Regulations (GDPR, HIPAA, CCPA, etc.)</a:t>
            </a:r>
          </a:p>
          <a:p>
            <a:pPr lvl="2"/>
            <a:r>
              <a:rPr lang="en-US" dirty="0">
                <a:solidFill>
                  <a:schemeClr val="tx1"/>
                </a:solidFill>
                <a:latin typeface="Roboto" panose="02000000000000000000" pitchFamily="2" charset="0"/>
              </a:rPr>
              <a:t>Importance of Data Protection and Privacy Laws</a:t>
            </a:r>
          </a:p>
          <a:p>
            <a:pPr lvl="2"/>
            <a:r>
              <a:rPr lang="en-US" dirty="0"/>
              <a:t>The growing need for compliance in a digital world</a:t>
            </a:r>
            <a:r>
              <a:rPr lang="en-US" dirty="0">
                <a:solidFill>
                  <a:schemeClr val="tx1"/>
                </a:solidFill>
                <a:latin typeface="Roboto" panose="02000000000000000000" pitchFamily="2" charset="0"/>
              </a:rPr>
              <a:t> </a:t>
            </a:r>
          </a:p>
          <a:p>
            <a:pPr lvl="2"/>
            <a:r>
              <a:rPr lang="en-US" dirty="0"/>
              <a:t>Understanding Data Privacy &amp; Security Regulation</a:t>
            </a:r>
          </a:p>
          <a:p>
            <a:pPr lvl="2"/>
            <a:endParaRPr lang="en-US" dirty="0"/>
          </a:p>
          <a:p>
            <a:pPr lvl="1"/>
            <a:r>
              <a:rPr lang="en-US" dirty="0"/>
              <a:t>Compliance Requirements and Standards</a:t>
            </a:r>
          </a:p>
          <a:p>
            <a:pPr lvl="1"/>
            <a:r>
              <a:rPr lang="en-US" dirty="0"/>
              <a:t>Intellectual Property and Copyright Laws</a:t>
            </a:r>
          </a:p>
          <a:p>
            <a:r>
              <a:rPr lang="en-US" dirty="0"/>
              <a:t>DEFENSE IN DEPTH</a:t>
            </a:r>
          </a:p>
          <a:p>
            <a:pPr lvl="1"/>
            <a:r>
              <a:rPr lang="en-US" dirty="0"/>
              <a:t>LEAST PRIVILEDGE</a:t>
            </a:r>
          </a:p>
          <a:p>
            <a:pPr lvl="1"/>
            <a:r>
              <a:rPr lang="en-US" dirty="0"/>
              <a:t>SEPERATION/SEGREGATION OF DUTIES  </a:t>
            </a:r>
          </a:p>
          <a:p>
            <a:pPr lvl="1"/>
            <a:r>
              <a:rPr lang="en-US" dirty="0"/>
              <a:t> SECURITY THROUGH OBSCRUITY</a:t>
            </a:r>
          </a:p>
          <a:p>
            <a:pPr lvl="1"/>
            <a:r>
              <a:rPr lang="en-US" dirty="0"/>
              <a:t>FAIL SAFE DEFAULTS</a:t>
            </a:r>
          </a:p>
          <a:p>
            <a:pPr lvl="1"/>
            <a:endParaRPr lang="en-US" dirty="0"/>
          </a:p>
          <a:p>
            <a:pPr lvl="1"/>
            <a:r>
              <a:rPr lang="en-US" dirty="0"/>
              <a:t>LABS: SOPHOS CENTRAL</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27227-E3E5-C45A-9650-2883CA9DA059}"/>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8F481F77-5707-B003-73EB-80CF5E43E97F}"/>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Importance of Data Protection and Privacy Laws </a:t>
            </a:r>
            <a:r>
              <a:rPr lang="en-US" b="0" i="0" dirty="0">
                <a:solidFill>
                  <a:schemeClr val="tx1"/>
                </a:solidFill>
                <a:effectLst/>
                <a:latin typeface="Roboto" panose="02000000000000000000" pitchFamily="2" charset="0"/>
              </a:rPr>
              <a:t>- </a:t>
            </a:r>
            <a:r>
              <a:rPr lang="en-US" dirty="0"/>
              <a:t>Data protection and privacy laws are essential in today’s digital world, where vast amounts of personal and sensitive information are collected, stored, and processed by organizations. These laws help safeguard individuals' rights, ensure businesses handle data responsibly, and protect against cyber threats and data misuse.</a:t>
            </a:r>
            <a:endParaRPr lang="en-NG" dirty="0">
              <a:solidFill>
                <a:schemeClr val="tx1"/>
              </a:solidFill>
            </a:endParaRPr>
          </a:p>
        </p:txBody>
      </p:sp>
      <p:pic>
        <p:nvPicPr>
          <p:cNvPr id="1026" name="Picture 2" descr="data protection laws ...">
            <a:extLst>
              <a:ext uri="{FF2B5EF4-FFF2-40B4-BE49-F238E27FC236}">
                <a16:creationId xmlns:a16="http://schemas.microsoft.com/office/drawing/2014/main" id="{E014D3DF-021B-E102-BA96-446BFC9BC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3514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956E7-B111-4801-C366-8C3C81607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7856A-389D-0085-20FB-969BFA745467}"/>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88115C3A-0853-97C4-BBBD-7CC4F6271556}"/>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The growing need for compliance in a digital world </a:t>
            </a:r>
            <a:r>
              <a:rPr lang="en-US" i="0" dirty="0">
                <a:solidFill>
                  <a:schemeClr val="tx1"/>
                </a:solidFill>
                <a:effectLst/>
                <a:latin typeface="Roboto" panose="02000000000000000000" pitchFamily="2" charset="0"/>
              </a:rPr>
              <a:t>- </a:t>
            </a:r>
          </a:p>
          <a:p>
            <a:pPr marL="0" indent="0">
              <a:buNone/>
            </a:pPr>
            <a:r>
              <a:rPr lang="en-US" dirty="0"/>
              <a:t>In today’s fast-evolving digital landscape, the need for organizations to comply with data protection and privacy regulations has become more critical than ever. The rapid expansion of digital technologies, cloud computing, and global connectivity has resulted in an unprecedented volume of data being created, shared, and stored. This transformation presents significant risks, making regulatory compliance essential to safeguard sensitive information and ensure business continuity.</a:t>
            </a:r>
            <a:endParaRPr lang="en-NG" dirty="0">
              <a:solidFill>
                <a:schemeClr val="tx1"/>
              </a:solidFill>
            </a:endParaRPr>
          </a:p>
        </p:txBody>
      </p:sp>
      <p:pic>
        <p:nvPicPr>
          <p:cNvPr id="1026" name="Picture 2" descr="data protection laws ...">
            <a:extLst>
              <a:ext uri="{FF2B5EF4-FFF2-40B4-BE49-F238E27FC236}">
                <a16:creationId xmlns:a16="http://schemas.microsoft.com/office/drawing/2014/main" id="{0DFA6914-F896-C0BC-5434-F4A8917EA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9565" y="2975353"/>
            <a:ext cx="4624114" cy="2312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5133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D472C-9297-6B04-8B38-789E39B14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8550D-8AC8-F045-5035-312D40E7045D}"/>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32218638-0447-21E8-EAB2-12D8B4BA0819}"/>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Understanding Data Privacy &amp; Security Regulation</a:t>
            </a:r>
            <a:r>
              <a:rPr lang="en-US" i="0" dirty="0">
                <a:solidFill>
                  <a:schemeClr val="tx1"/>
                </a:solidFill>
                <a:effectLst/>
                <a:latin typeface="Roboto" panose="02000000000000000000" pitchFamily="2" charset="0"/>
              </a:rPr>
              <a:t>- </a:t>
            </a:r>
            <a:r>
              <a:rPr lang="en-US" b="1" dirty="0"/>
              <a:t>Data protection and privacy laws</a:t>
            </a:r>
            <a:r>
              <a:rPr lang="en-US" dirty="0"/>
              <a:t> are legal frameworks designed to regulate how personal and sensitive information is collected, processed, stored, shared, and secured by organizations. These laws aim to protect individuals’ rights to privacy while ensuring that businesses handle data responsibly and securely.</a:t>
            </a: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9C24C11F-B91A-B40C-396D-A3B842E735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623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5C682-6166-F951-D61B-2FB92445E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1A861-042C-3F18-2080-883C72C693C3}"/>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25EF538E-3D0C-EAB9-2D13-64A3BEC62B80}"/>
              </a:ext>
            </a:extLst>
          </p:cNvPr>
          <p:cNvSpPr>
            <a:spLocks noGrp="1"/>
          </p:cNvSpPr>
          <p:nvPr>
            <p:ph idx="1"/>
          </p:nvPr>
        </p:nvSpPr>
        <p:spPr>
          <a:xfrm>
            <a:off x="512181" y="2363868"/>
            <a:ext cx="5471692" cy="3634486"/>
          </a:xfrm>
        </p:spPr>
        <p:txBody>
          <a:bodyPr>
            <a:normAutofit/>
          </a:bodyPr>
          <a:lstStyle/>
          <a:p>
            <a:pPr algn="just">
              <a:buNone/>
            </a:pPr>
            <a:r>
              <a:rPr lang="en-US" b="1" dirty="0">
                <a:solidFill>
                  <a:schemeClr val="tx1"/>
                </a:solidFill>
                <a:latin typeface="Roboto" panose="02000000000000000000" pitchFamily="2" charset="0"/>
              </a:rPr>
              <a:t>Data Protection Laws</a:t>
            </a:r>
          </a:p>
          <a:p>
            <a:pPr algn="just">
              <a:buNone/>
            </a:pPr>
            <a:r>
              <a:rPr lang="en-US" dirty="0"/>
              <a:t>      Data protection laws govern the security and management o personal data to prevent unauthorized access, misuse, or breaches. They establish guidelines for:</a:t>
            </a:r>
          </a:p>
          <a:p>
            <a:pPr algn="just">
              <a:buFont typeface="Arial" panose="020B0604020202020204" pitchFamily="34" charset="0"/>
              <a:buChar char="•"/>
            </a:pPr>
            <a:r>
              <a:rPr lang="en-US" dirty="0"/>
              <a:t>How organizations collect and store data</a:t>
            </a:r>
          </a:p>
          <a:p>
            <a:pPr algn="just">
              <a:buFont typeface="Arial" panose="020B0604020202020204" pitchFamily="34" charset="0"/>
              <a:buChar char="•"/>
            </a:pPr>
            <a:r>
              <a:rPr lang="en-US" dirty="0"/>
              <a:t>Who can access the data</a:t>
            </a:r>
          </a:p>
          <a:p>
            <a:pPr algn="just">
              <a:buFont typeface="Arial" panose="020B0604020202020204" pitchFamily="34" charset="0"/>
              <a:buChar char="•"/>
            </a:pPr>
            <a:r>
              <a:rPr lang="en-US" dirty="0"/>
              <a:t>How data should be transferred and protected</a:t>
            </a:r>
          </a:p>
          <a:p>
            <a:pPr algn="just">
              <a:buFont typeface="Arial" panose="020B0604020202020204" pitchFamily="34" charset="0"/>
              <a:buChar char="•"/>
            </a:pPr>
            <a:r>
              <a:rPr lang="en-US" dirty="0"/>
              <a:t>The security measures required to prevent breaches</a:t>
            </a:r>
          </a:p>
          <a:p>
            <a:pPr marL="0" indent="0" algn="just">
              <a:buNone/>
            </a:pP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F052D0A1-E10F-2FB5-1CE2-914E392DB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271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D44C9-C444-D423-81D1-A580F1E0F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906485-9DC5-9880-E9AD-888FB193EC23}"/>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F0565001-7CCA-05E1-B0C1-135B3D6414F8}"/>
              </a:ext>
            </a:extLst>
          </p:cNvPr>
          <p:cNvSpPr>
            <a:spLocks noGrp="1"/>
          </p:cNvSpPr>
          <p:nvPr>
            <p:ph idx="1"/>
          </p:nvPr>
        </p:nvSpPr>
        <p:spPr>
          <a:xfrm>
            <a:off x="512181" y="2363868"/>
            <a:ext cx="5471692" cy="3634486"/>
          </a:xfrm>
        </p:spPr>
        <p:txBody>
          <a:bodyPr>
            <a:normAutofit/>
          </a:bodyPr>
          <a:lstStyle/>
          <a:p>
            <a:pPr algn="just">
              <a:buNone/>
            </a:pPr>
            <a:r>
              <a:rPr lang="en-US" b="1" dirty="0">
                <a:solidFill>
                  <a:schemeClr val="tx1"/>
                </a:solidFill>
                <a:latin typeface="Roboto" panose="02000000000000000000" pitchFamily="2" charset="0"/>
              </a:rPr>
              <a:t>Data Privacy Laws</a:t>
            </a:r>
          </a:p>
          <a:p>
            <a:pPr>
              <a:buNone/>
            </a:pPr>
            <a:r>
              <a:rPr lang="en-US" dirty="0"/>
              <a:t>      Data privacy laws focus on ensuring that individuals have control over their personal information. These laws define:</a:t>
            </a:r>
          </a:p>
          <a:p>
            <a:pPr>
              <a:buFont typeface="Arial" panose="020B0604020202020204" pitchFamily="34" charset="0"/>
              <a:buChar char="•"/>
            </a:pPr>
            <a:r>
              <a:rPr lang="en-US" dirty="0"/>
              <a:t>The rights of individuals over their data (e.g., access, deletion, rectification)</a:t>
            </a:r>
          </a:p>
          <a:p>
            <a:pPr>
              <a:buFont typeface="Arial" panose="020B0604020202020204" pitchFamily="34" charset="0"/>
              <a:buChar char="•"/>
            </a:pPr>
            <a:r>
              <a:rPr lang="en-US" dirty="0"/>
              <a:t>The obligations of organizations in obtaining consent and being transparent</a:t>
            </a:r>
          </a:p>
          <a:p>
            <a:pPr>
              <a:buFont typeface="Arial" panose="020B0604020202020204" pitchFamily="34" charset="0"/>
              <a:buChar char="•"/>
            </a:pPr>
            <a:r>
              <a:rPr lang="en-US" dirty="0"/>
              <a:t>How data can or cannot be shared with third parties</a:t>
            </a:r>
          </a:p>
          <a:p>
            <a:pPr marL="0" indent="0" algn="just">
              <a:buNone/>
            </a:pP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992E0AB6-1A9B-6AC3-90B0-FBC4F05047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98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1639-81EA-C7AD-1BE7-1315AE1BB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165CF-0880-D4D0-1814-162EAA04BA02}"/>
              </a:ext>
            </a:extLst>
          </p:cNvPr>
          <p:cNvSpPr>
            <a:spLocks noGrp="1"/>
          </p:cNvSpPr>
          <p:nvPr>
            <p:ph type="title"/>
          </p:nvPr>
        </p:nvSpPr>
        <p:spPr/>
        <p:txBody>
          <a:bodyPr>
            <a:normAutofit/>
          </a:bodyPr>
          <a:lstStyle/>
          <a:p>
            <a:r>
              <a:rPr lang="en-US" dirty="0"/>
              <a:t>Introduction to key Legislation and Regulations</a:t>
            </a:r>
            <a:br>
              <a:rPr lang="en-US" dirty="0"/>
            </a:br>
            <a:endParaRPr lang="en-NG" dirty="0"/>
          </a:p>
        </p:txBody>
      </p:sp>
      <p:sp>
        <p:nvSpPr>
          <p:cNvPr id="3" name="Content Placeholder 2">
            <a:extLst>
              <a:ext uri="{FF2B5EF4-FFF2-40B4-BE49-F238E27FC236}">
                <a16:creationId xmlns:a16="http://schemas.microsoft.com/office/drawing/2014/main" id="{B62BDB6D-2C57-575C-6182-007BA3C7DE04}"/>
              </a:ext>
            </a:extLst>
          </p:cNvPr>
          <p:cNvSpPr>
            <a:spLocks noGrp="1"/>
          </p:cNvSpPr>
          <p:nvPr>
            <p:ph idx="1"/>
          </p:nvPr>
        </p:nvSpPr>
        <p:spPr>
          <a:xfrm>
            <a:off x="512181" y="2363868"/>
            <a:ext cx="5471692" cy="3634486"/>
          </a:xfrm>
        </p:spPr>
        <p:txBody>
          <a:bodyPr/>
          <a:lstStyle/>
          <a:p>
            <a:r>
              <a:rPr lang="en-US" b="1" dirty="0">
                <a:solidFill>
                  <a:schemeClr val="tx1"/>
                </a:solidFill>
                <a:latin typeface="Roboto" panose="02000000000000000000" pitchFamily="2" charset="0"/>
              </a:rPr>
              <a:t>Understanding Data Privacy &amp; Security Regulation</a:t>
            </a:r>
            <a:r>
              <a:rPr lang="en-US" i="0" dirty="0">
                <a:solidFill>
                  <a:schemeClr val="tx1"/>
                </a:solidFill>
                <a:effectLst/>
                <a:latin typeface="Roboto" panose="02000000000000000000" pitchFamily="2" charset="0"/>
              </a:rPr>
              <a:t>- </a:t>
            </a:r>
            <a:r>
              <a:rPr lang="en-US" b="1" dirty="0"/>
              <a:t>Data protection and privacy laws</a:t>
            </a:r>
            <a:r>
              <a:rPr lang="en-US" dirty="0"/>
              <a:t> are legal frameworks designed to regulate how personal and sensitive information is collected, processed, stored, shared, and secured by organizations. These laws aim to protect individuals’ rights to privacy while ensuring that businesses handle data responsibly and securely.</a:t>
            </a:r>
            <a:endParaRPr lang="en-NG" dirty="0">
              <a:solidFill>
                <a:schemeClr val="tx1"/>
              </a:solidFill>
            </a:endParaRPr>
          </a:p>
        </p:txBody>
      </p:sp>
      <p:pic>
        <p:nvPicPr>
          <p:cNvPr id="2050" name="Picture 2" descr="What is Data Privacy: Detailed Analysis, Legal Framework &amp; Examples">
            <a:extLst>
              <a:ext uri="{FF2B5EF4-FFF2-40B4-BE49-F238E27FC236}">
                <a16:creationId xmlns:a16="http://schemas.microsoft.com/office/drawing/2014/main" id="{2C824ABD-3500-90CF-2EE5-5B728A5F4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4214" y="2908718"/>
            <a:ext cx="2800360" cy="2800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68399"/>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3167</TotalTime>
  <Words>534</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Franklin Gothic Book</vt:lpstr>
      <vt:lpstr>Franklin Gothic Demi</vt:lpstr>
      <vt:lpstr>Roboto</vt:lpstr>
      <vt:lpstr>Wingdings 2</vt:lpstr>
      <vt:lpstr>DividendVTI</vt:lpstr>
      <vt:lpstr>ALTSCHOOL OF Cybersecurity (BARAKA 2025)</vt:lpstr>
      <vt:lpstr>REFRESHER – WK 3 DAY2</vt:lpstr>
      <vt:lpstr>Week 4 – DAY 1</vt:lpstr>
      <vt:lpstr>Introduction to key Legislation and Regulations </vt:lpstr>
      <vt:lpstr>Introduction to key Legislation and Regulations </vt:lpstr>
      <vt:lpstr>Introduction to key Legislation and Regulations </vt:lpstr>
      <vt:lpstr>Introduction to key Legislation and Regulations </vt:lpstr>
      <vt:lpstr>Introduction to key Legislation and Regulations </vt:lpstr>
      <vt:lpstr>Introduction to key Legislation and Regulations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4</cp:revision>
  <dcterms:created xsi:type="dcterms:W3CDTF">2025-03-19T13:29:09Z</dcterms:created>
  <dcterms:modified xsi:type="dcterms:W3CDTF">2025-04-04T16:43:17Z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