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52"/>
  </p:notesMasterIdLst>
  <p:sldIdLst>
    <p:sldId id="257" r:id="rId5"/>
    <p:sldId id="260" r:id="rId6"/>
    <p:sldId id="359" r:id="rId7"/>
    <p:sldId id="302" r:id="rId8"/>
    <p:sldId id="285" r:id="rId9"/>
    <p:sldId id="362" r:id="rId10"/>
    <p:sldId id="363" r:id="rId11"/>
    <p:sldId id="366" r:id="rId12"/>
    <p:sldId id="367" r:id="rId13"/>
    <p:sldId id="368" r:id="rId14"/>
    <p:sldId id="369" r:id="rId15"/>
    <p:sldId id="365" r:id="rId16"/>
    <p:sldId id="370" r:id="rId17"/>
    <p:sldId id="364" r:id="rId18"/>
    <p:sldId id="372" r:id="rId19"/>
    <p:sldId id="371" r:id="rId20"/>
    <p:sldId id="373" r:id="rId21"/>
    <p:sldId id="374" r:id="rId22"/>
    <p:sldId id="360" r:id="rId23"/>
    <p:sldId id="375" r:id="rId24"/>
    <p:sldId id="376" r:id="rId25"/>
    <p:sldId id="377" r:id="rId26"/>
    <p:sldId id="379" r:id="rId27"/>
    <p:sldId id="380" r:id="rId28"/>
    <p:sldId id="381" r:id="rId29"/>
    <p:sldId id="382" r:id="rId30"/>
    <p:sldId id="383" r:id="rId31"/>
    <p:sldId id="384" r:id="rId32"/>
    <p:sldId id="385" r:id="rId33"/>
    <p:sldId id="386" r:id="rId34"/>
    <p:sldId id="387" r:id="rId35"/>
    <p:sldId id="388" r:id="rId36"/>
    <p:sldId id="389" r:id="rId37"/>
    <p:sldId id="390" r:id="rId38"/>
    <p:sldId id="392" r:id="rId39"/>
    <p:sldId id="393" r:id="rId40"/>
    <p:sldId id="394" r:id="rId41"/>
    <p:sldId id="396" r:id="rId42"/>
    <p:sldId id="397" r:id="rId43"/>
    <p:sldId id="398" r:id="rId44"/>
    <p:sldId id="399" r:id="rId45"/>
    <p:sldId id="400" r:id="rId46"/>
    <p:sldId id="401" r:id="rId47"/>
    <p:sldId id="402" r:id="rId48"/>
    <p:sldId id="403" r:id="rId49"/>
    <p:sldId id="395" r:id="rId50"/>
    <p:sldId id="39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19" autoAdjust="0"/>
  </p:normalViewPr>
  <p:slideViewPr>
    <p:cSldViewPr snapToGrid="0">
      <p:cViewPr varScale="1">
        <p:scale>
          <a:sx n="66" d="100"/>
          <a:sy n="66" d="100"/>
        </p:scale>
        <p:origin x="75" y="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03/04/2025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544F6D5-FFE7-49F7-9D51-00EE85B0B2CE}" type="slidenum">
              <a:rPr lang="en-NG" smtClean="0"/>
              <a:t>13</a:t>
            </a:fld>
            <a:endParaRPr lang="en-NG"/>
          </a:p>
        </p:txBody>
      </p:sp>
    </p:spTree>
    <p:extLst>
      <p:ext uri="{BB962C8B-B14F-4D97-AF65-F5344CB8AC3E}">
        <p14:creationId xmlns:p14="http://schemas.microsoft.com/office/powerpoint/2010/main" val="17374896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4/3/2025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2 – WEEK 5</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REFRESHER – LAST WEEK</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a:bodyPr>
          <a:lstStyle/>
          <a:p>
            <a:r>
              <a:rPr lang="en-US" dirty="0"/>
              <a:t>Overview Legal Frameworks</a:t>
            </a:r>
          </a:p>
          <a:p>
            <a:pPr lvl="1"/>
            <a:r>
              <a:rPr lang="en-US" dirty="0"/>
              <a:t>Introduction to key Legislation and Regulations (GDPR, HIPAA, CCPA, etc.)</a:t>
            </a:r>
          </a:p>
          <a:p>
            <a:pPr lvl="2"/>
            <a:r>
              <a:rPr lang="en-US" dirty="0">
                <a:solidFill>
                  <a:schemeClr val="tx1"/>
                </a:solidFill>
                <a:latin typeface="Roboto" panose="02000000000000000000" pitchFamily="2" charset="0"/>
              </a:rPr>
              <a:t>Importance of Data Protection and Privacy Laws</a:t>
            </a:r>
          </a:p>
          <a:p>
            <a:pPr lvl="2"/>
            <a:r>
              <a:rPr lang="en-US" dirty="0"/>
              <a:t>The growing need for compliance in a digital world</a:t>
            </a:r>
            <a:r>
              <a:rPr lang="en-US" dirty="0">
                <a:solidFill>
                  <a:schemeClr val="tx1"/>
                </a:solidFill>
                <a:latin typeface="Roboto" panose="02000000000000000000" pitchFamily="2" charset="0"/>
              </a:rPr>
              <a:t> </a:t>
            </a:r>
          </a:p>
          <a:p>
            <a:pPr lvl="2"/>
            <a:r>
              <a:rPr lang="en-US" dirty="0"/>
              <a:t>Understanding Data Privacy &amp; Security Regulation</a:t>
            </a:r>
          </a:p>
          <a:p>
            <a:pPr lvl="1"/>
            <a:r>
              <a:rPr lang="en-US" dirty="0"/>
              <a:t>Compliance Requirements and Standards</a:t>
            </a:r>
          </a:p>
          <a:p>
            <a:pPr lvl="1"/>
            <a:r>
              <a:rPr lang="en-US" dirty="0"/>
              <a:t>Intellectual Property and Copyright Laws</a:t>
            </a:r>
          </a:p>
          <a:p>
            <a:r>
              <a:rPr lang="en-US" dirty="0"/>
              <a:t>Ethical Hacking </a:t>
            </a:r>
          </a:p>
          <a:p>
            <a:pPr lvl="1"/>
            <a:r>
              <a:rPr lang="en-US" dirty="0"/>
              <a:t>Introduction to Ethical Hacking</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Month 2 -  WEEK 5 (Day 1)</a:t>
            </a:r>
            <a:endParaRPr lang="en-NG" dirty="0"/>
          </a:p>
        </p:txBody>
      </p:sp>
      <p:sp>
        <p:nvSpPr>
          <p:cNvPr id="4" name="Content Placeholder 2">
            <a:extLst>
              <a:ext uri="{FF2B5EF4-FFF2-40B4-BE49-F238E27FC236}">
                <a16:creationId xmlns:a16="http://schemas.microsoft.com/office/drawing/2014/main" id="{9900875B-7EFA-237A-A995-A93013DF59DC}"/>
              </a:ext>
            </a:extLst>
          </p:cNvPr>
          <p:cNvSpPr>
            <a:spLocks noGrp="1"/>
          </p:cNvSpPr>
          <p:nvPr>
            <p:ph idx="1"/>
          </p:nvPr>
        </p:nvSpPr>
        <p:spPr>
          <a:xfrm>
            <a:off x="623498" y="2668929"/>
            <a:ext cx="11029950" cy="3633787"/>
          </a:xfrm>
        </p:spPr>
        <p:txBody>
          <a:bodyPr>
            <a:normAutofit fontScale="85000" lnSpcReduction="20000"/>
          </a:bodyPr>
          <a:lstStyle/>
          <a:p>
            <a:r>
              <a:rPr lang="en-US" dirty="0"/>
              <a:t>Risk Management</a:t>
            </a:r>
          </a:p>
          <a:p>
            <a:pPr lvl="1"/>
            <a:r>
              <a:rPr lang="en-US" dirty="0"/>
              <a:t>Overview of Identifying Risk and Type of Risk</a:t>
            </a:r>
          </a:p>
          <a:p>
            <a:pPr lvl="1"/>
            <a:r>
              <a:rPr lang="en-US" dirty="0"/>
              <a:t>Risk Identification Techniques</a:t>
            </a:r>
          </a:p>
          <a:p>
            <a:pPr lvl="1"/>
            <a:r>
              <a:rPr lang="en-US" dirty="0"/>
              <a:t>Accessing Risk and Prioritizing Risk</a:t>
            </a:r>
          </a:p>
          <a:p>
            <a:pPr lvl="1"/>
            <a:r>
              <a:rPr lang="en-US" dirty="0"/>
              <a:t>Mitigating Risk Monitoring and Communicating in Risk Management</a:t>
            </a:r>
          </a:p>
          <a:p>
            <a:pPr lvl="1"/>
            <a:r>
              <a:rPr lang="en-US" dirty="0"/>
              <a:t>Risk Management Frameworks – Overview</a:t>
            </a:r>
          </a:p>
          <a:p>
            <a:pPr lvl="1"/>
            <a:r>
              <a:rPr lang="en-US" dirty="0"/>
              <a:t>Importance of Risk Management Frameworks and Primary Components of RMFs</a:t>
            </a:r>
          </a:p>
          <a:p>
            <a:pPr lvl="1"/>
            <a:r>
              <a:rPr lang="en-US" dirty="0"/>
              <a:t>Top Risk Management Frameworks Today.</a:t>
            </a:r>
          </a:p>
          <a:p>
            <a:pPr lvl="1"/>
            <a:r>
              <a:rPr lang="en-US" dirty="0"/>
              <a:t>Benefits of Risk Management Frameworks and Framing your Risks</a:t>
            </a:r>
          </a:p>
          <a:p>
            <a:r>
              <a:rPr lang="en-US" dirty="0"/>
              <a:t>Introducing Key Legislations and Regulations, Compliance Requirements and Standards</a:t>
            </a:r>
          </a:p>
          <a:p>
            <a:pPr lvl="1"/>
            <a:r>
              <a:rPr lang="en-US" dirty="0"/>
              <a:t>Introduction to Key legislations and Regulations (GDPR, HIPAA, NDPA, CCPA, </a:t>
            </a:r>
            <a:r>
              <a:rPr lang="en-US" dirty="0" err="1"/>
              <a:t>etc</a:t>
            </a:r>
            <a:r>
              <a:rPr lang="en-US" dirty="0"/>
              <a:t>)</a:t>
            </a:r>
          </a:p>
          <a:p>
            <a:pPr lvl="1"/>
            <a:r>
              <a:rPr lang="en-US" dirty="0"/>
              <a:t>Compliance Requirements and Standards</a:t>
            </a:r>
          </a:p>
          <a:p>
            <a:pPr lvl="1"/>
            <a:r>
              <a:rPr lang="en-US" dirty="0"/>
              <a:t>Examples of Cybersecurity Standards (ISO 27001, PCIDSS, NIST)</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lstStyle/>
          <a:p>
            <a:r>
              <a:rPr lang="en-US" dirty="0"/>
              <a:t>Risk Management</a:t>
            </a:r>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p:txBody>
          <a:bodyPr/>
          <a:lstStyle/>
          <a:p>
            <a:endParaRPr lang="en-NG"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A21D-8631-283B-8B42-2104876966E4}"/>
              </a:ext>
            </a:extLst>
          </p:cNvPr>
          <p:cNvSpPr>
            <a:spLocks noGrp="1"/>
          </p:cNvSpPr>
          <p:nvPr>
            <p:ph type="title"/>
          </p:nvPr>
        </p:nvSpPr>
        <p:spPr>
          <a:xfrm>
            <a:off x="581192" y="702156"/>
            <a:ext cx="11029616" cy="1000123"/>
          </a:xfrm>
        </p:spPr>
        <p:txBody>
          <a:bodyPr/>
          <a:lstStyle/>
          <a:p>
            <a:r>
              <a:rPr lang="en-US" dirty="0"/>
              <a:t>RISK</a:t>
            </a:r>
            <a:endParaRPr lang="en-NG" dirty="0"/>
          </a:p>
        </p:txBody>
      </p:sp>
      <p:sp>
        <p:nvSpPr>
          <p:cNvPr id="3" name="Content Placeholder 2">
            <a:extLst>
              <a:ext uri="{FF2B5EF4-FFF2-40B4-BE49-F238E27FC236}">
                <a16:creationId xmlns:a16="http://schemas.microsoft.com/office/drawing/2014/main" id="{37AB3EED-2183-FAC7-C646-2CA488D91A79}"/>
              </a:ext>
            </a:extLst>
          </p:cNvPr>
          <p:cNvSpPr>
            <a:spLocks noGrp="1"/>
          </p:cNvSpPr>
          <p:nvPr>
            <p:ph idx="1"/>
          </p:nvPr>
        </p:nvSpPr>
        <p:spPr>
          <a:xfrm>
            <a:off x="581192" y="2918293"/>
            <a:ext cx="7464378" cy="3237551"/>
          </a:xfrm>
        </p:spPr>
        <p:txBody>
          <a:bodyPr>
            <a:normAutofit/>
          </a:bodyPr>
          <a:lstStyle/>
          <a:p>
            <a:pPr marL="0" indent="0">
              <a:buNone/>
            </a:pPr>
            <a:r>
              <a:rPr lang="en-US" dirty="0"/>
              <a:t>Risk can be defined as a probability of the occurrence of a threat or an event that may damage, or cause loss or have other negative impact either from internal or external liabilities.</a:t>
            </a:r>
          </a:p>
          <a:p>
            <a:endParaRPr lang="en-US" dirty="0"/>
          </a:p>
          <a:p>
            <a:endParaRPr lang="en-US" dirty="0"/>
          </a:p>
          <a:p>
            <a:endParaRPr lang="en-NG" dirty="0"/>
          </a:p>
        </p:txBody>
      </p:sp>
      <p:pic>
        <p:nvPicPr>
          <p:cNvPr id="2050" name="Picture 2" descr="What is a Risk? 10 definitions from ...">
            <a:extLst>
              <a:ext uri="{FF2B5EF4-FFF2-40B4-BE49-F238E27FC236}">
                <a16:creationId xmlns:a16="http://schemas.microsoft.com/office/drawing/2014/main" id="{76926294-54CA-81B3-B2A7-805985084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3607" y="2832443"/>
            <a:ext cx="3494941" cy="1957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0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765C8-8505-4FE5-B370-FF8BD353A3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5F82B-2EEC-7C97-A6B4-CE91CBA6D3CD}"/>
              </a:ext>
            </a:extLst>
          </p:cNvPr>
          <p:cNvSpPr>
            <a:spLocks noGrp="1"/>
          </p:cNvSpPr>
          <p:nvPr>
            <p:ph type="title"/>
          </p:nvPr>
        </p:nvSpPr>
        <p:spPr>
          <a:xfrm>
            <a:off x="581192" y="702156"/>
            <a:ext cx="11029616" cy="1000123"/>
          </a:xfrm>
        </p:spPr>
        <p:txBody>
          <a:bodyPr/>
          <a:lstStyle/>
          <a:p>
            <a:r>
              <a:rPr lang="en-US" dirty="0"/>
              <a:t>RISK MANAGEMENT</a:t>
            </a:r>
            <a:endParaRPr lang="en-NG" dirty="0"/>
          </a:p>
        </p:txBody>
      </p:sp>
      <p:sp>
        <p:nvSpPr>
          <p:cNvPr id="3" name="Content Placeholder 2">
            <a:extLst>
              <a:ext uri="{FF2B5EF4-FFF2-40B4-BE49-F238E27FC236}">
                <a16:creationId xmlns:a16="http://schemas.microsoft.com/office/drawing/2014/main" id="{1644AC08-D490-E05F-3BD7-E8D441C10D0F}"/>
              </a:ext>
            </a:extLst>
          </p:cNvPr>
          <p:cNvSpPr>
            <a:spLocks noGrp="1"/>
          </p:cNvSpPr>
          <p:nvPr>
            <p:ph idx="1"/>
          </p:nvPr>
        </p:nvSpPr>
        <p:spPr>
          <a:xfrm>
            <a:off x="581192" y="2918293"/>
            <a:ext cx="7464378" cy="3237551"/>
          </a:xfrm>
        </p:spPr>
        <p:txBody>
          <a:bodyPr>
            <a:normAutofit/>
          </a:bodyPr>
          <a:lstStyle/>
          <a:p>
            <a:pPr marL="0" indent="0">
              <a:buNone/>
            </a:pPr>
            <a:r>
              <a:rPr lang="en-US" dirty="0"/>
              <a:t>Risk management is the process of identifying, assessing, and mitigating risks that could impact an organization's objectives. It helps businesses minimize threats while maximizing opportunities.</a:t>
            </a:r>
          </a:p>
          <a:p>
            <a:pPr>
              <a:buNone/>
            </a:pPr>
            <a:r>
              <a:rPr lang="en-US" dirty="0"/>
              <a:t>In Cybersecurity security, risk management involves protecting systems, data, and networks from cyber threats. </a:t>
            </a:r>
          </a:p>
          <a:p>
            <a:endParaRPr lang="en-US" dirty="0"/>
          </a:p>
          <a:p>
            <a:endParaRPr lang="en-US" dirty="0"/>
          </a:p>
          <a:p>
            <a:endParaRPr lang="en-NG" dirty="0"/>
          </a:p>
        </p:txBody>
      </p:sp>
      <p:pic>
        <p:nvPicPr>
          <p:cNvPr id="4" name="Picture 2">
            <a:extLst>
              <a:ext uri="{FF2B5EF4-FFF2-40B4-BE49-F238E27FC236}">
                <a16:creationId xmlns:a16="http://schemas.microsoft.com/office/drawing/2014/main" id="{7D7780FA-345E-2964-E38B-E943CEE82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2409" y="2457156"/>
            <a:ext cx="3166797" cy="299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5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9AB1-CAC7-D0F3-0DBC-721D83D3D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CCDF6-0342-999E-B127-917F4569AE57}"/>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FE2C6D62-28AD-03B7-4DF5-4A8D827DF2B7}"/>
              </a:ext>
            </a:extLst>
          </p:cNvPr>
          <p:cNvSpPr>
            <a:spLocks noGrp="1"/>
          </p:cNvSpPr>
          <p:nvPr>
            <p:ph idx="1"/>
          </p:nvPr>
        </p:nvSpPr>
        <p:spPr>
          <a:xfrm>
            <a:off x="581192" y="2529087"/>
            <a:ext cx="7464378" cy="3237551"/>
          </a:xfrm>
        </p:spPr>
        <p:txBody>
          <a:bodyPr>
            <a:normAutofit/>
          </a:bodyPr>
          <a:lstStyle/>
          <a:p>
            <a:r>
              <a:rPr lang="en-US" b="1" dirty="0"/>
              <a:t>Strategic Risks</a:t>
            </a:r>
            <a:br>
              <a:rPr lang="en-US" dirty="0"/>
            </a:br>
            <a:r>
              <a:rPr lang="en-US" dirty="0"/>
              <a:t>These are risks that arise from an organization’s business strategy and objectives. For example, entering a new market or launching a new product may have strategic risks associated with them.</a:t>
            </a:r>
          </a:p>
          <a:p>
            <a:endParaRPr lang="en-NG" dirty="0"/>
          </a:p>
        </p:txBody>
      </p:sp>
      <p:pic>
        <p:nvPicPr>
          <p:cNvPr id="3074" name="Picture 2" descr="What Is Risk Management &amp; Why Is It ...">
            <a:extLst>
              <a:ext uri="{FF2B5EF4-FFF2-40B4-BE49-F238E27FC236}">
                <a16:creationId xmlns:a16="http://schemas.microsoft.com/office/drawing/2014/main" id="{B1BFE7EB-3F06-01F9-59D3-523F1DE0F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742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6932E-7CA4-B8B9-D8A7-0DE414755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34BCA-3F24-A78E-4536-C96493E78EF6}"/>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39D414EB-BCE0-56EF-DB0E-183BE30D972D}"/>
              </a:ext>
            </a:extLst>
          </p:cNvPr>
          <p:cNvSpPr>
            <a:spLocks noGrp="1"/>
          </p:cNvSpPr>
          <p:nvPr>
            <p:ph idx="1"/>
          </p:nvPr>
        </p:nvSpPr>
        <p:spPr>
          <a:xfrm>
            <a:off x="581192" y="2355585"/>
            <a:ext cx="7464378" cy="3237551"/>
          </a:xfrm>
        </p:spPr>
        <p:txBody>
          <a:bodyPr>
            <a:normAutofit/>
          </a:bodyPr>
          <a:lstStyle/>
          <a:p>
            <a:r>
              <a:rPr lang="en-US" b="1" dirty="0"/>
              <a:t>Operational Risks</a:t>
            </a:r>
            <a:br>
              <a:rPr lang="en-US" dirty="0"/>
            </a:br>
            <a:r>
              <a:rPr lang="en-US" dirty="0"/>
              <a:t>These are risks that arise from an organization’s day-to-day activities and processes. Examples include technology failures, employee errors or supply chain disruptions.</a:t>
            </a:r>
            <a:endParaRPr lang="en-NG" dirty="0"/>
          </a:p>
        </p:txBody>
      </p:sp>
      <p:pic>
        <p:nvPicPr>
          <p:cNvPr id="3074" name="Picture 2" descr="What Is Risk Management &amp; Why Is It ...">
            <a:extLst>
              <a:ext uri="{FF2B5EF4-FFF2-40B4-BE49-F238E27FC236}">
                <a16:creationId xmlns:a16="http://schemas.microsoft.com/office/drawing/2014/main" id="{AA90F035-92A1-7C14-0A8C-4614DEDC5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0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EE39A-1349-98CB-9606-3F6BDCCAE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C61BC-D97F-6951-F76D-857CF3E6B79E}"/>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E025F89F-DC17-DF00-A86D-5C7A31D67A53}"/>
              </a:ext>
            </a:extLst>
          </p:cNvPr>
          <p:cNvSpPr>
            <a:spLocks noGrp="1"/>
          </p:cNvSpPr>
          <p:nvPr>
            <p:ph idx="1"/>
          </p:nvPr>
        </p:nvSpPr>
        <p:spPr>
          <a:xfrm>
            <a:off x="651530" y="2369653"/>
            <a:ext cx="7464378" cy="3237551"/>
          </a:xfrm>
        </p:spPr>
        <p:txBody>
          <a:bodyPr>
            <a:normAutofit/>
          </a:bodyPr>
          <a:lstStyle/>
          <a:p>
            <a:r>
              <a:rPr lang="en-US" b="1" dirty="0"/>
              <a:t>Financial Risks</a:t>
            </a:r>
            <a:br>
              <a:rPr lang="en-US" dirty="0"/>
            </a:br>
            <a:r>
              <a:rPr lang="en-US" dirty="0"/>
              <a:t>These are risks that arise from an organization’s financial operations and management. Examples include credit risk, market risk and liquidity risk.</a:t>
            </a:r>
            <a:endParaRPr lang="en-NG" dirty="0"/>
          </a:p>
        </p:txBody>
      </p:sp>
      <p:pic>
        <p:nvPicPr>
          <p:cNvPr id="3074" name="Picture 2" descr="What Is Risk Management &amp; Why Is It ...">
            <a:extLst>
              <a:ext uri="{FF2B5EF4-FFF2-40B4-BE49-F238E27FC236}">
                <a16:creationId xmlns:a16="http://schemas.microsoft.com/office/drawing/2014/main" id="{AA444EDC-6449-9C2D-2B5D-85308C0BC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659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B68B9-B669-0BED-A688-E65C5D7A6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85376-E595-0197-883E-6EA29654549D}"/>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775ECF92-23E6-06EB-05C7-1A82F304BB76}"/>
              </a:ext>
            </a:extLst>
          </p:cNvPr>
          <p:cNvSpPr>
            <a:spLocks noGrp="1"/>
          </p:cNvSpPr>
          <p:nvPr>
            <p:ph idx="1"/>
          </p:nvPr>
        </p:nvSpPr>
        <p:spPr>
          <a:xfrm>
            <a:off x="651530" y="2369653"/>
            <a:ext cx="7464378" cy="3237551"/>
          </a:xfrm>
        </p:spPr>
        <p:txBody>
          <a:bodyPr>
            <a:normAutofit/>
          </a:bodyPr>
          <a:lstStyle/>
          <a:p>
            <a:r>
              <a:rPr lang="en-US" b="1" dirty="0"/>
              <a:t>Legal/Compliance Risks</a:t>
            </a:r>
            <a:br>
              <a:rPr lang="en-US" dirty="0"/>
            </a:br>
            <a:r>
              <a:rPr lang="en-US" dirty="0"/>
              <a:t>These are risks that arise from an organization’s failure to comply with laws, regulations or industry standards. Examples include contract disputes, intellectual property disputes, employment law violations, data privacy violations or noncompliance with environmental regulations..</a:t>
            </a:r>
            <a:endParaRPr lang="en-NG" dirty="0"/>
          </a:p>
        </p:txBody>
      </p:sp>
      <p:pic>
        <p:nvPicPr>
          <p:cNvPr id="3074" name="Picture 2" descr="What Is Risk Management &amp; Why Is It ...">
            <a:extLst>
              <a:ext uri="{FF2B5EF4-FFF2-40B4-BE49-F238E27FC236}">
                <a16:creationId xmlns:a16="http://schemas.microsoft.com/office/drawing/2014/main" id="{570168FB-EAD5-C49A-F770-1C3EDFFAC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33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02D6-D9F4-3AB5-5E0D-43079CC4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67335-6DF6-E6CD-BF9C-21A88771B0FA}"/>
              </a:ext>
            </a:extLst>
          </p:cNvPr>
          <p:cNvSpPr>
            <a:spLocks noGrp="1"/>
          </p:cNvSpPr>
          <p:nvPr>
            <p:ph type="title"/>
          </p:nvPr>
        </p:nvSpPr>
        <p:spPr>
          <a:xfrm>
            <a:off x="581192" y="702156"/>
            <a:ext cx="11029616" cy="1000123"/>
          </a:xfrm>
        </p:spPr>
        <p:txBody>
          <a:bodyPr/>
          <a:lstStyle/>
          <a:p>
            <a:r>
              <a:rPr lang="en-US" dirty="0"/>
              <a:t>TYPES OF RISK</a:t>
            </a:r>
            <a:endParaRPr lang="en-NG" dirty="0"/>
          </a:p>
        </p:txBody>
      </p:sp>
      <p:sp>
        <p:nvSpPr>
          <p:cNvPr id="3" name="Content Placeholder 2">
            <a:extLst>
              <a:ext uri="{FF2B5EF4-FFF2-40B4-BE49-F238E27FC236}">
                <a16:creationId xmlns:a16="http://schemas.microsoft.com/office/drawing/2014/main" id="{0A3810CD-FC4C-C15B-D8C5-5BDA85C71DE0}"/>
              </a:ext>
            </a:extLst>
          </p:cNvPr>
          <p:cNvSpPr>
            <a:spLocks noGrp="1"/>
          </p:cNvSpPr>
          <p:nvPr>
            <p:ph idx="1"/>
          </p:nvPr>
        </p:nvSpPr>
        <p:spPr>
          <a:xfrm>
            <a:off x="651530" y="2369653"/>
            <a:ext cx="7464378" cy="3237551"/>
          </a:xfrm>
        </p:spPr>
        <p:txBody>
          <a:bodyPr>
            <a:normAutofit/>
          </a:bodyPr>
          <a:lstStyle/>
          <a:p>
            <a:r>
              <a:rPr lang="en-US" b="1" dirty="0"/>
              <a:t>Reputational Risks</a:t>
            </a:r>
            <a:br>
              <a:rPr lang="en-US" dirty="0"/>
            </a:br>
            <a:r>
              <a:rPr lang="en-US" dirty="0"/>
              <a:t>These are risks that arise from damage to an organization’s reputation, image or brand. Examples include product recalls, lawsuits or negative media coverage.</a:t>
            </a:r>
            <a:endParaRPr lang="en-NG" dirty="0"/>
          </a:p>
        </p:txBody>
      </p:sp>
      <p:pic>
        <p:nvPicPr>
          <p:cNvPr id="3074" name="Picture 2" descr="What Is Risk Management &amp; Why Is It ...">
            <a:extLst>
              <a:ext uri="{FF2B5EF4-FFF2-40B4-BE49-F238E27FC236}">
                <a16:creationId xmlns:a16="http://schemas.microsoft.com/office/drawing/2014/main" id="{14259A7B-3F06-13BE-E66B-DDD6E920C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858" y="3444240"/>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87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2B4BD-187A-48E0-2855-8FB4FCE1E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A3A736-9943-664E-C023-E545DC8A24C9}"/>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31E67EE0-6760-7112-43EB-8687075DE31C}"/>
              </a:ext>
            </a:extLst>
          </p:cNvPr>
          <p:cNvSpPr>
            <a:spLocks noGrp="1"/>
          </p:cNvSpPr>
          <p:nvPr>
            <p:ph idx="1"/>
          </p:nvPr>
        </p:nvSpPr>
        <p:spPr>
          <a:xfrm>
            <a:off x="581192" y="2918293"/>
            <a:ext cx="7464378" cy="3237551"/>
          </a:xfrm>
        </p:spPr>
        <p:txBody>
          <a:bodyPr>
            <a:normAutofit/>
          </a:bodyPr>
          <a:lstStyle/>
          <a:p>
            <a:r>
              <a:rPr lang="en-US" dirty="0"/>
              <a:t>Brainstorming</a:t>
            </a:r>
          </a:p>
          <a:p>
            <a:pPr marL="576000" lvl="2">
              <a:lnSpc>
                <a:spcPct val="110000"/>
              </a:lnSpc>
            </a:pPr>
            <a:r>
              <a:rPr lang="en-US" sz="1600" dirty="0"/>
              <a:t>This is the act of gathering team members to think about and discuss a subject and to form solutions to any identified problems. This kind of meeting allows a team to speculate on ideas, discuss facts and look at a project's future. You can use brainstorming to identify, analyze and address potential risks by hearing from people who work at the front end of the business. Team members may have a better understanding of how the business operates from the ground level and can share their own perspectives of the company's risks</a:t>
            </a:r>
          </a:p>
          <a:p>
            <a:endParaRPr lang="en-NG" dirty="0"/>
          </a:p>
        </p:txBody>
      </p:sp>
      <p:pic>
        <p:nvPicPr>
          <p:cNvPr id="11266" name="Picture 2" descr="Risk Management Lifecycle: 5 Steps to a ...">
            <a:extLst>
              <a:ext uri="{FF2B5EF4-FFF2-40B4-BE49-F238E27FC236}">
                <a16:creationId xmlns:a16="http://schemas.microsoft.com/office/drawing/2014/main" id="{C569EC60-0A92-1C9E-13AA-41180EAAC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01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ABC22-97B6-8952-32C0-7DA3B2739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4EA82-1CDA-3ED0-A2AF-F3FD29895A2F}"/>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F18DC6EE-4C74-1BD0-0B5A-7898CB371589}"/>
              </a:ext>
            </a:extLst>
          </p:cNvPr>
          <p:cNvSpPr>
            <a:spLocks noGrp="1"/>
          </p:cNvSpPr>
          <p:nvPr>
            <p:ph idx="1"/>
          </p:nvPr>
        </p:nvSpPr>
        <p:spPr>
          <a:xfrm>
            <a:off x="581192" y="2918293"/>
            <a:ext cx="7464378" cy="3237551"/>
          </a:xfrm>
        </p:spPr>
        <p:txBody>
          <a:bodyPr>
            <a:normAutofit/>
          </a:bodyPr>
          <a:lstStyle/>
          <a:p>
            <a:r>
              <a:rPr lang="en-US" dirty="0"/>
              <a:t>Stakeholder interviews</a:t>
            </a:r>
          </a:p>
          <a:p>
            <a:pPr marL="576000" lvl="2">
              <a:lnSpc>
                <a:spcPct val="110000"/>
              </a:lnSpc>
            </a:pPr>
            <a:r>
              <a:rPr lang="en-US" sz="1600" dirty="0"/>
              <a:t>Stakeholders are the people who have an interest in your project or business, and interviewing them may help you better understand what they believe are the biggest risks. Stakeholders often have invested significant resources, whether it be time, money, labor or all three, into your business. They understand risk from an outsider's perspective as an investor, not a laborer or leader. </a:t>
            </a:r>
          </a:p>
          <a:p>
            <a:endParaRPr lang="en-NG" dirty="0"/>
          </a:p>
        </p:txBody>
      </p:sp>
      <p:pic>
        <p:nvPicPr>
          <p:cNvPr id="11266" name="Picture 2" descr="Risk Management Lifecycle: 5 Steps to a ...">
            <a:extLst>
              <a:ext uri="{FF2B5EF4-FFF2-40B4-BE49-F238E27FC236}">
                <a16:creationId xmlns:a16="http://schemas.microsoft.com/office/drawing/2014/main" id="{4747DCEA-527B-5CE5-378E-66C95F879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151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386C5-4766-F49A-83E9-4FF95D8CA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956BC-0CB6-15BF-33E3-66FCE108F104}"/>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07F4CFDC-8CDD-7E30-814C-55A41BF0BF66}"/>
              </a:ext>
            </a:extLst>
          </p:cNvPr>
          <p:cNvSpPr>
            <a:spLocks noGrp="1"/>
          </p:cNvSpPr>
          <p:nvPr>
            <p:ph idx="1"/>
          </p:nvPr>
        </p:nvSpPr>
        <p:spPr>
          <a:xfrm>
            <a:off x="581192" y="2918293"/>
            <a:ext cx="7464378" cy="3237551"/>
          </a:xfrm>
        </p:spPr>
        <p:txBody>
          <a:bodyPr>
            <a:normAutofit/>
          </a:bodyPr>
          <a:lstStyle/>
          <a:p>
            <a:r>
              <a:rPr lang="en-US" b="1" dirty="0"/>
              <a:t>The NGT, or nominal group technique</a:t>
            </a:r>
            <a:r>
              <a:rPr lang="en-US" dirty="0"/>
              <a:t>, is another method of brainstorming that offers a more in-depth approach to the subject. Participants write their own ideas about the challenge without discussing it directly with other group members. Then, a senior member of the team asks each participant for their thoughts, which are written on a chart or whiteboard with overlapping items removed.. </a:t>
            </a:r>
          </a:p>
          <a:p>
            <a:endParaRPr lang="en-US" dirty="0"/>
          </a:p>
          <a:p>
            <a:endParaRPr lang="en-NG" dirty="0"/>
          </a:p>
        </p:txBody>
      </p:sp>
      <p:pic>
        <p:nvPicPr>
          <p:cNvPr id="11266" name="Picture 2" descr="Risk Management Lifecycle: 5 Steps to a ...">
            <a:extLst>
              <a:ext uri="{FF2B5EF4-FFF2-40B4-BE49-F238E27FC236}">
                <a16:creationId xmlns:a16="http://schemas.microsoft.com/office/drawing/2014/main" id="{7D0AF340-7AD4-8A99-C45C-DFB07DB93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682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91569-E253-5EC4-F17A-F55F60CF3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EB667-CD22-1F73-2856-8F7837DA9AB5}"/>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2CF0EE5C-EA15-0AAF-DC7D-1B633F07CB6E}"/>
              </a:ext>
            </a:extLst>
          </p:cNvPr>
          <p:cNvSpPr>
            <a:spLocks noGrp="1"/>
          </p:cNvSpPr>
          <p:nvPr>
            <p:ph idx="1"/>
          </p:nvPr>
        </p:nvSpPr>
        <p:spPr>
          <a:xfrm>
            <a:off x="581192" y="2388410"/>
            <a:ext cx="7464378" cy="3237551"/>
          </a:xfrm>
        </p:spPr>
        <p:txBody>
          <a:bodyPr>
            <a:normAutofit/>
          </a:bodyPr>
          <a:lstStyle/>
          <a:p>
            <a:endParaRPr lang="en-US" dirty="0"/>
          </a:p>
          <a:p>
            <a:r>
              <a:rPr lang="en-US" dirty="0"/>
              <a:t>Affinity diagram </a:t>
            </a:r>
          </a:p>
          <a:p>
            <a:pPr lvl="1"/>
            <a:r>
              <a:rPr lang="en-US" dirty="0"/>
              <a:t>An affinity diagram is a diagram that organizes data into categories based on their similarities. Ask each team member to write what they believe are potential project or company risks and file each response under a few categories. For example, you can have financial, practical or safety risks as categories. This helps separate the risks into categories for individual review and helps organize the feedback you receive. From there, the team can prioritize each risk and address it.</a:t>
            </a:r>
          </a:p>
          <a:p>
            <a:endParaRPr lang="en-NG" dirty="0"/>
          </a:p>
        </p:txBody>
      </p:sp>
      <p:pic>
        <p:nvPicPr>
          <p:cNvPr id="11266" name="Picture 2" descr="Risk Management Lifecycle: 5 Steps to a ...">
            <a:extLst>
              <a:ext uri="{FF2B5EF4-FFF2-40B4-BE49-F238E27FC236}">
                <a16:creationId xmlns:a16="http://schemas.microsoft.com/office/drawing/2014/main" id="{3F27BC86-BF88-FA7C-B61D-78B775BF0E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786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D3884-D61E-AF8C-8BF3-F4007840C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D61EE-EB45-27F8-333E-6699218D0028}"/>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B464C00B-3E4F-C5D3-1236-7EFF34D1CA73}"/>
              </a:ext>
            </a:extLst>
          </p:cNvPr>
          <p:cNvSpPr>
            <a:spLocks noGrp="1"/>
          </p:cNvSpPr>
          <p:nvPr>
            <p:ph idx="1"/>
          </p:nvPr>
        </p:nvSpPr>
        <p:spPr>
          <a:xfrm>
            <a:off x="581192" y="2918293"/>
            <a:ext cx="7464378" cy="3237551"/>
          </a:xfrm>
        </p:spPr>
        <p:txBody>
          <a:bodyPr>
            <a:normAutofit/>
          </a:bodyPr>
          <a:lstStyle/>
          <a:p>
            <a:pPr algn="l"/>
            <a:r>
              <a:rPr lang="en-US" dirty="0"/>
              <a:t>Root cause analysis</a:t>
            </a:r>
          </a:p>
          <a:p>
            <a:pPr lvl="1"/>
            <a:r>
              <a:rPr lang="en-US" sz="1700" dirty="0"/>
              <a:t>A root cause analysis is an investigation of previous project risks and how they relate to one another and the current project. The root cause can be anything from financial challenges to outdated equipment or poor-quality materials. Finding the root cause can allow the team to identify common challenges in the project or business and minimize them for greater project efficiency</a:t>
            </a:r>
          </a:p>
          <a:p>
            <a:endParaRPr lang="en-NG" dirty="0"/>
          </a:p>
        </p:txBody>
      </p:sp>
      <p:pic>
        <p:nvPicPr>
          <p:cNvPr id="11266" name="Picture 2" descr="Risk Management Lifecycle: 5 Steps to a ...">
            <a:extLst>
              <a:ext uri="{FF2B5EF4-FFF2-40B4-BE49-F238E27FC236}">
                <a16:creationId xmlns:a16="http://schemas.microsoft.com/office/drawing/2014/main" id="{F1455E69-452C-5873-9A96-B3288EF96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215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3D04D-8D08-64AC-8DF4-D18D934EB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771F2-A6EB-C13E-8ADF-745C58B8D4A0}"/>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1858EA01-3FCF-16E2-FD7A-01D86356F08F}"/>
              </a:ext>
            </a:extLst>
          </p:cNvPr>
          <p:cNvSpPr>
            <a:spLocks noGrp="1"/>
          </p:cNvSpPr>
          <p:nvPr>
            <p:ph idx="1"/>
          </p:nvPr>
        </p:nvSpPr>
        <p:spPr>
          <a:xfrm>
            <a:off x="581192" y="2918293"/>
            <a:ext cx="7464378" cy="3237551"/>
          </a:xfrm>
        </p:spPr>
        <p:txBody>
          <a:bodyPr>
            <a:normAutofit/>
          </a:bodyPr>
          <a:lstStyle/>
          <a:p>
            <a:pPr algn="l"/>
            <a:r>
              <a:rPr lang="en-US" dirty="0"/>
              <a:t>SWOT analysis</a:t>
            </a:r>
          </a:p>
          <a:p>
            <a:pPr lvl="1"/>
            <a:r>
              <a:rPr lang="en-US" sz="1700" dirty="0"/>
              <a:t> SWOT, or strengths, weaknesses, opportunities and threats analysis, is a great way to understand a project's or business's risks alongside other important factors. A thorough SWOT analysis can show investors why a business or project is worthy of investment and helps the team better understand their efficacy in reaching goals. A SWOT analysis examines four factors:</a:t>
            </a:r>
            <a:endParaRPr lang="en-NG" sz="1700" dirty="0"/>
          </a:p>
        </p:txBody>
      </p:sp>
      <p:pic>
        <p:nvPicPr>
          <p:cNvPr id="11266" name="Picture 2" descr="Risk Management Lifecycle: 5 Steps to a ...">
            <a:extLst>
              <a:ext uri="{FF2B5EF4-FFF2-40B4-BE49-F238E27FC236}">
                <a16:creationId xmlns:a16="http://schemas.microsoft.com/office/drawing/2014/main" id="{8B1C6EB1-81DB-0C11-54F7-A17A689C5D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74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AD84C-C231-5D01-E968-E29BE3318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A6BE3-0F33-BD10-A613-1EC18585152C}"/>
              </a:ext>
            </a:extLst>
          </p:cNvPr>
          <p:cNvSpPr>
            <a:spLocks noGrp="1"/>
          </p:cNvSpPr>
          <p:nvPr>
            <p:ph type="title"/>
          </p:nvPr>
        </p:nvSpPr>
        <p:spPr>
          <a:xfrm>
            <a:off x="581192" y="702156"/>
            <a:ext cx="11029616" cy="1000123"/>
          </a:xfrm>
        </p:spPr>
        <p:txBody>
          <a:bodyPr/>
          <a:lstStyle/>
          <a:p>
            <a:r>
              <a:rPr lang="en-US" dirty="0"/>
              <a:t>RISK Identification Techniques</a:t>
            </a:r>
            <a:endParaRPr lang="en-NG" dirty="0"/>
          </a:p>
        </p:txBody>
      </p:sp>
      <p:sp>
        <p:nvSpPr>
          <p:cNvPr id="3" name="Content Placeholder 2">
            <a:extLst>
              <a:ext uri="{FF2B5EF4-FFF2-40B4-BE49-F238E27FC236}">
                <a16:creationId xmlns:a16="http://schemas.microsoft.com/office/drawing/2014/main" id="{87DA2F81-FE64-AF78-E001-73B37F8142E7}"/>
              </a:ext>
            </a:extLst>
          </p:cNvPr>
          <p:cNvSpPr>
            <a:spLocks noGrp="1"/>
          </p:cNvSpPr>
          <p:nvPr>
            <p:ph idx="1"/>
          </p:nvPr>
        </p:nvSpPr>
        <p:spPr>
          <a:xfrm>
            <a:off x="581192" y="2918293"/>
            <a:ext cx="7464378" cy="3237551"/>
          </a:xfrm>
        </p:spPr>
        <p:txBody>
          <a:bodyPr>
            <a:normAutofit fontScale="92500" lnSpcReduction="20000"/>
          </a:bodyPr>
          <a:lstStyle/>
          <a:p>
            <a:pPr algn="l"/>
            <a:r>
              <a:rPr lang="en-US" sz="2000" dirty="0"/>
              <a:t>SWOT analysis</a:t>
            </a:r>
          </a:p>
          <a:p>
            <a:pPr algn="l">
              <a:buFont typeface="Arial" panose="020B0604020202020204" pitchFamily="34" charset="0"/>
              <a:buChar char="•"/>
            </a:pPr>
            <a:r>
              <a:rPr lang="en-US" sz="2000" dirty="0"/>
              <a:t>Strengths: Areas where the team excels and how they relate to projects.</a:t>
            </a:r>
          </a:p>
          <a:p>
            <a:pPr algn="l">
              <a:buFont typeface="Arial" panose="020B0604020202020204" pitchFamily="34" charset="0"/>
              <a:buChar char="•"/>
            </a:pPr>
            <a:r>
              <a:rPr lang="en-US" sz="2000" dirty="0"/>
              <a:t>Weaknesses: Areas where the team can improve to increase productivity and efficiency.</a:t>
            </a:r>
          </a:p>
          <a:p>
            <a:pPr algn="l">
              <a:buFont typeface="Arial" panose="020B0604020202020204" pitchFamily="34" charset="0"/>
              <a:buChar char="•"/>
            </a:pPr>
            <a:r>
              <a:rPr lang="en-US" sz="2000" dirty="0"/>
              <a:t>Opportunities: Areas where the team or business can improve or expand.</a:t>
            </a:r>
          </a:p>
          <a:p>
            <a:pPr algn="l">
              <a:buFont typeface="Arial" panose="020B0604020202020204" pitchFamily="34" charset="0"/>
              <a:buChar char="•"/>
            </a:pPr>
            <a:r>
              <a:rPr lang="en-US" sz="2000" dirty="0"/>
              <a:t>Threats: Areas of risk for the project or business and how the team can minimize those risks.</a:t>
            </a:r>
          </a:p>
          <a:p>
            <a:pPr lvl="1"/>
            <a:endParaRPr lang="en-NG" sz="1700" dirty="0"/>
          </a:p>
        </p:txBody>
      </p:sp>
      <p:pic>
        <p:nvPicPr>
          <p:cNvPr id="11266" name="Picture 2" descr="Risk Management Lifecycle: 5 Steps to a ...">
            <a:extLst>
              <a:ext uri="{FF2B5EF4-FFF2-40B4-BE49-F238E27FC236}">
                <a16:creationId xmlns:a16="http://schemas.microsoft.com/office/drawing/2014/main" id="{0F225AC0-1F72-1962-8C60-9EE10730A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51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8EFF9-0140-8F35-10F5-3948BC318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DFBF9-91AE-8F02-633C-F027A4001D4F}"/>
              </a:ext>
            </a:extLst>
          </p:cNvPr>
          <p:cNvSpPr>
            <a:spLocks noGrp="1"/>
          </p:cNvSpPr>
          <p:nvPr>
            <p:ph type="title"/>
          </p:nvPr>
        </p:nvSpPr>
        <p:spPr>
          <a:xfrm>
            <a:off x="581192" y="702156"/>
            <a:ext cx="11029616" cy="1000123"/>
          </a:xfrm>
        </p:spPr>
        <p:txBody>
          <a:bodyPr>
            <a:normAutofit fontScale="90000"/>
          </a:bodyPr>
          <a:lstStyle/>
          <a:p>
            <a:r>
              <a:rPr lang="en-US" dirty="0"/>
              <a:t>Accessing Risk and Prioritizing Risk</a:t>
            </a:r>
            <a:br>
              <a:rPr lang="en-US" dirty="0"/>
            </a:br>
            <a:br>
              <a:rPr lang="en-US" dirty="0"/>
            </a:br>
            <a:endParaRPr lang="en-NG" dirty="0"/>
          </a:p>
        </p:txBody>
      </p:sp>
      <p:sp>
        <p:nvSpPr>
          <p:cNvPr id="3" name="Content Placeholder 2">
            <a:extLst>
              <a:ext uri="{FF2B5EF4-FFF2-40B4-BE49-F238E27FC236}">
                <a16:creationId xmlns:a16="http://schemas.microsoft.com/office/drawing/2014/main" id="{FF6A2B24-C94D-BB69-F340-B9CE2883A08B}"/>
              </a:ext>
            </a:extLst>
          </p:cNvPr>
          <p:cNvSpPr>
            <a:spLocks noGrp="1"/>
          </p:cNvSpPr>
          <p:nvPr>
            <p:ph idx="1"/>
          </p:nvPr>
        </p:nvSpPr>
        <p:spPr>
          <a:xfrm>
            <a:off x="581192" y="1801838"/>
            <a:ext cx="10949626" cy="1974165"/>
          </a:xfrm>
        </p:spPr>
        <p:txBody>
          <a:bodyPr>
            <a:normAutofit/>
          </a:bodyPr>
          <a:lstStyle/>
          <a:p>
            <a:pPr marL="0" indent="0">
              <a:buNone/>
            </a:pPr>
            <a:r>
              <a:rPr lang="en-US" dirty="0"/>
              <a:t>A risk matrix is used during risk assessment to define the level of risk by considering the category of probability or likelihood against the category of consequence severity..</a:t>
            </a:r>
          </a:p>
          <a:p>
            <a:pPr marL="0" indent="0">
              <a:buNone/>
            </a:pPr>
            <a:endParaRPr lang="en-US" dirty="0"/>
          </a:p>
          <a:p>
            <a:endParaRPr lang="en-US" dirty="0"/>
          </a:p>
          <a:p>
            <a:endParaRPr lang="en-US" dirty="0"/>
          </a:p>
          <a:p>
            <a:endParaRPr lang="en-NG" dirty="0"/>
          </a:p>
        </p:txBody>
      </p:sp>
      <p:pic>
        <p:nvPicPr>
          <p:cNvPr id="5126" name="Picture 6">
            <a:extLst>
              <a:ext uri="{FF2B5EF4-FFF2-40B4-BE49-F238E27FC236}">
                <a16:creationId xmlns:a16="http://schemas.microsoft.com/office/drawing/2014/main" id="{8132EC1D-45AC-045A-D130-5CB46E363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413" y="2617526"/>
            <a:ext cx="97536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14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D1C9A-F8E8-5A5E-929E-D3B799E92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8D5EB-3326-2F83-6CDD-672EE40C67E3}"/>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9DABFC01-67BB-5868-EE4B-4AF8EFDE4A37}"/>
              </a:ext>
            </a:extLst>
          </p:cNvPr>
          <p:cNvSpPr>
            <a:spLocks noGrp="1"/>
          </p:cNvSpPr>
          <p:nvPr>
            <p:ph idx="1"/>
          </p:nvPr>
        </p:nvSpPr>
        <p:spPr>
          <a:xfrm>
            <a:off x="581192" y="2918293"/>
            <a:ext cx="7464378" cy="3237551"/>
          </a:xfrm>
        </p:spPr>
        <p:txBody>
          <a:bodyPr>
            <a:normAutofit/>
          </a:bodyPr>
          <a:lstStyle/>
          <a:p>
            <a:pPr algn="l"/>
            <a:r>
              <a:rPr lang="en-US" sz="2000" dirty="0"/>
              <a:t>Identify, assess, and prioritize risks.</a:t>
            </a:r>
          </a:p>
          <a:p>
            <a:pPr algn="l"/>
            <a:r>
              <a:rPr lang="en-US" sz="2000" dirty="0"/>
              <a:t>Implement effective risk mitigation strategies.</a:t>
            </a:r>
          </a:p>
          <a:p>
            <a:pPr algn="l"/>
            <a:r>
              <a:rPr lang="en-US" sz="2000" dirty="0"/>
              <a:t>Ensure compliance with legal, regulatory, and industry standards.</a:t>
            </a:r>
          </a:p>
          <a:p>
            <a:pPr algn="l"/>
            <a:r>
              <a:rPr lang="en-US" sz="2000" dirty="0"/>
              <a:t>Enhance decision-making through risk-informed insights.</a:t>
            </a:r>
          </a:p>
          <a:p>
            <a:pPr algn="l"/>
            <a:r>
              <a:rPr lang="en-US" sz="2000" dirty="0"/>
              <a:t>Protect organizational assets, data, and reputation.</a:t>
            </a:r>
            <a:endParaRPr lang="en-NG" sz="1700" dirty="0"/>
          </a:p>
        </p:txBody>
      </p:sp>
      <p:pic>
        <p:nvPicPr>
          <p:cNvPr id="11266" name="Picture 2" descr="Risk Management Lifecycle: 5 Steps to a ...">
            <a:extLst>
              <a:ext uri="{FF2B5EF4-FFF2-40B4-BE49-F238E27FC236}">
                <a16:creationId xmlns:a16="http://schemas.microsoft.com/office/drawing/2014/main" id="{4663F12C-47AD-21CB-1E89-EDDF234E0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906" y="2441009"/>
            <a:ext cx="2905196" cy="297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184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4194-7F77-2815-1696-F6854A526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7786A-55CF-4510-624E-C7A978A34006}"/>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8007DD15-028D-A2EE-0E70-EE74DE1ECEA7}"/>
              </a:ext>
            </a:extLst>
          </p:cNvPr>
          <p:cNvSpPr>
            <a:spLocks noGrp="1"/>
          </p:cNvSpPr>
          <p:nvPr>
            <p:ph idx="1"/>
          </p:nvPr>
        </p:nvSpPr>
        <p:spPr>
          <a:xfrm>
            <a:off x="581192" y="2441009"/>
            <a:ext cx="7464378" cy="3237551"/>
          </a:xfrm>
        </p:spPr>
        <p:txBody>
          <a:bodyPr>
            <a:normAutofit fontScale="85000" lnSpcReduction="20000"/>
          </a:bodyPr>
          <a:lstStyle/>
          <a:p>
            <a:pPr>
              <a:buNone/>
            </a:pPr>
            <a:r>
              <a:rPr lang="en-US" sz="2100" dirty="0"/>
              <a:t>Step 1: Risk Identification</a:t>
            </a:r>
          </a:p>
          <a:p>
            <a:pPr>
              <a:buFont typeface="Arial" panose="020B0604020202020204" pitchFamily="34" charset="0"/>
              <a:buChar char="•"/>
            </a:pPr>
            <a:r>
              <a:rPr lang="en-US" sz="2100" dirty="0"/>
              <a:t>Identify potential risks that could impact the organization.</a:t>
            </a:r>
          </a:p>
          <a:p>
            <a:pPr>
              <a:buFont typeface="Arial" panose="020B0604020202020204" pitchFamily="34" charset="0"/>
              <a:buChar char="•"/>
            </a:pPr>
            <a:r>
              <a:rPr lang="en-US" sz="2100" dirty="0"/>
              <a:t>Categorize risks into relevant domains:</a:t>
            </a:r>
          </a:p>
          <a:p>
            <a:pPr marL="742950" lvl="1" indent="-285750">
              <a:buFont typeface="Arial" panose="020B0604020202020204" pitchFamily="34" charset="0"/>
              <a:buChar char="•"/>
            </a:pPr>
            <a:r>
              <a:rPr lang="en-US" sz="2100" dirty="0"/>
              <a:t>Strategic Risks – Business decisions, market changes.</a:t>
            </a:r>
          </a:p>
          <a:p>
            <a:pPr marL="742950" lvl="1" indent="-285750">
              <a:buFont typeface="Arial" panose="020B0604020202020204" pitchFamily="34" charset="0"/>
              <a:buChar char="•"/>
            </a:pPr>
            <a:r>
              <a:rPr lang="en-US" sz="2100" dirty="0"/>
              <a:t>Operational Risks – Process failures, human errors.</a:t>
            </a:r>
          </a:p>
          <a:p>
            <a:pPr marL="742950" lvl="1" indent="-285750">
              <a:buFont typeface="Arial" panose="020B0604020202020204" pitchFamily="34" charset="0"/>
              <a:buChar char="•"/>
            </a:pPr>
            <a:r>
              <a:rPr lang="en-US" sz="2100" dirty="0"/>
              <a:t>Financial Risks – Budget constraints, fraud.</a:t>
            </a:r>
          </a:p>
          <a:p>
            <a:pPr marL="742950" lvl="1" indent="-285750">
              <a:buFont typeface="Arial" panose="020B0604020202020204" pitchFamily="34" charset="0"/>
              <a:buChar char="•"/>
            </a:pPr>
            <a:r>
              <a:rPr lang="en-US" sz="2100" dirty="0"/>
              <a:t>Compliance Risks – Legal, regulatory, contractual.</a:t>
            </a:r>
          </a:p>
          <a:p>
            <a:pPr marL="742950" lvl="1" indent="-285750">
              <a:buFont typeface="Arial" panose="020B0604020202020204" pitchFamily="34" charset="0"/>
              <a:buChar char="•"/>
            </a:pPr>
            <a:r>
              <a:rPr lang="en-US" sz="2100" dirty="0"/>
              <a:t>Technology Risks – Cyber threats, system failures.</a:t>
            </a:r>
          </a:p>
          <a:p>
            <a:pPr marL="742950" lvl="1" indent="-285750">
              <a:buFont typeface="Arial" panose="020B0604020202020204" pitchFamily="34" charset="0"/>
              <a:buChar char="•"/>
            </a:pPr>
            <a:r>
              <a:rPr lang="en-US" sz="2100" dirty="0"/>
              <a:t>Environmental Risks – Natural disasters, geopolitical issues.</a:t>
            </a:r>
          </a:p>
        </p:txBody>
      </p:sp>
      <p:pic>
        <p:nvPicPr>
          <p:cNvPr id="8194" name="Picture 2" descr="Risk Management Framework | Pro ...">
            <a:extLst>
              <a:ext uri="{FF2B5EF4-FFF2-40B4-BE49-F238E27FC236}">
                <a16:creationId xmlns:a16="http://schemas.microsoft.com/office/drawing/2014/main" id="{B17E8C19-0A0A-6C24-6B1A-4239BAB94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8471" y="2107571"/>
            <a:ext cx="3498100" cy="349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716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82903-7AF9-3AD1-0098-FFE0115B2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F6A9C-CB13-4897-E70C-E547AC36D5FE}"/>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45DB1137-EB78-21F8-533C-B8BA7B6184BC}"/>
              </a:ext>
            </a:extLst>
          </p:cNvPr>
          <p:cNvSpPr>
            <a:spLocks noGrp="1"/>
          </p:cNvSpPr>
          <p:nvPr>
            <p:ph idx="1"/>
          </p:nvPr>
        </p:nvSpPr>
        <p:spPr>
          <a:xfrm>
            <a:off x="581192" y="2441009"/>
            <a:ext cx="7464378" cy="3237551"/>
          </a:xfrm>
        </p:spPr>
        <p:txBody>
          <a:bodyPr>
            <a:normAutofit/>
          </a:bodyPr>
          <a:lstStyle/>
          <a:p>
            <a:pPr>
              <a:buNone/>
            </a:pPr>
            <a:r>
              <a:rPr lang="en-US" b="1" dirty="0"/>
              <a:t>Step 2: Risk Assessment</a:t>
            </a:r>
          </a:p>
          <a:p>
            <a:pPr>
              <a:buFont typeface="Arial" panose="020B0604020202020204" pitchFamily="34" charset="0"/>
              <a:buChar char="•"/>
            </a:pPr>
            <a:r>
              <a:rPr lang="en-US" dirty="0"/>
              <a:t>Evaluate risks based on:</a:t>
            </a:r>
          </a:p>
          <a:p>
            <a:pPr marL="742950" lvl="1" indent="-285750">
              <a:buFont typeface="Arial" panose="020B0604020202020204" pitchFamily="34" charset="0"/>
              <a:buChar char="•"/>
            </a:pPr>
            <a:r>
              <a:rPr lang="en-US" b="1" dirty="0"/>
              <a:t>Likelihood</a:t>
            </a:r>
            <a:r>
              <a:rPr lang="en-US" dirty="0"/>
              <a:t> (Probability of occurrence: Low, Medium, High).</a:t>
            </a:r>
          </a:p>
          <a:p>
            <a:pPr marL="742950" lvl="1" indent="-285750">
              <a:buFont typeface="Arial" panose="020B0604020202020204" pitchFamily="34" charset="0"/>
              <a:buChar char="•"/>
            </a:pPr>
            <a:r>
              <a:rPr lang="en-US" b="1" dirty="0"/>
              <a:t>Impact</a:t>
            </a:r>
            <a:r>
              <a:rPr lang="en-US" dirty="0"/>
              <a:t> (Effect on business: Low, Medium, High).</a:t>
            </a:r>
          </a:p>
          <a:p>
            <a:pPr marL="742950" lvl="1" indent="-285750">
              <a:buFont typeface="Arial" panose="020B0604020202020204" pitchFamily="34" charset="0"/>
              <a:buChar char="•"/>
            </a:pPr>
            <a:r>
              <a:rPr lang="en-US" b="1" dirty="0"/>
              <a:t>Risk Score</a:t>
            </a:r>
            <a:r>
              <a:rPr lang="en-US" dirty="0"/>
              <a:t> = Likelihood × Impact.</a:t>
            </a:r>
          </a:p>
          <a:p>
            <a:pPr>
              <a:buFont typeface="Arial" panose="020B0604020202020204" pitchFamily="34" charset="0"/>
              <a:buChar char="•"/>
            </a:pPr>
            <a:r>
              <a:rPr lang="en-US" dirty="0"/>
              <a:t>Use a Risk Matrix to classify risks as </a:t>
            </a:r>
            <a:r>
              <a:rPr lang="en-US" b="1" dirty="0"/>
              <a:t>Low, Moderate, High, or Critical</a:t>
            </a:r>
            <a:r>
              <a:rPr lang="en-US" dirty="0"/>
              <a:t>.</a:t>
            </a:r>
          </a:p>
        </p:txBody>
      </p:sp>
      <p:pic>
        <p:nvPicPr>
          <p:cNvPr id="7170" name="Picture 2" descr="Risk Management Framework | Pro ...">
            <a:extLst>
              <a:ext uri="{FF2B5EF4-FFF2-40B4-BE49-F238E27FC236}">
                <a16:creationId xmlns:a16="http://schemas.microsoft.com/office/drawing/2014/main" id="{57244877-80D8-764B-2EF2-6FBB0C8C0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76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8E102-7347-0119-6258-EDF50FCCF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90A4-C981-2BFF-F060-A3966D1FC58F}"/>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F828CEA3-CBD1-0ECD-8E08-754409F2FB81}"/>
              </a:ext>
            </a:extLst>
          </p:cNvPr>
          <p:cNvSpPr>
            <a:spLocks noGrp="1"/>
          </p:cNvSpPr>
          <p:nvPr>
            <p:ph idx="1"/>
          </p:nvPr>
        </p:nvSpPr>
        <p:spPr>
          <a:xfrm>
            <a:off x="581192" y="2441009"/>
            <a:ext cx="7464378" cy="3237551"/>
          </a:xfrm>
        </p:spPr>
        <p:txBody>
          <a:bodyPr>
            <a:normAutofit/>
          </a:bodyPr>
          <a:lstStyle/>
          <a:p>
            <a:pPr>
              <a:buNone/>
            </a:pPr>
            <a:r>
              <a:rPr lang="en-US" b="1" dirty="0"/>
              <a:t>Step 3: Risk Mitigation &amp; Response</a:t>
            </a:r>
          </a:p>
          <a:p>
            <a:pPr>
              <a:buNone/>
            </a:pPr>
            <a:r>
              <a:rPr lang="en-US" dirty="0"/>
              <a:t>Develop strategies to handle risks:</a:t>
            </a:r>
          </a:p>
          <a:p>
            <a:pPr>
              <a:buFont typeface="+mj-lt"/>
              <a:buAutoNum type="arabicPeriod"/>
            </a:pPr>
            <a:r>
              <a:rPr lang="en-US" b="1" dirty="0"/>
              <a:t>Avoid</a:t>
            </a:r>
            <a:r>
              <a:rPr lang="en-US" dirty="0"/>
              <a:t> – Eliminate activities that generate the risk.</a:t>
            </a:r>
          </a:p>
          <a:p>
            <a:pPr>
              <a:buFont typeface="+mj-lt"/>
              <a:buAutoNum type="arabicPeriod"/>
            </a:pPr>
            <a:r>
              <a:rPr lang="en-US" b="1" dirty="0"/>
              <a:t>Reduce</a:t>
            </a:r>
            <a:r>
              <a:rPr lang="en-US" dirty="0"/>
              <a:t> – Implement controls to lower likelihood/impact.</a:t>
            </a:r>
          </a:p>
          <a:p>
            <a:pPr>
              <a:buFont typeface="+mj-lt"/>
              <a:buAutoNum type="arabicPeriod"/>
            </a:pPr>
            <a:r>
              <a:rPr lang="en-US" b="1" dirty="0"/>
              <a:t>Transfer</a:t>
            </a:r>
            <a:r>
              <a:rPr lang="en-US" dirty="0"/>
              <a:t> – Shift risk via insurance or outsourcing.</a:t>
            </a:r>
          </a:p>
          <a:p>
            <a:pPr>
              <a:buFont typeface="+mj-lt"/>
              <a:buAutoNum type="arabicPeriod"/>
            </a:pPr>
            <a:r>
              <a:rPr lang="en-US" b="1" dirty="0"/>
              <a:t>Accept</a:t>
            </a:r>
            <a:r>
              <a:rPr lang="en-US" dirty="0"/>
              <a:t> – Acknowledge the risk if impact is manageable.</a:t>
            </a:r>
          </a:p>
        </p:txBody>
      </p:sp>
      <p:pic>
        <p:nvPicPr>
          <p:cNvPr id="4" name="Picture 2" descr="Risk Management Framework | Pro ...">
            <a:extLst>
              <a:ext uri="{FF2B5EF4-FFF2-40B4-BE49-F238E27FC236}">
                <a16:creationId xmlns:a16="http://schemas.microsoft.com/office/drawing/2014/main" id="{C59CD24B-AF5D-28A6-0509-1F6F57792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398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AF231-FBB8-3C2C-E57E-3FE8DA14A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BFEF8-DBA0-06D5-4B2A-0C4C283120F9}"/>
              </a:ext>
            </a:extLst>
          </p:cNvPr>
          <p:cNvSpPr>
            <a:spLocks noGrp="1"/>
          </p:cNvSpPr>
          <p:nvPr>
            <p:ph type="title"/>
          </p:nvPr>
        </p:nvSpPr>
        <p:spPr>
          <a:xfrm>
            <a:off x="581192" y="702156"/>
            <a:ext cx="11029616" cy="1000123"/>
          </a:xfrm>
        </p:spPr>
        <p:txBody>
          <a:bodyPr/>
          <a:lstStyle/>
          <a:p>
            <a:r>
              <a:rPr lang="en-US" dirty="0"/>
              <a:t>RISK Management Frameworks – Overview</a:t>
            </a:r>
            <a:endParaRPr lang="en-NG" dirty="0"/>
          </a:p>
        </p:txBody>
      </p:sp>
      <p:sp>
        <p:nvSpPr>
          <p:cNvPr id="3" name="Content Placeholder 2">
            <a:extLst>
              <a:ext uri="{FF2B5EF4-FFF2-40B4-BE49-F238E27FC236}">
                <a16:creationId xmlns:a16="http://schemas.microsoft.com/office/drawing/2014/main" id="{1113418F-48DF-5E35-A860-6A8657918051}"/>
              </a:ext>
            </a:extLst>
          </p:cNvPr>
          <p:cNvSpPr>
            <a:spLocks noGrp="1"/>
          </p:cNvSpPr>
          <p:nvPr>
            <p:ph idx="1"/>
          </p:nvPr>
        </p:nvSpPr>
        <p:spPr>
          <a:xfrm>
            <a:off x="581192" y="2441009"/>
            <a:ext cx="7464378" cy="3237551"/>
          </a:xfrm>
        </p:spPr>
        <p:txBody>
          <a:bodyPr>
            <a:normAutofit/>
          </a:bodyPr>
          <a:lstStyle/>
          <a:p>
            <a:pPr>
              <a:buNone/>
            </a:pPr>
            <a:r>
              <a:rPr lang="en-US" b="1" dirty="0"/>
              <a:t>Step 4: Risk Monitoring &amp; Reporting</a:t>
            </a:r>
          </a:p>
          <a:p>
            <a:pPr>
              <a:buFont typeface="Arial" panose="020B0604020202020204" pitchFamily="34" charset="0"/>
              <a:buChar char="•"/>
            </a:pPr>
            <a:r>
              <a:rPr lang="en-US" dirty="0"/>
              <a:t>Continuously monitor risks through Key Risk Indicators (KRIs).</a:t>
            </a:r>
          </a:p>
          <a:p>
            <a:pPr>
              <a:buFont typeface="Arial" panose="020B0604020202020204" pitchFamily="34" charset="0"/>
              <a:buChar char="•"/>
            </a:pPr>
            <a:r>
              <a:rPr lang="en-US" dirty="0"/>
              <a:t>Establish periodic risk assessments (monthly, quarterly, annually).</a:t>
            </a:r>
          </a:p>
          <a:p>
            <a:pPr>
              <a:buFont typeface="Arial" panose="020B0604020202020204" pitchFamily="34" charset="0"/>
              <a:buChar char="•"/>
            </a:pPr>
            <a:r>
              <a:rPr lang="en-US" dirty="0"/>
              <a:t>Document risk management activities in risk registers.</a:t>
            </a:r>
          </a:p>
          <a:p>
            <a:pPr>
              <a:buFont typeface="Arial" panose="020B0604020202020204" pitchFamily="34" charset="0"/>
              <a:buChar char="•"/>
            </a:pPr>
            <a:r>
              <a:rPr lang="en-US" dirty="0"/>
              <a:t>Report risks to senior management and stakeholders.</a:t>
            </a:r>
          </a:p>
        </p:txBody>
      </p:sp>
      <p:pic>
        <p:nvPicPr>
          <p:cNvPr id="4" name="Picture 2" descr="Risk Management Framework | Pro ...">
            <a:extLst>
              <a:ext uri="{FF2B5EF4-FFF2-40B4-BE49-F238E27FC236}">
                <a16:creationId xmlns:a16="http://schemas.microsoft.com/office/drawing/2014/main" id="{E8BBAEA5-F7BD-5CA6-6A46-AEE135D60A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695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42C4D-231B-FAE7-DF77-2E7433D71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935CD-328D-CE91-4344-CE2B3E982394}"/>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BD54A6DC-A52B-2978-D404-620E9A9C224C}"/>
              </a:ext>
            </a:extLst>
          </p:cNvPr>
          <p:cNvSpPr>
            <a:spLocks noGrp="1"/>
          </p:cNvSpPr>
          <p:nvPr>
            <p:ph idx="1"/>
          </p:nvPr>
        </p:nvSpPr>
        <p:spPr>
          <a:xfrm>
            <a:off x="581192" y="2441009"/>
            <a:ext cx="7464378" cy="3237551"/>
          </a:xfrm>
        </p:spPr>
        <p:txBody>
          <a:bodyPr>
            <a:normAutofit/>
          </a:bodyPr>
          <a:lstStyle/>
          <a:p>
            <a:pPr>
              <a:buNone/>
            </a:pPr>
            <a:r>
              <a:rPr lang="en-US" b="1" dirty="0"/>
              <a:t>Enhances Decision-Making</a:t>
            </a:r>
          </a:p>
          <a:p>
            <a:pPr>
              <a:buFont typeface="Arial" panose="020B0604020202020204" pitchFamily="34" charset="0"/>
              <a:buChar char="•"/>
            </a:pPr>
            <a:r>
              <a:rPr lang="en-US" dirty="0"/>
              <a:t>Provides a structured approach for evaluating risks before making strategic or operational decisions.</a:t>
            </a:r>
          </a:p>
          <a:p>
            <a:pPr>
              <a:buFont typeface="Arial" panose="020B0604020202020204" pitchFamily="34" charset="0"/>
              <a:buChar char="•"/>
            </a:pPr>
            <a:r>
              <a:rPr lang="en-US" dirty="0"/>
              <a:t>Helps leadership weigh risk against potential rewards.</a:t>
            </a:r>
          </a:p>
        </p:txBody>
      </p:sp>
      <p:pic>
        <p:nvPicPr>
          <p:cNvPr id="4" name="Picture 2" descr="Risk Management Framework | Pro ...">
            <a:extLst>
              <a:ext uri="{FF2B5EF4-FFF2-40B4-BE49-F238E27FC236}">
                <a16:creationId xmlns:a16="http://schemas.microsoft.com/office/drawing/2014/main" id="{2A0E9232-AADF-E0F1-9380-CB8A8EA08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1799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DF96-A8E7-D0EA-DDCF-0EC72C60D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D55B0-EF7D-A7F5-FE86-E911EA2277EA}"/>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C5BBF076-F381-7E41-CE79-7E07BC64AA4B}"/>
              </a:ext>
            </a:extLst>
          </p:cNvPr>
          <p:cNvSpPr>
            <a:spLocks noGrp="1"/>
          </p:cNvSpPr>
          <p:nvPr>
            <p:ph idx="1"/>
          </p:nvPr>
        </p:nvSpPr>
        <p:spPr>
          <a:xfrm>
            <a:off x="581192" y="2441009"/>
            <a:ext cx="7464378" cy="3237551"/>
          </a:xfrm>
        </p:spPr>
        <p:txBody>
          <a:bodyPr>
            <a:normAutofit/>
          </a:bodyPr>
          <a:lstStyle/>
          <a:p>
            <a:pPr>
              <a:buNone/>
            </a:pPr>
            <a:r>
              <a:rPr lang="en-US" b="1" dirty="0"/>
              <a:t>Improves Compliance &amp; Regulatory Adherence</a:t>
            </a:r>
          </a:p>
          <a:p>
            <a:pPr>
              <a:buFont typeface="Arial" panose="020B0604020202020204" pitchFamily="34" charset="0"/>
              <a:buChar char="•"/>
            </a:pPr>
            <a:r>
              <a:rPr lang="en-US" dirty="0"/>
              <a:t>Ensures compliance with industry standards and legal requirements (e.g., </a:t>
            </a:r>
            <a:r>
              <a:rPr lang="en-US" b="1" dirty="0"/>
              <a:t>ISO 31000, NIST 800-37, COSO ERM, GDPR, PCI-DSS</a:t>
            </a:r>
            <a:r>
              <a:rPr lang="en-US" dirty="0"/>
              <a:t>).</a:t>
            </a:r>
          </a:p>
          <a:p>
            <a:pPr>
              <a:buFont typeface="Arial" panose="020B0604020202020204" pitchFamily="34" charset="0"/>
              <a:buChar char="•"/>
            </a:pPr>
            <a:r>
              <a:rPr lang="en-US" dirty="0"/>
              <a:t>Reduces the risk of legal penalties and reputational damage.</a:t>
            </a:r>
          </a:p>
        </p:txBody>
      </p:sp>
      <p:pic>
        <p:nvPicPr>
          <p:cNvPr id="4" name="Picture 2" descr="Risk Management Framework | Pro ...">
            <a:extLst>
              <a:ext uri="{FF2B5EF4-FFF2-40B4-BE49-F238E27FC236}">
                <a16:creationId xmlns:a16="http://schemas.microsoft.com/office/drawing/2014/main" id="{95636861-3022-22CA-C23A-B11440F2B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199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E783-E3D6-74F4-AE31-AED3AA138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0A918-BFED-3F89-FF5F-32A37D6AD6BC}"/>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A8159DAC-CF32-8DBF-178B-D1B2C4F10DF6}"/>
              </a:ext>
            </a:extLst>
          </p:cNvPr>
          <p:cNvSpPr>
            <a:spLocks noGrp="1"/>
          </p:cNvSpPr>
          <p:nvPr>
            <p:ph idx="1"/>
          </p:nvPr>
        </p:nvSpPr>
        <p:spPr>
          <a:xfrm>
            <a:off x="581192" y="2441009"/>
            <a:ext cx="7464378" cy="3237551"/>
          </a:xfrm>
        </p:spPr>
        <p:txBody>
          <a:bodyPr>
            <a:normAutofit/>
          </a:bodyPr>
          <a:lstStyle/>
          <a:p>
            <a:pPr>
              <a:buNone/>
            </a:pPr>
            <a:r>
              <a:rPr lang="en-US" b="1" dirty="0"/>
              <a:t>Protects Organizational Assets &amp; Reputation</a:t>
            </a:r>
          </a:p>
          <a:p>
            <a:pPr>
              <a:buFont typeface="Arial" panose="020B0604020202020204" pitchFamily="34" charset="0"/>
              <a:buChar char="•"/>
            </a:pPr>
            <a:r>
              <a:rPr lang="en-US" dirty="0"/>
              <a:t>Safeguards financial, intellectual, human, and digital assets from threats such as cyberattacks, fraud, or operational failures.</a:t>
            </a:r>
          </a:p>
          <a:p>
            <a:pPr>
              <a:buFont typeface="Arial" panose="020B0604020202020204" pitchFamily="34" charset="0"/>
              <a:buChar char="•"/>
            </a:pPr>
            <a:r>
              <a:rPr lang="en-US" dirty="0"/>
              <a:t>Maintains customer trust by proactively managing risks.</a:t>
            </a:r>
          </a:p>
        </p:txBody>
      </p:sp>
      <p:pic>
        <p:nvPicPr>
          <p:cNvPr id="4" name="Picture 2" descr="Risk Management Framework | Pro ...">
            <a:extLst>
              <a:ext uri="{FF2B5EF4-FFF2-40B4-BE49-F238E27FC236}">
                <a16:creationId xmlns:a16="http://schemas.microsoft.com/office/drawing/2014/main" id="{8B18EA8B-929D-0D01-C749-5551FEFCF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322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D2F59-8F97-2DF0-802D-E9ABC8878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6AC2A-ED3A-43C4-26DF-F10CE6FAFF7F}"/>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6DC69DA9-76BD-025B-9D31-A2C0DB916B53}"/>
              </a:ext>
            </a:extLst>
          </p:cNvPr>
          <p:cNvSpPr>
            <a:spLocks noGrp="1"/>
          </p:cNvSpPr>
          <p:nvPr>
            <p:ph idx="1"/>
          </p:nvPr>
        </p:nvSpPr>
        <p:spPr>
          <a:xfrm>
            <a:off x="581192" y="2441009"/>
            <a:ext cx="7464378" cy="3237551"/>
          </a:xfrm>
        </p:spPr>
        <p:txBody>
          <a:bodyPr>
            <a:normAutofit/>
          </a:bodyPr>
          <a:lstStyle/>
          <a:p>
            <a:pPr>
              <a:buNone/>
            </a:pPr>
            <a:r>
              <a:rPr lang="en-US" b="1" dirty="0"/>
              <a:t>Enhances Business Resilience &amp; Continuity</a:t>
            </a:r>
          </a:p>
          <a:p>
            <a:pPr>
              <a:buFont typeface="Arial" panose="020B0604020202020204" pitchFamily="34" charset="0"/>
              <a:buChar char="•"/>
            </a:pPr>
            <a:r>
              <a:rPr lang="en-US" dirty="0"/>
              <a:t>Prepares organizations to handle disruptions (e.g., cyber incidents, natural disasters, financial crises).</a:t>
            </a:r>
          </a:p>
          <a:p>
            <a:pPr>
              <a:buFont typeface="Arial" panose="020B0604020202020204" pitchFamily="34" charset="0"/>
              <a:buChar char="•"/>
            </a:pPr>
            <a:r>
              <a:rPr lang="en-US" dirty="0"/>
              <a:t>Ensures continuity of operations through risk mitigation and contingency planning.</a:t>
            </a:r>
          </a:p>
        </p:txBody>
      </p:sp>
      <p:pic>
        <p:nvPicPr>
          <p:cNvPr id="4" name="Picture 2" descr="Risk Management Framework | Pro ...">
            <a:extLst>
              <a:ext uri="{FF2B5EF4-FFF2-40B4-BE49-F238E27FC236}">
                <a16:creationId xmlns:a16="http://schemas.microsoft.com/office/drawing/2014/main" id="{0BE218DF-594C-66D3-CBF6-2089175D2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318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8429-7F55-7099-5A01-823634BD5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F80A1-EFE7-85F7-6A77-710BACD082D0}"/>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AA0B723E-92EA-A776-99D4-5BEEF917BCED}"/>
              </a:ext>
            </a:extLst>
          </p:cNvPr>
          <p:cNvSpPr>
            <a:spLocks noGrp="1"/>
          </p:cNvSpPr>
          <p:nvPr>
            <p:ph idx="1"/>
          </p:nvPr>
        </p:nvSpPr>
        <p:spPr>
          <a:xfrm>
            <a:off x="581192" y="2441009"/>
            <a:ext cx="7464378" cy="3237551"/>
          </a:xfrm>
        </p:spPr>
        <p:txBody>
          <a:bodyPr>
            <a:normAutofit/>
          </a:bodyPr>
          <a:lstStyle/>
          <a:p>
            <a:pPr>
              <a:buNone/>
            </a:pPr>
            <a:r>
              <a:rPr lang="en-US" b="1" dirty="0"/>
              <a:t>Reduces Financial Losses</a:t>
            </a:r>
          </a:p>
          <a:p>
            <a:pPr>
              <a:buFont typeface="Arial" panose="020B0604020202020204" pitchFamily="34" charset="0"/>
              <a:buChar char="•"/>
            </a:pPr>
            <a:r>
              <a:rPr lang="en-US" dirty="0"/>
              <a:t>Identifies financial risks (e.g., fraud, investment risks, budget overruns) and implements controls to minimize monetary impact.</a:t>
            </a:r>
          </a:p>
          <a:p>
            <a:pPr>
              <a:buFont typeface="Arial" panose="020B0604020202020204" pitchFamily="34" charset="0"/>
              <a:buChar char="•"/>
            </a:pPr>
            <a:r>
              <a:rPr lang="en-US" dirty="0"/>
              <a:t>Supports cost-effective risk mitigation strategies.</a:t>
            </a:r>
          </a:p>
        </p:txBody>
      </p:sp>
      <p:pic>
        <p:nvPicPr>
          <p:cNvPr id="4" name="Picture 2" descr="Risk Management Framework | Pro ...">
            <a:extLst>
              <a:ext uri="{FF2B5EF4-FFF2-40B4-BE49-F238E27FC236}">
                <a16:creationId xmlns:a16="http://schemas.microsoft.com/office/drawing/2014/main" id="{9873F8D5-705C-811F-B6D5-286EBC157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023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C2806-FFAC-6D1B-02CD-FFDB23F9D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F8230-BC57-60A3-9B2A-2A2E48034412}"/>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0C5995DF-E40A-7741-98FF-94DF7D13BCD6}"/>
              </a:ext>
            </a:extLst>
          </p:cNvPr>
          <p:cNvSpPr>
            <a:spLocks noGrp="1"/>
          </p:cNvSpPr>
          <p:nvPr>
            <p:ph idx="1"/>
          </p:nvPr>
        </p:nvSpPr>
        <p:spPr>
          <a:xfrm>
            <a:off x="581192" y="2441009"/>
            <a:ext cx="7464378" cy="3237551"/>
          </a:xfrm>
        </p:spPr>
        <p:txBody>
          <a:bodyPr>
            <a:normAutofit/>
          </a:bodyPr>
          <a:lstStyle/>
          <a:p>
            <a:pPr>
              <a:buNone/>
            </a:pPr>
            <a:r>
              <a:rPr lang="en-US" b="1" dirty="0"/>
              <a:t>Strengthens Cybersecurity &amp; IT Governance</a:t>
            </a:r>
          </a:p>
          <a:p>
            <a:pPr>
              <a:buFont typeface="Arial" panose="020B0604020202020204" pitchFamily="34" charset="0"/>
              <a:buChar char="•"/>
            </a:pPr>
            <a:r>
              <a:rPr lang="en-US" dirty="0"/>
              <a:t>Essential for protecting </a:t>
            </a:r>
            <a:r>
              <a:rPr lang="en-US" b="1" dirty="0"/>
              <a:t>data, IT infrastructure, and digital assets</a:t>
            </a:r>
            <a:r>
              <a:rPr lang="en-US" dirty="0"/>
              <a:t> against cyber threats.</a:t>
            </a:r>
          </a:p>
          <a:p>
            <a:pPr>
              <a:buFont typeface="Arial" panose="020B0604020202020204" pitchFamily="34" charset="0"/>
              <a:buChar char="•"/>
            </a:pPr>
            <a:r>
              <a:rPr lang="en-US" dirty="0"/>
              <a:t>Helps in implementing security controls (e.g., firewalls, encryption, access controls) aligned with regulatory standards like </a:t>
            </a:r>
            <a:r>
              <a:rPr lang="en-US" b="1" dirty="0"/>
              <a:t>NIST, ISO 27001, CIS Controls</a:t>
            </a:r>
            <a:r>
              <a:rPr lang="en-US" dirty="0"/>
              <a:t>.</a:t>
            </a:r>
          </a:p>
        </p:txBody>
      </p:sp>
      <p:pic>
        <p:nvPicPr>
          <p:cNvPr id="4" name="Picture 2" descr="Risk Management Framework | Pro ...">
            <a:extLst>
              <a:ext uri="{FF2B5EF4-FFF2-40B4-BE49-F238E27FC236}">
                <a16:creationId xmlns:a16="http://schemas.microsoft.com/office/drawing/2014/main" id="{0F10AC00-27F8-AEDD-0E21-948863EB1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91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159DE-123F-D960-1D88-6486E3A97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A68B1-B018-7EC9-47E5-4197E08F4934}"/>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133467E0-A384-53F5-D5F7-4F94DAB4E5A2}"/>
              </a:ext>
            </a:extLst>
          </p:cNvPr>
          <p:cNvSpPr>
            <a:spLocks noGrp="1"/>
          </p:cNvSpPr>
          <p:nvPr>
            <p:ph idx="1"/>
          </p:nvPr>
        </p:nvSpPr>
        <p:spPr>
          <a:xfrm>
            <a:off x="581192" y="2441009"/>
            <a:ext cx="7464378" cy="3237551"/>
          </a:xfrm>
        </p:spPr>
        <p:txBody>
          <a:bodyPr>
            <a:normAutofit/>
          </a:bodyPr>
          <a:lstStyle/>
          <a:p>
            <a:pPr>
              <a:buNone/>
            </a:pPr>
            <a:r>
              <a:rPr lang="en-US" b="1" dirty="0"/>
              <a:t>Fosters a Risk-Aware Culture</a:t>
            </a:r>
          </a:p>
          <a:p>
            <a:pPr>
              <a:buFont typeface="Arial" panose="020B0604020202020204" pitchFamily="34" charset="0"/>
              <a:buChar char="•"/>
            </a:pPr>
            <a:r>
              <a:rPr lang="en-US" dirty="0"/>
              <a:t>Encourages proactive risk identification at all organizational levels.</a:t>
            </a:r>
          </a:p>
          <a:p>
            <a:pPr>
              <a:buFont typeface="Arial" panose="020B0604020202020204" pitchFamily="34" charset="0"/>
              <a:buChar char="•"/>
            </a:pPr>
            <a:r>
              <a:rPr lang="en-US" dirty="0"/>
              <a:t>Empowers employees to make informed decisions about risk exposure in their daily activities.</a:t>
            </a:r>
          </a:p>
        </p:txBody>
      </p:sp>
      <p:pic>
        <p:nvPicPr>
          <p:cNvPr id="4" name="Picture 2" descr="Risk Management Framework | Pro ...">
            <a:extLst>
              <a:ext uri="{FF2B5EF4-FFF2-40B4-BE49-F238E27FC236}">
                <a16:creationId xmlns:a16="http://schemas.microsoft.com/office/drawing/2014/main" id="{4CE100FD-C2A5-C0DA-2F92-DE52F537F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029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DD2DA-59CA-EB28-5758-E06FC4D44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AD0A3-BC6E-6CC0-A71E-BF89B924DD3E}"/>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7271DE20-B60A-D196-6CEA-09434C4EA838}"/>
              </a:ext>
            </a:extLst>
          </p:cNvPr>
          <p:cNvSpPr>
            <a:spLocks noGrp="1"/>
          </p:cNvSpPr>
          <p:nvPr>
            <p:ph idx="1"/>
          </p:nvPr>
        </p:nvSpPr>
        <p:spPr>
          <a:xfrm>
            <a:off x="581192" y="2441009"/>
            <a:ext cx="7464378" cy="3237551"/>
          </a:xfrm>
        </p:spPr>
        <p:txBody>
          <a:bodyPr>
            <a:normAutofit/>
          </a:bodyPr>
          <a:lstStyle/>
          <a:p>
            <a:pPr>
              <a:buNone/>
            </a:pPr>
            <a:r>
              <a:rPr lang="en-US" b="1" dirty="0"/>
              <a:t>Enables Continuous Monitoring &amp; Improvement</a:t>
            </a:r>
          </a:p>
          <a:p>
            <a:pPr>
              <a:buFont typeface="Arial" panose="020B0604020202020204" pitchFamily="34" charset="0"/>
              <a:buChar char="•"/>
            </a:pPr>
            <a:r>
              <a:rPr lang="en-US" dirty="0"/>
              <a:t>Establishes a </a:t>
            </a:r>
            <a:r>
              <a:rPr lang="en-US" b="1" dirty="0"/>
              <a:t>risk register and key risk indicators (KRIs)</a:t>
            </a:r>
            <a:r>
              <a:rPr lang="en-US" dirty="0"/>
              <a:t> for ongoing monitoring.</a:t>
            </a:r>
          </a:p>
          <a:p>
            <a:pPr>
              <a:buFont typeface="Arial" panose="020B0604020202020204" pitchFamily="34" charset="0"/>
              <a:buChar char="•"/>
            </a:pPr>
            <a:r>
              <a:rPr lang="en-US" dirty="0"/>
              <a:t>Allows organizations to adapt risk strategies based on evolving threats.</a:t>
            </a:r>
          </a:p>
        </p:txBody>
      </p:sp>
      <p:pic>
        <p:nvPicPr>
          <p:cNvPr id="4" name="Picture 2" descr="Risk Management Framework | Pro ...">
            <a:extLst>
              <a:ext uri="{FF2B5EF4-FFF2-40B4-BE49-F238E27FC236}">
                <a16:creationId xmlns:a16="http://schemas.microsoft.com/office/drawing/2014/main" id="{3F474001-DC5F-96E5-6CC3-6A28C96F6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960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2D25-B60C-AA0B-A4CC-48B420C76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AC44C-9EF4-2169-593E-26463F9AC7EB}"/>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8A10D072-2DE0-F226-6C62-5014B8582E4A}"/>
              </a:ext>
            </a:extLst>
          </p:cNvPr>
          <p:cNvSpPr>
            <a:spLocks noGrp="1"/>
          </p:cNvSpPr>
          <p:nvPr>
            <p:ph idx="1"/>
          </p:nvPr>
        </p:nvSpPr>
        <p:spPr>
          <a:xfrm>
            <a:off x="581192" y="2441009"/>
            <a:ext cx="7464378" cy="3237551"/>
          </a:xfrm>
        </p:spPr>
        <p:txBody>
          <a:bodyPr>
            <a:normAutofit/>
          </a:bodyPr>
          <a:lstStyle/>
          <a:p>
            <a:pPr>
              <a:buNone/>
            </a:pPr>
            <a:r>
              <a:rPr lang="en-US" b="1" dirty="0"/>
              <a:t>Supports Strategic Growth &amp; Innovation</a:t>
            </a:r>
          </a:p>
          <a:p>
            <a:pPr>
              <a:buFont typeface="Arial" panose="020B0604020202020204" pitchFamily="34" charset="0"/>
              <a:buChar char="•"/>
            </a:pPr>
            <a:r>
              <a:rPr lang="en-US" dirty="0"/>
              <a:t>Enables businesses to take </a:t>
            </a:r>
            <a:r>
              <a:rPr lang="en-US" b="1" dirty="0"/>
              <a:t>calculated risks</a:t>
            </a:r>
            <a:r>
              <a:rPr lang="en-US" dirty="0"/>
              <a:t> in new ventures (e.g., entering new markets, adopting new technologies).</a:t>
            </a:r>
          </a:p>
          <a:p>
            <a:pPr>
              <a:buFont typeface="Arial" panose="020B0604020202020204" pitchFamily="34" charset="0"/>
              <a:buChar char="•"/>
            </a:pPr>
            <a:r>
              <a:rPr lang="en-US" dirty="0"/>
              <a:t>Ensures that risks associated with growth are identified and managed.</a:t>
            </a:r>
          </a:p>
        </p:txBody>
      </p:sp>
      <p:pic>
        <p:nvPicPr>
          <p:cNvPr id="4" name="Picture 2" descr="Risk Management Framework | Pro ...">
            <a:extLst>
              <a:ext uri="{FF2B5EF4-FFF2-40B4-BE49-F238E27FC236}">
                <a16:creationId xmlns:a16="http://schemas.microsoft.com/office/drawing/2014/main" id="{E72F66BA-D2E0-BF65-7781-BAA7DA171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782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D5C6-32E7-9C1D-9266-F3DE69A03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9AE71-BD1C-B8CA-88A5-71E627A02A26}"/>
              </a:ext>
            </a:extLst>
          </p:cNvPr>
          <p:cNvSpPr>
            <a:spLocks noGrp="1"/>
          </p:cNvSpPr>
          <p:nvPr>
            <p:ph type="title"/>
          </p:nvPr>
        </p:nvSpPr>
        <p:spPr>
          <a:xfrm>
            <a:off x="467602" y="1088363"/>
            <a:ext cx="11029616" cy="1000123"/>
          </a:xfrm>
        </p:spPr>
        <p:txBody>
          <a:bodyPr>
            <a:normAutofit fontScale="90000"/>
          </a:bodyPr>
          <a:lstStyle/>
          <a:p>
            <a:r>
              <a:rPr lang="en-US" dirty="0"/>
              <a:t>Importance of Risk Management Frameworks and Primary Components of RMFs</a:t>
            </a:r>
            <a:br>
              <a:rPr lang="en-US" dirty="0"/>
            </a:br>
            <a:endParaRPr lang="en-NG" dirty="0"/>
          </a:p>
        </p:txBody>
      </p:sp>
      <p:sp>
        <p:nvSpPr>
          <p:cNvPr id="3" name="Content Placeholder 2">
            <a:extLst>
              <a:ext uri="{FF2B5EF4-FFF2-40B4-BE49-F238E27FC236}">
                <a16:creationId xmlns:a16="http://schemas.microsoft.com/office/drawing/2014/main" id="{72F5F912-CA22-7328-FFE2-D9C9A6706F03}"/>
              </a:ext>
            </a:extLst>
          </p:cNvPr>
          <p:cNvSpPr>
            <a:spLocks noGrp="1"/>
          </p:cNvSpPr>
          <p:nvPr>
            <p:ph idx="1"/>
          </p:nvPr>
        </p:nvSpPr>
        <p:spPr>
          <a:xfrm>
            <a:off x="581192" y="2441009"/>
            <a:ext cx="7464378" cy="3237551"/>
          </a:xfrm>
        </p:spPr>
        <p:txBody>
          <a:bodyPr>
            <a:normAutofit/>
          </a:bodyPr>
          <a:lstStyle/>
          <a:p>
            <a:pPr>
              <a:buNone/>
            </a:pPr>
            <a:r>
              <a:rPr lang="en-US" b="1" dirty="0"/>
              <a:t>Builds Investor &amp; Stakeholder Confidence</a:t>
            </a:r>
          </a:p>
          <a:p>
            <a:pPr>
              <a:buFont typeface="Arial" panose="020B0604020202020204" pitchFamily="34" charset="0"/>
              <a:buChar char="•"/>
            </a:pPr>
            <a:r>
              <a:rPr lang="en-US" dirty="0"/>
              <a:t>Demonstrates to investors, board members, and stakeholders that risks are </a:t>
            </a:r>
            <a:r>
              <a:rPr lang="en-US" b="1" dirty="0"/>
              <a:t>actively managed</a:t>
            </a:r>
            <a:r>
              <a:rPr lang="en-US" dirty="0"/>
              <a:t>.</a:t>
            </a:r>
          </a:p>
          <a:p>
            <a:pPr>
              <a:buFont typeface="Arial" panose="020B0604020202020204" pitchFamily="34" charset="0"/>
              <a:buChar char="•"/>
            </a:pPr>
            <a:r>
              <a:rPr lang="en-US" dirty="0"/>
              <a:t>Enhances credibility and supports sustainable business operations.</a:t>
            </a:r>
          </a:p>
        </p:txBody>
      </p:sp>
      <p:pic>
        <p:nvPicPr>
          <p:cNvPr id="4" name="Picture 2" descr="Risk Management Framework | Pro ...">
            <a:extLst>
              <a:ext uri="{FF2B5EF4-FFF2-40B4-BE49-F238E27FC236}">
                <a16:creationId xmlns:a16="http://schemas.microsoft.com/office/drawing/2014/main" id="{D799334B-B2A3-F789-D411-2D9A3EE69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813" y="2322916"/>
            <a:ext cx="3355643" cy="3355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51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961CD-7EC7-B14F-5461-4AA426913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6DCCE-EA42-F08F-3ED1-9BDCBA9AC035}"/>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38003736-BD30-F6CF-4E23-3082625A17CA}"/>
              </a:ext>
            </a:extLst>
          </p:cNvPr>
          <p:cNvSpPr>
            <a:spLocks noGrp="1"/>
          </p:cNvSpPr>
          <p:nvPr>
            <p:ph idx="1"/>
          </p:nvPr>
        </p:nvSpPr>
        <p:spPr>
          <a:xfrm>
            <a:off x="581192" y="2441009"/>
            <a:ext cx="7464378" cy="3237551"/>
          </a:xfrm>
        </p:spPr>
        <p:txBody>
          <a:bodyPr>
            <a:normAutofit fontScale="92500" lnSpcReduction="20000"/>
          </a:bodyPr>
          <a:lstStyle/>
          <a:p>
            <a:pPr>
              <a:buNone/>
            </a:pPr>
            <a:r>
              <a:rPr lang="en-US" b="1" dirty="0"/>
              <a:t>NIST Risk Management Framework (RMF)</a:t>
            </a:r>
          </a:p>
          <a:p>
            <a:pPr>
              <a:buNone/>
            </a:pPr>
            <a:r>
              <a:rPr lang="en-US" b="1" dirty="0"/>
              <a:t>Best For:</a:t>
            </a:r>
            <a:r>
              <a:rPr lang="en-US" dirty="0"/>
              <a:t> Cybersecurity, IT Governance, Government &amp; Defense Organizations</a:t>
            </a:r>
          </a:p>
          <a:p>
            <a:pPr>
              <a:buFont typeface="Arial" panose="020B0604020202020204" pitchFamily="34" charset="0"/>
              <a:buChar char="•"/>
            </a:pPr>
            <a:r>
              <a:rPr lang="en-US" dirty="0"/>
              <a:t>Developed by the </a:t>
            </a:r>
            <a:r>
              <a:rPr lang="en-US" b="1" dirty="0"/>
              <a:t>National Institute of Standards and Technology (NIST)</a:t>
            </a:r>
            <a:r>
              <a:rPr lang="en-US" dirty="0"/>
              <a:t>.</a:t>
            </a:r>
          </a:p>
          <a:p>
            <a:pPr>
              <a:buFont typeface="Arial" panose="020B0604020202020204" pitchFamily="34" charset="0"/>
              <a:buChar char="•"/>
            </a:pPr>
            <a:r>
              <a:rPr lang="en-US" dirty="0"/>
              <a:t>Integrates security, privacy, and cyber risk management into organizational processes.</a:t>
            </a:r>
          </a:p>
          <a:p>
            <a:pPr>
              <a:buFont typeface="Arial" panose="020B0604020202020204" pitchFamily="34" charset="0"/>
              <a:buChar char="•"/>
            </a:pPr>
            <a:r>
              <a:rPr lang="en-US" dirty="0"/>
              <a:t>Follows a </a:t>
            </a:r>
            <a:r>
              <a:rPr lang="en-US" b="1" dirty="0"/>
              <a:t>7-step process</a:t>
            </a:r>
            <a:r>
              <a:rPr lang="en-US" dirty="0"/>
              <a:t>: Categorize, Select, Implement, Assess, Authorize, Monitor, and Improve.</a:t>
            </a:r>
          </a:p>
          <a:p>
            <a:pPr>
              <a:buFont typeface="Arial" panose="020B0604020202020204" pitchFamily="34" charset="0"/>
              <a:buChar char="•"/>
            </a:pPr>
            <a:r>
              <a:rPr lang="en-US" dirty="0"/>
              <a:t>Used in </a:t>
            </a:r>
            <a:r>
              <a:rPr lang="en-US" b="1" dirty="0"/>
              <a:t>U.S. federal agencies, defense, and critical infrastructure organizations</a:t>
            </a:r>
            <a:r>
              <a:rPr lang="en-US" dirty="0"/>
              <a:t>.</a:t>
            </a:r>
          </a:p>
          <a:p>
            <a:pPr>
              <a:buFont typeface="Arial" panose="020B0604020202020204" pitchFamily="34" charset="0"/>
              <a:buChar char="•"/>
            </a:pPr>
            <a:r>
              <a:rPr lang="en-US" dirty="0"/>
              <a:t>Supports compliance with </a:t>
            </a:r>
            <a:r>
              <a:rPr lang="en-US" b="1" dirty="0"/>
              <a:t>NIST 800-37, NIST 800-53, and FISMA regulations</a:t>
            </a:r>
            <a:r>
              <a:rPr lang="en-US" dirty="0"/>
              <a:t>.</a:t>
            </a:r>
          </a:p>
          <a:p>
            <a:pPr>
              <a:buFont typeface="Arial" panose="020B0604020202020204" pitchFamily="34" charset="0"/>
              <a:buChar char="•"/>
            </a:pPr>
            <a:r>
              <a:rPr lang="en-US" dirty="0"/>
              <a:t> </a:t>
            </a:r>
            <a:r>
              <a:rPr lang="en-US" b="1" dirty="0"/>
              <a:t>Popular in:</a:t>
            </a:r>
            <a:r>
              <a:rPr lang="en-US" dirty="0"/>
              <a:t> Government, military, healthcare, IT, cloud security.</a:t>
            </a:r>
          </a:p>
        </p:txBody>
      </p:sp>
      <p:pic>
        <p:nvPicPr>
          <p:cNvPr id="9218" name="Picture 2" descr="Popular Cybersecurity Framework | NIST">
            <a:extLst>
              <a:ext uri="{FF2B5EF4-FFF2-40B4-BE49-F238E27FC236}">
                <a16:creationId xmlns:a16="http://schemas.microsoft.com/office/drawing/2014/main" id="{0A33F4A9-6B5E-5379-36B1-2AF17CE54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303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BC41-D3B9-98BD-F79C-CB21F9F96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F960E-52AB-D71A-8B25-31910E47098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B731A7DC-F83B-0D10-6F79-618E3F5A1053}"/>
              </a:ext>
            </a:extLst>
          </p:cNvPr>
          <p:cNvSpPr>
            <a:spLocks noGrp="1"/>
          </p:cNvSpPr>
          <p:nvPr>
            <p:ph idx="1"/>
          </p:nvPr>
        </p:nvSpPr>
        <p:spPr>
          <a:xfrm>
            <a:off x="581192" y="2441009"/>
            <a:ext cx="7464378" cy="3237551"/>
          </a:xfrm>
        </p:spPr>
        <p:txBody>
          <a:bodyPr>
            <a:normAutofit fontScale="92500"/>
          </a:bodyPr>
          <a:lstStyle/>
          <a:p>
            <a:pPr>
              <a:buNone/>
            </a:pPr>
            <a:r>
              <a:rPr lang="en-US" b="1" dirty="0"/>
              <a:t>ISO 31000: Risk Management Standard</a:t>
            </a:r>
          </a:p>
          <a:p>
            <a:pPr>
              <a:buNone/>
            </a:pPr>
            <a:r>
              <a:rPr lang="en-US" b="1" dirty="0"/>
              <a:t>Best For:</a:t>
            </a:r>
            <a:r>
              <a:rPr lang="en-US" dirty="0"/>
              <a:t> Enterprise Risk Management (ERM), General Business Risk Management</a:t>
            </a:r>
          </a:p>
          <a:p>
            <a:pPr>
              <a:buFont typeface="Arial" panose="020B0604020202020204" pitchFamily="34" charset="0"/>
              <a:buChar char="•"/>
            </a:pPr>
            <a:r>
              <a:rPr lang="en-US" dirty="0"/>
              <a:t>Developed by the </a:t>
            </a:r>
            <a:r>
              <a:rPr lang="en-US" b="1" dirty="0"/>
              <a:t>International Organization for Standardization (ISO)</a:t>
            </a:r>
            <a:r>
              <a:rPr lang="en-US" dirty="0"/>
              <a:t>.</a:t>
            </a:r>
          </a:p>
          <a:p>
            <a:pPr>
              <a:buFont typeface="Arial" panose="020B0604020202020204" pitchFamily="34" charset="0"/>
              <a:buChar char="•"/>
            </a:pPr>
            <a:r>
              <a:rPr lang="en-US" dirty="0"/>
              <a:t>Provides </a:t>
            </a:r>
            <a:r>
              <a:rPr lang="en-US" b="1" dirty="0"/>
              <a:t>principles, framework, and processes</a:t>
            </a:r>
            <a:r>
              <a:rPr lang="en-US" dirty="0"/>
              <a:t> for managing risks across various sectors.</a:t>
            </a:r>
          </a:p>
          <a:p>
            <a:pPr>
              <a:buFont typeface="Arial" panose="020B0604020202020204" pitchFamily="34" charset="0"/>
              <a:buChar char="•"/>
            </a:pPr>
            <a:r>
              <a:rPr lang="en-US" dirty="0"/>
              <a:t>Focuses on </a:t>
            </a:r>
            <a:r>
              <a:rPr lang="en-US" b="1" dirty="0"/>
              <a:t>risk identification, analysis, evaluation, treatment, and monitoring</a:t>
            </a:r>
            <a:r>
              <a:rPr lang="en-US" dirty="0"/>
              <a:t>.</a:t>
            </a:r>
          </a:p>
          <a:p>
            <a:pPr>
              <a:buFont typeface="Arial" panose="020B0604020202020204" pitchFamily="34" charset="0"/>
              <a:buChar char="•"/>
            </a:pPr>
            <a:r>
              <a:rPr lang="en-US" dirty="0"/>
              <a:t>Adaptable to multiple industries, including </a:t>
            </a:r>
            <a:r>
              <a:rPr lang="en-US" b="1" dirty="0"/>
              <a:t>finance, healthcare, and manufacturing</a:t>
            </a:r>
            <a:r>
              <a:rPr lang="en-US" dirty="0"/>
              <a:t>.</a:t>
            </a:r>
          </a:p>
          <a:p>
            <a:r>
              <a:rPr lang="en-US" b="1" dirty="0"/>
              <a:t>Popular in:</a:t>
            </a:r>
            <a:r>
              <a:rPr lang="en-US" dirty="0"/>
              <a:t> Corporate risk management, finance, supply chain, strategic planning.</a:t>
            </a:r>
          </a:p>
        </p:txBody>
      </p:sp>
      <p:pic>
        <p:nvPicPr>
          <p:cNvPr id="9218" name="Picture 2" descr="Popular Cybersecurity Framework | NIST">
            <a:extLst>
              <a:ext uri="{FF2B5EF4-FFF2-40B4-BE49-F238E27FC236}">
                <a16:creationId xmlns:a16="http://schemas.microsoft.com/office/drawing/2014/main" id="{0479747E-B0DD-68F0-4B14-7E8289CBA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918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ED12E-9B2A-CCFA-EBD4-1F1F97974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0DF80-B724-4CB3-E1A2-58C4420CDD7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495C58AB-A475-C4F7-F8EB-552CE2BA76E7}"/>
              </a:ext>
            </a:extLst>
          </p:cNvPr>
          <p:cNvSpPr>
            <a:spLocks noGrp="1"/>
          </p:cNvSpPr>
          <p:nvPr>
            <p:ph idx="1"/>
          </p:nvPr>
        </p:nvSpPr>
        <p:spPr>
          <a:xfrm>
            <a:off x="581192" y="2441009"/>
            <a:ext cx="7464378" cy="3237551"/>
          </a:xfrm>
        </p:spPr>
        <p:txBody>
          <a:bodyPr>
            <a:normAutofit fontScale="92500"/>
          </a:bodyPr>
          <a:lstStyle/>
          <a:p>
            <a:pPr>
              <a:buNone/>
            </a:pPr>
            <a:r>
              <a:rPr lang="en-US" b="1" dirty="0"/>
              <a:t>COSO ERM (Enterprise Risk Management) Framework</a:t>
            </a:r>
          </a:p>
          <a:p>
            <a:pPr>
              <a:buNone/>
            </a:pPr>
            <a:r>
              <a:rPr lang="en-US" b="1" dirty="0"/>
              <a:t>Best For:</a:t>
            </a:r>
            <a:r>
              <a:rPr lang="en-US" dirty="0"/>
              <a:t> Governance, Financial Risk, Corporate Strategy</a:t>
            </a:r>
          </a:p>
          <a:p>
            <a:pPr>
              <a:buFont typeface="Arial" panose="020B0604020202020204" pitchFamily="34" charset="0"/>
              <a:buChar char="•"/>
            </a:pPr>
            <a:r>
              <a:rPr lang="en-US" dirty="0"/>
              <a:t>Developed by the </a:t>
            </a:r>
            <a:r>
              <a:rPr lang="en-US" b="1" dirty="0"/>
              <a:t>Committee of Sponsoring Organizations of the Treadway Commission (COSO)</a:t>
            </a:r>
            <a:r>
              <a:rPr lang="en-US" dirty="0"/>
              <a:t>.</a:t>
            </a:r>
          </a:p>
          <a:p>
            <a:pPr>
              <a:buFont typeface="Arial" panose="020B0604020202020204" pitchFamily="34" charset="0"/>
              <a:buChar char="•"/>
            </a:pPr>
            <a:r>
              <a:rPr lang="en-US" dirty="0"/>
              <a:t>Focuses on </a:t>
            </a:r>
            <a:r>
              <a:rPr lang="en-US" b="1" dirty="0"/>
              <a:t>governance, risk assessment, control, information, and monitoring</a:t>
            </a:r>
            <a:r>
              <a:rPr lang="en-US" dirty="0"/>
              <a:t>.</a:t>
            </a:r>
          </a:p>
          <a:p>
            <a:pPr>
              <a:buFont typeface="Arial" panose="020B0604020202020204" pitchFamily="34" charset="0"/>
              <a:buChar char="•"/>
            </a:pPr>
            <a:r>
              <a:rPr lang="en-US" dirty="0"/>
              <a:t>Helps organizations </a:t>
            </a:r>
            <a:r>
              <a:rPr lang="en-US" b="1" dirty="0"/>
              <a:t>align risk management with business objectives</a:t>
            </a:r>
            <a:r>
              <a:rPr lang="en-US" dirty="0"/>
              <a:t>.</a:t>
            </a:r>
          </a:p>
          <a:p>
            <a:pPr>
              <a:buFont typeface="Arial" panose="020B0604020202020204" pitchFamily="34" charset="0"/>
              <a:buChar char="•"/>
            </a:pPr>
            <a:r>
              <a:rPr lang="en-US" dirty="0"/>
              <a:t>Supports </a:t>
            </a:r>
            <a:r>
              <a:rPr lang="en-US" b="1" dirty="0"/>
              <a:t>Sarbanes-Oxley Act (SOX) compliance</a:t>
            </a:r>
            <a:r>
              <a:rPr lang="en-US" dirty="0"/>
              <a:t>.</a:t>
            </a:r>
          </a:p>
          <a:p>
            <a:r>
              <a:rPr lang="en-US" b="1" dirty="0"/>
              <a:t>Popular in:</a:t>
            </a:r>
            <a:r>
              <a:rPr lang="en-US" dirty="0"/>
              <a:t> Public companies, financial institutions, governance, corporate risk strategy</a:t>
            </a:r>
          </a:p>
        </p:txBody>
      </p:sp>
      <p:pic>
        <p:nvPicPr>
          <p:cNvPr id="9218" name="Picture 2" descr="Popular Cybersecurity Framework | NIST">
            <a:extLst>
              <a:ext uri="{FF2B5EF4-FFF2-40B4-BE49-F238E27FC236}">
                <a16:creationId xmlns:a16="http://schemas.microsoft.com/office/drawing/2014/main" id="{407B6949-F2E9-1632-76B1-57EC57687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403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E8FEE-69FA-1094-9EA2-94218813C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D68F9-9943-C60A-8222-C052025B2182}"/>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E9237ACE-3978-D1A5-C2C4-9743EBA48756}"/>
              </a:ext>
            </a:extLst>
          </p:cNvPr>
          <p:cNvSpPr>
            <a:spLocks noGrp="1"/>
          </p:cNvSpPr>
          <p:nvPr>
            <p:ph idx="1"/>
          </p:nvPr>
        </p:nvSpPr>
        <p:spPr>
          <a:xfrm>
            <a:off x="581192" y="2441009"/>
            <a:ext cx="7464378" cy="3237551"/>
          </a:xfrm>
        </p:spPr>
        <p:txBody>
          <a:bodyPr>
            <a:normAutofit/>
          </a:bodyPr>
          <a:lstStyle/>
          <a:p>
            <a:pPr>
              <a:buNone/>
            </a:pPr>
            <a:r>
              <a:rPr lang="en-US" b="1" dirty="0"/>
              <a:t>FAIR (Factor Analysis of Information Risk) Framework</a:t>
            </a:r>
          </a:p>
          <a:p>
            <a:pPr>
              <a:buNone/>
            </a:pPr>
            <a:r>
              <a:rPr lang="en-US" b="1" dirty="0"/>
              <a:t>Best For:</a:t>
            </a:r>
            <a:r>
              <a:rPr lang="en-US" dirty="0"/>
              <a:t> Cyber Risk Quantification, Financial Risk Modeling</a:t>
            </a:r>
          </a:p>
          <a:p>
            <a:pPr>
              <a:buFont typeface="Arial" panose="020B0604020202020204" pitchFamily="34" charset="0"/>
              <a:buChar char="•"/>
            </a:pPr>
            <a:r>
              <a:rPr lang="en-US" dirty="0"/>
              <a:t>A </a:t>
            </a:r>
            <a:r>
              <a:rPr lang="en-US" b="1" dirty="0"/>
              <a:t>quantitative risk management framework</a:t>
            </a:r>
            <a:r>
              <a:rPr lang="en-US" dirty="0"/>
              <a:t> focused on cybersecurity.</a:t>
            </a:r>
          </a:p>
          <a:p>
            <a:pPr>
              <a:buFont typeface="Arial" panose="020B0604020202020204" pitchFamily="34" charset="0"/>
              <a:buChar char="•"/>
            </a:pPr>
            <a:r>
              <a:rPr lang="en-US" dirty="0"/>
              <a:t>Helps organizations </a:t>
            </a:r>
            <a:r>
              <a:rPr lang="en-US" b="1" dirty="0"/>
              <a:t>financially quantify</a:t>
            </a:r>
            <a:r>
              <a:rPr lang="en-US" dirty="0"/>
              <a:t> cybersecurity risks.</a:t>
            </a:r>
          </a:p>
          <a:p>
            <a:pPr>
              <a:buFont typeface="Arial" panose="020B0604020202020204" pitchFamily="34" charset="0"/>
              <a:buChar char="•"/>
            </a:pPr>
            <a:r>
              <a:rPr lang="en-US" dirty="0"/>
              <a:t>Aligns with </a:t>
            </a:r>
            <a:r>
              <a:rPr lang="en-US" b="1" dirty="0"/>
              <a:t>NIST, ISO 27001, and COSO ERM</a:t>
            </a:r>
            <a:r>
              <a:rPr lang="en-US" dirty="0"/>
              <a:t> for cyber risk management.</a:t>
            </a:r>
          </a:p>
          <a:p>
            <a:pPr marL="0" indent="0">
              <a:buNone/>
            </a:pPr>
            <a:r>
              <a:rPr lang="en-US" b="1" dirty="0"/>
              <a:t>Popular in:</a:t>
            </a:r>
            <a:r>
              <a:rPr lang="en-US" dirty="0"/>
              <a:t> Cybersecurity, insurance, financial risk management.</a:t>
            </a:r>
          </a:p>
        </p:txBody>
      </p:sp>
      <p:pic>
        <p:nvPicPr>
          <p:cNvPr id="9218" name="Picture 2" descr="Popular Cybersecurity Framework | NIST">
            <a:extLst>
              <a:ext uri="{FF2B5EF4-FFF2-40B4-BE49-F238E27FC236}">
                <a16:creationId xmlns:a16="http://schemas.microsoft.com/office/drawing/2014/main" id="{6C102FC6-3150-13C8-7FA0-E8FAD9C16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897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97A83-8EB9-EBDF-160E-2FAC8FE10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3C2CA-31DE-C746-F8B5-7A99A288507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C4C64D98-44AC-65F0-09B1-571F33D35C33}"/>
              </a:ext>
            </a:extLst>
          </p:cNvPr>
          <p:cNvSpPr>
            <a:spLocks noGrp="1"/>
          </p:cNvSpPr>
          <p:nvPr>
            <p:ph idx="1"/>
          </p:nvPr>
        </p:nvSpPr>
        <p:spPr>
          <a:xfrm>
            <a:off x="581192" y="2441009"/>
            <a:ext cx="7464378" cy="3237551"/>
          </a:xfrm>
        </p:spPr>
        <p:txBody>
          <a:bodyPr>
            <a:normAutofit/>
          </a:bodyPr>
          <a:lstStyle/>
          <a:p>
            <a:pPr>
              <a:buNone/>
            </a:pPr>
            <a:r>
              <a:rPr lang="en-US" b="1" dirty="0"/>
              <a:t>ISO/IEC 27005 (Information Security Risk Management)</a:t>
            </a:r>
          </a:p>
          <a:p>
            <a:pPr>
              <a:buNone/>
            </a:pPr>
            <a:r>
              <a:rPr lang="en-US" b="1" dirty="0"/>
              <a:t>Best For:</a:t>
            </a:r>
            <a:r>
              <a:rPr lang="en-US" dirty="0"/>
              <a:t> Information Security, IT Governance</a:t>
            </a:r>
          </a:p>
          <a:p>
            <a:pPr>
              <a:buFont typeface="Arial" panose="020B0604020202020204" pitchFamily="34" charset="0"/>
              <a:buChar char="•"/>
            </a:pPr>
            <a:r>
              <a:rPr lang="en-US" dirty="0"/>
              <a:t>A subset of </a:t>
            </a:r>
            <a:r>
              <a:rPr lang="en-US" b="1" dirty="0"/>
              <a:t>ISO 27001</a:t>
            </a:r>
            <a:r>
              <a:rPr lang="en-US" dirty="0"/>
              <a:t>, focusing specifically on </a:t>
            </a:r>
            <a:r>
              <a:rPr lang="en-US" b="1" dirty="0"/>
              <a:t>information security risks</a:t>
            </a:r>
            <a:r>
              <a:rPr lang="en-US" dirty="0"/>
              <a:t>.</a:t>
            </a:r>
          </a:p>
          <a:p>
            <a:pPr>
              <a:buFont typeface="Arial" panose="020B0604020202020204" pitchFamily="34" charset="0"/>
              <a:buChar char="•"/>
            </a:pPr>
            <a:r>
              <a:rPr lang="en-US" dirty="0"/>
              <a:t>Provides a systematic approach for </a:t>
            </a:r>
            <a:r>
              <a:rPr lang="en-US" b="1" dirty="0"/>
              <a:t>risk assessment and treatment</a:t>
            </a:r>
            <a:r>
              <a:rPr lang="en-US" dirty="0"/>
              <a:t> in IT environments.</a:t>
            </a:r>
          </a:p>
          <a:p>
            <a:pPr>
              <a:buFont typeface="Arial" panose="020B0604020202020204" pitchFamily="34" charset="0"/>
              <a:buChar char="•"/>
            </a:pPr>
            <a:r>
              <a:rPr lang="en-US" dirty="0"/>
              <a:t>Commonly used alongside </a:t>
            </a:r>
            <a:r>
              <a:rPr lang="en-US" b="1" dirty="0"/>
              <a:t>ISO 27001</a:t>
            </a:r>
            <a:r>
              <a:rPr lang="en-US" dirty="0"/>
              <a:t> to build an </a:t>
            </a:r>
            <a:r>
              <a:rPr lang="en-US" b="1" dirty="0"/>
              <a:t>Information Security Management System (ISMS)</a:t>
            </a:r>
            <a:r>
              <a:rPr lang="en-US" dirty="0"/>
              <a:t>.</a:t>
            </a:r>
          </a:p>
          <a:p>
            <a:pPr marL="0" indent="0">
              <a:buNone/>
            </a:pPr>
            <a:r>
              <a:rPr lang="en-US" b="1" dirty="0"/>
              <a:t>Popular in:</a:t>
            </a:r>
            <a:r>
              <a:rPr lang="en-US" dirty="0"/>
              <a:t> IT security, cybersecurity, compliance, governance.</a:t>
            </a:r>
          </a:p>
        </p:txBody>
      </p:sp>
      <p:pic>
        <p:nvPicPr>
          <p:cNvPr id="9218" name="Picture 2" descr="Popular Cybersecurity Framework | NIST">
            <a:extLst>
              <a:ext uri="{FF2B5EF4-FFF2-40B4-BE49-F238E27FC236}">
                <a16:creationId xmlns:a16="http://schemas.microsoft.com/office/drawing/2014/main" id="{0DE81CD8-8F39-56D0-0465-AAF04D661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908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CC1F-5117-F9A0-8AE7-74B9052C5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2E66F-8253-4655-653B-915E14D5DF21}"/>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ECC415A9-8B80-66B8-30AF-7987B6E269E9}"/>
              </a:ext>
            </a:extLst>
          </p:cNvPr>
          <p:cNvSpPr>
            <a:spLocks noGrp="1"/>
          </p:cNvSpPr>
          <p:nvPr>
            <p:ph idx="1"/>
          </p:nvPr>
        </p:nvSpPr>
        <p:spPr>
          <a:xfrm>
            <a:off x="581192" y="2441009"/>
            <a:ext cx="7464378" cy="3237551"/>
          </a:xfrm>
        </p:spPr>
        <p:txBody>
          <a:bodyPr>
            <a:normAutofit/>
          </a:bodyPr>
          <a:lstStyle/>
          <a:p>
            <a:pPr>
              <a:buNone/>
            </a:pPr>
            <a:r>
              <a:rPr lang="en-US" b="1" dirty="0"/>
              <a:t>ISO/IEC 27005 (Information Security Risk Management)</a:t>
            </a:r>
          </a:p>
          <a:p>
            <a:pPr>
              <a:buNone/>
            </a:pPr>
            <a:r>
              <a:rPr lang="en-US" b="1" dirty="0"/>
              <a:t>Best For:</a:t>
            </a:r>
            <a:r>
              <a:rPr lang="en-US" dirty="0"/>
              <a:t> Information Security, IT Governance</a:t>
            </a:r>
          </a:p>
          <a:p>
            <a:pPr>
              <a:buFont typeface="Arial" panose="020B0604020202020204" pitchFamily="34" charset="0"/>
              <a:buChar char="•"/>
            </a:pPr>
            <a:r>
              <a:rPr lang="en-US" dirty="0"/>
              <a:t>A subset of </a:t>
            </a:r>
            <a:r>
              <a:rPr lang="en-US" b="1" dirty="0"/>
              <a:t>ISO 27001</a:t>
            </a:r>
            <a:r>
              <a:rPr lang="en-US" dirty="0"/>
              <a:t>, focusing specifically on </a:t>
            </a:r>
            <a:r>
              <a:rPr lang="en-US" b="1" dirty="0"/>
              <a:t>information security risks</a:t>
            </a:r>
            <a:r>
              <a:rPr lang="en-US" dirty="0"/>
              <a:t>.</a:t>
            </a:r>
          </a:p>
          <a:p>
            <a:pPr>
              <a:buFont typeface="Arial" panose="020B0604020202020204" pitchFamily="34" charset="0"/>
              <a:buChar char="•"/>
            </a:pPr>
            <a:r>
              <a:rPr lang="en-US" dirty="0"/>
              <a:t>Provides a systematic approach for </a:t>
            </a:r>
            <a:r>
              <a:rPr lang="en-US" b="1" dirty="0"/>
              <a:t>risk assessment and treatment</a:t>
            </a:r>
            <a:r>
              <a:rPr lang="en-US" dirty="0"/>
              <a:t> in IT environments.</a:t>
            </a:r>
          </a:p>
          <a:p>
            <a:pPr>
              <a:buFont typeface="Arial" panose="020B0604020202020204" pitchFamily="34" charset="0"/>
              <a:buChar char="•"/>
            </a:pPr>
            <a:r>
              <a:rPr lang="en-US" dirty="0"/>
              <a:t>Commonly used alongside </a:t>
            </a:r>
            <a:r>
              <a:rPr lang="en-US" b="1" dirty="0"/>
              <a:t>ISO 27001</a:t>
            </a:r>
            <a:r>
              <a:rPr lang="en-US" dirty="0"/>
              <a:t> to build an </a:t>
            </a:r>
            <a:r>
              <a:rPr lang="en-US" b="1" dirty="0"/>
              <a:t>Information Security Management System (ISMS)</a:t>
            </a:r>
            <a:r>
              <a:rPr lang="en-US" dirty="0"/>
              <a:t>.</a:t>
            </a:r>
          </a:p>
          <a:p>
            <a:pPr marL="0" indent="0">
              <a:buNone/>
            </a:pPr>
            <a:r>
              <a:rPr lang="en-US" b="1" dirty="0"/>
              <a:t>Popular in:</a:t>
            </a:r>
            <a:r>
              <a:rPr lang="en-US" dirty="0"/>
              <a:t> IT security, cybersecurity, compliance, governance.</a:t>
            </a:r>
          </a:p>
        </p:txBody>
      </p:sp>
      <p:pic>
        <p:nvPicPr>
          <p:cNvPr id="9218" name="Picture 2" descr="Popular Cybersecurity Framework | NIST">
            <a:extLst>
              <a:ext uri="{FF2B5EF4-FFF2-40B4-BE49-F238E27FC236}">
                <a16:creationId xmlns:a16="http://schemas.microsoft.com/office/drawing/2014/main" id="{B16C966F-03A0-3229-B771-4F62A7D6EF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850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99D83-2873-A0E9-AE8B-55E04F9D5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E0D0C-DEE7-ADC8-37AF-8532D33F53D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08AAFCC9-A93E-09EF-346D-12156138EEDB}"/>
              </a:ext>
            </a:extLst>
          </p:cNvPr>
          <p:cNvSpPr>
            <a:spLocks noGrp="1"/>
          </p:cNvSpPr>
          <p:nvPr>
            <p:ph idx="1"/>
          </p:nvPr>
        </p:nvSpPr>
        <p:spPr>
          <a:xfrm>
            <a:off x="581192" y="2441009"/>
            <a:ext cx="7464378" cy="3237551"/>
          </a:xfrm>
        </p:spPr>
        <p:txBody>
          <a:bodyPr>
            <a:normAutofit/>
          </a:bodyPr>
          <a:lstStyle/>
          <a:p>
            <a:pPr>
              <a:buNone/>
            </a:pPr>
            <a:r>
              <a:rPr lang="en-US" b="1" dirty="0"/>
              <a:t>OCTAVE (Operationally Critical Threat, Asset, and Vulnerability Evaluation)</a:t>
            </a:r>
          </a:p>
          <a:p>
            <a:pPr>
              <a:buNone/>
            </a:pPr>
            <a:r>
              <a:rPr lang="en-US" b="1" dirty="0"/>
              <a:t>Best For:</a:t>
            </a:r>
            <a:r>
              <a:rPr lang="en-US" dirty="0"/>
              <a:t> IT Risk Assessment, Cybersecurity in Enterprises</a:t>
            </a:r>
          </a:p>
          <a:p>
            <a:pPr>
              <a:buFont typeface="Arial" panose="020B0604020202020204" pitchFamily="34" charset="0"/>
              <a:buChar char="•"/>
            </a:pPr>
            <a:r>
              <a:rPr lang="en-US" dirty="0"/>
              <a:t>Developed by </a:t>
            </a:r>
            <a:r>
              <a:rPr lang="en-US" b="1" dirty="0"/>
              <a:t>CERT (Carnegie Mellon University)</a:t>
            </a:r>
            <a:r>
              <a:rPr lang="en-US" dirty="0"/>
              <a:t>.</a:t>
            </a:r>
          </a:p>
          <a:p>
            <a:pPr>
              <a:buFont typeface="Arial" panose="020B0604020202020204" pitchFamily="34" charset="0"/>
              <a:buChar char="•"/>
            </a:pPr>
            <a:r>
              <a:rPr lang="en-US" dirty="0"/>
              <a:t>Focuses on </a:t>
            </a:r>
            <a:r>
              <a:rPr lang="en-US" b="1" dirty="0"/>
              <a:t>asset-driven security risk assessment</a:t>
            </a:r>
            <a:r>
              <a:rPr lang="en-US" dirty="0"/>
              <a:t>.</a:t>
            </a:r>
          </a:p>
          <a:p>
            <a:pPr>
              <a:buFont typeface="Arial" panose="020B0604020202020204" pitchFamily="34" charset="0"/>
              <a:buChar char="•"/>
            </a:pPr>
            <a:r>
              <a:rPr lang="en-US" dirty="0"/>
              <a:t>Helps organizations </a:t>
            </a:r>
            <a:r>
              <a:rPr lang="en-US" b="1" dirty="0"/>
              <a:t>prioritize critical assets and threats</a:t>
            </a:r>
            <a:r>
              <a:rPr lang="en-US" dirty="0"/>
              <a:t>.</a:t>
            </a:r>
          </a:p>
          <a:p>
            <a:r>
              <a:rPr lang="en-US" b="1" dirty="0"/>
              <a:t>Popular in:</a:t>
            </a:r>
            <a:r>
              <a:rPr lang="en-US" dirty="0"/>
              <a:t> IT security, enterprises, operational risk management.</a:t>
            </a:r>
          </a:p>
        </p:txBody>
      </p:sp>
      <p:pic>
        <p:nvPicPr>
          <p:cNvPr id="9218" name="Picture 2" descr="Popular Cybersecurity Framework | NIST">
            <a:extLst>
              <a:ext uri="{FF2B5EF4-FFF2-40B4-BE49-F238E27FC236}">
                <a16:creationId xmlns:a16="http://schemas.microsoft.com/office/drawing/2014/main" id="{0FEB046A-F775-31C9-79CA-23447B81B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1134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933D7-B7C4-A62A-0C74-F5AB95922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8F9CB-2D94-5F77-B55B-0F63EAA987D7}"/>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112E87D1-0FC5-6029-3896-B945317B48A2}"/>
              </a:ext>
            </a:extLst>
          </p:cNvPr>
          <p:cNvSpPr>
            <a:spLocks noGrp="1"/>
          </p:cNvSpPr>
          <p:nvPr>
            <p:ph idx="1"/>
          </p:nvPr>
        </p:nvSpPr>
        <p:spPr>
          <a:xfrm>
            <a:off x="581192" y="2441009"/>
            <a:ext cx="7464378" cy="3237551"/>
          </a:xfrm>
        </p:spPr>
        <p:txBody>
          <a:bodyPr>
            <a:normAutofit/>
          </a:bodyPr>
          <a:lstStyle/>
          <a:p>
            <a:pPr>
              <a:buNone/>
            </a:pPr>
            <a:r>
              <a:rPr lang="en-US" b="1" dirty="0"/>
              <a:t>COBIT (Control Objectives for Information and Related Technologies)</a:t>
            </a:r>
          </a:p>
          <a:p>
            <a:pPr>
              <a:buNone/>
            </a:pPr>
            <a:r>
              <a:rPr lang="en-US" b="1" dirty="0"/>
              <a:t>Best For:</a:t>
            </a:r>
            <a:r>
              <a:rPr lang="en-US" dirty="0"/>
              <a:t> IT Risk Management, Governance, Compliance</a:t>
            </a:r>
          </a:p>
          <a:p>
            <a:pPr>
              <a:buFont typeface="Arial" panose="020B0604020202020204" pitchFamily="34" charset="0"/>
              <a:buChar char="•"/>
            </a:pPr>
            <a:r>
              <a:rPr lang="en-US" dirty="0"/>
              <a:t>Developed by </a:t>
            </a:r>
            <a:r>
              <a:rPr lang="en-US" b="1" dirty="0"/>
              <a:t>ISACA</a:t>
            </a:r>
            <a:r>
              <a:rPr lang="en-US" dirty="0"/>
              <a:t> for </a:t>
            </a:r>
            <a:r>
              <a:rPr lang="en-US" b="1" dirty="0"/>
              <a:t>IT governance and risk management</a:t>
            </a:r>
            <a:r>
              <a:rPr lang="en-US" dirty="0"/>
              <a:t>.</a:t>
            </a:r>
          </a:p>
          <a:p>
            <a:pPr>
              <a:buFont typeface="Arial" panose="020B0604020202020204" pitchFamily="34" charset="0"/>
              <a:buChar char="•"/>
            </a:pPr>
            <a:r>
              <a:rPr lang="en-US" dirty="0"/>
              <a:t>Provides guidelines for </a:t>
            </a:r>
            <a:r>
              <a:rPr lang="en-US" b="1" dirty="0"/>
              <a:t>IT risk assessment, internal controls, and compliance</a:t>
            </a:r>
            <a:r>
              <a:rPr lang="en-US" dirty="0"/>
              <a:t>.</a:t>
            </a:r>
          </a:p>
          <a:p>
            <a:pPr>
              <a:buFont typeface="Arial" panose="020B0604020202020204" pitchFamily="34" charset="0"/>
              <a:buChar char="•"/>
            </a:pPr>
            <a:r>
              <a:rPr lang="en-US" dirty="0"/>
              <a:t>Aligns IT with </a:t>
            </a:r>
            <a:r>
              <a:rPr lang="en-US" b="1" dirty="0"/>
              <a:t>business objectives</a:t>
            </a:r>
            <a:r>
              <a:rPr lang="en-US" dirty="0"/>
              <a:t> while managing </a:t>
            </a:r>
            <a:r>
              <a:rPr lang="en-US" b="1" dirty="0"/>
              <a:t>IT risks</a:t>
            </a:r>
            <a:r>
              <a:rPr lang="en-US" dirty="0"/>
              <a:t>.</a:t>
            </a:r>
          </a:p>
          <a:p>
            <a:r>
              <a:rPr lang="en-US" b="1" dirty="0"/>
              <a:t>Popular in:</a:t>
            </a:r>
            <a:r>
              <a:rPr lang="en-US" dirty="0"/>
              <a:t> IT governance, regulatory compliance, financial institutions.</a:t>
            </a:r>
          </a:p>
        </p:txBody>
      </p:sp>
      <p:pic>
        <p:nvPicPr>
          <p:cNvPr id="9218" name="Picture 2" descr="Popular Cybersecurity Framework | NIST">
            <a:extLst>
              <a:ext uri="{FF2B5EF4-FFF2-40B4-BE49-F238E27FC236}">
                <a16:creationId xmlns:a16="http://schemas.microsoft.com/office/drawing/2014/main" id="{83A058B8-8323-70F6-66A3-D9E033E7F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5028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FC79-75CA-D7AB-C277-35489CE61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B88A7-18AB-1376-2C1C-11D4E11390CA}"/>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5FD74C33-1F0C-591F-9279-9C81A6A53B6F}"/>
              </a:ext>
            </a:extLst>
          </p:cNvPr>
          <p:cNvSpPr>
            <a:spLocks noGrp="1"/>
          </p:cNvSpPr>
          <p:nvPr>
            <p:ph idx="1"/>
          </p:nvPr>
        </p:nvSpPr>
        <p:spPr>
          <a:xfrm>
            <a:off x="581192" y="2441009"/>
            <a:ext cx="7464378" cy="3237551"/>
          </a:xfrm>
        </p:spPr>
        <p:txBody>
          <a:bodyPr>
            <a:normAutofit/>
          </a:bodyPr>
          <a:lstStyle/>
          <a:p>
            <a:pPr>
              <a:buNone/>
            </a:pPr>
            <a:r>
              <a:rPr lang="en-US" b="1" dirty="0"/>
              <a:t>Basel Framework (Basel II, III, IV) – Financial Risk Management</a:t>
            </a:r>
          </a:p>
          <a:p>
            <a:pPr>
              <a:buNone/>
            </a:pPr>
            <a:r>
              <a:rPr lang="en-US" b="1" dirty="0"/>
              <a:t>Best For:</a:t>
            </a:r>
            <a:r>
              <a:rPr lang="en-US" dirty="0"/>
              <a:t> Banking, Financial Institutions, Credit Risk Management</a:t>
            </a:r>
          </a:p>
          <a:p>
            <a:pPr>
              <a:buFont typeface="Arial" panose="020B0604020202020204" pitchFamily="34" charset="0"/>
              <a:buChar char="•"/>
            </a:pPr>
            <a:r>
              <a:rPr lang="en-US" dirty="0"/>
              <a:t>A risk framework developed by the </a:t>
            </a:r>
            <a:r>
              <a:rPr lang="en-US" b="1" dirty="0"/>
              <a:t>Bank for International Settlements (BIS)</a:t>
            </a:r>
            <a:r>
              <a:rPr lang="en-US" dirty="0"/>
              <a:t>.</a:t>
            </a:r>
          </a:p>
          <a:p>
            <a:pPr>
              <a:buFont typeface="Arial" panose="020B0604020202020204" pitchFamily="34" charset="0"/>
              <a:buChar char="•"/>
            </a:pPr>
            <a:r>
              <a:rPr lang="en-US" dirty="0"/>
              <a:t>Focuses on </a:t>
            </a:r>
            <a:r>
              <a:rPr lang="en-US" b="1" dirty="0"/>
              <a:t>credit risk, market risk, and operational risk</a:t>
            </a:r>
            <a:r>
              <a:rPr lang="en-US" dirty="0"/>
              <a:t> in financial institutions.</a:t>
            </a:r>
          </a:p>
          <a:p>
            <a:pPr>
              <a:buFont typeface="Arial" panose="020B0604020202020204" pitchFamily="34" charset="0"/>
              <a:buChar char="•"/>
            </a:pPr>
            <a:r>
              <a:rPr lang="en-US" dirty="0"/>
              <a:t>Used by </a:t>
            </a:r>
            <a:r>
              <a:rPr lang="en-US" b="1" dirty="0"/>
              <a:t>banks and financial institutions</a:t>
            </a:r>
            <a:r>
              <a:rPr lang="en-US" dirty="0"/>
              <a:t> to ensure financial stability.</a:t>
            </a:r>
          </a:p>
          <a:p>
            <a:r>
              <a:rPr lang="en-US" b="1" dirty="0"/>
              <a:t>Popular in:</a:t>
            </a:r>
            <a:r>
              <a:rPr lang="en-US" dirty="0"/>
              <a:t> Banking, finance, investment firms, risk compliance.</a:t>
            </a:r>
          </a:p>
        </p:txBody>
      </p:sp>
      <p:pic>
        <p:nvPicPr>
          <p:cNvPr id="9218" name="Picture 2" descr="Popular Cybersecurity Framework | NIST">
            <a:extLst>
              <a:ext uri="{FF2B5EF4-FFF2-40B4-BE49-F238E27FC236}">
                <a16:creationId xmlns:a16="http://schemas.microsoft.com/office/drawing/2014/main" id="{96B1DED7-2680-D3FA-B759-247FA78A3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9007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C935E-71F3-626F-7200-1362DF9D1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B1CE8-2D51-CE94-2087-500A832B6DEC}"/>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92389435-24B2-07AF-99D5-A70E622604FE}"/>
              </a:ext>
            </a:extLst>
          </p:cNvPr>
          <p:cNvSpPr>
            <a:spLocks noGrp="1"/>
          </p:cNvSpPr>
          <p:nvPr>
            <p:ph idx="1"/>
          </p:nvPr>
        </p:nvSpPr>
        <p:spPr>
          <a:xfrm>
            <a:off x="581192" y="2441009"/>
            <a:ext cx="7464378" cy="3237551"/>
          </a:xfrm>
        </p:spPr>
        <p:txBody>
          <a:bodyPr>
            <a:normAutofit/>
          </a:bodyPr>
          <a:lstStyle/>
          <a:p>
            <a:pPr>
              <a:buNone/>
            </a:pPr>
            <a:r>
              <a:rPr lang="en-US" b="1" dirty="0"/>
              <a:t>RUST CSF (Common Security Framework)</a:t>
            </a:r>
          </a:p>
          <a:p>
            <a:pPr>
              <a:buNone/>
            </a:pPr>
            <a:r>
              <a:rPr lang="en-US" b="1" dirty="0"/>
              <a:t>Best For:</a:t>
            </a:r>
            <a:r>
              <a:rPr lang="en-US" dirty="0"/>
              <a:t> Healthcare, Data Security, HIPAA Compliance</a:t>
            </a:r>
          </a:p>
          <a:p>
            <a:pPr>
              <a:buFont typeface="Arial" panose="020B0604020202020204" pitchFamily="34" charset="0"/>
              <a:buChar char="•"/>
            </a:pPr>
            <a:r>
              <a:rPr lang="en-US" dirty="0"/>
              <a:t>Designed for </a:t>
            </a:r>
            <a:r>
              <a:rPr lang="en-US" b="1" dirty="0"/>
              <a:t>healthcare and other industries handling sensitive data</a:t>
            </a:r>
            <a:r>
              <a:rPr lang="en-US" dirty="0"/>
              <a:t>.</a:t>
            </a:r>
          </a:p>
          <a:p>
            <a:pPr>
              <a:buFont typeface="Arial" panose="020B0604020202020204" pitchFamily="34" charset="0"/>
              <a:buChar char="•"/>
            </a:pPr>
            <a:r>
              <a:rPr lang="en-US" dirty="0"/>
              <a:t>Aligns with </a:t>
            </a:r>
            <a:r>
              <a:rPr lang="en-US" b="1" dirty="0"/>
              <a:t>HIPAA, ISO 27001, NIST, and PCI-DSS</a:t>
            </a:r>
            <a:r>
              <a:rPr lang="en-US" dirty="0"/>
              <a:t> to create a unified security approach.</a:t>
            </a:r>
          </a:p>
          <a:p>
            <a:pPr>
              <a:buFont typeface="Arial" panose="020B0604020202020204" pitchFamily="34" charset="0"/>
              <a:buChar char="•"/>
            </a:pPr>
            <a:r>
              <a:rPr lang="en-US" dirty="0"/>
              <a:t>Helps organizations manage </a:t>
            </a:r>
            <a:r>
              <a:rPr lang="en-US" b="1" dirty="0"/>
              <a:t>compliance and cybersecurity risks</a:t>
            </a:r>
            <a:r>
              <a:rPr lang="en-US" dirty="0"/>
              <a:t>.</a:t>
            </a:r>
          </a:p>
          <a:p>
            <a:r>
              <a:rPr lang="en-US" b="1" dirty="0"/>
              <a:t>Popular in:</a:t>
            </a:r>
            <a:r>
              <a:rPr lang="en-US" dirty="0"/>
              <a:t> Healthcare, cloud computing, data security.</a:t>
            </a:r>
          </a:p>
        </p:txBody>
      </p:sp>
      <p:pic>
        <p:nvPicPr>
          <p:cNvPr id="9218" name="Picture 2" descr="Popular Cybersecurity Framework | NIST">
            <a:extLst>
              <a:ext uri="{FF2B5EF4-FFF2-40B4-BE49-F238E27FC236}">
                <a16:creationId xmlns:a16="http://schemas.microsoft.com/office/drawing/2014/main" id="{3C27BD8F-6B4D-8968-A4CA-ABC723940D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599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41F6-052D-4021-801D-3D6DB082BF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4AFBB-629E-4EAF-E193-FE6DA4BEDE50}"/>
              </a:ext>
            </a:extLst>
          </p:cNvPr>
          <p:cNvSpPr>
            <a:spLocks noGrp="1"/>
          </p:cNvSpPr>
          <p:nvPr>
            <p:ph type="title"/>
          </p:nvPr>
        </p:nvSpPr>
        <p:spPr>
          <a:xfrm>
            <a:off x="467602" y="1088363"/>
            <a:ext cx="11029616" cy="1000123"/>
          </a:xfrm>
        </p:spPr>
        <p:txBody>
          <a:bodyPr>
            <a:normAutofit/>
          </a:bodyPr>
          <a:lstStyle/>
          <a:p>
            <a:r>
              <a:rPr lang="en-US" dirty="0"/>
              <a:t>TOP -  Risk Management Frameworks</a:t>
            </a:r>
            <a:endParaRPr lang="en-NG" dirty="0"/>
          </a:p>
        </p:txBody>
      </p:sp>
      <p:sp>
        <p:nvSpPr>
          <p:cNvPr id="3" name="Content Placeholder 2">
            <a:extLst>
              <a:ext uri="{FF2B5EF4-FFF2-40B4-BE49-F238E27FC236}">
                <a16:creationId xmlns:a16="http://schemas.microsoft.com/office/drawing/2014/main" id="{011B00C7-0881-3061-6935-C437D229090D}"/>
              </a:ext>
            </a:extLst>
          </p:cNvPr>
          <p:cNvSpPr>
            <a:spLocks noGrp="1"/>
          </p:cNvSpPr>
          <p:nvPr>
            <p:ph idx="1"/>
          </p:nvPr>
        </p:nvSpPr>
        <p:spPr>
          <a:xfrm>
            <a:off x="581192" y="2441009"/>
            <a:ext cx="7464378" cy="3237551"/>
          </a:xfrm>
        </p:spPr>
        <p:txBody>
          <a:bodyPr>
            <a:normAutofit/>
          </a:bodyPr>
          <a:lstStyle/>
          <a:p>
            <a:pPr>
              <a:buNone/>
            </a:pPr>
            <a:r>
              <a:rPr lang="en-US" b="1" dirty="0"/>
              <a:t>ITIL (Information Technology Infrastructure Library) Risk Framework</a:t>
            </a:r>
          </a:p>
          <a:p>
            <a:pPr>
              <a:buNone/>
            </a:pPr>
            <a:r>
              <a:rPr lang="en-US" b="1" dirty="0"/>
              <a:t>Best For:</a:t>
            </a:r>
            <a:r>
              <a:rPr lang="en-US" dirty="0"/>
              <a:t> IT Service Management (ITSM), Business Continuity</a:t>
            </a:r>
          </a:p>
          <a:p>
            <a:pPr>
              <a:buFont typeface="Arial" panose="020B0604020202020204" pitchFamily="34" charset="0"/>
              <a:buChar char="•"/>
            </a:pPr>
            <a:r>
              <a:rPr lang="en-US" dirty="0"/>
              <a:t>A best-practice framework for </a:t>
            </a:r>
            <a:r>
              <a:rPr lang="en-US" b="1" dirty="0"/>
              <a:t>IT risk management and service delivery</a:t>
            </a:r>
            <a:r>
              <a:rPr lang="en-US" dirty="0"/>
              <a:t>.</a:t>
            </a:r>
          </a:p>
          <a:p>
            <a:pPr>
              <a:buFont typeface="Arial" panose="020B0604020202020204" pitchFamily="34" charset="0"/>
              <a:buChar char="•"/>
            </a:pPr>
            <a:r>
              <a:rPr lang="en-US" dirty="0"/>
              <a:t>Helps organizations align </a:t>
            </a:r>
            <a:r>
              <a:rPr lang="en-US" b="1" dirty="0"/>
              <a:t>IT services with business needs</a:t>
            </a:r>
            <a:r>
              <a:rPr lang="en-US" dirty="0"/>
              <a:t> while managing risk.</a:t>
            </a:r>
          </a:p>
          <a:p>
            <a:pPr>
              <a:buFont typeface="Arial" panose="020B0604020202020204" pitchFamily="34" charset="0"/>
              <a:buChar char="•"/>
            </a:pPr>
            <a:r>
              <a:rPr lang="en-US" dirty="0"/>
              <a:t>Often used in </a:t>
            </a:r>
            <a:r>
              <a:rPr lang="en-US" b="1" dirty="0"/>
              <a:t>ITIL-based IT Service Management (ITSM) systems</a:t>
            </a:r>
            <a:r>
              <a:rPr lang="en-US" dirty="0"/>
              <a:t>.</a:t>
            </a:r>
          </a:p>
          <a:p>
            <a:r>
              <a:rPr lang="en-US" b="1" dirty="0"/>
              <a:t>Popular in:</a:t>
            </a:r>
            <a:r>
              <a:rPr lang="en-US" dirty="0"/>
              <a:t> IT operations, service management, business continuity planning.</a:t>
            </a:r>
          </a:p>
        </p:txBody>
      </p:sp>
      <p:pic>
        <p:nvPicPr>
          <p:cNvPr id="9218" name="Picture 2" descr="Popular Cybersecurity Framework | NIST">
            <a:extLst>
              <a:ext uri="{FF2B5EF4-FFF2-40B4-BE49-F238E27FC236}">
                <a16:creationId xmlns:a16="http://schemas.microsoft.com/office/drawing/2014/main" id="{4BC59D04-C996-5B23-7A4B-EA56CF86A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5110" y="2304687"/>
            <a:ext cx="3187384" cy="2981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765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73820-B991-1A24-684F-D7142422C2FC}"/>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C32F81EC-281E-A414-3534-B3929E5A00D0}"/>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7513498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E6B9-E182-BD41-4FC3-FD861D7AD72B}"/>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C6757775-3C10-D167-0B3D-116D96AE57B0}"/>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49333862"/>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3873</TotalTime>
  <Words>2628</Words>
  <Application>Microsoft Office PowerPoint</Application>
  <PresentationFormat>Widescreen</PresentationFormat>
  <Paragraphs>232</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Franklin Gothic Book</vt:lpstr>
      <vt:lpstr>Franklin Gothic Demi</vt:lpstr>
      <vt:lpstr>Roboto</vt:lpstr>
      <vt:lpstr>Wingdings 2</vt:lpstr>
      <vt:lpstr>DividendVTI</vt:lpstr>
      <vt:lpstr>ALTSCHOOL OF Cybersecurity (BARAKA 2025)</vt:lpstr>
      <vt:lpstr>REFRESHER – LAST WEEK</vt:lpstr>
      <vt:lpstr>Month 2 -  WEEK 5 (Day 1)</vt:lpstr>
      <vt:lpstr>Risk Management</vt:lpstr>
      <vt:lpstr>RISK</vt:lpstr>
      <vt:lpstr>RISK MANAGEMENT</vt:lpstr>
      <vt:lpstr>TYPES OF RISK</vt:lpstr>
      <vt:lpstr>TYPES OF RISK</vt:lpstr>
      <vt:lpstr>TYPES OF RISK</vt:lpstr>
      <vt:lpstr>TYPES OF RISK</vt:lpstr>
      <vt:lpstr>TYPES OF RISK</vt:lpstr>
      <vt:lpstr>RISK Identification Techniques</vt:lpstr>
      <vt:lpstr>RISK Identification Techniques</vt:lpstr>
      <vt:lpstr>RISK Identification Techniques</vt:lpstr>
      <vt:lpstr>RISK Identification Techniques</vt:lpstr>
      <vt:lpstr>RISK Identification Techniques</vt:lpstr>
      <vt:lpstr>RISK Identification Techniques</vt:lpstr>
      <vt:lpstr>RISK Identification Techniques</vt:lpstr>
      <vt:lpstr>Accessing Risk and Prioritizing Risk  </vt:lpstr>
      <vt:lpstr>RISK Management Frameworks – Overview</vt:lpstr>
      <vt:lpstr>RISK Management Frameworks – Overview</vt:lpstr>
      <vt:lpstr>RISK Management Frameworks – Overview</vt:lpstr>
      <vt:lpstr>RISK Management Frameworks – Overview</vt:lpstr>
      <vt:lpstr>RISK Management Frameworks – Overview</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Importance of Risk Management Frameworks and Primary Components of RMFs </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TOP -  Risk Management Frameworks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5</cp:revision>
  <dcterms:created xsi:type="dcterms:W3CDTF">2025-03-19T13:29:09Z</dcterms:created>
  <dcterms:modified xsi:type="dcterms:W3CDTF">2025-04-03T09:22:17Z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