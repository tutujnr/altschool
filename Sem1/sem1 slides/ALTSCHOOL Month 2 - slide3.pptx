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71"/>
  </p:notesMasterIdLst>
  <p:sldIdLst>
    <p:sldId id="257" r:id="rId5"/>
    <p:sldId id="288" r:id="rId6"/>
    <p:sldId id="260" r:id="rId7"/>
    <p:sldId id="302" r:id="rId8"/>
    <p:sldId id="268" r:id="rId9"/>
    <p:sldId id="296" r:id="rId10"/>
    <p:sldId id="297" r:id="rId11"/>
    <p:sldId id="298" r:id="rId12"/>
    <p:sldId id="300" r:id="rId13"/>
    <p:sldId id="299" r:id="rId14"/>
    <p:sldId id="301" r:id="rId15"/>
    <p:sldId id="304" r:id="rId16"/>
    <p:sldId id="305" r:id="rId17"/>
    <p:sldId id="303" r:id="rId18"/>
    <p:sldId id="306" r:id="rId19"/>
    <p:sldId id="307" r:id="rId20"/>
    <p:sldId id="308" r:id="rId21"/>
    <p:sldId id="309" r:id="rId22"/>
    <p:sldId id="310" r:id="rId23"/>
    <p:sldId id="311" r:id="rId24"/>
    <p:sldId id="312" r:id="rId25"/>
    <p:sldId id="314" r:id="rId26"/>
    <p:sldId id="315" r:id="rId27"/>
    <p:sldId id="316" r:id="rId28"/>
    <p:sldId id="317" r:id="rId29"/>
    <p:sldId id="318" r:id="rId30"/>
    <p:sldId id="319" r:id="rId31"/>
    <p:sldId id="321" r:id="rId32"/>
    <p:sldId id="320" r:id="rId33"/>
    <p:sldId id="322" r:id="rId34"/>
    <p:sldId id="325" r:id="rId35"/>
    <p:sldId id="323" r:id="rId36"/>
    <p:sldId id="324" r:id="rId37"/>
    <p:sldId id="326" r:id="rId38"/>
    <p:sldId id="327" r:id="rId39"/>
    <p:sldId id="328"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3" r:id="rId55"/>
    <p:sldId id="344" r:id="rId56"/>
    <p:sldId id="345" r:id="rId57"/>
    <p:sldId id="346" r:id="rId58"/>
    <p:sldId id="353" r:id="rId59"/>
    <p:sldId id="352" r:id="rId60"/>
    <p:sldId id="347" r:id="rId61"/>
    <p:sldId id="348" r:id="rId62"/>
    <p:sldId id="349" r:id="rId63"/>
    <p:sldId id="350" r:id="rId64"/>
    <p:sldId id="351" r:id="rId65"/>
    <p:sldId id="354" r:id="rId66"/>
    <p:sldId id="355" r:id="rId67"/>
    <p:sldId id="356" r:id="rId68"/>
    <p:sldId id="357" r:id="rId69"/>
    <p:sldId id="35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1" clrIdx="0">
    <p:extLst>
      <p:ext uri="{19B8F6BF-5375-455C-9EA6-DF929625EA0E}">
        <p15:presenceInfo xmlns:p15="http://schemas.microsoft.com/office/powerpoint/2012/main" xmlns=""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6" autoAdjust="0"/>
    <p:restoredTop sz="94619" autoAdjust="0"/>
  </p:normalViewPr>
  <p:slideViewPr>
    <p:cSldViewPr snapToGrid="0">
      <p:cViewPr>
        <p:scale>
          <a:sx n="78" d="100"/>
          <a:sy n="78" d="100"/>
        </p:scale>
        <p:origin x="-8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8T17:34:04.030" idx="1">
    <p:pos x="10" y="10"/>
    <p:text/>
    <p:extLst>
      <p:ext uri="{C676402C-5697-4E1C-873F-D02D1690AC5C}">
        <p15:threadingInfo xmlns:p15="http://schemas.microsoft.com/office/powerpoint/2012/main" xmlns=""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x-none" smtClean="0"/>
              <a:t>7/11/2025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x-none" smtClean="0"/>
              <a:t>‹#›</a:t>
            </a:fld>
            <a:endParaRPr lang="x-none"/>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A544F6D5-FFE7-49F7-9D51-00EE85B0B2CE}" type="slidenum">
              <a:rPr lang="x-none" smtClean="0"/>
              <a:t>20</a:t>
            </a:fld>
            <a:endParaRPr lang="x-none"/>
          </a:p>
        </p:txBody>
      </p:sp>
    </p:spTree>
    <p:extLst>
      <p:ext uri="{BB962C8B-B14F-4D97-AF65-F5344CB8AC3E}">
        <p14:creationId xmlns:p14="http://schemas.microsoft.com/office/powerpoint/2010/main" val="1430901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CC2F82-5020-2606-5864-BC86F303A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7B606C8-1D5C-25B7-ABEB-2312705F0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89916B6-EBF9-23F2-215C-89D83C15C31A}"/>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64D62A8F-22F8-BDE4-4F67-C6F303CC955F}"/>
              </a:ext>
            </a:extLst>
          </p:cNvPr>
          <p:cNvSpPr>
            <a:spLocks noGrp="1"/>
          </p:cNvSpPr>
          <p:nvPr>
            <p:ph type="sldNum" sz="quarter" idx="5"/>
          </p:nvPr>
        </p:nvSpPr>
        <p:spPr/>
        <p:txBody>
          <a:bodyPr/>
          <a:lstStyle/>
          <a:p>
            <a:fld id="{A544F6D5-FFE7-49F7-9D51-00EE85B0B2CE}" type="slidenum">
              <a:rPr lang="x-none" smtClean="0"/>
              <a:t>21</a:t>
            </a:fld>
            <a:endParaRPr lang="x-none"/>
          </a:p>
        </p:txBody>
      </p:sp>
    </p:spTree>
    <p:extLst>
      <p:ext uri="{BB962C8B-B14F-4D97-AF65-F5344CB8AC3E}">
        <p14:creationId xmlns:p14="http://schemas.microsoft.com/office/powerpoint/2010/main" val="3867887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D394D1-3046-F088-12B9-7DE2F0A25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374494D-8B7D-8B6C-77B1-408467C23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0E35EB5-D32B-31EF-7064-4575C857DF52}"/>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10481934-1EC8-7EF5-9C8B-781AD821B972}"/>
              </a:ext>
            </a:extLst>
          </p:cNvPr>
          <p:cNvSpPr>
            <a:spLocks noGrp="1"/>
          </p:cNvSpPr>
          <p:nvPr>
            <p:ph type="sldNum" sz="quarter" idx="5"/>
          </p:nvPr>
        </p:nvSpPr>
        <p:spPr/>
        <p:txBody>
          <a:bodyPr/>
          <a:lstStyle/>
          <a:p>
            <a:fld id="{A544F6D5-FFE7-49F7-9D51-00EE85B0B2CE}" type="slidenum">
              <a:rPr lang="x-none" smtClean="0"/>
              <a:t>23</a:t>
            </a:fld>
            <a:endParaRPr lang="x-none"/>
          </a:p>
        </p:txBody>
      </p:sp>
    </p:spTree>
    <p:extLst>
      <p:ext uri="{BB962C8B-B14F-4D97-AF65-F5344CB8AC3E}">
        <p14:creationId xmlns:p14="http://schemas.microsoft.com/office/powerpoint/2010/main" val="543136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00D7A7-1ADD-D7AC-1A44-762DF954E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A3BB03A-E18E-7C93-86D3-01E5EC52D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5DC5313-ED91-1908-12F4-5E720AEE77AE}"/>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80136FA9-2C13-7393-395C-4C8BADF9026C}"/>
              </a:ext>
            </a:extLst>
          </p:cNvPr>
          <p:cNvSpPr>
            <a:spLocks noGrp="1"/>
          </p:cNvSpPr>
          <p:nvPr>
            <p:ph type="sldNum" sz="quarter" idx="5"/>
          </p:nvPr>
        </p:nvSpPr>
        <p:spPr/>
        <p:txBody>
          <a:bodyPr/>
          <a:lstStyle/>
          <a:p>
            <a:fld id="{A544F6D5-FFE7-49F7-9D51-00EE85B0B2CE}" type="slidenum">
              <a:rPr lang="x-none" smtClean="0"/>
              <a:t>24</a:t>
            </a:fld>
            <a:endParaRPr lang="x-none"/>
          </a:p>
        </p:txBody>
      </p:sp>
    </p:spTree>
    <p:extLst>
      <p:ext uri="{BB962C8B-B14F-4D97-AF65-F5344CB8AC3E}">
        <p14:creationId xmlns:p14="http://schemas.microsoft.com/office/powerpoint/2010/main" val="2879905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964A26-D676-1773-4219-5292A737E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4B65B41-BE65-4198-E5B7-D9C82575B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C2F43EF-298C-F4D2-BCF4-8699E151F627}"/>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88DFE836-2C61-7001-384A-2F3B608D93A9}"/>
              </a:ext>
            </a:extLst>
          </p:cNvPr>
          <p:cNvSpPr>
            <a:spLocks noGrp="1"/>
          </p:cNvSpPr>
          <p:nvPr>
            <p:ph type="sldNum" sz="quarter" idx="5"/>
          </p:nvPr>
        </p:nvSpPr>
        <p:spPr/>
        <p:txBody>
          <a:bodyPr/>
          <a:lstStyle/>
          <a:p>
            <a:fld id="{A544F6D5-FFE7-49F7-9D51-00EE85B0B2CE}" type="slidenum">
              <a:rPr lang="x-none" smtClean="0"/>
              <a:t>29</a:t>
            </a:fld>
            <a:endParaRPr lang="x-none"/>
          </a:p>
        </p:txBody>
      </p:sp>
    </p:spTree>
    <p:extLst>
      <p:ext uri="{BB962C8B-B14F-4D97-AF65-F5344CB8AC3E}">
        <p14:creationId xmlns:p14="http://schemas.microsoft.com/office/powerpoint/2010/main" val="236220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FE2FB0-0464-94AD-2E7F-C687120A5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87DB382-F305-72CC-E392-DECE32776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5EBFB18-0A39-4DE6-43E1-1B8FAF6C3CD9}"/>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44E09B68-BE33-B0D0-33CA-E6F33BAC1F2C}"/>
              </a:ext>
            </a:extLst>
          </p:cNvPr>
          <p:cNvSpPr>
            <a:spLocks noGrp="1"/>
          </p:cNvSpPr>
          <p:nvPr>
            <p:ph type="sldNum" sz="quarter" idx="5"/>
          </p:nvPr>
        </p:nvSpPr>
        <p:spPr/>
        <p:txBody>
          <a:bodyPr/>
          <a:lstStyle/>
          <a:p>
            <a:fld id="{A544F6D5-FFE7-49F7-9D51-00EE85B0B2CE}" type="slidenum">
              <a:rPr lang="x-none" smtClean="0"/>
              <a:t>30</a:t>
            </a:fld>
            <a:endParaRPr lang="x-none"/>
          </a:p>
        </p:txBody>
      </p:sp>
    </p:spTree>
    <p:extLst>
      <p:ext uri="{BB962C8B-B14F-4D97-AF65-F5344CB8AC3E}">
        <p14:creationId xmlns:p14="http://schemas.microsoft.com/office/powerpoint/2010/main" val="121155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BD597B-6088-518D-BA5C-DCED37480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D8961D5-E0E2-900B-24E3-A39DCFB0A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D87742A-722A-E4DC-35BE-969DAE11EA58}"/>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48AC1F44-919E-DB4E-692F-D9902ADF949E}"/>
              </a:ext>
            </a:extLst>
          </p:cNvPr>
          <p:cNvSpPr>
            <a:spLocks noGrp="1"/>
          </p:cNvSpPr>
          <p:nvPr>
            <p:ph type="sldNum" sz="quarter" idx="5"/>
          </p:nvPr>
        </p:nvSpPr>
        <p:spPr/>
        <p:txBody>
          <a:bodyPr/>
          <a:lstStyle/>
          <a:p>
            <a:fld id="{A544F6D5-FFE7-49F7-9D51-00EE85B0B2CE}" type="slidenum">
              <a:rPr lang="x-none" smtClean="0"/>
              <a:t>31</a:t>
            </a:fld>
            <a:endParaRPr lang="x-none"/>
          </a:p>
        </p:txBody>
      </p:sp>
    </p:spTree>
    <p:extLst>
      <p:ext uri="{BB962C8B-B14F-4D97-AF65-F5344CB8AC3E}">
        <p14:creationId xmlns:p14="http://schemas.microsoft.com/office/powerpoint/2010/main" val="764862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C68FDA-96CF-74E3-3C29-ED825209C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6EE68F3-EE52-C75B-1EDE-7DD5F889A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A6732DC-6EAA-E5AB-B05B-2A3ABD5ABDC3}"/>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a16="http://schemas.microsoft.com/office/drawing/2014/main" xmlns="" id="{E3E1E49B-BB2E-7C2B-79AF-FF0E319B1B01}"/>
              </a:ext>
            </a:extLst>
          </p:cNvPr>
          <p:cNvSpPr>
            <a:spLocks noGrp="1"/>
          </p:cNvSpPr>
          <p:nvPr>
            <p:ph type="sldNum" sz="quarter" idx="5"/>
          </p:nvPr>
        </p:nvSpPr>
        <p:spPr/>
        <p:txBody>
          <a:bodyPr/>
          <a:lstStyle/>
          <a:p>
            <a:fld id="{A544F6D5-FFE7-49F7-9D51-00EE85B0B2CE}" type="slidenum">
              <a:rPr lang="x-none" smtClean="0"/>
              <a:t>32</a:t>
            </a:fld>
            <a:endParaRPr lang="x-none"/>
          </a:p>
        </p:txBody>
      </p:sp>
    </p:spTree>
    <p:extLst>
      <p:ext uri="{BB962C8B-B14F-4D97-AF65-F5344CB8AC3E}">
        <p14:creationId xmlns:p14="http://schemas.microsoft.com/office/powerpoint/2010/main" val="2169518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A544F6D5-FFE7-49F7-9D51-00EE85B0B2CE}" type="slidenum">
              <a:rPr lang="x-none" smtClean="0"/>
              <a:t>36</a:t>
            </a:fld>
            <a:endParaRPr lang="x-none"/>
          </a:p>
        </p:txBody>
      </p:sp>
    </p:spTree>
    <p:extLst>
      <p:ext uri="{BB962C8B-B14F-4D97-AF65-F5344CB8AC3E}">
        <p14:creationId xmlns:p14="http://schemas.microsoft.com/office/powerpoint/2010/main" val="3875895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t>7/11/2025</a:t>
            </a:fld>
            <a:endParaRPr lang="en-US" dirty="0"/>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xmlns=""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t>7/11/2025</a:t>
            </a:fld>
            <a:endParaRPr lang="en-US" dirty="0"/>
          </a:p>
        </p:txBody>
      </p:sp>
      <p:sp>
        <p:nvSpPr>
          <p:cNvPr id="9" name="Footer Placeholder 8">
            <a:extLst>
              <a:ext uri="{FF2B5EF4-FFF2-40B4-BE49-F238E27FC236}">
                <a16:creationId xmlns:a16="http://schemas.microsoft.com/office/drawing/2014/main" xmlns=""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xmlns=""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t>7/11/2025</a:t>
            </a:fld>
            <a:endParaRPr lang="en-US" dirty="0"/>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7/11/2025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7/11/2025</a:t>
            </a:fld>
            <a:endParaRPr lang="en-US" dirty="0"/>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t>7/11/2025</a:t>
            </a:fld>
            <a:endParaRPr lang="en-US" dirty="0"/>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D6D7A0BC-0046-4CAA-8E7F-DCAFE511EA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xmlns=""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Week 4</a:t>
            </a:r>
          </a:p>
        </p:txBody>
      </p:sp>
      <p:sp>
        <p:nvSpPr>
          <p:cNvPr id="20" name="Rectangle 19">
            <a:extLst>
              <a:ext uri="{FF2B5EF4-FFF2-40B4-BE49-F238E27FC236}">
                <a16:creationId xmlns:a16="http://schemas.microsoft.com/office/drawing/2014/main" xmlns="" id="{E7C6334F-6411-41EC-AD7D-179EDD8B58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xmlns="" id="{E6B02CEE-3AF8-4349-9B3E-8970E6DF62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AAA01CF0-3FB5-44EB-B7DE-F2E86374C2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xmlns=""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xmlns=""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87D8F4E-4B98-2857-8D00-2D26893C1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3F00634-5033-7A89-B0D3-38874F6DBB45}"/>
              </a:ext>
            </a:extLst>
          </p:cNvPr>
          <p:cNvSpPr>
            <a:spLocks noGrp="1"/>
          </p:cNvSpPr>
          <p:nvPr>
            <p:ph type="title"/>
          </p:nvPr>
        </p:nvSpPr>
        <p:spPr>
          <a:xfrm>
            <a:off x="581192" y="702156"/>
            <a:ext cx="11029616" cy="1000123"/>
          </a:xfrm>
        </p:spPr>
        <p:txBody>
          <a:bodyPr/>
          <a:lstStyle/>
          <a:p>
            <a:r>
              <a:rPr lang="en-US" dirty="0"/>
              <a:t>REFRESHER – WK 3 DAY2</a:t>
            </a:r>
            <a:endParaRPr lang="x-none" dirty="0"/>
          </a:p>
        </p:txBody>
      </p:sp>
      <p:sp>
        <p:nvSpPr>
          <p:cNvPr id="3" name="Content Placeholder 2">
            <a:extLst>
              <a:ext uri="{FF2B5EF4-FFF2-40B4-BE49-F238E27FC236}">
                <a16:creationId xmlns:a16="http://schemas.microsoft.com/office/drawing/2014/main" xmlns="" id="{87F4B577-5896-5534-2CB0-3D03EDDA4CCB}"/>
              </a:ext>
            </a:extLst>
          </p:cNvPr>
          <p:cNvSpPr>
            <a:spLocks noGrp="1"/>
          </p:cNvSpPr>
          <p:nvPr>
            <p:ph idx="1"/>
          </p:nvPr>
        </p:nvSpPr>
        <p:spPr>
          <a:xfrm>
            <a:off x="845735" y="2532979"/>
            <a:ext cx="7464378" cy="3237551"/>
          </a:xfrm>
        </p:spPr>
        <p:txBody>
          <a:bodyPr>
            <a:normAutofit/>
          </a:bodyPr>
          <a:lstStyle/>
          <a:p>
            <a:r>
              <a:rPr lang="en-US" dirty="0"/>
              <a:t>Risk Assessment</a:t>
            </a:r>
          </a:p>
          <a:p>
            <a:r>
              <a:rPr lang="en-US" dirty="0"/>
              <a:t>Risk Assessment &amp; Analysis</a:t>
            </a:r>
          </a:p>
          <a:p>
            <a:r>
              <a:rPr lang="en-US" dirty="0"/>
              <a:t>Risk Mitigation (Control Implementation)</a:t>
            </a:r>
          </a:p>
          <a:p>
            <a:r>
              <a:rPr lang="en-US" dirty="0"/>
              <a:t>Risk Monitoring &amp; Detection</a:t>
            </a:r>
          </a:p>
          <a:p>
            <a:r>
              <a:rPr lang="en-US" dirty="0"/>
              <a:t>Incident Response &amp; Recovery</a:t>
            </a:r>
          </a:p>
          <a:p>
            <a:r>
              <a:rPr lang="en-US" dirty="0"/>
              <a:t>Labs: Deployed VM an AWS and Created Sophos Central Account</a:t>
            </a:r>
          </a:p>
          <a:p>
            <a:endParaRPr lang="en-US" dirty="0"/>
          </a:p>
          <a:p>
            <a:endParaRPr lang="en-US" dirty="0"/>
          </a:p>
          <a:p>
            <a:endParaRPr lang="x-none" dirty="0"/>
          </a:p>
        </p:txBody>
      </p:sp>
    </p:spTree>
    <p:extLst>
      <p:ext uri="{BB962C8B-B14F-4D97-AF65-F5344CB8AC3E}">
        <p14:creationId xmlns:p14="http://schemas.microsoft.com/office/powerpoint/2010/main" val="1774820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63A1CB3-A7D8-CE49-50E3-8E39ABBBF34A}"/>
              </a:ext>
            </a:extLst>
          </p:cNvPr>
          <p:cNvSpPr>
            <a:spLocks noGrp="1"/>
          </p:cNvSpPr>
          <p:nvPr>
            <p:ph type="title"/>
          </p:nvPr>
        </p:nvSpPr>
        <p:spPr/>
        <p:txBody>
          <a:bodyPr/>
          <a:lstStyle/>
          <a:p>
            <a:r>
              <a:rPr lang="en-US" dirty="0"/>
              <a:t>Week 4 – DAY 1</a:t>
            </a:r>
            <a:endParaRPr lang="x-none" dirty="0"/>
          </a:p>
        </p:txBody>
      </p:sp>
      <p:sp>
        <p:nvSpPr>
          <p:cNvPr id="4" name="Content Placeholder 2">
            <a:extLst>
              <a:ext uri="{FF2B5EF4-FFF2-40B4-BE49-F238E27FC236}">
                <a16:creationId xmlns:a16="http://schemas.microsoft.com/office/drawing/2014/main" xmlns="" id="{0D3DFEA1-A9A8-6C33-EC12-92C625EFB1B5}"/>
              </a:ext>
            </a:extLst>
          </p:cNvPr>
          <p:cNvSpPr>
            <a:spLocks noGrp="1"/>
          </p:cNvSpPr>
          <p:nvPr>
            <p:ph idx="1"/>
          </p:nvPr>
        </p:nvSpPr>
        <p:spPr>
          <a:xfrm>
            <a:off x="623498" y="2668929"/>
            <a:ext cx="11029950" cy="3633787"/>
          </a:xfrm>
        </p:spPr>
        <p:txBody>
          <a:bodyPr>
            <a:normAutofit/>
          </a:bodyPr>
          <a:lstStyle/>
          <a:p>
            <a:r>
              <a:rPr lang="en-US" dirty="0"/>
              <a:t>Overview Legal Frameworks</a:t>
            </a:r>
          </a:p>
          <a:p>
            <a:pPr lvl="1"/>
            <a:r>
              <a:rPr lang="en-US" dirty="0"/>
              <a:t>Introduction to key Legislation and Regulations (GDPR, HIPAA, CCPA, etc.)</a:t>
            </a:r>
          </a:p>
          <a:p>
            <a:pPr lvl="2"/>
            <a:r>
              <a:rPr lang="en-US" dirty="0">
                <a:solidFill>
                  <a:schemeClr val="tx1"/>
                </a:solidFill>
                <a:latin typeface="Roboto" panose="02000000000000000000" pitchFamily="2" charset="0"/>
              </a:rPr>
              <a:t>Importance of Data Protection and Privacy Laws</a:t>
            </a:r>
          </a:p>
          <a:p>
            <a:pPr lvl="2"/>
            <a:r>
              <a:rPr lang="en-US" dirty="0"/>
              <a:t>The growing need for compliance in a digital world</a:t>
            </a:r>
            <a:r>
              <a:rPr lang="en-US" dirty="0">
                <a:solidFill>
                  <a:schemeClr val="tx1"/>
                </a:solidFill>
                <a:latin typeface="Roboto" panose="02000000000000000000" pitchFamily="2" charset="0"/>
              </a:rPr>
              <a:t> </a:t>
            </a:r>
          </a:p>
          <a:p>
            <a:pPr lvl="2"/>
            <a:r>
              <a:rPr lang="en-US" dirty="0"/>
              <a:t>Understanding Data Privacy &amp; Security Regulation</a:t>
            </a:r>
          </a:p>
          <a:p>
            <a:pPr lvl="1"/>
            <a:r>
              <a:rPr lang="en-US" dirty="0"/>
              <a:t>Compliance Requirements and Standards</a:t>
            </a:r>
          </a:p>
          <a:p>
            <a:pPr lvl="1"/>
            <a:r>
              <a:rPr lang="en-US" dirty="0"/>
              <a:t>Intellectual Property and Copyright Laws</a:t>
            </a:r>
          </a:p>
          <a:p>
            <a:r>
              <a:rPr lang="en-US" dirty="0"/>
              <a:t>Ethical Hacking </a:t>
            </a:r>
          </a:p>
          <a:p>
            <a:pPr lvl="1"/>
            <a:r>
              <a:rPr lang="en-US" dirty="0"/>
              <a:t>Introduction to Ethical Hacking</a:t>
            </a:r>
          </a:p>
          <a:p>
            <a:pPr marL="324000" lvl="1" indent="0">
              <a:buNone/>
            </a:pPr>
            <a:endParaRPr lang="en-US" dirty="0"/>
          </a:p>
          <a:p>
            <a:pPr lvl="2"/>
            <a:endParaRPr lang="en-US" dirty="0"/>
          </a:p>
          <a:p>
            <a:endParaRPr lang="x-none"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244FD3-15E9-5865-B87C-64743D0622C4}"/>
              </a:ext>
            </a:extLst>
          </p:cNvPr>
          <p:cNvSpPr>
            <a:spLocks noGrp="1"/>
          </p:cNvSpPr>
          <p:nvPr>
            <p:ph type="title"/>
          </p:nvPr>
        </p:nvSpPr>
        <p:spPr/>
        <p:txBody>
          <a:bodyPr/>
          <a:lstStyle/>
          <a:p>
            <a:r>
              <a:rPr lang="en-US" dirty="0"/>
              <a:t>Introduction to key Legislation and Regulations</a:t>
            </a:r>
            <a:endParaRPr lang="x-none" dirty="0"/>
          </a:p>
        </p:txBody>
      </p:sp>
      <p:sp>
        <p:nvSpPr>
          <p:cNvPr id="3" name="Text Placeholder 2">
            <a:extLst>
              <a:ext uri="{FF2B5EF4-FFF2-40B4-BE49-F238E27FC236}">
                <a16:creationId xmlns:a16="http://schemas.microsoft.com/office/drawing/2014/main" xmlns="" id="{97FBB6EF-E130-3B34-984F-FA630B728165}"/>
              </a:ext>
            </a:extLst>
          </p:cNvPr>
          <p:cNvSpPr>
            <a:spLocks noGrp="1"/>
          </p:cNvSpPr>
          <p:nvPr>
            <p:ph type="body" idx="1"/>
          </p:nvPr>
        </p:nvSpPr>
        <p:spPr/>
        <p:txBody>
          <a:bodyPr/>
          <a:lstStyle/>
          <a:p>
            <a:endParaRPr lang="x-none"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927227-E3E5-C45A-9650-2883CA9DA059}"/>
              </a:ext>
            </a:extLst>
          </p:cNvPr>
          <p:cNvSpPr>
            <a:spLocks noGrp="1"/>
          </p:cNvSpPr>
          <p:nvPr>
            <p:ph type="title"/>
          </p:nvPr>
        </p:nvSpPr>
        <p:spPr/>
        <p:txBody>
          <a:bodyPr>
            <a:normAutofit/>
          </a:bodyPr>
          <a:lstStyle/>
          <a:p>
            <a:r>
              <a:rPr lang="en-US" dirty="0"/>
              <a:t>Introduction to key Legislation and Regulations</a:t>
            </a:r>
            <a:br>
              <a:rPr lang="en-US" dirty="0"/>
            </a:br>
            <a:endParaRPr lang="x-none" dirty="0"/>
          </a:p>
        </p:txBody>
      </p:sp>
      <p:sp>
        <p:nvSpPr>
          <p:cNvPr id="3" name="Content Placeholder 2">
            <a:extLst>
              <a:ext uri="{FF2B5EF4-FFF2-40B4-BE49-F238E27FC236}">
                <a16:creationId xmlns:a16="http://schemas.microsoft.com/office/drawing/2014/main" xmlns="" id="{8F481F77-5707-B003-73EB-80CF5E43E97F}"/>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Importance of Data Protection and Privacy Laws </a:t>
            </a:r>
            <a:r>
              <a:rPr lang="en-US" b="0" i="0" dirty="0">
                <a:solidFill>
                  <a:schemeClr val="tx1"/>
                </a:solidFill>
                <a:effectLst/>
                <a:latin typeface="Roboto" panose="02000000000000000000" pitchFamily="2" charset="0"/>
              </a:rPr>
              <a:t>- </a:t>
            </a:r>
            <a:r>
              <a:rPr lang="en-US" dirty="0"/>
              <a:t>Data protection and privacy laws are essential in today’s digital world, where vast amounts of personal and sensitive information are collected, stored, and processed by organizations. These laws help safeguard individuals' rights, ensure businesses handle data responsibly, and protect against cyber threats and data misuse.</a:t>
            </a:r>
            <a:endParaRPr lang="x-none" dirty="0">
              <a:solidFill>
                <a:schemeClr val="tx1"/>
              </a:solidFill>
            </a:endParaRPr>
          </a:p>
        </p:txBody>
      </p:sp>
      <p:pic>
        <p:nvPicPr>
          <p:cNvPr id="1026" name="Picture 2" descr="data protection laws ...">
            <a:extLst>
              <a:ext uri="{FF2B5EF4-FFF2-40B4-BE49-F238E27FC236}">
                <a16:creationId xmlns:a16="http://schemas.microsoft.com/office/drawing/2014/main" xmlns="" id="{E014D3DF-021B-E102-BA96-446BFC9BC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351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D956E7-B111-4801-C366-8C3C81607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9A7856A-389D-0085-20FB-969BFA745467}"/>
              </a:ext>
            </a:extLst>
          </p:cNvPr>
          <p:cNvSpPr>
            <a:spLocks noGrp="1"/>
          </p:cNvSpPr>
          <p:nvPr>
            <p:ph type="title"/>
          </p:nvPr>
        </p:nvSpPr>
        <p:spPr/>
        <p:txBody>
          <a:bodyPr>
            <a:normAutofit/>
          </a:bodyPr>
          <a:lstStyle/>
          <a:p>
            <a:r>
              <a:rPr lang="en-US" dirty="0"/>
              <a:t>Introduction to key Legislation and Regulations</a:t>
            </a:r>
            <a:br>
              <a:rPr lang="en-US" dirty="0"/>
            </a:br>
            <a:endParaRPr lang="x-none" dirty="0"/>
          </a:p>
        </p:txBody>
      </p:sp>
      <p:sp>
        <p:nvSpPr>
          <p:cNvPr id="3" name="Content Placeholder 2">
            <a:extLst>
              <a:ext uri="{FF2B5EF4-FFF2-40B4-BE49-F238E27FC236}">
                <a16:creationId xmlns:a16="http://schemas.microsoft.com/office/drawing/2014/main" xmlns="" id="{88115C3A-0853-97C4-BBBD-7CC4F6271556}"/>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The growing need for compliance in a digital world </a:t>
            </a:r>
            <a:r>
              <a:rPr lang="en-US" i="0" dirty="0">
                <a:solidFill>
                  <a:schemeClr val="tx1"/>
                </a:solidFill>
                <a:effectLst/>
                <a:latin typeface="Roboto" panose="02000000000000000000" pitchFamily="2" charset="0"/>
              </a:rPr>
              <a:t>- </a:t>
            </a:r>
            <a:r>
              <a:rPr lang="en-US" dirty="0"/>
              <a:t>In today’s fast-evolving digital landscape, the need for organizations to comply with data protection and privacy regulations has become more critical than ever. The rapid expansion of digital technologies, cloud computing, and global connectivity has resulted in an unprecedented volume of data being created, shared, and stored. This transformation presents significant risks, making regulatory compliance essential to safeguard sensitive information and ensure business continuity.</a:t>
            </a:r>
            <a:endParaRPr lang="x-none" dirty="0">
              <a:solidFill>
                <a:schemeClr val="tx1"/>
              </a:solidFill>
            </a:endParaRPr>
          </a:p>
        </p:txBody>
      </p:sp>
      <p:pic>
        <p:nvPicPr>
          <p:cNvPr id="1026" name="Picture 2" descr="data protection laws ...">
            <a:extLst>
              <a:ext uri="{FF2B5EF4-FFF2-40B4-BE49-F238E27FC236}">
                <a16:creationId xmlns:a16="http://schemas.microsoft.com/office/drawing/2014/main" xmlns="" id="{0DFA6914-F896-C0BC-5434-F4A8917EA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13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3D472C-9297-6B04-8B38-789E39B14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628550D-8AC8-F045-5035-312D40E7045D}"/>
              </a:ext>
            </a:extLst>
          </p:cNvPr>
          <p:cNvSpPr>
            <a:spLocks noGrp="1"/>
          </p:cNvSpPr>
          <p:nvPr>
            <p:ph type="title"/>
          </p:nvPr>
        </p:nvSpPr>
        <p:spPr/>
        <p:txBody>
          <a:bodyPr>
            <a:normAutofit/>
          </a:bodyPr>
          <a:lstStyle/>
          <a:p>
            <a:r>
              <a:rPr lang="en-US" dirty="0"/>
              <a:t>Introduction to key Legislation and Regulations</a:t>
            </a:r>
            <a:br>
              <a:rPr lang="en-US" dirty="0"/>
            </a:br>
            <a:endParaRPr lang="x-none" dirty="0"/>
          </a:p>
        </p:txBody>
      </p:sp>
      <p:sp>
        <p:nvSpPr>
          <p:cNvPr id="3" name="Content Placeholder 2">
            <a:extLst>
              <a:ext uri="{FF2B5EF4-FFF2-40B4-BE49-F238E27FC236}">
                <a16:creationId xmlns:a16="http://schemas.microsoft.com/office/drawing/2014/main" xmlns="" id="{32218638-0447-21E8-EAB2-12D8B4BA0819}"/>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Understanding Data Privacy &amp; Security Regulation</a:t>
            </a:r>
            <a:r>
              <a:rPr lang="en-US" i="0" dirty="0">
                <a:solidFill>
                  <a:schemeClr val="tx1"/>
                </a:solidFill>
                <a:effectLst/>
                <a:latin typeface="Roboto" panose="02000000000000000000" pitchFamily="2" charset="0"/>
              </a:rPr>
              <a:t>- </a:t>
            </a:r>
            <a:r>
              <a:rPr lang="en-US" b="1" dirty="0"/>
              <a:t>Data protection and privacy laws</a:t>
            </a:r>
            <a:r>
              <a:rPr lang="en-US" dirty="0"/>
              <a:t> are legal frameworks designed to regulate how personal and sensitive information is collected, processed, stored, shared, and secured by organizations. These laws aim to protect individuals’ rights to privacy while ensuring that businesses handle data responsibly and securely.</a:t>
            </a:r>
            <a:endParaRPr lang="x-none"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xmlns="" id="{9C24C11F-B91A-B40C-396D-A3B842E73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623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B5C682-6166-F951-D61B-2FB92445E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A61A861-042C-3F18-2080-883C72C693C3}"/>
              </a:ext>
            </a:extLst>
          </p:cNvPr>
          <p:cNvSpPr>
            <a:spLocks noGrp="1"/>
          </p:cNvSpPr>
          <p:nvPr>
            <p:ph type="title"/>
          </p:nvPr>
        </p:nvSpPr>
        <p:spPr/>
        <p:txBody>
          <a:bodyPr>
            <a:normAutofit/>
          </a:bodyPr>
          <a:lstStyle/>
          <a:p>
            <a:r>
              <a:rPr lang="en-US" dirty="0"/>
              <a:t>Data Protection </a:t>
            </a:r>
            <a:r>
              <a:rPr lang="en-US" dirty="0" err="1"/>
              <a:t>lAWS</a:t>
            </a:r>
            <a:r>
              <a:rPr lang="en-US" dirty="0"/>
              <a:t/>
            </a:r>
            <a:br>
              <a:rPr lang="en-US" dirty="0"/>
            </a:br>
            <a:endParaRPr lang="x-none" dirty="0"/>
          </a:p>
        </p:txBody>
      </p:sp>
      <p:sp>
        <p:nvSpPr>
          <p:cNvPr id="3" name="Content Placeholder 2">
            <a:extLst>
              <a:ext uri="{FF2B5EF4-FFF2-40B4-BE49-F238E27FC236}">
                <a16:creationId xmlns:a16="http://schemas.microsoft.com/office/drawing/2014/main" xmlns="" id="{25EF538E-3D0C-EAB9-2D13-64A3BEC62B80}"/>
              </a:ext>
            </a:extLst>
          </p:cNvPr>
          <p:cNvSpPr>
            <a:spLocks noGrp="1"/>
          </p:cNvSpPr>
          <p:nvPr>
            <p:ph idx="1"/>
          </p:nvPr>
        </p:nvSpPr>
        <p:spPr>
          <a:xfrm>
            <a:off x="512181" y="2363868"/>
            <a:ext cx="5471692" cy="3634486"/>
          </a:xfrm>
        </p:spPr>
        <p:txBody>
          <a:bodyPr>
            <a:normAutofit/>
          </a:bodyPr>
          <a:lstStyle/>
          <a:p>
            <a:pPr algn="just">
              <a:buNone/>
            </a:pPr>
            <a:r>
              <a:rPr lang="en-US" b="1" dirty="0">
                <a:solidFill>
                  <a:schemeClr val="tx1"/>
                </a:solidFill>
                <a:latin typeface="Roboto" panose="02000000000000000000" pitchFamily="2" charset="0"/>
              </a:rPr>
              <a:t>Data Protection Laws</a:t>
            </a:r>
          </a:p>
          <a:p>
            <a:pPr algn="just">
              <a:buNone/>
            </a:pPr>
            <a:r>
              <a:rPr lang="en-US" dirty="0"/>
              <a:t>      Data protection laws govern the security and management o personal data to prevent unauthorized access, misuse, or breaches. They establish guidelines for:</a:t>
            </a:r>
          </a:p>
          <a:p>
            <a:pPr algn="just">
              <a:buFont typeface="Arial" panose="020B0604020202020204" pitchFamily="34" charset="0"/>
              <a:buChar char="•"/>
            </a:pPr>
            <a:r>
              <a:rPr lang="en-US" dirty="0"/>
              <a:t>How organizations collect and store data</a:t>
            </a:r>
          </a:p>
          <a:p>
            <a:pPr algn="just">
              <a:buFont typeface="Arial" panose="020B0604020202020204" pitchFamily="34" charset="0"/>
              <a:buChar char="•"/>
            </a:pPr>
            <a:r>
              <a:rPr lang="en-US" dirty="0"/>
              <a:t>Who can access the data</a:t>
            </a:r>
          </a:p>
          <a:p>
            <a:pPr algn="just">
              <a:buFont typeface="Arial" panose="020B0604020202020204" pitchFamily="34" charset="0"/>
              <a:buChar char="•"/>
            </a:pPr>
            <a:r>
              <a:rPr lang="en-US" dirty="0"/>
              <a:t>How data should be transferred and protected</a:t>
            </a:r>
          </a:p>
          <a:p>
            <a:pPr algn="just">
              <a:buFont typeface="Arial" panose="020B0604020202020204" pitchFamily="34" charset="0"/>
              <a:buChar char="•"/>
            </a:pPr>
            <a:r>
              <a:rPr lang="en-US" dirty="0"/>
              <a:t>The security measures required to prevent breaches</a:t>
            </a:r>
          </a:p>
          <a:p>
            <a:pPr marL="0" indent="0" algn="just">
              <a:buNone/>
            </a:pPr>
            <a:endParaRPr lang="x-none"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xmlns="" id="{F052D0A1-E10F-2FB5-1CE2-914E392DB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27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AD44C9-C444-D423-81D1-A580F1E0F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4906485-9DC5-9880-E9AD-888FB193EC23}"/>
              </a:ext>
            </a:extLst>
          </p:cNvPr>
          <p:cNvSpPr>
            <a:spLocks noGrp="1"/>
          </p:cNvSpPr>
          <p:nvPr>
            <p:ph type="title"/>
          </p:nvPr>
        </p:nvSpPr>
        <p:spPr/>
        <p:txBody>
          <a:bodyPr>
            <a:normAutofit/>
          </a:bodyPr>
          <a:lstStyle/>
          <a:p>
            <a:r>
              <a:rPr lang="en-US" dirty="0"/>
              <a:t>DATA PRIVACY LAWS</a:t>
            </a:r>
            <a:br>
              <a:rPr lang="en-US" dirty="0"/>
            </a:br>
            <a:endParaRPr lang="x-none" dirty="0"/>
          </a:p>
        </p:txBody>
      </p:sp>
      <p:sp>
        <p:nvSpPr>
          <p:cNvPr id="3" name="Content Placeholder 2">
            <a:extLst>
              <a:ext uri="{FF2B5EF4-FFF2-40B4-BE49-F238E27FC236}">
                <a16:creationId xmlns:a16="http://schemas.microsoft.com/office/drawing/2014/main" xmlns="" id="{F0565001-7CCA-05E1-B0C1-135B3D6414F8}"/>
              </a:ext>
            </a:extLst>
          </p:cNvPr>
          <p:cNvSpPr>
            <a:spLocks noGrp="1"/>
          </p:cNvSpPr>
          <p:nvPr>
            <p:ph idx="1"/>
          </p:nvPr>
        </p:nvSpPr>
        <p:spPr>
          <a:xfrm>
            <a:off x="512181" y="2363868"/>
            <a:ext cx="5471692" cy="3634486"/>
          </a:xfrm>
        </p:spPr>
        <p:txBody>
          <a:bodyPr>
            <a:normAutofit/>
          </a:bodyPr>
          <a:lstStyle/>
          <a:p>
            <a:pPr algn="just">
              <a:buNone/>
            </a:pPr>
            <a:r>
              <a:rPr lang="en-US" b="1" dirty="0">
                <a:solidFill>
                  <a:schemeClr val="tx1"/>
                </a:solidFill>
                <a:latin typeface="Roboto" panose="02000000000000000000" pitchFamily="2" charset="0"/>
              </a:rPr>
              <a:t>Data Privacy Laws</a:t>
            </a:r>
          </a:p>
          <a:p>
            <a:pPr>
              <a:buNone/>
            </a:pPr>
            <a:r>
              <a:rPr lang="en-US" dirty="0"/>
              <a:t>      Data privacy laws focus on ensuring that individuals have control over their personal information. These laws define:</a:t>
            </a:r>
          </a:p>
          <a:p>
            <a:pPr>
              <a:buFont typeface="Arial" panose="020B0604020202020204" pitchFamily="34" charset="0"/>
              <a:buChar char="•"/>
            </a:pPr>
            <a:r>
              <a:rPr lang="en-US" dirty="0"/>
              <a:t>The rights of individuals over their data (e.g., access, deletion, rectification)</a:t>
            </a:r>
          </a:p>
          <a:p>
            <a:pPr>
              <a:buFont typeface="Arial" panose="020B0604020202020204" pitchFamily="34" charset="0"/>
              <a:buChar char="•"/>
            </a:pPr>
            <a:r>
              <a:rPr lang="en-US" dirty="0"/>
              <a:t>The obligations of organizations in obtaining consent and being transparent</a:t>
            </a:r>
          </a:p>
          <a:p>
            <a:pPr>
              <a:buFont typeface="Arial" panose="020B0604020202020204" pitchFamily="34" charset="0"/>
              <a:buChar char="•"/>
            </a:pPr>
            <a:r>
              <a:rPr lang="en-US" dirty="0"/>
              <a:t>How data can or cannot be shared with third parties</a:t>
            </a:r>
          </a:p>
          <a:p>
            <a:pPr marL="0" indent="0" algn="just">
              <a:buNone/>
            </a:pPr>
            <a:endParaRPr lang="x-none"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xmlns="" id="{992E0AB6-1A9B-6AC3-90B0-FBC4F0504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9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2B81639-81EA-C7AD-1BE7-1315AE1BB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86165CF-0880-D4D0-1814-162EAA04BA02}"/>
              </a:ext>
            </a:extLst>
          </p:cNvPr>
          <p:cNvSpPr>
            <a:spLocks noGrp="1"/>
          </p:cNvSpPr>
          <p:nvPr>
            <p:ph type="title"/>
          </p:nvPr>
        </p:nvSpPr>
        <p:spPr/>
        <p:txBody>
          <a:bodyPr>
            <a:normAutofit/>
          </a:bodyPr>
          <a:lstStyle/>
          <a:p>
            <a:r>
              <a:rPr lang="en-US" dirty="0"/>
              <a:t>Why Regulations Exist?</a:t>
            </a:r>
            <a:endParaRPr lang="x-none" dirty="0"/>
          </a:p>
        </p:txBody>
      </p:sp>
      <p:sp>
        <p:nvSpPr>
          <p:cNvPr id="3" name="Content Placeholder 2">
            <a:extLst>
              <a:ext uri="{FF2B5EF4-FFF2-40B4-BE49-F238E27FC236}">
                <a16:creationId xmlns:a16="http://schemas.microsoft.com/office/drawing/2014/main" xmlns="" id="{B62BDB6D-2C57-575C-6182-007BA3C7DE04}"/>
              </a:ext>
            </a:extLst>
          </p:cNvPr>
          <p:cNvSpPr>
            <a:spLocks noGrp="1"/>
          </p:cNvSpPr>
          <p:nvPr>
            <p:ph idx="1"/>
          </p:nvPr>
        </p:nvSpPr>
        <p:spPr>
          <a:xfrm>
            <a:off x="512181" y="2363868"/>
            <a:ext cx="5471692" cy="3634486"/>
          </a:xfrm>
        </p:spPr>
        <p:txBody>
          <a:bodyPr/>
          <a:lstStyle/>
          <a:p>
            <a:r>
              <a:rPr lang="en-US" dirty="0"/>
              <a:t>Protecting Consumer Rights </a:t>
            </a:r>
            <a:r>
              <a:rPr lang="en-US" b="1" dirty="0"/>
              <a:t>Data protection and privacy laws</a:t>
            </a:r>
            <a:r>
              <a:rPr lang="en-US" dirty="0"/>
              <a:t> are legal frameworks designed to regulate how personal and sensitive information is collected, processed, stored, shared, and secured by organizations. These laws aim to protect individuals’ rights to privacy while ensuring that businesses handle data responsibly and securely.</a:t>
            </a:r>
            <a:endParaRPr lang="x-none" dirty="0">
              <a:solidFill>
                <a:schemeClr val="tx1"/>
              </a:solidFill>
            </a:endParaRPr>
          </a:p>
        </p:txBody>
      </p:sp>
      <p:pic>
        <p:nvPicPr>
          <p:cNvPr id="3076" name="Picture 4" descr="Global Data Privacy Laws in 2024 (Updated!)">
            <a:extLst>
              <a:ext uri="{FF2B5EF4-FFF2-40B4-BE49-F238E27FC236}">
                <a16:creationId xmlns:a16="http://schemas.microsoft.com/office/drawing/2014/main" xmlns="" id="{AE801C45-4BC4-7050-2F93-3E93E4310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7164" y="324970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6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510DAA-085A-634E-9AC7-F4679394F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24221A7-5E2A-DEC4-8279-CCD10D723700}"/>
              </a:ext>
            </a:extLst>
          </p:cNvPr>
          <p:cNvSpPr>
            <a:spLocks noGrp="1"/>
          </p:cNvSpPr>
          <p:nvPr>
            <p:ph type="title"/>
          </p:nvPr>
        </p:nvSpPr>
        <p:spPr/>
        <p:txBody>
          <a:bodyPr>
            <a:normAutofit/>
          </a:bodyPr>
          <a:lstStyle/>
          <a:p>
            <a:r>
              <a:rPr lang="en-US" dirty="0"/>
              <a:t>Why Regulations Exist?</a:t>
            </a:r>
            <a:endParaRPr lang="x-none" dirty="0"/>
          </a:p>
        </p:txBody>
      </p:sp>
      <p:sp>
        <p:nvSpPr>
          <p:cNvPr id="3" name="Content Placeholder 2">
            <a:extLst>
              <a:ext uri="{FF2B5EF4-FFF2-40B4-BE49-F238E27FC236}">
                <a16:creationId xmlns:a16="http://schemas.microsoft.com/office/drawing/2014/main" xmlns="" id="{B86E3159-F335-A872-45D7-83C531122B62}"/>
              </a:ext>
            </a:extLst>
          </p:cNvPr>
          <p:cNvSpPr>
            <a:spLocks noGrp="1"/>
          </p:cNvSpPr>
          <p:nvPr>
            <p:ph idx="1"/>
          </p:nvPr>
        </p:nvSpPr>
        <p:spPr>
          <a:xfrm>
            <a:off x="512180" y="2363868"/>
            <a:ext cx="6215529" cy="4207494"/>
          </a:xfrm>
        </p:spPr>
        <p:txBody>
          <a:bodyPr>
            <a:normAutofit fontScale="85000" lnSpcReduction="10000"/>
          </a:bodyPr>
          <a:lstStyle/>
          <a:p>
            <a:pPr>
              <a:buNone/>
            </a:pPr>
            <a:r>
              <a:rPr lang="en-US" dirty="0"/>
              <a:t>Key consumer rights under various privacy laws include:</a:t>
            </a:r>
          </a:p>
          <a:p>
            <a:pPr>
              <a:buFont typeface="Arial" panose="020B0604020202020204" pitchFamily="34" charset="0"/>
              <a:buChar char="•"/>
            </a:pPr>
            <a:r>
              <a:rPr lang="en-US" b="1" dirty="0"/>
              <a:t>Right to Access</a:t>
            </a:r>
            <a:r>
              <a:rPr lang="en-US" dirty="0"/>
              <a:t> – Individuals can request to see what data an organization has collected about them (e.g., GDPR, CCPA).</a:t>
            </a:r>
          </a:p>
          <a:p>
            <a:pPr>
              <a:buFont typeface="Arial" panose="020B0604020202020204" pitchFamily="34" charset="0"/>
              <a:buChar char="•"/>
            </a:pPr>
            <a:r>
              <a:rPr lang="en-US" b="1" dirty="0"/>
              <a:t>Right to Correction/Rectification</a:t>
            </a:r>
            <a:r>
              <a:rPr lang="en-US" dirty="0"/>
              <a:t> – Consumers can request corrections if their personal data is inaccurate or incomplete.</a:t>
            </a:r>
          </a:p>
          <a:p>
            <a:pPr>
              <a:buFont typeface="Arial" panose="020B0604020202020204" pitchFamily="34" charset="0"/>
              <a:buChar char="•"/>
            </a:pPr>
            <a:r>
              <a:rPr lang="en-US" b="1" dirty="0"/>
              <a:t>Right to Deletion (Right to Be Forgotten)</a:t>
            </a:r>
            <a:r>
              <a:rPr lang="en-US" dirty="0"/>
              <a:t> – Consumers can request that their personal data be deleted under certain conditions (e.g., GDPR).</a:t>
            </a:r>
          </a:p>
          <a:p>
            <a:pPr>
              <a:buFont typeface="Arial" panose="020B0604020202020204" pitchFamily="34" charset="0"/>
              <a:buChar char="•"/>
            </a:pPr>
            <a:r>
              <a:rPr lang="en-US" b="1" dirty="0"/>
              <a:t>Right to Data Portability</a:t>
            </a:r>
            <a:r>
              <a:rPr lang="en-US" dirty="0"/>
              <a:t> – Individuals can request their data in a structured format and transfer it to another service provider.</a:t>
            </a:r>
          </a:p>
          <a:p>
            <a:pPr>
              <a:buFont typeface="Arial" panose="020B0604020202020204" pitchFamily="34" charset="0"/>
              <a:buChar char="•"/>
            </a:pPr>
            <a:r>
              <a:rPr lang="en-US" b="1" dirty="0"/>
              <a:t>Right to Opt-Out of Data Collection and Processing</a:t>
            </a:r>
            <a:r>
              <a:rPr lang="en-US" dirty="0"/>
              <a:t> – Consumers can refuse data collection for certain purposes, such as targeted advertising (e.g., CCPA, LGPD).</a:t>
            </a:r>
          </a:p>
          <a:p>
            <a:pPr>
              <a:buFont typeface="Arial" panose="020B0604020202020204" pitchFamily="34" charset="0"/>
              <a:buChar char="•"/>
            </a:pPr>
            <a:r>
              <a:rPr lang="en-US" b="1" dirty="0"/>
              <a:t>Right to Be Notified of Data Breaches</a:t>
            </a:r>
            <a:r>
              <a:rPr lang="en-US" dirty="0"/>
              <a:t> – Organizations must inform consumers when a breach occurs that compromises their personal information.</a:t>
            </a:r>
          </a:p>
        </p:txBody>
      </p:sp>
      <p:pic>
        <p:nvPicPr>
          <p:cNvPr id="3076" name="Picture 4" descr="Global Data Privacy Laws in 2024 (Updated!)">
            <a:extLst>
              <a:ext uri="{FF2B5EF4-FFF2-40B4-BE49-F238E27FC236}">
                <a16:creationId xmlns:a16="http://schemas.microsoft.com/office/drawing/2014/main" xmlns="" id="{6BBC742C-36E7-178E-E38B-DC4E2D5BC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7164" y="324970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96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99701F-DCD3-A47F-0F67-0A290F28E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803E49E-50E0-5360-499F-7A11205FA8A1}"/>
              </a:ext>
            </a:extLst>
          </p:cNvPr>
          <p:cNvSpPr>
            <a:spLocks noGrp="1"/>
          </p:cNvSpPr>
          <p:nvPr>
            <p:ph type="title"/>
          </p:nvPr>
        </p:nvSpPr>
        <p:spPr/>
        <p:txBody>
          <a:bodyPr>
            <a:normAutofit/>
          </a:bodyPr>
          <a:lstStyle/>
          <a:p>
            <a:r>
              <a:rPr lang="en-US" dirty="0"/>
              <a:t>Overview of Key Regulations and PENALTIES</a:t>
            </a:r>
            <a:endParaRPr lang="x-none" dirty="0"/>
          </a:p>
        </p:txBody>
      </p:sp>
      <p:sp>
        <p:nvSpPr>
          <p:cNvPr id="3" name="Content Placeholder 2">
            <a:extLst>
              <a:ext uri="{FF2B5EF4-FFF2-40B4-BE49-F238E27FC236}">
                <a16:creationId xmlns:a16="http://schemas.microsoft.com/office/drawing/2014/main" xmlns="" id="{6AEB11B6-F2F3-2351-3F7C-D4B06584C29C}"/>
              </a:ext>
            </a:extLst>
          </p:cNvPr>
          <p:cNvSpPr>
            <a:spLocks noGrp="1"/>
          </p:cNvSpPr>
          <p:nvPr>
            <p:ph idx="1"/>
          </p:nvPr>
        </p:nvSpPr>
        <p:spPr>
          <a:xfrm>
            <a:off x="653055" y="2355184"/>
            <a:ext cx="6883563" cy="4562040"/>
          </a:xfrm>
        </p:spPr>
        <p:txBody>
          <a:bodyPr>
            <a:normAutofit/>
          </a:bodyPr>
          <a:lstStyle/>
          <a:p>
            <a:pPr>
              <a:buNone/>
            </a:pPr>
            <a:r>
              <a:rPr lang="en-US" b="1" dirty="0"/>
              <a:t>General Data Protection Regulation (GDPR)</a:t>
            </a:r>
            <a:r>
              <a:rPr lang="en-US" dirty="0"/>
              <a:t> (Europe):</a:t>
            </a:r>
          </a:p>
          <a:p>
            <a:pPr>
              <a:spcAft>
                <a:spcPts val="0"/>
              </a:spcAft>
            </a:pPr>
            <a:r>
              <a:rPr lang="en-US" dirty="0"/>
              <a:t>Enforced: May 25, 2018</a:t>
            </a:r>
          </a:p>
          <a:p>
            <a:pPr>
              <a:spcAft>
                <a:spcPts val="0"/>
              </a:spcAft>
            </a:pPr>
            <a:r>
              <a:rPr lang="en-US" dirty="0"/>
              <a:t>Scope: Protects the personal data of EU citizens </a:t>
            </a:r>
          </a:p>
          <a:p>
            <a:pPr>
              <a:spcAft>
                <a:spcPts val="0"/>
              </a:spcAft>
            </a:pPr>
            <a:r>
              <a:rPr lang="en-US" dirty="0"/>
              <a:t>Penalties: Up to €20 million or 4% of global annual revenue</a:t>
            </a:r>
          </a:p>
          <a:p>
            <a:pPr>
              <a:spcAft>
                <a:spcPts val="0"/>
              </a:spcAft>
              <a:buNone/>
            </a:pPr>
            <a:endParaRPr lang="en-US" dirty="0"/>
          </a:p>
          <a:p>
            <a:pPr>
              <a:buNone/>
            </a:pPr>
            <a:r>
              <a:rPr lang="en-US" b="1" dirty="0"/>
              <a:t>Health Insurance Portability and Accountability Act (HIPAA) (USA)</a:t>
            </a:r>
          </a:p>
          <a:p>
            <a:pPr>
              <a:spcAft>
                <a:spcPts val="0"/>
              </a:spcAft>
              <a:buFont typeface="Arial" panose="020B0604020202020204" pitchFamily="34" charset="0"/>
              <a:buChar char="•"/>
            </a:pPr>
            <a:r>
              <a:rPr lang="en-US" dirty="0"/>
              <a:t>Enforced: 1996 (with updates)</a:t>
            </a:r>
          </a:p>
          <a:p>
            <a:pPr>
              <a:spcAft>
                <a:spcPts val="0"/>
              </a:spcAft>
              <a:buFont typeface="Arial" panose="020B0604020202020204" pitchFamily="34" charset="0"/>
              <a:buChar char="•"/>
            </a:pPr>
            <a:r>
              <a:rPr lang="en-US" dirty="0"/>
              <a:t>Scope: Protects personal health information (PHI) in healthcare</a:t>
            </a:r>
          </a:p>
          <a:p>
            <a:pPr>
              <a:spcAft>
                <a:spcPts val="0"/>
              </a:spcAft>
              <a:buFont typeface="Arial" panose="020B0604020202020204" pitchFamily="34" charset="0"/>
              <a:buChar char="•"/>
            </a:pPr>
            <a:r>
              <a:rPr lang="en-US" dirty="0"/>
              <a:t>Penalties: Up to $1.5 million per violation</a:t>
            </a:r>
          </a:p>
          <a:p>
            <a:pPr>
              <a:spcAft>
                <a:spcPts val="0"/>
              </a:spcAft>
              <a:buNone/>
            </a:pPr>
            <a:endParaRPr lang="en-US" dirty="0"/>
          </a:p>
          <a:p>
            <a:pPr>
              <a:spcAft>
                <a:spcPts val="0"/>
              </a:spcAft>
              <a:buNone/>
            </a:pPr>
            <a:endParaRPr lang="en-US" dirty="0"/>
          </a:p>
          <a:p>
            <a:pPr>
              <a:spcAft>
                <a:spcPts val="0"/>
              </a:spcAft>
              <a:buNone/>
            </a:pPr>
            <a:endParaRPr lang="en-US" dirty="0"/>
          </a:p>
          <a:p>
            <a:pPr>
              <a:buNone/>
            </a:pPr>
            <a:endParaRPr lang="en-US" dirty="0"/>
          </a:p>
          <a:p>
            <a:pPr>
              <a:buNone/>
            </a:pPr>
            <a:endParaRPr lang="en-US" dirty="0"/>
          </a:p>
        </p:txBody>
      </p:sp>
      <p:pic>
        <p:nvPicPr>
          <p:cNvPr id="3076" name="Picture 4" descr="Global Data Privacy Laws in 2024 (Updated!)">
            <a:extLst>
              <a:ext uri="{FF2B5EF4-FFF2-40B4-BE49-F238E27FC236}">
                <a16:creationId xmlns:a16="http://schemas.microsoft.com/office/drawing/2014/main" xmlns="" id="{0AD42549-A090-0321-24E0-5A1D731D7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7164" y="324970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4139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C53C83-E739-DA6A-A6C2-FA1E33D30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B386560-2B35-D079-D935-389715B2464C}"/>
              </a:ext>
            </a:extLst>
          </p:cNvPr>
          <p:cNvSpPr>
            <a:spLocks noGrp="1"/>
          </p:cNvSpPr>
          <p:nvPr>
            <p:ph type="title"/>
          </p:nvPr>
        </p:nvSpPr>
        <p:spPr/>
        <p:txBody>
          <a:bodyPr>
            <a:normAutofit/>
          </a:bodyPr>
          <a:lstStyle/>
          <a:p>
            <a:r>
              <a:rPr lang="en-US" dirty="0"/>
              <a:t>Overview of Key Regulations and PENALTIES</a:t>
            </a:r>
            <a:endParaRPr lang="x-none" dirty="0"/>
          </a:p>
        </p:txBody>
      </p:sp>
      <p:sp>
        <p:nvSpPr>
          <p:cNvPr id="3" name="Content Placeholder 2">
            <a:extLst>
              <a:ext uri="{FF2B5EF4-FFF2-40B4-BE49-F238E27FC236}">
                <a16:creationId xmlns:a16="http://schemas.microsoft.com/office/drawing/2014/main" xmlns="" id="{715B1D64-7103-D98D-752B-0C9D6C041D20}"/>
              </a:ext>
            </a:extLst>
          </p:cNvPr>
          <p:cNvSpPr>
            <a:spLocks noGrp="1"/>
          </p:cNvSpPr>
          <p:nvPr>
            <p:ph idx="1"/>
          </p:nvPr>
        </p:nvSpPr>
        <p:spPr>
          <a:xfrm>
            <a:off x="653055" y="2355184"/>
            <a:ext cx="6883563" cy="4562040"/>
          </a:xfrm>
        </p:spPr>
        <p:txBody>
          <a:bodyPr>
            <a:normAutofit/>
          </a:bodyPr>
          <a:lstStyle/>
          <a:p>
            <a:pPr>
              <a:buNone/>
            </a:pPr>
            <a:r>
              <a:rPr lang="en-US" dirty="0"/>
              <a:t>Nigeria Data Protection Act (NDPA) 2023 (Nigeria):</a:t>
            </a:r>
          </a:p>
          <a:p>
            <a:pPr>
              <a:spcAft>
                <a:spcPts val="0"/>
              </a:spcAft>
            </a:pPr>
            <a:r>
              <a:rPr lang="en-US" dirty="0"/>
              <a:t>Enforced: 2023</a:t>
            </a:r>
          </a:p>
          <a:p>
            <a:pPr>
              <a:spcAft>
                <a:spcPts val="0"/>
              </a:spcAft>
            </a:pPr>
            <a:r>
              <a:rPr lang="en-US" dirty="0"/>
              <a:t>Scope: Protects the personal data of Nigerian citizens </a:t>
            </a:r>
          </a:p>
          <a:p>
            <a:pPr>
              <a:spcAft>
                <a:spcPts val="0"/>
              </a:spcAft>
            </a:pPr>
            <a:r>
              <a:rPr lang="en-US" dirty="0"/>
              <a:t>Penalties: Up to 10 million or 2% of annual revenue for large organizations.</a:t>
            </a:r>
          </a:p>
          <a:p>
            <a:pPr>
              <a:spcAft>
                <a:spcPts val="0"/>
              </a:spcAft>
              <a:buNone/>
            </a:pPr>
            <a:endParaRPr lang="en-US" dirty="0"/>
          </a:p>
          <a:p>
            <a:pPr>
              <a:buNone/>
            </a:pPr>
            <a:r>
              <a:rPr lang="en-US" dirty="0"/>
              <a:t>Ghana Data Protection Act, 2012 (Act 843)</a:t>
            </a:r>
          </a:p>
          <a:p>
            <a:pPr>
              <a:spcAft>
                <a:spcPts val="0"/>
              </a:spcAft>
              <a:buFont typeface="Arial" panose="020B0604020202020204" pitchFamily="34" charset="0"/>
              <a:buChar char="•"/>
            </a:pPr>
            <a:r>
              <a:rPr lang="en-US" dirty="0"/>
              <a:t>Enforced: 2012 </a:t>
            </a:r>
          </a:p>
          <a:p>
            <a:pPr>
              <a:spcAft>
                <a:spcPts val="0"/>
              </a:spcAft>
              <a:buFont typeface="Arial" panose="020B0604020202020204" pitchFamily="34" charset="0"/>
              <a:buChar char="•"/>
            </a:pPr>
            <a:r>
              <a:rPr lang="en-US" dirty="0"/>
              <a:t>Scope: Protects the personal data of Ghana citizens </a:t>
            </a:r>
          </a:p>
          <a:p>
            <a:pPr>
              <a:spcAft>
                <a:spcPts val="0"/>
              </a:spcAft>
              <a:buFont typeface="Arial" panose="020B0604020202020204" pitchFamily="34" charset="0"/>
              <a:buChar char="•"/>
            </a:pPr>
            <a:r>
              <a:rPr lang="en-US" dirty="0"/>
              <a:t>Penalties: Severe violations can result in fines up to GHS 30,000 ($2,500) or up to 10 years imprisonment.</a:t>
            </a:r>
          </a:p>
          <a:p>
            <a:pPr>
              <a:spcAft>
                <a:spcPts val="0"/>
              </a:spcAft>
              <a:buNone/>
            </a:pPr>
            <a:endParaRPr lang="en-US" dirty="0"/>
          </a:p>
          <a:p>
            <a:pPr>
              <a:spcAft>
                <a:spcPts val="0"/>
              </a:spcAft>
              <a:buNone/>
            </a:pPr>
            <a:endParaRPr lang="en-US" dirty="0"/>
          </a:p>
          <a:p>
            <a:pPr>
              <a:buNone/>
            </a:pPr>
            <a:endParaRPr lang="en-US" dirty="0"/>
          </a:p>
          <a:p>
            <a:pPr>
              <a:buNone/>
            </a:pPr>
            <a:endParaRPr lang="en-US" dirty="0"/>
          </a:p>
        </p:txBody>
      </p:sp>
      <p:pic>
        <p:nvPicPr>
          <p:cNvPr id="3076" name="Picture 4" descr="Global Data Privacy Laws in 2024 (Updated!)">
            <a:extLst>
              <a:ext uri="{FF2B5EF4-FFF2-40B4-BE49-F238E27FC236}">
                <a16:creationId xmlns:a16="http://schemas.microsoft.com/office/drawing/2014/main" xmlns="" id="{776AF3B6-DF16-2593-7D3D-00E37B61F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7164" y="324970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8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CC23D4-D975-070C-5038-D7D7A336D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26E49E0-406C-D7DB-7F71-1C0821303CA8}"/>
              </a:ext>
            </a:extLst>
          </p:cNvPr>
          <p:cNvSpPr>
            <a:spLocks noGrp="1"/>
          </p:cNvSpPr>
          <p:nvPr>
            <p:ph type="title"/>
          </p:nvPr>
        </p:nvSpPr>
        <p:spPr/>
        <p:txBody>
          <a:bodyPr>
            <a:normAutofit/>
          </a:bodyPr>
          <a:lstStyle/>
          <a:p>
            <a:r>
              <a:rPr lang="en-US" dirty="0"/>
              <a:t>Compliance Requirements and Standards</a:t>
            </a:r>
            <a:br>
              <a:rPr lang="en-US" dirty="0"/>
            </a:br>
            <a:endParaRPr lang="x-none" dirty="0"/>
          </a:p>
        </p:txBody>
      </p:sp>
    </p:spTree>
    <p:extLst>
      <p:ext uri="{BB962C8B-B14F-4D97-AF65-F5344CB8AC3E}">
        <p14:creationId xmlns:p14="http://schemas.microsoft.com/office/powerpoint/2010/main" val="889860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147DF6A-96CB-5240-EFD1-511D96E5F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D039EDC-CC4B-8EEF-8FFA-5D176ECDD255}"/>
              </a:ext>
            </a:extLst>
          </p:cNvPr>
          <p:cNvSpPr>
            <a:spLocks noGrp="1"/>
          </p:cNvSpPr>
          <p:nvPr>
            <p:ph type="title"/>
          </p:nvPr>
        </p:nvSpPr>
        <p:spPr/>
        <p:txBody>
          <a:bodyPr>
            <a:normAutofit/>
          </a:bodyPr>
          <a:lstStyle/>
          <a:p>
            <a:r>
              <a:rPr lang="en-US" dirty="0"/>
              <a:t>Legal and Regulatory Compliance</a:t>
            </a:r>
            <a:endParaRPr lang="x-none" dirty="0"/>
          </a:p>
        </p:txBody>
      </p:sp>
      <p:pic>
        <p:nvPicPr>
          <p:cNvPr id="5122" name="Picture 2" descr="Maintenance Statutory Compliance ...">
            <a:extLst>
              <a:ext uri="{FF2B5EF4-FFF2-40B4-BE49-F238E27FC236}">
                <a16:creationId xmlns:a16="http://schemas.microsoft.com/office/drawing/2014/main" xmlns="" id="{5D474479-5E19-00D7-26C6-3DA180DE0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xmlns="" id="{8D0F84D8-3162-5A6C-6E3B-AEE0F3C57765}"/>
              </a:ext>
            </a:extLst>
          </p:cNvPr>
          <p:cNvSpPr>
            <a:spLocks noGrp="1" noChangeArrowheads="1"/>
          </p:cNvSpPr>
          <p:nvPr>
            <p:ph idx="1"/>
          </p:nvPr>
        </p:nvSpPr>
        <p:spPr bwMode="auto">
          <a:xfrm>
            <a:off x="524339" y="2881574"/>
            <a:ext cx="5980693" cy="36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r>
              <a:rPr lang="x-none" altLang="x-none" dirty="0"/>
              <a:t>Obtain Consent: Organizations must get explicit consent before collecting or processing personal data. (E.g., GDPR, CCPA)</a:t>
            </a:r>
          </a:p>
          <a:p>
            <a:pPr fontAlgn="base"/>
            <a:r>
              <a:rPr lang="x-none" altLang="x-none" dirty="0"/>
              <a:t>Data Subject Rights: Individuals have the right to access, correct, delete, or restrict the use of their personal data.</a:t>
            </a:r>
          </a:p>
          <a:p>
            <a:pPr fontAlgn="base"/>
            <a:r>
              <a:rPr lang="x-none" altLang="x-none" dirty="0"/>
              <a:t>Breach Notification: In case of a data breach, organizations must notify regulatory authorities and affected individuals within the required timeframe (e.g., 72 hours under GDPR, 30 days under CCPA).</a:t>
            </a:r>
          </a:p>
          <a:p>
            <a:pPr fontAlgn="base"/>
            <a:r>
              <a:rPr lang="x-none" altLang="x-none" dirty="0"/>
              <a:t>Lawful Data Processing: Data must be collected and processed for legitimate purposes only.</a:t>
            </a:r>
          </a:p>
        </p:txBody>
      </p:sp>
    </p:spTree>
    <p:extLst>
      <p:ext uri="{BB962C8B-B14F-4D97-AF65-F5344CB8AC3E}">
        <p14:creationId xmlns:p14="http://schemas.microsoft.com/office/powerpoint/2010/main" val="933166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A461B6-7B68-CC2F-20D0-4EED027A6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C667D5C-E4DF-7739-3495-A7D4560E645A}"/>
              </a:ext>
            </a:extLst>
          </p:cNvPr>
          <p:cNvSpPr>
            <a:spLocks noGrp="1"/>
          </p:cNvSpPr>
          <p:nvPr>
            <p:ph type="title"/>
          </p:nvPr>
        </p:nvSpPr>
        <p:spPr/>
        <p:txBody>
          <a:bodyPr>
            <a:normAutofit/>
          </a:bodyPr>
          <a:lstStyle/>
          <a:p>
            <a:r>
              <a:rPr lang="en-US" dirty="0"/>
              <a:t>Security and Technical Controls</a:t>
            </a:r>
            <a:endParaRPr lang="x-none" dirty="0"/>
          </a:p>
        </p:txBody>
      </p:sp>
      <p:pic>
        <p:nvPicPr>
          <p:cNvPr id="5122" name="Picture 2" descr="Maintenance Statutory Compliance ...">
            <a:extLst>
              <a:ext uri="{FF2B5EF4-FFF2-40B4-BE49-F238E27FC236}">
                <a16:creationId xmlns:a16="http://schemas.microsoft.com/office/drawing/2014/main" xmlns="" id="{0DBBCB45-9B4A-C3BD-20E0-31AD1EEF4D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xmlns="" id="{91155C15-0D71-6A8F-FD97-07389F308443}"/>
              </a:ext>
            </a:extLst>
          </p:cNvPr>
          <p:cNvSpPr>
            <a:spLocks noGrp="1" noChangeArrowheads="1"/>
          </p:cNvSpPr>
          <p:nvPr>
            <p:ph idx="1"/>
          </p:nvPr>
        </p:nvSpPr>
        <p:spPr bwMode="auto">
          <a:xfrm>
            <a:off x="652260" y="2827341"/>
            <a:ext cx="5980693" cy="3048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r>
              <a:rPr lang="en-US" altLang="x-none" dirty="0"/>
              <a:t>Data Encryption: Organizations must encrypt sensitive data to prevent unauthorized access.</a:t>
            </a:r>
          </a:p>
          <a:p>
            <a:pPr fontAlgn="base"/>
            <a:r>
              <a:rPr lang="en-US" altLang="x-none" dirty="0"/>
              <a:t>Access Controls: Implement role-based access to ensure only authorized personnel can handle sensitive data.</a:t>
            </a:r>
          </a:p>
          <a:p>
            <a:pPr fontAlgn="base"/>
            <a:r>
              <a:rPr lang="en-US" altLang="x-none" dirty="0"/>
              <a:t>Incident Response Plan: Companies must have a structured plan for responding to security incidents and breaches.</a:t>
            </a:r>
          </a:p>
          <a:p>
            <a:pPr fontAlgn="base"/>
            <a:r>
              <a:rPr lang="en-US" altLang="x-none" dirty="0"/>
              <a:t>Data Minimization: Organizations should only collect and store the minimum amount of data necessary for business operations.</a:t>
            </a:r>
            <a:endParaRPr lang="x-none" altLang="x-none" dirty="0"/>
          </a:p>
        </p:txBody>
      </p:sp>
    </p:spTree>
    <p:extLst>
      <p:ext uri="{BB962C8B-B14F-4D97-AF65-F5344CB8AC3E}">
        <p14:creationId xmlns:p14="http://schemas.microsoft.com/office/powerpoint/2010/main" val="766123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A67CD2-C1AA-1DE0-13E5-3BFB0D6C4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4CC4031-963C-4B51-5506-5924D25989FD}"/>
              </a:ext>
            </a:extLst>
          </p:cNvPr>
          <p:cNvSpPr>
            <a:spLocks noGrp="1"/>
          </p:cNvSpPr>
          <p:nvPr>
            <p:ph type="title"/>
          </p:nvPr>
        </p:nvSpPr>
        <p:spPr/>
        <p:txBody>
          <a:bodyPr>
            <a:normAutofit/>
          </a:bodyPr>
          <a:lstStyle/>
          <a:p>
            <a:r>
              <a:rPr lang="en-US" dirty="0"/>
              <a:t>Organizational and Governance Policies</a:t>
            </a:r>
            <a:endParaRPr lang="x-none" dirty="0"/>
          </a:p>
        </p:txBody>
      </p:sp>
      <p:pic>
        <p:nvPicPr>
          <p:cNvPr id="5122" name="Picture 2" descr="Maintenance Statutory Compliance ...">
            <a:extLst>
              <a:ext uri="{FF2B5EF4-FFF2-40B4-BE49-F238E27FC236}">
                <a16:creationId xmlns:a16="http://schemas.microsoft.com/office/drawing/2014/main" xmlns="" id="{394D94A8-D436-CBA8-1754-BE29D82D9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xmlns="" id="{ABFE36D3-9501-BBD5-BF94-A332E3C2088B}"/>
              </a:ext>
            </a:extLst>
          </p:cNvPr>
          <p:cNvSpPr>
            <a:spLocks noGrp="1" noChangeArrowheads="1"/>
          </p:cNvSpPr>
          <p:nvPr>
            <p:ph idx="1"/>
          </p:nvPr>
        </p:nvSpPr>
        <p:spPr bwMode="auto">
          <a:xfrm>
            <a:off x="652260" y="2539570"/>
            <a:ext cx="5980693" cy="36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r>
              <a:rPr lang="en-US" altLang="x-none" dirty="0"/>
              <a:t>Appointing a Data Protection Officer (DPO): Required for organizations that handle large amounts of personal data (e.g., GDPR, Kenya’s Data Protection Act).</a:t>
            </a:r>
          </a:p>
          <a:p>
            <a:pPr fontAlgn="base"/>
            <a:r>
              <a:rPr lang="en-US" altLang="x-none" dirty="0"/>
              <a:t>Employee Training: Staff must be trained on data protection policies and best practices.</a:t>
            </a:r>
          </a:p>
          <a:p>
            <a:pPr fontAlgn="base"/>
            <a:r>
              <a:rPr lang="en-US" altLang="x-none" dirty="0"/>
              <a:t>Third-Party Vendor Compliance: Businesses must ensure that vendors handling their data comply with relevant regulations.</a:t>
            </a:r>
          </a:p>
          <a:p>
            <a:pPr fontAlgn="base"/>
            <a:r>
              <a:rPr lang="en-US" altLang="x-none" dirty="0"/>
              <a:t>Regular Audits: Companies must conduct periodic assessments to ensure compliance with data protection laws.</a:t>
            </a:r>
            <a:endParaRPr lang="x-none" altLang="x-none" dirty="0"/>
          </a:p>
        </p:txBody>
      </p:sp>
    </p:spTree>
    <p:extLst>
      <p:ext uri="{BB962C8B-B14F-4D97-AF65-F5344CB8AC3E}">
        <p14:creationId xmlns:p14="http://schemas.microsoft.com/office/powerpoint/2010/main" val="3936756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681EB70-A31E-1DB1-8478-31E23AF34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ADE914-B207-0C10-0821-30ABE7B4A08D}"/>
              </a:ext>
            </a:extLst>
          </p:cNvPr>
          <p:cNvSpPr>
            <a:spLocks noGrp="1"/>
          </p:cNvSpPr>
          <p:nvPr>
            <p:ph type="title"/>
          </p:nvPr>
        </p:nvSpPr>
        <p:spPr/>
        <p:txBody>
          <a:bodyPr>
            <a:normAutofit/>
          </a:bodyPr>
          <a:lstStyle/>
          <a:p>
            <a:r>
              <a:rPr lang="en-US" dirty="0"/>
              <a:t>Organizational and Governance Policies</a:t>
            </a:r>
            <a:endParaRPr lang="x-none" dirty="0"/>
          </a:p>
        </p:txBody>
      </p:sp>
      <p:pic>
        <p:nvPicPr>
          <p:cNvPr id="5122" name="Picture 2" descr="Maintenance Statutory Compliance ...">
            <a:extLst>
              <a:ext uri="{FF2B5EF4-FFF2-40B4-BE49-F238E27FC236}">
                <a16:creationId xmlns:a16="http://schemas.microsoft.com/office/drawing/2014/main" xmlns="" id="{E61B924C-6E19-80AA-EB6A-ADC917114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xmlns="" id="{7B364DD0-8F97-6D02-A051-99BF972198B8}"/>
              </a:ext>
            </a:extLst>
          </p:cNvPr>
          <p:cNvSpPr>
            <a:spLocks noGrp="1" noChangeArrowheads="1"/>
          </p:cNvSpPr>
          <p:nvPr>
            <p:ph idx="1"/>
          </p:nvPr>
        </p:nvSpPr>
        <p:spPr bwMode="auto">
          <a:xfrm>
            <a:off x="652260" y="2539570"/>
            <a:ext cx="5980693" cy="362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r>
              <a:rPr lang="en-US" altLang="x-none" dirty="0"/>
              <a:t>Appointing a Data Protection Officer (DPO): Required for organizations that handle large amounts of personal data (e.g., GDPR, Kenya’s Data Protection Act).</a:t>
            </a:r>
          </a:p>
          <a:p>
            <a:pPr fontAlgn="base"/>
            <a:r>
              <a:rPr lang="en-US" altLang="x-none" dirty="0"/>
              <a:t>Employee Training: Staff must be trained on data protection policies and best practices.</a:t>
            </a:r>
          </a:p>
          <a:p>
            <a:pPr fontAlgn="base"/>
            <a:r>
              <a:rPr lang="en-US" altLang="x-none" dirty="0"/>
              <a:t>Third-Party Vendor Compliance: Businesses must ensure that vendors handling their data comply with relevant regulations.</a:t>
            </a:r>
          </a:p>
          <a:p>
            <a:pPr fontAlgn="base"/>
            <a:r>
              <a:rPr lang="en-US" altLang="x-none" dirty="0"/>
              <a:t>Regular Audits: Companies must conduct periodic assessments to ensure compliance with data protection laws.</a:t>
            </a:r>
            <a:endParaRPr lang="x-none" altLang="x-none" dirty="0"/>
          </a:p>
        </p:txBody>
      </p:sp>
    </p:spTree>
    <p:extLst>
      <p:ext uri="{BB962C8B-B14F-4D97-AF65-F5344CB8AC3E}">
        <p14:creationId xmlns:p14="http://schemas.microsoft.com/office/powerpoint/2010/main" val="2311020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547023-DD48-7507-0C60-3E7D04D93C88}"/>
              </a:ext>
            </a:extLst>
          </p:cNvPr>
          <p:cNvSpPr>
            <a:spLocks noGrp="1"/>
          </p:cNvSpPr>
          <p:nvPr>
            <p:ph type="title"/>
          </p:nvPr>
        </p:nvSpPr>
        <p:spPr/>
        <p:txBody>
          <a:bodyPr/>
          <a:lstStyle/>
          <a:p>
            <a:r>
              <a:rPr lang="en-US" dirty="0"/>
              <a:t>International Compliance Standards</a:t>
            </a:r>
            <a:endParaRPr lang="x-none" dirty="0"/>
          </a:p>
        </p:txBody>
      </p:sp>
      <p:sp>
        <p:nvSpPr>
          <p:cNvPr id="3" name="Content Placeholder 2">
            <a:extLst>
              <a:ext uri="{FF2B5EF4-FFF2-40B4-BE49-F238E27FC236}">
                <a16:creationId xmlns:a16="http://schemas.microsoft.com/office/drawing/2014/main" xmlns="" id="{DD9278FE-7FFA-B231-FEAE-C6C5CACC96D1}"/>
              </a:ext>
            </a:extLst>
          </p:cNvPr>
          <p:cNvSpPr>
            <a:spLocks noGrp="1"/>
          </p:cNvSpPr>
          <p:nvPr>
            <p:ph idx="1"/>
          </p:nvPr>
        </p:nvSpPr>
        <p:spPr>
          <a:xfrm>
            <a:off x="467484" y="2857697"/>
            <a:ext cx="7240955" cy="3524152"/>
          </a:xfrm>
        </p:spPr>
        <p:txBody>
          <a:bodyPr/>
          <a:lstStyle/>
          <a:p>
            <a:r>
              <a:rPr lang="en-US" dirty="0"/>
              <a:t>A. Data Privacy Frameworks</a:t>
            </a:r>
          </a:p>
          <a:p>
            <a:pPr lvl="1"/>
            <a:r>
              <a:rPr lang="en-US" dirty="0"/>
              <a:t>General Data Protection Regulation (GDPR - EU): One of the world’s most comprehensive data privacy laws, requiring organizations to protect EU citizens' personal data.</a:t>
            </a:r>
          </a:p>
          <a:p>
            <a:pPr lvl="1"/>
            <a:r>
              <a:rPr lang="en-US" dirty="0"/>
              <a:t>California Consumer Privacy Act (CCPA - USA): Provides California residents with rights over their data and imposes obligations on businesses handling their information.</a:t>
            </a:r>
          </a:p>
          <a:p>
            <a:pPr lvl="1"/>
            <a:r>
              <a:rPr lang="en-US" dirty="0"/>
              <a:t>Nigeria Data Protection Act (NDPA 2023): Sets data processing requirements for businesses in Nigeria, ensuring transparency and security.</a:t>
            </a:r>
          </a:p>
          <a:p>
            <a:pPr lvl="1"/>
            <a:r>
              <a:rPr lang="en-US" dirty="0"/>
              <a:t>Kenya Data Protection Act (2019): Regulates data processing activities and enforces privacy rights in Kenya.</a:t>
            </a:r>
          </a:p>
          <a:p>
            <a:pPr lvl="1"/>
            <a:r>
              <a:rPr lang="en-US" dirty="0"/>
              <a:t>Ghana Data Protection Act (2012): Governs how personal data is collected, processed, and stored within Ghana.</a:t>
            </a:r>
            <a:endParaRPr lang="x-none" dirty="0"/>
          </a:p>
        </p:txBody>
      </p:sp>
      <p:sp>
        <p:nvSpPr>
          <p:cNvPr id="4" name="Content Placeholder 2">
            <a:extLst>
              <a:ext uri="{FF2B5EF4-FFF2-40B4-BE49-F238E27FC236}">
                <a16:creationId xmlns:a16="http://schemas.microsoft.com/office/drawing/2014/main" xmlns="" id="{8E695061-F3B3-02DC-6CBA-8FCA6D4A5A4F}"/>
              </a:ext>
            </a:extLst>
          </p:cNvPr>
          <p:cNvSpPr txBox="1">
            <a:spLocks/>
          </p:cNvSpPr>
          <p:nvPr/>
        </p:nvSpPr>
        <p:spPr>
          <a:xfrm>
            <a:off x="501438" y="2052646"/>
            <a:ext cx="11029615" cy="805051"/>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Beyond national laws, businesses often follow global </a:t>
            </a:r>
            <a:r>
              <a:rPr lang="en-US" b="1" dirty="0"/>
              <a:t>data protection and security standards</a:t>
            </a:r>
            <a:r>
              <a:rPr lang="en-US" dirty="0"/>
              <a:t> to demonstrate compliance and improve data governance.</a:t>
            </a:r>
            <a:endParaRPr lang="x-none" dirty="0"/>
          </a:p>
        </p:txBody>
      </p:sp>
      <p:pic>
        <p:nvPicPr>
          <p:cNvPr id="6" name="Picture 2" descr="Maintenance Statutory Compliance ...">
            <a:extLst>
              <a:ext uri="{FF2B5EF4-FFF2-40B4-BE49-F238E27FC236}">
                <a16:creationId xmlns:a16="http://schemas.microsoft.com/office/drawing/2014/main" xmlns="" id="{2F532263-C47D-E80B-B8CE-3460050FBF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924" y="3429000"/>
            <a:ext cx="3189592" cy="180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14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6C64D1-A744-5AE4-D00E-673D6FCFD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843EACD-DF2A-A0F5-3F49-9C3614C27EBA}"/>
              </a:ext>
            </a:extLst>
          </p:cNvPr>
          <p:cNvSpPr>
            <a:spLocks noGrp="1"/>
          </p:cNvSpPr>
          <p:nvPr>
            <p:ph type="title"/>
          </p:nvPr>
        </p:nvSpPr>
        <p:spPr/>
        <p:txBody>
          <a:bodyPr/>
          <a:lstStyle/>
          <a:p>
            <a:r>
              <a:rPr lang="en-US" dirty="0"/>
              <a:t>International Compliance Standards</a:t>
            </a:r>
            <a:endParaRPr lang="x-none" dirty="0"/>
          </a:p>
        </p:txBody>
      </p:sp>
      <p:sp>
        <p:nvSpPr>
          <p:cNvPr id="3" name="Content Placeholder 2">
            <a:extLst>
              <a:ext uri="{FF2B5EF4-FFF2-40B4-BE49-F238E27FC236}">
                <a16:creationId xmlns:a16="http://schemas.microsoft.com/office/drawing/2014/main" xmlns="" id="{94C655FA-1729-B208-1DD5-0D46D332DC10}"/>
              </a:ext>
            </a:extLst>
          </p:cNvPr>
          <p:cNvSpPr>
            <a:spLocks noGrp="1"/>
          </p:cNvSpPr>
          <p:nvPr>
            <p:ph idx="1"/>
          </p:nvPr>
        </p:nvSpPr>
        <p:spPr>
          <a:xfrm>
            <a:off x="661735" y="1843803"/>
            <a:ext cx="6918783" cy="3524152"/>
          </a:xfrm>
        </p:spPr>
        <p:txBody>
          <a:bodyPr/>
          <a:lstStyle/>
          <a:p>
            <a:r>
              <a:rPr lang="en-US" dirty="0"/>
              <a:t>B. Information Security Standards</a:t>
            </a:r>
          </a:p>
          <a:p>
            <a:pPr lvl="1"/>
            <a:r>
              <a:rPr lang="en-US" dirty="0"/>
              <a:t>ISO/IEC 27001 (International Security Standard): A globally recognized framework for managing information security risks.</a:t>
            </a:r>
          </a:p>
          <a:p>
            <a:pPr lvl="1"/>
            <a:r>
              <a:rPr lang="en-US" dirty="0"/>
              <a:t>NIST Cybersecurity Framework (USA): A risk-based approach to managing cybersecurity threats.</a:t>
            </a:r>
          </a:p>
          <a:p>
            <a:pPr lvl="1"/>
            <a:r>
              <a:rPr lang="en-US" dirty="0"/>
              <a:t>PCI DSS (Payment Card Industry Data Security Standard): Protects payment card information by enforcing strict security measures for financial transactions.</a:t>
            </a:r>
          </a:p>
          <a:p>
            <a:pPr lvl="1"/>
            <a:r>
              <a:rPr lang="en-US" dirty="0"/>
              <a:t>SOC 2 (Service Organization Control): Ensures that cloud-based service providers maintain high levels of data security and privacy.</a:t>
            </a:r>
            <a:endParaRPr lang="x-none" dirty="0"/>
          </a:p>
        </p:txBody>
      </p:sp>
      <p:pic>
        <p:nvPicPr>
          <p:cNvPr id="6" name="Picture 2" descr="Maintenance Statutory Compliance ...">
            <a:extLst>
              <a:ext uri="{FF2B5EF4-FFF2-40B4-BE49-F238E27FC236}">
                <a16:creationId xmlns:a16="http://schemas.microsoft.com/office/drawing/2014/main" xmlns="" id="{F24D6B63-B2C4-9DAD-B5F1-4215E2A82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845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F649B2-3E89-2EC2-E731-60EC33024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2FA1DDB-033B-FE45-82E0-624D2572258B}"/>
              </a:ext>
            </a:extLst>
          </p:cNvPr>
          <p:cNvSpPr>
            <a:spLocks noGrp="1"/>
          </p:cNvSpPr>
          <p:nvPr>
            <p:ph type="title"/>
          </p:nvPr>
        </p:nvSpPr>
        <p:spPr/>
        <p:txBody>
          <a:bodyPr/>
          <a:lstStyle/>
          <a:p>
            <a:r>
              <a:rPr lang="en-US" dirty="0"/>
              <a:t>International Compliance Standards</a:t>
            </a:r>
            <a:endParaRPr lang="x-none" dirty="0"/>
          </a:p>
        </p:txBody>
      </p:sp>
      <p:sp>
        <p:nvSpPr>
          <p:cNvPr id="3" name="Content Placeholder 2">
            <a:extLst>
              <a:ext uri="{FF2B5EF4-FFF2-40B4-BE49-F238E27FC236}">
                <a16:creationId xmlns:a16="http://schemas.microsoft.com/office/drawing/2014/main" xmlns="" id="{22819466-745A-2FBB-8F02-820F8455F6BF}"/>
              </a:ext>
            </a:extLst>
          </p:cNvPr>
          <p:cNvSpPr>
            <a:spLocks noGrp="1"/>
          </p:cNvSpPr>
          <p:nvPr>
            <p:ph idx="1"/>
          </p:nvPr>
        </p:nvSpPr>
        <p:spPr>
          <a:xfrm>
            <a:off x="661735" y="1843803"/>
            <a:ext cx="6857191" cy="3524152"/>
          </a:xfrm>
        </p:spPr>
        <p:txBody>
          <a:bodyPr/>
          <a:lstStyle/>
          <a:p>
            <a:r>
              <a:rPr lang="en-US" dirty="0"/>
              <a:t>C. Industry-Specific Regulations</a:t>
            </a:r>
          </a:p>
          <a:p>
            <a:pPr lvl="1"/>
            <a:r>
              <a:rPr lang="en-US" dirty="0"/>
              <a:t>HIPAA (Health Insurance Portability and Accountability Act - USA): Protects patient health information in the healthcare industry.</a:t>
            </a:r>
          </a:p>
          <a:p>
            <a:pPr lvl="1"/>
            <a:r>
              <a:rPr lang="en-US" dirty="0"/>
              <a:t>GLBA (Gramm-Leach-Bliley Act - USA): Requires financial institutions to safeguard customer financial data.</a:t>
            </a:r>
          </a:p>
          <a:p>
            <a:pPr lvl="1"/>
            <a:r>
              <a:rPr lang="en-US" dirty="0"/>
              <a:t>FISMA (Federal Information Security Management Act - USA): Governs cybersecurity measures for government agencies and contractors.</a:t>
            </a:r>
            <a:endParaRPr lang="x-none" dirty="0"/>
          </a:p>
        </p:txBody>
      </p:sp>
      <p:pic>
        <p:nvPicPr>
          <p:cNvPr id="4" name="Picture 2" descr="Maintenance Statutory Compliance ...">
            <a:extLst>
              <a:ext uri="{FF2B5EF4-FFF2-40B4-BE49-F238E27FC236}">
                <a16:creationId xmlns:a16="http://schemas.microsoft.com/office/drawing/2014/main" xmlns="" id="{01A08296-C509-232A-9163-6DBCE711B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2765" y="2827341"/>
            <a:ext cx="3189592" cy="180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970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48D473-A73A-C977-577C-5DA5D7E9C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A35A906-C7CB-28E4-E2E6-3153B332A531}"/>
              </a:ext>
            </a:extLst>
          </p:cNvPr>
          <p:cNvSpPr>
            <a:spLocks noGrp="1"/>
          </p:cNvSpPr>
          <p:nvPr>
            <p:ph type="title"/>
          </p:nvPr>
        </p:nvSpPr>
        <p:spPr/>
        <p:txBody>
          <a:bodyPr>
            <a:normAutofit/>
          </a:bodyPr>
          <a:lstStyle/>
          <a:p>
            <a:r>
              <a:rPr lang="en-US" dirty="0"/>
              <a:t>Intellectual Property and Copyright Laws</a:t>
            </a:r>
            <a:br>
              <a:rPr lang="en-US" dirty="0"/>
            </a:br>
            <a:endParaRPr lang="x-none" dirty="0"/>
          </a:p>
        </p:txBody>
      </p:sp>
    </p:spTree>
    <p:extLst>
      <p:ext uri="{BB962C8B-B14F-4D97-AF65-F5344CB8AC3E}">
        <p14:creationId xmlns:p14="http://schemas.microsoft.com/office/powerpoint/2010/main" val="1767047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CD2332-2DB6-6AC0-3696-3731EE058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D1F795A-EC7D-1C46-D373-49AE0F944201}"/>
              </a:ext>
            </a:extLst>
          </p:cNvPr>
          <p:cNvSpPr>
            <a:spLocks noGrp="1"/>
          </p:cNvSpPr>
          <p:nvPr>
            <p:ph type="title"/>
          </p:nvPr>
        </p:nvSpPr>
        <p:spPr/>
        <p:txBody>
          <a:bodyPr/>
          <a:lstStyle/>
          <a:p>
            <a:r>
              <a:rPr lang="en-US" dirty="0"/>
              <a:t>Understanding Intellectual Property (IP)</a:t>
            </a:r>
            <a:endParaRPr lang="x-none" dirty="0"/>
          </a:p>
        </p:txBody>
      </p:sp>
      <p:sp>
        <p:nvSpPr>
          <p:cNvPr id="3" name="Content Placeholder 2">
            <a:extLst>
              <a:ext uri="{FF2B5EF4-FFF2-40B4-BE49-F238E27FC236}">
                <a16:creationId xmlns:a16="http://schemas.microsoft.com/office/drawing/2014/main" xmlns="" id="{F82495C7-A676-C81B-72EF-B1955CAB523E}"/>
              </a:ext>
            </a:extLst>
          </p:cNvPr>
          <p:cNvSpPr>
            <a:spLocks noGrp="1"/>
          </p:cNvSpPr>
          <p:nvPr>
            <p:ph idx="1"/>
          </p:nvPr>
        </p:nvSpPr>
        <p:spPr>
          <a:xfrm>
            <a:off x="750156" y="2497623"/>
            <a:ext cx="6857191" cy="3017204"/>
          </a:xfrm>
        </p:spPr>
        <p:txBody>
          <a:bodyPr>
            <a:normAutofit/>
          </a:bodyPr>
          <a:lstStyle/>
          <a:p>
            <a:pPr marL="0" indent="0">
              <a:buNone/>
            </a:pPr>
            <a:r>
              <a:rPr lang="en-US" b="1" dirty="0"/>
              <a:t>Intellectual Property (IP)</a:t>
            </a:r>
            <a:r>
              <a:rPr lang="en-US" dirty="0"/>
              <a:t> refers to intangible creations of the mind, such as inventions, artistic works, brand names, trade secrets, and proprietary technology. IP laws grant legal protection to these creations, ensuring that their owners can benefit from their use and prevent unauthorized exploitation.</a:t>
            </a:r>
          </a:p>
        </p:txBody>
      </p:sp>
      <p:pic>
        <p:nvPicPr>
          <p:cNvPr id="9218" name="Picture 2" descr="INTELLECTUAL PROPERTY LAW IN NIGERIA ...">
            <a:extLst>
              <a:ext uri="{FF2B5EF4-FFF2-40B4-BE49-F238E27FC236}">
                <a16:creationId xmlns:a16="http://schemas.microsoft.com/office/drawing/2014/main" xmlns="" id="{26D224E5-DF46-FB32-A8E6-16A3325A5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277" y="2419056"/>
            <a:ext cx="3210567" cy="254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412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B80E700-E56F-BCA2-D4F4-C244CA0A1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800AAD0-8143-613B-42F4-417A88BF4322}"/>
              </a:ext>
            </a:extLst>
          </p:cNvPr>
          <p:cNvSpPr>
            <a:spLocks noGrp="1"/>
          </p:cNvSpPr>
          <p:nvPr>
            <p:ph type="title"/>
          </p:nvPr>
        </p:nvSpPr>
        <p:spPr/>
        <p:txBody>
          <a:bodyPr/>
          <a:lstStyle/>
          <a:p>
            <a:r>
              <a:rPr lang="en-US" dirty="0"/>
              <a:t>Types of Intellectual Property</a:t>
            </a:r>
            <a:endParaRPr lang="x-none" dirty="0"/>
          </a:p>
        </p:txBody>
      </p:sp>
      <p:sp>
        <p:nvSpPr>
          <p:cNvPr id="3" name="Content Placeholder 2">
            <a:extLst>
              <a:ext uri="{FF2B5EF4-FFF2-40B4-BE49-F238E27FC236}">
                <a16:creationId xmlns:a16="http://schemas.microsoft.com/office/drawing/2014/main" xmlns="" id="{402719B0-648B-5E96-3EA9-1A1995BEB7D3}"/>
              </a:ext>
            </a:extLst>
          </p:cNvPr>
          <p:cNvSpPr>
            <a:spLocks noGrp="1"/>
          </p:cNvSpPr>
          <p:nvPr>
            <p:ph idx="1"/>
          </p:nvPr>
        </p:nvSpPr>
        <p:spPr>
          <a:xfrm>
            <a:off x="750156" y="2497623"/>
            <a:ext cx="6857191" cy="3017204"/>
          </a:xfrm>
        </p:spPr>
        <p:txBody>
          <a:bodyPr>
            <a:normAutofit fontScale="92500" lnSpcReduction="20000"/>
          </a:bodyPr>
          <a:lstStyle/>
          <a:p>
            <a:r>
              <a:rPr lang="en-US" b="1" dirty="0"/>
              <a:t>Copyright: Protects literary, artistic, and creative works such as books, music, films, and software.</a:t>
            </a:r>
          </a:p>
          <a:p>
            <a:r>
              <a:rPr lang="en-US" b="1" dirty="0"/>
              <a:t>Patents: Grants exclusive rights to inventors for new inventions, preventing others from making, using, or selling them without permission.</a:t>
            </a:r>
          </a:p>
          <a:p>
            <a:r>
              <a:rPr lang="en-US" b="1" dirty="0"/>
              <a:t>Trademarks: Protects brand names, logos, slogans, and distinctive signs used in commerce.</a:t>
            </a:r>
          </a:p>
          <a:p>
            <a:r>
              <a:rPr lang="en-US" b="1" dirty="0"/>
              <a:t>Trade Secrets: Covers confidential business information, formulas, processes, or practices that give a company a competitive edge.</a:t>
            </a:r>
          </a:p>
          <a:p>
            <a:r>
              <a:rPr lang="en-US" b="1" dirty="0"/>
              <a:t>Industrial Designs: Protects the aesthetic or ornamental aspects of a product, such as its shape, color, or pattern.</a:t>
            </a:r>
            <a:endParaRPr lang="en-US" dirty="0"/>
          </a:p>
        </p:txBody>
      </p:sp>
      <p:pic>
        <p:nvPicPr>
          <p:cNvPr id="9218" name="Picture 2" descr="INTELLECTUAL PROPERTY LAW IN NIGERIA ...">
            <a:extLst>
              <a:ext uri="{FF2B5EF4-FFF2-40B4-BE49-F238E27FC236}">
                <a16:creationId xmlns:a16="http://schemas.microsoft.com/office/drawing/2014/main" xmlns="" id="{B1E603B0-6347-CD59-0F5D-DAD7D8240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277" y="2419056"/>
            <a:ext cx="3210567" cy="254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887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D5D2F5-077F-2C9A-49D1-DA7491F59674}"/>
              </a:ext>
            </a:extLst>
          </p:cNvPr>
          <p:cNvSpPr>
            <a:spLocks noGrp="1"/>
          </p:cNvSpPr>
          <p:nvPr>
            <p:ph type="title"/>
          </p:nvPr>
        </p:nvSpPr>
        <p:spPr/>
        <p:txBody>
          <a:bodyPr/>
          <a:lstStyle/>
          <a:p>
            <a:r>
              <a:rPr lang="en-US" dirty="0"/>
              <a:t>Class work</a:t>
            </a:r>
            <a:endParaRPr lang="x-none" dirty="0"/>
          </a:p>
        </p:txBody>
      </p:sp>
      <p:sp>
        <p:nvSpPr>
          <p:cNvPr id="3" name="Content Placeholder 2">
            <a:extLst>
              <a:ext uri="{FF2B5EF4-FFF2-40B4-BE49-F238E27FC236}">
                <a16:creationId xmlns:a16="http://schemas.microsoft.com/office/drawing/2014/main" xmlns="" id="{D875A84F-59F8-83CC-4B59-65E40B2A336B}"/>
              </a:ext>
            </a:extLst>
          </p:cNvPr>
          <p:cNvSpPr>
            <a:spLocks noGrp="1"/>
          </p:cNvSpPr>
          <p:nvPr>
            <p:ph idx="1"/>
          </p:nvPr>
        </p:nvSpPr>
        <p:spPr/>
        <p:txBody>
          <a:bodyPr/>
          <a:lstStyle/>
          <a:p>
            <a:r>
              <a:rPr lang="en-US" dirty="0"/>
              <a:t>Sophos labs and AWS</a:t>
            </a:r>
            <a:endParaRPr lang="x-none" dirty="0"/>
          </a:p>
        </p:txBody>
      </p:sp>
    </p:spTree>
    <p:extLst>
      <p:ext uri="{BB962C8B-B14F-4D97-AF65-F5344CB8AC3E}">
        <p14:creationId xmlns:p14="http://schemas.microsoft.com/office/powerpoint/2010/main" val="667719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419A37-DF97-2309-A5C6-22EDA0C99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D8A2FCB-1DC4-EBE5-2477-C11EB30DAE0B}"/>
              </a:ext>
            </a:extLst>
          </p:cNvPr>
          <p:cNvSpPr>
            <a:spLocks noGrp="1"/>
          </p:cNvSpPr>
          <p:nvPr>
            <p:ph type="title"/>
          </p:nvPr>
        </p:nvSpPr>
        <p:spPr/>
        <p:txBody>
          <a:bodyPr/>
          <a:lstStyle/>
          <a:p>
            <a:r>
              <a:rPr lang="en-US" dirty="0"/>
              <a:t>REFRESHER - </a:t>
            </a:r>
            <a:r>
              <a:rPr lang="en-US" dirty="0" err="1"/>
              <a:t>Wk</a:t>
            </a:r>
            <a:r>
              <a:rPr lang="en-US" dirty="0"/>
              <a:t> DAY1</a:t>
            </a:r>
            <a:endParaRPr lang="x-none" dirty="0"/>
          </a:p>
        </p:txBody>
      </p:sp>
      <p:sp>
        <p:nvSpPr>
          <p:cNvPr id="4" name="Content Placeholder 2">
            <a:extLst>
              <a:ext uri="{FF2B5EF4-FFF2-40B4-BE49-F238E27FC236}">
                <a16:creationId xmlns:a16="http://schemas.microsoft.com/office/drawing/2014/main" xmlns="" id="{D2354304-45A4-CF27-0FB0-C03A08F895B1}"/>
              </a:ext>
            </a:extLst>
          </p:cNvPr>
          <p:cNvSpPr>
            <a:spLocks noGrp="1"/>
          </p:cNvSpPr>
          <p:nvPr>
            <p:ph idx="1"/>
          </p:nvPr>
        </p:nvSpPr>
        <p:spPr>
          <a:xfrm>
            <a:off x="623498" y="2668929"/>
            <a:ext cx="11029950" cy="3633787"/>
          </a:xfrm>
        </p:spPr>
        <p:txBody>
          <a:bodyPr>
            <a:normAutofit/>
          </a:bodyPr>
          <a:lstStyle/>
          <a:p>
            <a:r>
              <a:rPr lang="en-US" dirty="0"/>
              <a:t>Overview Legal Frameworks</a:t>
            </a:r>
          </a:p>
          <a:p>
            <a:pPr lvl="1"/>
            <a:r>
              <a:rPr lang="en-US" dirty="0"/>
              <a:t>Introduction to key Legislation and Regulations (GDPR, HIPAA, CCPA, etc.)</a:t>
            </a:r>
          </a:p>
          <a:p>
            <a:pPr lvl="2"/>
            <a:r>
              <a:rPr lang="en-US" dirty="0">
                <a:solidFill>
                  <a:schemeClr val="tx1"/>
                </a:solidFill>
                <a:latin typeface="Roboto" panose="02000000000000000000" pitchFamily="2" charset="0"/>
              </a:rPr>
              <a:t>Importance of Data Protection and Privacy Laws</a:t>
            </a:r>
          </a:p>
          <a:p>
            <a:pPr lvl="2"/>
            <a:r>
              <a:rPr lang="en-US" dirty="0"/>
              <a:t>The growing need for compliance in a digital world</a:t>
            </a:r>
            <a:r>
              <a:rPr lang="en-US" dirty="0">
                <a:solidFill>
                  <a:schemeClr val="tx1"/>
                </a:solidFill>
                <a:latin typeface="Roboto" panose="02000000000000000000" pitchFamily="2" charset="0"/>
              </a:rPr>
              <a:t> </a:t>
            </a:r>
          </a:p>
          <a:p>
            <a:pPr lvl="2"/>
            <a:r>
              <a:rPr lang="en-US" dirty="0"/>
              <a:t>Understanding Data Privacy &amp; Security Regulation</a:t>
            </a:r>
          </a:p>
          <a:p>
            <a:pPr lvl="1"/>
            <a:r>
              <a:rPr lang="en-US" dirty="0"/>
              <a:t>Compliance Requirements and Standards</a:t>
            </a:r>
          </a:p>
          <a:p>
            <a:pPr lvl="1"/>
            <a:r>
              <a:rPr lang="en-US" dirty="0"/>
              <a:t>Intellectual Property and Copyright Laws</a:t>
            </a:r>
          </a:p>
          <a:p>
            <a:endParaRPr lang="en-US" dirty="0"/>
          </a:p>
          <a:p>
            <a:pPr marL="324000" lvl="1" indent="0">
              <a:buNone/>
            </a:pPr>
            <a:endParaRPr lang="en-US" dirty="0"/>
          </a:p>
          <a:p>
            <a:pPr lvl="2"/>
            <a:endParaRPr lang="en-US" dirty="0"/>
          </a:p>
          <a:p>
            <a:endParaRPr lang="x-none" dirty="0"/>
          </a:p>
        </p:txBody>
      </p:sp>
    </p:spTree>
    <p:extLst>
      <p:ext uri="{BB962C8B-B14F-4D97-AF65-F5344CB8AC3E}">
        <p14:creationId xmlns:p14="http://schemas.microsoft.com/office/powerpoint/2010/main" val="2354025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AB4FFE-35CE-EC63-1564-E1EF3A2B6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3E2C4D1-0BFA-C31B-882A-AEE9D13A61CC}"/>
              </a:ext>
            </a:extLst>
          </p:cNvPr>
          <p:cNvSpPr>
            <a:spLocks noGrp="1"/>
          </p:cNvSpPr>
          <p:nvPr>
            <p:ph type="title"/>
          </p:nvPr>
        </p:nvSpPr>
        <p:spPr/>
        <p:txBody>
          <a:bodyPr/>
          <a:lstStyle/>
          <a:p>
            <a:r>
              <a:rPr lang="en-US" dirty="0"/>
              <a:t>Week 4 – DAY 2</a:t>
            </a:r>
            <a:endParaRPr lang="x-none" dirty="0"/>
          </a:p>
        </p:txBody>
      </p:sp>
      <p:sp>
        <p:nvSpPr>
          <p:cNvPr id="4" name="Content Placeholder 2">
            <a:extLst>
              <a:ext uri="{FF2B5EF4-FFF2-40B4-BE49-F238E27FC236}">
                <a16:creationId xmlns:a16="http://schemas.microsoft.com/office/drawing/2014/main" xmlns="" id="{D072AE43-B403-3600-9AA0-BD6AC5CE1923}"/>
              </a:ext>
            </a:extLst>
          </p:cNvPr>
          <p:cNvSpPr>
            <a:spLocks noGrp="1"/>
          </p:cNvSpPr>
          <p:nvPr>
            <p:ph idx="1"/>
          </p:nvPr>
        </p:nvSpPr>
        <p:spPr>
          <a:xfrm>
            <a:off x="623498" y="2668929"/>
            <a:ext cx="11029950" cy="3633787"/>
          </a:xfrm>
        </p:spPr>
        <p:txBody>
          <a:bodyPr>
            <a:normAutofit/>
          </a:bodyPr>
          <a:lstStyle/>
          <a:p>
            <a:r>
              <a:rPr lang="en-US" dirty="0"/>
              <a:t>Ethical Hacking </a:t>
            </a:r>
          </a:p>
          <a:p>
            <a:pPr lvl="1"/>
            <a:r>
              <a:rPr lang="en-US" dirty="0"/>
              <a:t>Introduction to Ethical Hacking</a:t>
            </a:r>
          </a:p>
          <a:p>
            <a:pPr lvl="2"/>
            <a:r>
              <a:rPr lang="en-US" dirty="0">
                <a:solidFill>
                  <a:schemeClr val="tx1"/>
                </a:solidFill>
                <a:latin typeface="Roboto" panose="02000000000000000000" pitchFamily="2" charset="0"/>
              </a:rPr>
              <a:t>Fundamental Security and Hacking Concepts</a:t>
            </a:r>
          </a:p>
          <a:p>
            <a:r>
              <a:rPr lang="en-US" dirty="0"/>
              <a:t>Privacy and Data Protection Ethics</a:t>
            </a:r>
          </a:p>
          <a:p>
            <a:r>
              <a:rPr lang="en-US" dirty="0"/>
              <a:t>Cybersecurity Policy Development</a:t>
            </a:r>
          </a:p>
          <a:p>
            <a:r>
              <a:rPr lang="en-US"/>
              <a:t>Roles of Professional Organizations (ISC2, ISACA, SANS)</a:t>
            </a:r>
            <a:endParaRPr lang="en-US" dirty="0"/>
          </a:p>
          <a:p>
            <a:pPr lvl="2"/>
            <a:endParaRPr lang="en-US" dirty="0"/>
          </a:p>
          <a:p>
            <a:endParaRPr lang="x-none" dirty="0"/>
          </a:p>
        </p:txBody>
      </p:sp>
    </p:spTree>
    <p:extLst>
      <p:ext uri="{BB962C8B-B14F-4D97-AF65-F5344CB8AC3E}">
        <p14:creationId xmlns:p14="http://schemas.microsoft.com/office/powerpoint/2010/main" val="470091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00F187-D7AD-1ED3-CC4D-42E4ECAB2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C871059-A028-F0E7-4F2D-0422267ACBB4}"/>
              </a:ext>
            </a:extLst>
          </p:cNvPr>
          <p:cNvSpPr>
            <a:spLocks noGrp="1"/>
          </p:cNvSpPr>
          <p:nvPr>
            <p:ph type="title"/>
          </p:nvPr>
        </p:nvSpPr>
        <p:spPr/>
        <p:txBody>
          <a:bodyPr>
            <a:normAutofit/>
          </a:bodyPr>
          <a:lstStyle/>
          <a:p>
            <a:r>
              <a:rPr lang="en-US" dirty="0"/>
              <a:t>INTRODUCTION TO ETHICAL HACKING</a:t>
            </a:r>
            <a:endParaRPr lang="x-none" dirty="0"/>
          </a:p>
        </p:txBody>
      </p:sp>
    </p:spTree>
    <p:extLst>
      <p:ext uri="{BB962C8B-B14F-4D97-AF65-F5344CB8AC3E}">
        <p14:creationId xmlns:p14="http://schemas.microsoft.com/office/powerpoint/2010/main" val="404217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46C400-C7BA-2916-B40F-E2B76064A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254B4B3-5898-DE32-E7B9-ABD14215C49F}"/>
              </a:ext>
            </a:extLst>
          </p:cNvPr>
          <p:cNvSpPr>
            <a:spLocks noGrp="1"/>
          </p:cNvSpPr>
          <p:nvPr>
            <p:ph type="title"/>
          </p:nvPr>
        </p:nvSpPr>
        <p:spPr/>
        <p:txBody>
          <a:bodyPr/>
          <a:lstStyle/>
          <a:p>
            <a:r>
              <a:rPr lang="en-US" dirty="0"/>
              <a:t>Fundamental security concepts</a:t>
            </a:r>
            <a:endParaRPr lang="x-none" dirty="0"/>
          </a:p>
        </p:txBody>
      </p:sp>
      <p:sp>
        <p:nvSpPr>
          <p:cNvPr id="3" name="Content Placeholder 2">
            <a:extLst>
              <a:ext uri="{FF2B5EF4-FFF2-40B4-BE49-F238E27FC236}">
                <a16:creationId xmlns:a16="http://schemas.microsoft.com/office/drawing/2014/main" xmlns="" id="{49AFD53D-F86B-F950-9DF2-B5AD83FF6909}"/>
              </a:ext>
            </a:extLst>
          </p:cNvPr>
          <p:cNvSpPr>
            <a:spLocks noGrp="1"/>
          </p:cNvSpPr>
          <p:nvPr>
            <p:ph idx="1"/>
          </p:nvPr>
        </p:nvSpPr>
        <p:spPr>
          <a:xfrm>
            <a:off x="750156" y="2497623"/>
            <a:ext cx="6857191" cy="3017204"/>
          </a:xfrm>
        </p:spPr>
        <p:txBody>
          <a:bodyPr>
            <a:noAutofit/>
          </a:bodyPr>
          <a:lstStyle/>
          <a:p>
            <a:pPr marL="0" indent="0">
              <a:buNone/>
            </a:pPr>
            <a:r>
              <a:rPr lang="en-US" sz="1600" b="1" dirty="0"/>
              <a:t>In addition to the CIA triad, other properties, such as authenticity, accountability, non-repudiation and reliability can also be involved.</a:t>
            </a:r>
          </a:p>
          <a:p>
            <a:pPr marL="0" indent="0">
              <a:buNone/>
            </a:pPr>
            <a:endParaRPr lang="en-US" sz="1600" b="1" dirty="0"/>
          </a:p>
          <a:p>
            <a:r>
              <a:rPr lang="en-US" sz="1600" b="1" dirty="0"/>
              <a:t>Authenticity Refers to the characteristic of a communication, document, or any data that ensures the quality of being genuine</a:t>
            </a:r>
          </a:p>
          <a:p>
            <a:r>
              <a:rPr lang="en-US" sz="1600" b="1" dirty="0"/>
              <a:t>Auditing &amp; Accountability Basically keep tracking of every thing, like, who's been logging in when are they login in whose access this data.</a:t>
            </a:r>
          </a:p>
          <a:p>
            <a:r>
              <a:rPr lang="en-US" sz="1600" b="1" dirty="0"/>
              <a:t>Non-Repudiation</a:t>
            </a:r>
            <a:r>
              <a:rPr lang="en-US" sz="1600" b="1"/>
              <a:t> </a:t>
            </a:r>
            <a:r>
              <a:rPr lang="en-US" sz="1600" b="1" smtClean="0"/>
              <a:t>is </a:t>
            </a:r>
            <a:r>
              <a:rPr lang="en-US" sz="1600" b="1" dirty="0"/>
              <a:t>the assurance that someone cannot deny the validity of something. Non-repudiation is a legal concept that is widely used in information security and refers to a service, which provides proof of the origin of data and the integrity of the data.</a:t>
            </a:r>
          </a:p>
          <a:p>
            <a:pPr marL="0" indent="0">
              <a:buNone/>
            </a:pPr>
            <a:endParaRPr lang="en-US" sz="1600" b="1" dirty="0"/>
          </a:p>
        </p:txBody>
      </p:sp>
      <p:pic>
        <p:nvPicPr>
          <p:cNvPr id="1026" name="Picture 2">
            <a:extLst>
              <a:ext uri="{FF2B5EF4-FFF2-40B4-BE49-F238E27FC236}">
                <a16:creationId xmlns:a16="http://schemas.microsoft.com/office/drawing/2014/main" xmlns="" id="{78475114-FCD4-9C7A-4281-281EFB058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164" y="2290737"/>
            <a:ext cx="3412023" cy="255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6088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2A007CC-6DA8-6505-8300-49B0BEACE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8D1D61F-0B85-D186-C34A-C15D47BC318A}"/>
              </a:ext>
            </a:extLst>
          </p:cNvPr>
          <p:cNvSpPr>
            <a:spLocks noGrp="1"/>
          </p:cNvSpPr>
          <p:nvPr>
            <p:ph type="title"/>
          </p:nvPr>
        </p:nvSpPr>
        <p:spPr/>
        <p:txBody>
          <a:bodyPr/>
          <a:lstStyle/>
          <a:p>
            <a:pPr algn="l"/>
            <a:r>
              <a:rPr lang="en-US" dirty="0"/>
              <a:t>Security, Functionality and Usability balance</a:t>
            </a:r>
          </a:p>
        </p:txBody>
      </p:sp>
      <p:sp>
        <p:nvSpPr>
          <p:cNvPr id="3" name="Content Placeholder 2">
            <a:extLst>
              <a:ext uri="{FF2B5EF4-FFF2-40B4-BE49-F238E27FC236}">
                <a16:creationId xmlns:a16="http://schemas.microsoft.com/office/drawing/2014/main" xmlns="" id="{2EB453FE-CA2F-6428-1801-9844998C7606}"/>
              </a:ext>
            </a:extLst>
          </p:cNvPr>
          <p:cNvSpPr>
            <a:spLocks noGrp="1"/>
          </p:cNvSpPr>
          <p:nvPr>
            <p:ph idx="1"/>
          </p:nvPr>
        </p:nvSpPr>
        <p:spPr>
          <a:xfrm>
            <a:off x="750156" y="2497623"/>
            <a:ext cx="6857191" cy="3017204"/>
          </a:xfrm>
        </p:spPr>
        <p:txBody>
          <a:bodyPr>
            <a:normAutofit/>
          </a:bodyPr>
          <a:lstStyle/>
          <a:p>
            <a:r>
              <a:rPr lang="en-US" sz="1600" b="1" dirty="0"/>
              <a:t>There is </a:t>
            </a:r>
            <a:r>
              <a:rPr lang="en-US" sz="1800" b="1" dirty="0"/>
              <a:t>an</a:t>
            </a:r>
            <a:r>
              <a:rPr lang="en-US" sz="1600" b="1" dirty="0"/>
              <a:t> inter dependency between these three attributes. When security goes up, usability and functionality come down. Any organization should balance between these three qualities to arrive at a balanced information system</a:t>
            </a:r>
          </a:p>
          <a:p>
            <a:pPr marL="0" indent="0">
              <a:buNone/>
            </a:pPr>
            <a:endParaRPr lang="en-US" b="1" dirty="0"/>
          </a:p>
        </p:txBody>
      </p:sp>
      <p:pic>
        <p:nvPicPr>
          <p:cNvPr id="2050" name="Picture 2">
            <a:extLst>
              <a:ext uri="{FF2B5EF4-FFF2-40B4-BE49-F238E27FC236}">
                <a16:creationId xmlns:a16="http://schemas.microsoft.com/office/drawing/2014/main" xmlns="" id="{BAD1F2AE-E0A4-D232-F717-7D16E0601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177" y="2497623"/>
            <a:ext cx="3090750" cy="256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643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40E4E9-5210-D180-B443-73C1E8620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31F2AE2-DA15-D624-3AD8-2193FB03AA09}"/>
              </a:ext>
            </a:extLst>
          </p:cNvPr>
          <p:cNvSpPr>
            <a:spLocks noGrp="1"/>
          </p:cNvSpPr>
          <p:nvPr>
            <p:ph type="title"/>
          </p:nvPr>
        </p:nvSpPr>
        <p:spPr/>
        <p:txBody>
          <a:bodyPr/>
          <a:lstStyle/>
          <a:p>
            <a:r>
              <a:rPr lang="en-US" dirty="0"/>
              <a:t>Types of Hackers</a:t>
            </a:r>
            <a:r>
              <a:rPr lang="en-US" b="1" i="0" dirty="0">
                <a:solidFill>
                  <a:srgbClr val="1F2328"/>
                </a:solidFill>
                <a:effectLst/>
                <a:latin typeface="-apple-system"/>
              </a:rPr>
              <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xmlns="" id="{94F8FEB1-913C-9BF0-04B9-66F3DD01CAA6}"/>
              </a:ext>
            </a:extLst>
          </p:cNvPr>
          <p:cNvSpPr>
            <a:spLocks noGrp="1"/>
          </p:cNvSpPr>
          <p:nvPr>
            <p:ph idx="1"/>
          </p:nvPr>
        </p:nvSpPr>
        <p:spPr>
          <a:xfrm>
            <a:off x="641187" y="2938241"/>
            <a:ext cx="6857191" cy="3017204"/>
          </a:xfrm>
        </p:spPr>
        <p:txBody>
          <a:bodyPr>
            <a:noAutofit/>
          </a:bodyPr>
          <a:lstStyle/>
          <a:p>
            <a:pPr marL="0" indent="0" algn="l">
              <a:buNone/>
            </a:pPr>
            <a:r>
              <a:rPr lang="en-US" sz="1800" b="1" dirty="0"/>
              <a:t>Refresher…</a:t>
            </a:r>
          </a:p>
          <a:p>
            <a:pPr algn="l">
              <a:buFont typeface="Arial" panose="020B0604020202020204" pitchFamily="34" charset="0"/>
              <a:buChar char="•"/>
            </a:pPr>
            <a:r>
              <a:rPr lang="en-US" sz="1800" b="1" dirty="0"/>
              <a:t>Black Hat - Hackers that seek to perform malicious activities.</a:t>
            </a:r>
          </a:p>
          <a:p>
            <a:pPr algn="l">
              <a:buFont typeface="Arial" panose="020B0604020202020204" pitchFamily="34" charset="0"/>
              <a:buChar char="•"/>
            </a:pPr>
            <a:r>
              <a:rPr lang="en-US" sz="1800" b="1" dirty="0"/>
              <a:t>Gray Hat - Hackers that perform good or bad activities but do not have the permission of the organization they are hacking against.</a:t>
            </a:r>
          </a:p>
          <a:p>
            <a:pPr algn="l">
              <a:buFont typeface="Arial" panose="020B0604020202020204" pitchFamily="34" charset="0"/>
              <a:buChar char="•"/>
            </a:pPr>
            <a:r>
              <a:rPr lang="en-US" sz="1800" b="1" dirty="0"/>
              <a:t>White Hat - Ethical hackers; They use their skills to improve security by exposing vulnerabilities before malicious hackers.</a:t>
            </a:r>
          </a:p>
          <a:p>
            <a:endParaRPr lang="en-US" sz="1800" b="1" dirty="0"/>
          </a:p>
          <a:p>
            <a:pPr marL="0" indent="0">
              <a:buNone/>
            </a:pPr>
            <a:endParaRPr lang="en-US" sz="1800" b="1" dirty="0"/>
          </a:p>
        </p:txBody>
      </p:sp>
      <p:pic>
        <p:nvPicPr>
          <p:cNvPr id="3074" name="Picture 2">
            <a:extLst>
              <a:ext uri="{FF2B5EF4-FFF2-40B4-BE49-F238E27FC236}">
                <a16:creationId xmlns:a16="http://schemas.microsoft.com/office/drawing/2014/main" xmlns="" id="{7CA6C3DC-5E7D-61E2-7754-B263A28F8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30" y="2563163"/>
            <a:ext cx="3601028" cy="2614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412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BE4344-C47E-58AD-1E0F-8AF5905AB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9739929-1FD0-48DF-6983-5DA2B083452E}"/>
              </a:ext>
            </a:extLst>
          </p:cNvPr>
          <p:cNvSpPr>
            <a:spLocks noGrp="1"/>
          </p:cNvSpPr>
          <p:nvPr>
            <p:ph type="title"/>
          </p:nvPr>
        </p:nvSpPr>
        <p:spPr/>
        <p:txBody>
          <a:bodyPr/>
          <a:lstStyle/>
          <a:p>
            <a:r>
              <a:rPr lang="en-US" dirty="0"/>
              <a:t>Types of ATTACKERs</a:t>
            </a:r>
            <a:r>
              <a:rPr lang="en-US" b="1" i="0" dirty="0">
                <a:solidFill>
                  <a:srgbClr val="1F2328"/>
                </a:solidFill>
                <a:effectLst/>
                <a:latin typeface="-apple-system"/>
              </a:rPr>
              <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xmlns="" id="{3843ED63-359B-0A6F-70F9-1478B1412934}"/>
              </a:ext>
            </a:extLst>
          </p:cNvPr>
          <p:cNvSpPr>
            <a:spLocks noGrp="1"/>
          </p:cNvSpPr>
          <p:nvPr>
            <p:ph idx="1"/>
          </p:nvPr>
        </p:nvSpPr>
        <p:spPr>
          <a:xfrm>
            <a:off x="641187" y="2938241"/>
            <a:ext cx="6857191" cy="3017204"/>
          </a:xfrm>
        </p:spPr>
        <p:txBody>
          <a:bodyPr>
            <a:noAutofit/>
          </a:bodyPr>
          <a:lstStyle/>
          <a:p>
            <a:pPr marL="0" indent="0" algn="l">
              <a:buNone/>
            </a:pPr>
            <a:r>
              <a:rPr lang="en-US" sz="1600" b="1" dirty="0"/>
              <a:t>Let’s talk about others attackers.</a:t>
            </a:r>
          </a:p>
          <a:p>
            <a:pPr>
              <a:buFont typeface="Wingdings" panose="05000000000000000000" pitchFamily="2" charset="2"/>
              <a:buChar char="§"/>
            </a:pPr>
            <a:r>
              <a:rPr lang="en-US" sz="1600" b="1" dirty="0"/>
              <a:t>Script Kiddie / </a:t>
            </a:r>
            <a:r>
              <a:rPr lang="en-US" sz="1600" b="1" dirty="0" err="1"/>
              <a:t>Skiddies</a:t>
            </a:r>
            <a:r>
              <a:rPr lang="en-US" sz="1600" b="1" dirty="0"/>
              <a:t> - Unskilled individual who uses malicious scripts or programs, such as a web shell, developed by others to attack computer systems and networks and deface websites.</a:t>
            </a:r>
          </a:p>
          <a:p>
            <a:pPr>
              <a:buFont typeface="Wingdings" panose="05000000000000000000" pitchFamily="2" charset="2"/>
              <a:buChar char="§"/>
            </a:pPr>
            <a:r>
              <a:rPr lang="en-US" sz="1600" b="1" dirty="0"/>
              <a:t>State-Sponsored Hacker - Hacker that is hired by a government or entity related.</a:t>
            </a:r>
          </a:p>
          <a:p>
            <a:pPr>
              <a:buFont typeface="Wingdings" panose="05000000000000000000" pitchFamily="2" charset="2"/>
              <a:buChar char="§"/>
            </a:pPr>
            <a:r>
              <a:rPr lang="en-US" sz="1600" b="1" dirty="0"/>
              <a:t>Hacktivist - Someone who hacks for a cause; political agenda.</a:t>
            </a:r>
          </a:p>
          <a:p>
            <a:pPr>
              <a:buFont typeface="Wingdings" panose="05000000000000000000" pitchFamily="2" charset="2"/>
              <a:buChar char="§"/>
            </a:pPr>
            <a:r>
              <a:rPr lang="en-US" sz="1600" b="1" dirty="0"/>
              <a:t>Suicide Hackers - Are hackers that are not afraid of going jail or facing any sort of punishment; hack to get the job done.</a:t>
            </a:r>
          </a:p>
          <a:p>
            <a:pPr>
              <a:buFont typeface="Wingdings" panose="05000000000000000000" pitchFamily="2" charset="2"/>
              <a:buChar char="§"/>
            </a:pPr>
            <a:r>
              <a:rPr lang="en-US" sz="1600" b="1" dirty="0"/>
              <a:t>Cyberterrorist - Motivated by religious or political beliefs to create fear or disruption.</a:t>
            </a:r>
          </a:p>
          <a:p>
            <a:pPr marL="0" indent="0" algn="l">
              <a:buNone/>
            </a:pPr>
            <a:endParaRPr lang="en-US" sz="1600" b="1" dirty="0"/>
          </a:p>
          <a:p>
            <a:endParaRPr lang="en-US" sz="1600" b="1" dirty="0"/>
          </a:p>
          <a:p>
            <a:pPr marL="0" indent="0">
              <a:buNone/>
            </a:pPr>
            <a:endParaRPr lang="en-US" sz="1600" b="1" dirty="0"/>
          </a:p>
        </p:txBody>
      </p:sp>
      <p:pic>
        <p:nvPicPr>
          <p:cNvPr id="3074" name="Picture 2">
            <a:extLst>
              <a:ext uri="{FF2B5EF4-FFF2-40B4-BE49-F238E27FC236}">
                <a16:creationId xmlns:a16="http://schemas.microsoft.com/office/drawing/2014/main" xmlns="" id="{3D0E6B89-DCCF-31E9-C15C-36EFCA30B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30" y="2563163"/>
            <a:ext cx="3601028" cy="2614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323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F2F921-153B-FCC4-C369-4A2C48B09690}"/>
              </a:ext>
            </a:extLst>
          </p:cNvPr>
          <p:cNvSpPr>
            <a:spLocks noGrp="1"/>
          </p:cNvSpPr>
          <p:nvPr>
            <p:ph type="title"/>
          </p:nvPr>
        </p:nvSpPr>
        <p:spPr/>
        <p:txBody>
          <a:bodyPr/>
          <a:lstStyle/>
          <a:p>
            <a:r>
              <a:rPr lang="en-US" dirty="0"/>
              <a:t>HACKING VOCABULARY</a:t>
            </a:r>
            <a:endParaRPr lang="x-none" dirty="0"/>
          </a:p>
        </p:txBody>
      </p:sp>
      <p:sp>
        <p:nvSpPr>
          <p:cNvPr id="3" name="Content Placeholder 2">
            <a:extLst>
              <a:ext uri="{FF2B5EF4-FFF2-40B4-BE49-F238E27FC236}">
                <a16:creationId xmlns:a16="http://schemas.microsoft.com/office/drawing/2014/main" xmlns="" id="{556E7FF5-FB4A-3618-FA42-19BDDFBFAF43}"/>
              </a:ext>
            </a:extLst>
          </p:cNvPr>
          <p:cNvSpPr>
            <a:spLocks noGrp="1"/>
          </p:cNvSpPr>
          <p:nvPr>
            <p:ph idx="1"/>
          </p:nvPr>
        </p:nvSpPr>
        <p:spPr>
          <a:xfrm>
            <a:off x="581192" y="2340864"/>
            <a:ext cx="7293071" cy="3634486"/>
          </a:xfrm>
        </p:spPr>
        <p:txBody>
          <a:bodyPr>
            <a:normAutofit fontScale="62500" lnSpcReduction="20000"/>
          </a:bodyPr>
          <a:lstStyle/>
          <a:p>
            <a:pPr algn="l">
              <a:buFont typeface="Arial" panose="020B0604020202020204" pitchFamily="34" charset="0"/>
              <a:buChar char="•"/>
            </a:pPr>
            <a:r>
              <a:rPr lang="en-US" sz="1900" b="1" dirty="0"/>
              <a:t>Hack value - Perceived value or worth of a target as seen by the attacker.</a:t>
            </a:r>
          </a:p>
          <a:p>
            <a:pPr algn="l">
              <a:buFont typeface="Arial" panose="020B0604020202020204" pitchFamily="34" charset="0"/>
              <a:buChar char="•"/>
            </a:pPr>
            <a:r>
              <a:rPr lang="en-US" sz="1900" b="1" dirty="0"/>
              <a:t>Vulnerability - A system flaw, weakness on the system (on design, implementation </a:t>
            </a:r>
            <a:r>
              <a:rPr lang="en-US" sz="1900" b="1" dirty="0" err="1"/>
              <a:t>etc</a:t>
            </a:r>
            <a:r>
              <a:rPr lang="en-US" sz="1900" b="1" dirty="0"/>
              <a:t>).</a:t>
            </a:r>
          </a:p>
          <a:p>
            <a:pPr algn="l">
              <a:buFont typeface="Arial" panose="020B0604020202020204" pitchFamily="34" charset="0"/>
              <a:buChar char="•"/>
            </a:pPr>
            <a:r>
              <a:rPr lang="en-US" sz="1900" b="1" dirty="0"/>
              <a:t>Threat - Exploits a vulnerability.</a:t>
            </a:r>
          </a:p>
          <a:p>
            <a:pPr algn="l">
              <a:buFont typeface="Arial" panose="020B0604020202020204" pitchFamily="34" charset="0"/>
              <a:buChar char="•"/>
            </a:pPr>
            <a:r>
              <a:rPr lang="en-US" sz="1900" b="1" dirty="0"/>
              <a:t>Exploit - Exploits are a way of gaining access to a system through a security flaw and taking advantage of the flaw for their benefit.</a:t>
            </a:r>
          </a:p>
          <a:p>
            <a:pPr algn="l">
              <a:buFont typeface="Arial" panose="020B0604020202020204" pitchFamily="34" charset="0"/>
              <a:buChar char="•"/>
            </a:pPr>
            <a:r>
              <a:rPr lang="en-US" sz="1900" b="1" dirty="0"/>
              <a:t>Payload - Component of an attack; is the part of the private user text which could also contain malware such as worms or viruses which performs the malicious action; deleting data, sending spam or encrypting data.</a:t>
            </a:r>
          </a:p>
          <a:p>
            <a:pPr algn="l">
              <a:buFont typeface="Arial" panose="020B0604020202020204" pitchFamily="34" charset="0"/>
              <a:buChar char="•"/>
            </a:pPr>
            <a:r>
              <a:rPr lang="en-US" sz="1900" b="1" dirty="0"/>
              <a:t>Zero-day attack - Attack that occurs before a vendor knows or is able to patch a flaw.</a:t>
            </a:r>
          </a:p>
          <a:p>
            <a:pPr algn="l">
              <a:buFont typeface="Arial" panose="020B0604020202020204" pitchFamily="34" charset="0"/>
              <a:buChar char="•"/>
            </a:pPr>
            <a:r>
              <a:rPr lang="en-US" sz="1900" b="1" dirty="0"/>
              <a:t>Daisy Chaining / </a:t>
            </a:r>
            <a:r>
              <a:rPr lang="en-US" sz="1900" b="1" dirty="0" err="1"/>
              <a:t>Pivotting</a:t>
            </a:r>
            <a:r>
              <a:rPr lang="en-US" sz="1900" b="1" dirty="0"/>
              <a:t> - It involves gaining access to a network and /or computer and then using the same information to gain access to multiple networks and computers that contains desirable information.</a:t>
            </a:r>
          </a:p>
          <a:p>
            <a:pPr algn="l">
              <a:buFont typeface="Arial" panose="020B0604020202020204" pitchFamily="34" charset="0"/>
              <a:buChar char="•"/>
            </a:pPr>
            <a:r>
              <a:rPr lang="en-US" sz="1900" b="1" dirty="0"/>
              <a:t>Doxxing - Publishing PII about an individual usually with a malicious intent.</a:t>
            </a:r>
          </a:p>
          <a:p>
            <a:pPr algn="l">
              <a:buFont typeface="Arial" panose="020B0604020202020204" pitchFamily="34" charset="0"/>
              <a:buChar char="•"/>
            </a:pPr>
            <a:r>
              <a:rPr lang="en-US" sz="1900" b="1" dirty="0"/>
              <a:t>Enterprise Information Security Architecture (EISA) - determines the structure and behavior of organization's information systems through processes, requirements, principles and models.</a:t>
            </a:r>
          </a:p>
          <a:p>
            <a:endParaRPr lang="x-none" dirty="0"/>
          </a:p>
        </p:txBody>
      </p:sp>
      <p:pic>
        <p:nvPicPr>
          <p:cNvPr id="6146" name="Picture 2" descr="Real-Life Vulnerabilities Reported by ...">
            <a:extLst>
              <a:ext uri="{FF2B5EF4-FFF2-40B4-BE49-F238E27FC236}">
                <a16:creationId xmlns:a16="http://schemas.microsoft.com/office/drawing/2014/main" xmlns="" id="{11147E70-E88E-002A-D1E3-E4C5BF113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2000" y="3183349"/>
            <a:ext cx="2952750"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284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23035-7E86-7578-DEFC-FC31AE34DE79}"/>
              </a:ext>
            </a:extLst>
          </p:cNvPr>
          <p:cNvSpPr>
            <a:spLocks noGrp="1"/>
          </p:cNvSpPr>
          <p:nvPr>
            <p:ph type="title"/>
          </p:nvPr>
        </p:nvSpPr>
        <p:spPr/>
        <p:txBody>
          <a:bodyPr/>
          <a:lstStyle/>
          <a:p>
            <a:r>
              <a:rPr lang="en-US" dirty="0"/>
              <a:t>Threat Categories</a:t>
            </a:r>
            <a:endParaRPr lang="x-none" dirty="0"/>
          </a:p>
        </p:txBody>
      </p:sp>
      <p:graphicFrame>
        <p:nvGraphicFramePr>
          <p:cNvPr id="4" name="Content Placeholder 3">
            <a:extLst>
              <a:ext uri="{FF2B5EF4-FFF2-40B4-BE49-F238E27FC236}">
                <a16:creationId xmlns:a16="http://schemas.microsoft.com/office/drawing/2014/main" xmlns="" id="{62FD0B6E-C7BC-F67A-2523-E92A717A75EE}"/>
              </a:ext>
            </a:extLst>
          </p:cNvPr>
          <p:cNvGraphicFramePr>
            <a:graphicFrameLocks noGrp="1"/>
          </p:cNvGraphicFramePr>
          <p:nvPr>
            <p:ph idx="1"/>
            <p:extLst>
              <p:ext uri="{D42A27DB-BD31-4B8C-83A1-F6EECF244321}">
                <p14:modId xmlns:p14="http://schemas.microsoft.com/office/powerpoint/2010/main" val="2261548073"/>
              </p:ext>
            </p:extLst>
          </p:nvPr>
        </p:nvGraphicFramePr>
        <p:xfrm>
          <a:off x="581025" y="2341563"/>
          <a:ext cx="11029950" cy="3479800"/>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xmlns="" val="4236863563"/>
                    </a:ext>
                  </a:extLst>
                </a:gridCol>
                <a:gridCol w="3676650">
                  <a:extLst>
                    <a:ext uri="{9D8B030D-6E8A-4147-A177-3AD203B41FA5}">
                      <a16:colId xmlns:a16="http://schemas.microsoft.com/office/drawing/2014/main" xmlns="" val="4089297870"/>
                    </a:ext>
                  </a:extLst>
                </a:gridCol>
                <a:gridCol w="3676650">
                  <a:extLst>
                    <a:ext uri="{9D8B030D-6E8A-4147-A177-3AD203B41FA5}">
                      <a16:colId xmlns:a16="http://schemas.microsoft.com/office/drawing/2014/main" xmlns="" val="1614519844"/>
                    </a:ext>
                  </a:extLst>
                </a:gridCol>
              </a:tblGrid>
              <a:tr h="370840">
                <a:tc>
                  <a:txBody>
                    <a:bodyPr/>
                    <a:lstStyle/>
                    <a:p>
                      <a:r>
                        <a:rPr lang="en-US" sz="1500" b="1" kern="1200" dirty="0">
                          <a:solidFill>
                            <a:schemeClr val="tx1">
                              <a:lumMod val="75000"/>
                              <a:lumOff val="25000"/>
                            </a:schemeClr>
                          </a:solidFill>
                          <a:latin typeface="+mn-lt"/>
                          <a:ea typeface="+mn-ea"/>
                          <a:cs typeface="+mn-cs"/>
                        </a:rPr>
                        <a:t>Network Threats</a:t>
                      </a:r>
                      <a:endParaRPr lang="x-none" sz="1500" b="1" kern="1200" dirty="0">
                        <a:solidFill>
                          <a:schemeClr val="tx1">
                            <a:lumMod val="75000"/>
                            <a:lumOff val="25000"/>
                          </a:schemeClr>
                        </a:solidFill>
                        <a:latin typeface="+mn-lt"/>
                        <a:ea typeface="+mn-ea"/>
                        <a:cs typeface="+mn-cs"/>
                      </a:endParaRPr>
                    </a:p>
                  </a:txBody>
                  <a:tcPr/>
                </a:tc>
                <a:tc>
                  <a:txBody>
                    <a:bodyPr/>
                    <a:lstStyle/>
                    <a:p>
                      <a:pPr marL="0" algn="l" defTabSz="457200" rtl="0" eaLnBrk="1" latinLnBrk="0" hangingPunct="1"/>
                      <a:r>
                        <a:rPr lang="en-US" sz="1500" b="1" kern="1200" dirty="0">
                          <a:solidFill>
                            <a:schemeClr val="tx1">
                              <a:lumMod val="75000"/>
                              <a:lumOff val="25000"/>
                            </a:schemeClr>
                          </a:solidFill>
                          <a:latin typeface="+mn-lt"/>
                          <a:ea typeface="+mn-ea"/>
                          <a:cs typeface="+mn-cs"/>
                        </a:rPr>
                        <a:t>Host Threats</a:t>
                      </a:r>
                      <a:endParaRPr lang="x-none" sz="1500" b="1" kern="1200" dirty="0">
                        <a:solidFill>
                          <a:schemeClr val="tx1">
                            <a:lumMod val="75000"/>
                            <a:lumOff val="25000"/>
                          </a:schemeClr>
                        </a:solidFill>
                        <a:latin typeface="+mn-lt"/>
                        <a:ea typeface="+mn-ea"/>
                        <a:cs typeface="+mn-cs"/>
                      </a:endParaRPr>
                    </a:p>
                  </a:txBody>
                  <a:tcPr/>
                </a:tc>
                <a:tc>
                  <a:txBody>
                    <a:bodyPr/>
                    <a:lstStyle/>
                    <a:p>
                      <a:pPr marL="0" algn="l" defTabSz="457200" rtl="0" eaLnBrk="1" latinLnBrk="0" hangingPunct="1"/>
                      <a:r>
                        <a:rPr lang="en-US" sz="1500" b="1" kern="1200" dirty="0">
                          <a:solidFill>
                            <a:schemeClr val="tx1">
                              <a:lumMod val="75000"/>
                              <a:lumOff val="25000"/>
                            </a:schemeClr>
                          </a:solidFill>
                          <a:latin typeface="+mn-lt"/>
                          <a:ea typeface="+mn-ea"/>
                          <a:cs typeface="+mn-cs"/>
                        </a:rPr>
                        <a:t>Application Threats</a:t>
                      </a:r>
                      <a:endParaRPr lang="x-none" sz="1500" b="1" kern="1200" dirty="0">
                        <a:solidFill>
                          <a:schemeClr val="tx1">
                            <a:lumMod val="75000"/>
                            <a:lumOff val="25000"/>
                          </a:schemeClr>
                        </a:solidFill>
                        <a:latin typeface="+mn-lt"/>
                        <a:ea typeface="+mn-ea"/>
                        <a:cs typeface="+mn-cs"/>
                      </a:endParaRPr>
                    </a:p>
                  </a:txBody>
                  <a:tcPr/>
                </a:tc>
                <a:extLst>
                  <a:ext uri="{0D108BD9-81ED-4DB2-BD59-A6C34878D82A}">
                    <a16:rowId xmlns:a16="http://schemas.microsoft.com/office/drawing/2014/main" xmlns="" val="113998627"/>
                  </a:ext>
                </a:extLst>
              </a:tr>
              <a:tr h="370840">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Information gathering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Sniffing and eavesdropping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DNS/ARP Poisoning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MITM (Man-in-the-Middle Attack)</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DoS/DDoS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Password-based attacks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Firewall and IDS attack</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Session Hijacking</a:t>
                      </a:r>
                    </a:p>
                    <a:p>
                      <a:endParaRPr lang="x-none" dirty="0"/>
                    </a:p>
                  </a:txBody>
                  <a:tcPr/>
                </a:tc>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Password cracking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Malware attacks</a:t>
                      </a:r>
                    </a:p>
                    <a:p>
                      <a:pPr marL="285750" indent="-285750" algn="l" defTabSz="457200" rtl="0" eaLnBrk="1" latinLnBrk="0" hangingPunct="1">
                        <a:buFont typeface="Arial" panose="020B0604020202020204" pitchFamily="34" charset="0"/>
                        <a:buChar char="•"/>
                      </a:pPr>
                      <a:r>
                        <a:rPr lang="en-US" sz="1500" b="1" kern="1200" dirty="0" err="1">
                          <a:solidFill>
                            <a:schemeClr val="tx1">
                              <a:lumMod val="75000"/>
                              <a:lumOff val="25000"/>
                            </a:schemeClr>
                          </a:solidFill>
                          <a:latin typeface="+mn-lt"/>
                          <a:ea typeface="+mn-ea"/>
                          <a:cs typeface="+mn-cs"/>
                        </a:rPr>
                        <a:t>Footprinting</a:t>
                      </a:r>
                      <a:endParaRPr lang="en-US" sz="1500" b="1" kern="1200" dirty="0">
                        <a:solidFill>
                          <a:schemeClr val="tx1">
                            <a:lumMod val="75000"/>
                            <a:lumOff val="25000"/>
                          </a:schemeClr>
                        </a:solidFill>
                        <a:latin typeface="+mn-lt"/>
                        <a:ea typeface="+mn-ea"/>
                        <a:cs typeface="+mn-cs"/>
                      </a:endParaRP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Profiling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Arbitrary code execution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Backdoor access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Privilege Escalation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Code Execution</a:t>
                      </a:r>
                    </a:p>
                    <a:p>
                      <a:endParaRPr lang="x-none" dirty="0"/>
                    </a:p>
                  </a:txBody>
                  <a:tcPr/>
                </a:tc>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Injection Attacks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Improper data/input validation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Improper error handling and </a:t>
                      </a:r>
                      <a:r>
                        <a:rPr lang="en-US" sz="1500" b="1" kern="1200" dirty="0" err="1">
                          <a:solidFill>
                            <a:schemeClr val="tx1">
                              <a:lumMod val="75000"/>
                              <a:lumOff val="25000"/>
                            </a:schemeClr>
                          </a:solidFill>
                          <a:latin typeface="+mn-lt"/>
                          <a:ea typeface="+mn-ea"/>
                          <a:cs typeface="+mn-cs"/>
                        </a:rPr>
                        <a:t>exeception</a:t>
                      </a:r>
                      <a:r>
                        <a:rPr lang="en-US" sz="1500" b="1" kern="1200" dirty="0">
                          <a:solidFill>
                            <a:schemeClr val="tx1">
                              <a:lumMod val="75000"/>
                              <a:lumOff val="25000"/>
                            </a:schemeClr>
                          </a:solidFill>
                          <a:latin typeface="+mn-lt"/>
                          <a:ea typeface="+mn-ea"/>
                          <a:cs typeface="+mn-cs"/>
                        </a:rPr>
                        <a:t> management</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Hidden-field manipulation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Broken session management</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Cryptography issues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SQL injection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Phishing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Buffer Overflow</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Information disclosure</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Security Misconfigurations</a:t>
                      </a:r>
                    </a:p>
                    <a:p>
                      <a:endParaRPr lang="x-none" dirty="0"/>
                    </a:p>
                  </a:txBody>
                  <a:tcPr/>
                </a:tc>
                <a:extLst>
                  <a:ext uri="{0D108BD9-81ED-4DB2-BD59-A6C34878D82A}">
                    <a16:rowId xmlns:a16="http://schemas.microsoft.com/office/drawing/2014/main" xmlns="" val="2115235529"/>
                  </a:ext>
                </a:extLst>
              </a:tr>
            </a:tbl>
          </a:graphicData>
        </a:graphic>
      </p:graphicFrame>
    </p:spTree>
    <p:extLst>
      <p:ext uri="{BB962C8B-B14F-4D97-AF65-F5344CB8AC3E}">
        <p14:creationId xmlns:p14="http://schemas.microsoft.com/office/powerpoint/2010/main" val="818423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9FC002-3875-3DB5-BACA-BBFAD053C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D3984F6-3607-A3D7-0504-B6BE4CD4A24A}"/>
              </a:ext>
            </a:extLst>
          </p:cNvPr>
          <p:cNvSpPr>
            <a:spLocks noGrp="1"/>
          </p:cNvSpPr>
          <p:nvPr>
            <p:ph type="title"/>
          </p:nvPr>
        </p:nvSpPr>
        <p:spPr/>
        <p:txBody>
          <a:bodyPr/>
          <a:lstStyle/>
          <a:p>
            <a:r>
              <a:rPr lang="en-US" dirty="0"/>
              <a:t>Some Attack Vectors</a:t>
            </a:r>
            <a:endParaRPr lang="x-none" dirty="0"/>
          </a:p>
        </p:txBody>
      </p:sp>
      <p:sp>
        <p:nvSpPr>
          <p:cNvPr id="3" name="Content Placeholder 2">
            <a:extLst>
              <a:ext uri="{FF2B5EF4-FFF2-40B4-BE49-F238E27FC236}">
                <a16:creationId xmlns:a16="http://schemas.microsoft.com/office/drawing/2014/main" xmlns="" id="{0CEBACF0-A3A0-7DAF-0674-473A40FC1E7B}"/>
              </a:ext>
            </a:extLst>
          </p:cNvPr>
          <p:cNvSpPr>
            <a:spLocks noGrp="1"/>
          </p:cNvSpPr>
          <p:nvPr>
            <p:ph idx="1"/>
          </p:nvPr>
        </p:nvSpPr>
        <p:spPr>
          <a:xfrm>
            <a:off x="581192" y="2601444"/>
            <a:ext cx="6056499" cy="3634486"/>
          </a:xfrm>
        </p:spPr>
        <p:txBody>
          <a:bodyPr>
            <a:noAutofit/>
          </a:bodyPr>
          <a:lstStyle/>
          <a:p>
            <a:pPr marL="0" indent="0" algn="l">
              <a:buNone/>
            </a:pPr>
            <a:r>
              <a:rPr lang="en-US" sz="1200" b="1" dirty="0"/>
              <a:t>Path by which a hacker can gain access to a host in order to deliver a payload or malicious outcome</a:t>
            </a:r>
          </a:p>
          <a:p>
            <a:pPr algn="l">
              <a:buFont typeface="Arial" panose="020B0604020202020204" pitchFamily="34" charset="0"/>
              <a:buChar char="•"/>
            </a:pPr>
            <a:r>
              <a:rPr lang="en-US" sz="1200" b="1" dirty="0"/>
              <a:t>APT - Advanced Persistent Threats</a:t>
            </a:r>
          </a:p>
          <a:p>
            <a:pPr lvl="1">
              <a:buFont typeface="Arial" panose="020B0604020202020204" pitchFamily="34" charset="0"/>
              <a:buChar char="•"/>
            </a:pPr>
            <a:r>
              <a:rPr lang="en-US" sz="1200" b="1" dirty="0"/>
              <a:t>An advanced persistent threat is a stealthy threat actor, typically a nation state or state-sponsored group, which gains unauthorized access to a computer network and remains undetected for an extended period; Typically uses zero-day attacks.</a:t>
            </a:r>
          </a:p>
          <a:p>
            <a:pPr>
              <a:buFont typeface="Arial" panose="020B0604020202020204" pitchFamily="34" charset="0"/>
              <a:buChar char="•"/>
            </a:pPr>
            <a:r>
              <a:rPr lang="en-US" sz="1200" b="1" dirty="0"/>
              <a:t>Cloud computing / Cloud based technologies</a:t>
            </a:r>
          </a:p>
          <a:p>
            <a:pPr marL="742950" lvl="1" indent="-285750" algn="l">
              <a:buFont typeface="Arial" panose="020B0604020202020204" pitchFamily="34" charset="0"/>
              <a:buChar char="•"/>
            </a:pPr>
            <a:r>
              <a:rPr lang="en-US" sz="1200" b="1" dirty="0"/>
              <a:t>Flaw in one client's application cloud allow attacker to access other client's data</a:t>
            </a:r>
          </a:p>
          <a:p>
            <a:pPr algn="l">
              <a:buFont typeface="Arial" panose="020B0604020202020204" pitchFamily="34" charset="0"/>
              <a:buChar char="•"/>
            </a:pPr>
            <a:r>
              <a:rPr lang="en-US" sz="1200" b="1" dirty="0"/>
              <a:t>Ransomware</a:t>
            </a:r>
          </a:p>
          <a:p>
            <a:pPr marL="742950" lvl="1" indent="-285750" algn="l">
              <a:buFont typeface="Arial" panose="020B0604020202020204" pitchFamily="34" charset="0"/>
              <a:buChar char="•"/>
            </a:pPr>
            <a:r>
              <a:rPr lang="en-US" sz="1200" b="1" dirty="0"/>
              <a:t>Restricts access to the computer system's files and folders and demands an online ransom payment to the attacker in order to remove the restrictions.</a:t>
            </a:r>
          </a:p>
          <a:p>
            <a:pPr>
              <a:lnSpc>
                <a:spcPct val="100000"/>
              </a:lnSpc>
              <a:buFont typeface="Arial" panose="020B0604020202020204" pitchFamily="34" charset="0"/>
              <a:buChar char="•"/>
            </a:pPr>
            <a:r>
              <a:rPr lang="en-US" sz="1200" b="1" dirty="0"/>
              <a:t>Web Application Threats</a:t>
            </a:r>
          </a:p>
          <a:p>
            <a:pPr marL="742950" lvl="1" indent="-285750">
              <a:buFont typeface="Arial" panose="020B0604020202020204" pitchFamily="34" charset="0"/>
              <a:buChar char="•"/>
            </a:pPr>
            <a:r>
              <a:rPr lang="en-US" sz="1200" b="1" dirty="0"/>
              <a:t>Attacks like SQL injection, XSS (Cross-site scripting)...</a:t>
            </a:r>
          </a:p>
          <a:p>
            <a:pPr marL="457200" lvl="1" indent="0" algn="l">
              <a:buNone/>
            </a:pPr>
            <a:endParaRPr lang="en-US" sz="1200" b="1" dirty="0"/>
          </a:p>
          <a:p>
            <a:endParaRPr lang="x-none" sz="1200" dirty="0"/>
          </a:p>
        </p:txBody>
      </p:sp>
      <p:pic>
        <p:nvPicPr>
          <p:cNvPr id="4098" name="Picture 2" descr="Image result for attack vectors">
            <a:extLst>
              <a:ext uri="{FF2B5EF4-FFF2-40B4-BE49-F238E27FC236}">
                <a16:creationId xmlns:a16="http://schemas.microsoft.com/office/drawing/2014/main" xmlns="" id="{C537E85D-FC1C-6499-5C4D-E3EBE08E3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9019" y="2783596"/>
            <a:ext cx="3829050" cy="223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285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63C022-F9C9-BC50-3CD5-05328FE4B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4EFE6FB-88F3-224A-8CC3-A6AC78F41DC3}"/>
              </a:ext>
            </a:extLst>
          </p:cNvPr>
          <p:cNvSpPr>
            <a:spLocks noGrp="1"/>
          </p:cNvSpPr>
          <p:nvPr>
            <p:ph type="title"/>
          </p:nvPr>
        </p:nvSpPr>
        <p:spPr/>
        <p:txBody>
          <a:bodyPr/>
          <a:lstStyle/>
          <a:p>
            <a:r>
              <a:rPr lang="en-US" dirty="0"/>
              <a:t>Vulnerability Categories</a:t>
            </a:r>
            <a:endParaRPr lang="x-none" dirty="0"/>
          </a:p>
        </p:txBody>
      </p:sp>
      <p:sp>
        <p:nvSpPr>
          <p:cNvPr id="3" name="Content Placeholder 2">
            <a:extLst>
              <a:ext uri="{FF2B5EF4-FFF2-40B4-BE49-F238E27FC236}">
                <a16:creationId xmlns:a16="http://schemas.microsoft.com/office/drawing/2014/main" xmlns="" id="{D5BA795A-5D27-FF27-2806-9836D99D6AE5}"/>
              </a:ext>
            </a:extLst>
          </p:cNvPr>
          <p:cNvSpPr>
            <a:spLocks noGrp="1"/>
          </p:cNvSpPr>
          <p:nvPr>
            <p:ph idx="1"/>
          </p:nvPr>
        </p:nvSpPr>
        <p:spPr>
          <a:xfrm>
            <a:off x="581192" y="2601444"/>
            <a:ext cx="6056499" cy="3634486"/>
          </a:xfrm>
        </p:spPr>
        <p:txBody>
          <a:bodyPr>
            <a:noAutofit/>
          </a:bodyPr>
          <a:lstStyle/>
          <a:p>
            <a:pPr algn="l">
              <a:buFont typeface="Arial" panose="020B0604020202020204" pitchFamily="34" charset="0"/>
              <a:buChar char="•"/>
            </a:pPr>
            <a:r>
              <a:rPr lang="en-US" sz="1500" b="1" dirty="0"/>
              <a:t>Misconfiguration - improperly configuring a service or application</a:t>
            </a:r>
          </a:p>
          <a:p>
            <a:pPr algn="l">
              <a:buFont typeface="Arial" panose="020B0604020202020204" pitchFamily="34" charset="0"/>
              <a:buChar char="•"/>
            </a:pPr>
            <a:r>
              <a:rPr lang="en-US" sz="1500" b="1" dirty="0"/>
              <a:t>Default installation - failure to change settings in an application that come by default</a:t>
            </a:r>
          </a:p>
          <a:p>
            <a:pPr algn="l">
              <a:buFont typeface="Arial" panose="020B0604020202020204" pitchFamily="34" charset="0"/>
              <a:buChar char="•"/>
            </a:pPr>
            <a:r>
              <a:rPr lang="en-US" sz="1500" b="1" dirty="0"/>
              <a:t>Buffer overflow - code execution flaw</a:t>
            </a:r>
          </a:p>
          <a:p>
            <a:pPr algn="l">
              <a:buFont typeface="Arial" panose="020B0604020202020204" pitchFamily="34" charset="0"/>
              <a:buChar char="•"/>
            </a:pPr>
            <a:r>
              <a:rPr lang="en-US" sz="1500" b="1" dirty="0"/>
              <a:t>Missing patches - systems that have not been patched</a:t>
            </a:r>
          </a:p>
          <a:p>
            <a:pPr algn="l">
              <a:buFont typeface="Arial" panose="020B0604020202020204" pitchFamily="34" charset="0"/>
              <a:buChar char="•"/>
            </a:pPr>
            <a:r>
              <a:rPr lang="en-US" sz="1500" b="1" dirty="0"/>
              <a:t>Design flaws - flaws inherent to system design such as encryption and data validation</a:t>
            </a:r>
          </a:p>
          <a:p>
            <a:pPr algn="l">
              <a:buFont typeface="Arial" panose="020B0604020202020204" pitchFamily="34" charset="0"/>
              <a:buChar char="•"/>
            </a:pPr>
            <a:r>
              <a:rPr lang="en-US" sz="1500" b="1" dirty="0"/>
              <a:t>Operating System Flaws - flaws specific to each OS</a:t>
            </a:r>
          </a:p>
          <a:p>
            <a:pPr algn="l">
              <a:buFont typeface="Arial" panose="020B0604020202020204" pitchFamily="34" charset="0"/>
              <a:buChar char="•"/>
            </a:pPr>
            <a:r>
              <a:rPr lang="en-US" sz="1500" b="1" dirty="0"/>
              <a:t>Default passwords - leaving default passwords that come with system/application</a:t>
            </a:r>
          </a:p>
          <a:p>
            <a:pPr marL="457200" lvl="1" indent="0" algn="l">
              <a:buNone/>
            </a:pPr>
            <a:endParaRPr lang="en-US" sz="1200" b="1" dirty="0"/>
          </a:p>
          <a:p>
            <a:endParaRPr lang="x-none" sz="1200" dirty="0"/>
          </a:p>
        </p:txBody>
      </p:sp>
      <p:pic>
        <p:nvPicPr>
          <p:cNvPr id="5123" name="Picture 3" descr="Web Security Vulnerabilities">
            <a:extLst>
              <a:ext uri="{FF2B5EF4-FFF2-40B4-BE49-F238E27FC236}">
                <a16:creationId xmlns:a16="http://schemas.microsoft.com/office/drawing/2014/main" xmlns="" id="{A3069752-CF7A-0CBF-23F9-2107C29EF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8514" y="3057703"/>
            <a:ext cx="3270134" cy="185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725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E51964-7048-124D-88B7-6B7BE1913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E8446C9-F7EC-66EC-9F28-C4961D16CB21}"/>
              </a:ext>
            </a:extLst>
          </p:cNvPr>
          <p:cNvSpPr>
            <a:spLocks noGrp="1"/>
          </p:cNvSpPr>
          <p:nvPr>
            <p:ph type="title"/>
          </p:nvPr>
        </p:nvSpPr>
        <p:spPr/>
        <p:txBody>
          <a:bodyPr/>
          <a:lstStyle/>
          <a:p>
            <a:pPr algn="l"/>
            <a:r>
              <a:rPr lang="en-US" dirty="0"/>
              <a:t>Pen Test Phases</a:t>
            </a:r>
          </a:p>
        </p:txBody>
      </p:sp>
      <p:sp>
        <p:nvSpPr>
          <p:cNvPr id="3" name="Content Placeholder 2">
            <a:extLst>
              <a:ext uri="{FF2B5EF4-FFF2-40B4-BE49-F238E27FC236}">
                <a16:creationId xmlns:a16="http://schemas.microsoft.com/office/drawing/2014/main" xmlns="" id="{DC555E0E-2375-E8CF-CB43-6BA101016CD3}"/>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a:pPr>
            <a:r>
              <a:rPr lang="en-US" sz="1500" b="1" dirty="0"/>
              <a:t>Pre-Attack Phase - Reconnaissance and data-gathering.</a:t>
            </a:r>
          </a:p>
          <a:p>
            <a:pPr marL="342900" indent="-342900">
              <a:buFont typeface="+mj-lt"/>
              <a:buAutoNum type="arabicPeriod"/>
            </a:pPr>
            <a:r>
              <a:rPr lang="en-US" sz="1500" b="1" dirty="0"/>
              <a:t>Attack Phase - Attempts to penetrate the network and execute attacks.</a:t>
            </a:r>
          </a:p>
          <a:p>
            <a:pPr marL="342900" indent="-342900">
              <a:buFont typeface="+mj-lt"/>
              <a:buAutoNum type="arabicPeriod"/>
            </a:pPr>
            <a:r>
              <a:rPr lang="en-US" sz="1500" b="1" dirty="0"/>
              <a:t>Post-Attack Phase - Cleanup to return a system to the pre-attack condition and deliver reports.</a:t>
            </a:r>
          </a:p>
          <a:p>
            <a:pPr marL="457200" lvl="1" indent="0" algn="l">
              <a:buNone/>
            </a:pPr>
            <a:endParaRPr lang="en-US" sz="1200" b="1" dirty="0"/>
          </a:p>
          <a:p>
            <a:endParaRPr lang="x-none" sz="1200" dirty="0"/>
          </a:p>
        </p:txBody>
      </p:sp>
      <p:pic>
        <p:nvPicPr>
          <p:cNvPr id="5123" name="Picture 3" descr="Web Security Vulnerabilities">
            <a:extLst>
              <a:ext uri="{FF2B5EF4-FFF2-40B4-BE49-F238E27FC236}">
                <a16:creationId xmlns:a16="http://schemas.microsoft.com/office/drawing/2014/main" xmlns="" id="{AA8B1A50-CCD3-9C71-484B-29CFBDF8D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8514" y="3057703"/>
            <a:ext cx="3270134" cy="185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22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E916A4-312B-9F68-7EA9-48FA3131B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807A44A-E3C2-1835-0A93-2EAD9228D774}"/>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xmlns="" id="{A5435417-1D34-0AB6-A799-74ABF369947E}"/>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a:pPr>
            <a:r>
              <a:rPr lang="en-US" sz="1500" b="1" dirty="0"/>
              <a:t>Reconnaissance</a:t>
            </a:r>
          </a:p>
          <a:p>
            <a:r>
              <a:rPr lang="en-US" sz="1500" b="1" dirty="0"/>
              <a:t>Gathering evidence about targets; There are two types of Recon:</a:t>
            </a:r>
          </a:p>
          <a:p>
            <a:pPr lvl="1">
              <a:buFont typeface="Arial" panose="020B0604020202020204" pitchFamily="34" charset="0"/>
              <a:buChar char="•"/>
            </a:pPr>
            <a:r>
              <a:rPr lang="en-US" sz="1500" b="1" dirty="0"/>
              <a:t>Passive Reconnaissance: Gain information about targeted computers and networks without direct interaction with the systems. </a:t>
            </a:r>
            <a:r>
              <a:rPr lang="en-US" sz="1500" b="1" dirty="0" err="1"/>
              <a:t>e.g</a:t>
            </a:r>
            <a:r>
              <a:rPr lang="en-US" sz="1500" b="1" dirty="0"/>
              <a:t>: Google Search, Public records, New releases, Social Media, Wardrive scanning networks around.</a:t>
            </a:r>
          </a:p>
          <a:p>
            <a:pPr lvl="1">
              <a:buFont typeface="Arial" panose="020B0604020202020204" pitchFamily="34" charset="0"/>
              <a:buChar char="•"/>
            </a:pPr>
            <a:r>
              <a:rPr lang="en-US" sz="1500" b="1" dirty="0"/>
              <a:t>Active Reconnaissance: </a:t>
            </a:r>
            <a:r>
              <a:rPr lang="en-US" sz="1500" b="1" dirty="0" err="1"/>
              <a:t>Envolves</a:t>
            </a:r>
            <a:r>
              <a:rPr lang="en-US" sz="1500" b="1" dirty="0"/>
              <a:t> direct interaction with the target. </a:t>
            </a:r>
            <a:r>
              <a:rPr lang="en-US" sz="1500" b="1" dirty="0" err="1"/>
              <a:t>e.g</a:t>
            </a:r>
            <a:r>
              <a:rPr lang="en-US" sz="1500" b="1" dirty="0"/>
              <a:t>: Make a phone call to the target, Job interview; tools like Nmap, Nessus, OpenVAS, </a:t>
            </a:r>
            <a:r>
              <a:rPr lang="en-US" sz="1500" b="1" dirty="0" err="1"/>
              <a:t>Nikto</a:t>
            </a:r>
            <a:r>
              <a:rPr lang="en-US" sz="1500" b="1" dirty="0"/>
              <a:t> and Metasploit can be considered as Active Recon.</a:t>
            </a:r>
          </a:p>
          <a:p>
            <a:pPr marL="457200" lvl="1" indent="0" algn="l">
              <a:buNone/>
            </a:pPr>
            <a:endParaRPr lang="en-US" sz="1200" b="1" dirty="0"/>
          </a:p>
          <a:p>
            <a:endParaRPr lang="x-none" sz="1200" dirty="0"/>
          </a:p>
        </p:txBody>
      </p:sp>
      <p:pic>
        <p:nvPicPr>
          <p:cNvPr id="7170" name="Picture 2" descr="Active Reconnaissance in Cybersecurity ...">
            <a:extLst>
              <a:ext uri="{FF2B5EF4-FFF2-40B4-BE49-F238E27FC236}">
                <a16:creationId xmlns:a16="http://schemas.microsoft.com/office/drawing/2014/main" xmlns="" id="{C065C7D4-CD9E-9424-A29C-352835C68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855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8CE328-E168-60EF-63AA-5F2EA266E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2FDD80D-9C85-E0FE-EC56-37888029F39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xmlns="" id="{9F62300D-F50B-14F7-4457-1E037A4E018D}"/>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2"/>
            </a:pPr>
            <a:r>
              <a:rPr lang="en-US" sz="1500" b="1" dirty="0"/>
              <a:t>Scanning &amp; Enumeration</a:t>
            </a:r>
          </a:p>
          <a:p>
            <a:r>
              <a:rPr lang="en-US" sz="1500" b="1" dirty="0"/>
              <a:t>Obtaining more in-depth information about targets. </a:t>
            </a:r>
            <a:r>
              <a:rPr lang="en-US" sz="1500" b="1" dirty="0" err="1"/>
              <a:t>e.g</a:t>
            </a:r>
            <a:r>
              <a:rPr lang="en-US" sz="1500" b="1" dirty="0"/>
              <a:t>: Network Scanning, Port Scanning, Which versions of services are running.</a:t>
            </a:r>
          </a:p>
          <a:p>
            <a:pPr marL="457200" lvl="1" indent="0" algn="l">
              <a:buNone/>
            </a:pPr>
            <a:endParaRPr lang="en-US" sz="1200" b="1" dirty="0"/>
          </a:p>
          <a:p>
            <a:endParaRPr lang="x-none" sz="1200" dirty="0"/>
          </a:p>
        </p:txBody>
      </p:sp>
      <p:pic>
        <p:nvPicPr>
          <p:cNvPr id="7170" name="Picture 2" descr="Active Reconnaissance in Cybersecurity ...">
            <a:extLst>
              <a:ext uri="{FF2B5EF4-FFF2-40B4-BE49-F238E27FC236}">
                <a16:creationId xmlns:a16="http://schemas.microsoft.com/office/drawing/2014/main" xmlns="" id="{E7E88085-6C68-FE54-64CC-B16FCF5B9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15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6C2C0E-FED6-04EC-8892-451A45DC6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EF8FB38-722A-CC5D-119C-9CD966B0725E}"/>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xmlns="" id="{6F7DA78E-329D-6C8E-960B-42C551EEB1BE}"/>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3"/>
            </a:pPr>
            <a:r>
              <a:rPr lang="en-US" sz="1500" b="1" dirty="0"/>
              <a:t>Gaining Access</a:t>
            </a:r>
          </a:p>
          <a:p>
            <a:r>
              <a:rPr lang="en-US" sz="1500" b="1" dirty="0"/>
              <a:t>Attacks are leveled in order to gain access to a system </a:t>
            </a:r>
          </a:p>
          <a:p>
            <a:pPr lvl="1"/>
            <a:r>
              <a:rPr lang="en-US" sz="1200" b="1" dirty="0" err="1"/>
              <a:t>e.g</a:t>
            </a:r>
            <a:r>
              <a:rPr lang="en-US" sz="1200" b="1" dirty="0"/>
              <a:t>: Can be done locally (offline), over a LAN or over the internet.</a:t>
            </a:r>
          </a:p>
          <a:p>
            <a:pPr lvl="1"/>
            <a:r>
              <a:rPr lang="en-US" sz="1200" b="1" dirty="0" err="1"/>
              <a:t>e.g</a:t>
            </a:r>
            <a:r>
              <a:rPr lang="en-US" sz="1200" b="1" dirty="0"/>
              <a:t>(2): Spoofing to exploit the system by pretending to be a legitimate user or different systems, they can send a data packet containing a bug to the target system in order to exploit a vulnerability. Can be done using many techniques like command injection, buffer overflow, DoS, brute forcing credentials, social engineering, misconfigurations etc.</a:t>
            </a:r>
          </a:p>
          <a:p>
            <a:pPr marL="457200" lvl="1" indent="0" algn="l">
              <a:buNone/>
            </a:pPr>
            <a:endParaRPr lang="en-US" sz="1200" b="1" dirty="0"/>
          </a:p>
          <a:p>
            <a:endParaRPr lang="x-none" sz="1200" dirty="0"/>
          </a:p>
        </p:txBody>
      </p:sp>
      <p:pic>
        <p:nvPicPr>
          <p:cNvPr id="7170" name="Picture 2" descr="Active Reconnaissance in Cybersecurity ...">
            <a:extLst>
              <a:ext uri="{FF2B5EF4-FFF2-40B4-BE49-F238E27FC236}">
                <a16:creationId xmlns:a16="http://schemas.microsoft.com/office/drawing/2014/main" xmlns="" id="{3E29D539-FF37-5A3D-EABA-36E2CB9F0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025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4E6E83-EB24-4BF5-D583-C9BD24AC1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572E33E-F1CE-BCD8-4A60-9C87176D722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xmlns="" id="{0E32529B-2F39-49A2-CB81-644ADEB1B784}"/>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4"/>
            </a:pPr>
            <a:r>
              <a:rPr lang="en-US" sz="1500" b="1" dirty="0"/>
              <a:t>Gaining Access</a:t>
            </a:r>
          </a:p>
          <a:p>
            <a:r>
              <a:rPr lang="en-US" sz="1500" b="1" dirty="0"/>
              <a:t>Maintaining Access - Items put in place to ensure future access. </a:t>
            </a:r>
            <a:r>
              <a:rPr lang="en-US" sz="1500" b="1" dirty="0" err="1"/>
              <a:t>e.g</a:t>
            </a:r>
            <a:r>
              <a:rPr lang="en-US" sz="1500" b="1" dirty="0"/>
              <a:t>: </a:t>
            </a:r>
            <a:r>
              <a:rPr lang="en-US" sz="1500" b="1" dirty="0" err="1"/>
              <a:t>Rookit</a:t>
            </a:r>
            <a:r>
              <a:rPr lang="en-US" sz="1500" b="1" dirty="0"/>
              <a:t>, Trojan, Backdoor can be used.</a:t>
            </a:r>
          </a:p>
          <a:p>
            <a:pPr marL="457200" lvl="1" indent="0" algn="l">
              <a:buNone/>
            </a:pPr>
            <a:endParaRPr lang="en-US" sz="1200" b="1" dirty="0"/>
          </a:p>
          <a:p>
            <a:endParaRPr lang="x-none" sz="1200" dirty="0"/>
          </a:p>
        </p:txBody>
      </p:sp>
      <p:pic>
        <p:nvPicPr>
          <p:cNvPr id="7170" name="Picture 2" descr="Active Reconnaissance in Cybersecurity ...">
            <a:extLst>
              <a:ext uri="{FF2B5EF4-FFF2-40B4-BE49-F238E27FC236}">
                <a16:creationId xmlns:a16="http://schemas.microsoft.com/office/drawing/2014/main" xmlns="" id="{F3C3196D-AC4A-EDD5-091D-47D7E57C7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0382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4AC161D-9250-85D3-9B7F-F4529B784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EC91646-3A41-6447-C3CD-0B97BF1AD21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xmlns="" id="{4337738F-4D11-A186-CFB4-4182E79556F1}"/>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5"/>
            </a:pPr>
            <a:r>
              <a:rPr lang="en-US" sz="1500" b="1" dirty="0"/>
              <a:t>Covering Tracks</a:t>
            </a:r>
          </a:p>
          <a:p>
            <a:r>
              <a:rPr lang="en-US" sz="1500" b="1" dirty="0"/>
              <a:t>Steps taken to conceal success and intrusion; Not be noticed.</a:t>
            </a:r>
          </a:p>
          <a:p>
            <a:pPr lvl="1"/>
            <a:r>
              <a:rPr lang="en-US" sz="1200" b="1" dirty="0" err="1"/>
              <a:t>e.g</a:t>
            </a:r>
            <a:r>
              <a:rPr lang="en-US" sz="1200" b="1" dirty="0"/>
              <a:t>: Clear the logs; Obfuscate trojans or malicious backdoors programs.</a:t>
            </a:r>
          </a:p>
          <a:p>
            <a:pPr marL="457200" lvl="1" indent="0" algn="l">
              <a:buNone/>
            </a:pPr>
            <a:endParaRPr lang="en-US" sz="1200" b="1" dirty="0"/>
          </a:p>
          <a:p>
            <a:endParaRPr lang="x-none" sz="1200" dirty="0"/>
          </a:p>
        </p:txBody>
      </p:sp>
      <p:pic>
        <p:nvPicPr>
          <p:cNvPr id="7170" name="Picture 2" descr="Active Reconnaissance in Cybersecurity ...">
            <a:extLst>
              <a:ext uri="{FF2B5EF4-FFF2-40B4-BE49-F238E27FC236}">
                <a16:creationId xmlns:a16="http://schemas.microsoft.com/office/drawing/2014/main" xmlns="" id="{19A307EC-2664-5236-E079-2446E99B3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029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291EAE-74DB-118C-7177-B1F72D50D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3531AEC-C7CE-FF41-1B7B-0D3C55079D36}"/>
              </a:ext>
            </a:extLst>
          </p:cNvPr>
          <p:cNvSpPr>
            <a:spLocks noGrp="1"/>
          </p:cNvSpPr>
          <p:nvPr>
            <p:ph type="title"/>
          </p:nvPr>
        </p:nvSpPr>
        <p:spPr/>
        <p:txBody>
          <a:bodyPr>
            <a:normAutofit/>
          </a:bodyPr>
          <a:lstStyle/>
          <a:p>
            <a:r>
              <a:rPr lang="en-US" dirty="0"/>
              <a:t>Privacy and Data Protection Ethics</a:t>
            </a:r>
            <a:endParaRPr lang="x-none" dirty="0"/>
          </a:p>
        </p:txBody>
      </p:sp>
    </p:spTree>
    <p:extLst>
      <p:ext uri="{BB962C8B-B14F-4D97-AF65-F5344CB8AC3E}">
        <p14:creationId xmlns:p14="http://schemas.microsoft.com/office/powerpoint/2010/main" val="21515813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9BD0070-F936-3138-A4D0-CF6EA1EE7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30FC63B-C1AE-69E1-4257-C763EACE0B7E}"/>
              </a:ext>
            </a:extLst>
          </p:cNvPr>
          <p:cNvSpPr>
            <a:spLocks noGrp="1"/>
          </p:cNvSpPr>
          <p:nvPr>
            <p:ph type="title"/>
          </p:nvPr>
        </p:nvSpPr>
        <p:spPr/>
        <p:txBody>
          <a:bodyPr/>
          <a:lstStyle/>
          <a:p>
            <a:pPr algn="l"/>
            <a:r>
              <a:rPr lang="en-US" dirty="0"/>
              <a:t>Privacy and Data Protection Ethics</a:t>
            </a:r>
          </a:p>
        </p:txBody>
      </p:sp>
      <p:sp>
        <p:nvSpPr>
          <p:cNvPr id="3" name="Content Placeholder 2">
            <a:extLst>
              <a:ext uri="{FF2B5EF4-FFF2-40B4-BE49-F238E27FC236}">
                <a16:creationId xmlns:a16="http://schemas.microsoft.com/office/drawing/2014/main" xmlns="" id="{EC3A23E9-CE1E-11E0-F5CF-C640197A9DA4}"/>
              </a:ext>
            </a:extLst>
          </p:cNvPr>
          <p:cNvSpPr>
            <a:spLocks noGrp="1"/>
          </p:cNvSpPr>
          <p:nvPr>
            <p:ph idx="1"/>
          </p:nvPr>
        </p:nvSpPr>
        <p:spPr>
          <a:xfrm>
            <a:off x="581192" y="2601444"/>
            <a:ext cx="6056499" cy="3634486"/>
          </a:xfrm>
        </p:spPr>
        <p:txBody>
          <a:bodyPr>
            <a:noAutofit/>
          </a:bodyPr>
          <a:lstStyle/>
          <a:p>
            <a:r>
              <a:rPr lang="en-US" sz="1600" dirty="0"/>
              <a:t>Vast amounts of personal and sensitive data are collected, processed, and shared by organizations. </a:t>
            </a:r>
            <a:r>
              <a:rPr lang="en-US" sz="1600" b="1" dirty="0"/>
              <a:t>Privacy and Data Protection Ethics</a:t>
            </a:r>
            <a:r>
              <a:rPr lang="en-US" sz="1600" dirty="0"/>
              <a:t> focus on ensuring that individuals' data is handled responsibly, transparently, and securely. Ethical data practices go beyond legal compliance, fostering trust between organizations and individuals while preventing misuse or exploitation of personal information.</a:t>
            </a:r>
          </a:p>
          <a:p>
            <a:pPr marL="0" indent="0">
              <a:buNone/>
            </a:pPr>
            <a:endParaRPr lang="en-US" sz="1600" b="1" dirty="0"/>
          </a:p>
          <a:p>
            <a:r>
              <a:rPr lang="en-US" sz="1600" dirty="0"/>
              <a:t>Ethical privacy and data protection principles emphasize </a:t>
            </a:r>
            <a:r>
              <a:rPr lang="en-US" sz="1600" b="1" dirty="0"/>
              <a:t>fairness, transparency, accountability, and respect for individual rights</a:t>
            </a:r>
            <a:r>
              <a:rPr lang="en-US" sz="1600" dirty="0"/>
              <a:t>. Organizations must balance their need to collect data with individuals' rights to privacy and autonomy.</a:t>
            </a:r>
            <a:endParaRPr lang="en-US" sz="1600" b="1" dirty="0"/>
          </a:p>
          <a:p>
            <a:endParaRPr lang="x-none" sz="1600" dirty="0"/>
          </a:p>
        </p:txBody>
      </p:sp>
      <p:pic>
        <p:nvPicPr>
          <p:cNvPr id="8194" name="Picture 2" descr="Data protection, data security, data ...">
            <a:extLst>
              <a:ext uri="{FF2B5EF4-FFF2-40B4-BE49-F238E27FC236}">
                <a16:creationId xmlns:a16="http://schemas.microsoft.com/office/drawing/2014/main" xmlns="" id="{1BAD69D6-6175-67CF-71A4-385FE550D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5825" y="2965877"/>
            <a:ext cx="3040924" cy="227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416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28B649F-9790-9084-3DC9-813D14983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B880DBB-D634-7DF5-616E-797C8A4EA4FB}"/>
              </a:ext>
            </a:extLst>
          </p:cNvPr>
          <p:cNvSpPr>
            <a:spLocks noGrp="1"/>
          </p:cNvSpPr>
          <p:nvPr>
            <p:ph type="title"/>
          </p:nvPr>
        </p:nvSpPr>
        <p:spPr/>
        <p:txBody>
          <a:bodyPr/>
          <a:lstStyle/>
          <a:p>
            <a:pPr algn="l"/>
            <a:r>
              <a:rPr lang="en-US" dirty="0"/>
              <a:t>Understanding Privacy and Data Protection Ethics</a:t>
            </a:r>
          </a:p>
        </p:txBody>
      </p:sp>
      <p:sp>
        <p:nvSpPr>
          <p:cNvPr id="3" name="Content Placeholder 2">
            <a:extLst>
              <a:ext uri="{FF2B5EF4-FFF2-40B4-BE49-F238E27FC236}">
                <a16:creationId xmlns:a16="http://schemas.microsoft.com/office/drawing/2014/main" xmlns="" id="{A4B2BA95-AE74-3450-B472-571B4A1B5D4A}"/>
              </a:ext>
            </a:extLst>
          </p:cNvPr>
          <p:cNvSpPr>
            <a:spLocks noGrp="1"/>
          </p:cNvSpPr>
          <p:nvPr>
            <p:ph idx="1"/>
          </p:nvPr>
        </p:nvSpPr>
        <p:spPr>
          <a:xfrm>
            <a:off x="581192" y="2601444"/>
            <a:ext cx="6056499" cy="3634486"/>
          </a:xfrm>
        </p:spPr>
        <p:txBody>
          <a:bodyPr>
            <a:noAutofit/>
          </a:bodyPr>
          <a:lstStyle/>
          <a:p>
            <a:r>
              <a:rPr lang="en-US" sz="1600" dirty="0"/>
              <a:t>Key ethical considerations include:</a:t>
            </a:r>
          </a:p>
          <a:p>
            <a:pPr lvl="1"/>
            <a:r>
              <a:rPr lang="en-US" sz="1300" dirty="0"/>
              <a:t>Respect for Individual Autonomy – People should have control over their personal data and the right to decide how it is used.</a:t>
            </a:r>
          </a:p>
          <a:p>
            <a:pPr lvl="1"/>
            <a:r>
              <a:rPr lang="en-US" sz="1300" dirty="0"/>
              <a:t>Transparency and Honesty – Organizations must clearly inform users about what data is collected, how it is used, and with whom it is shared.</a:t>
            </a:r>
          </a:p>
          <a:p>
            <a:pPr lvl="1"/>
            <a:r>
              <a:rPr lang="en-US" sz="1300" dirty="0"/>
              <a:t>Fair and Lawful Data Processing – Data should be collected and processed for legitimate, ethical, and legal purposes.</a:t>
            </a:r>
          </a:p>
          <a:p>
            <a:pPr lvl="1"/>
            <a:r>
              <a:rPr lang="en-US" sz="1300" dirty="0"/>
              <a:t>Data Minimization – Only necessary data should be collected and retained for the minimum required duration.</a:t>
            </a:r>
          </a:p>
          <a:p>
            <a:pPr lvl="1"/>
            <a:r>
              <a:rPr lang="en-US" sz="1300" dirty="0"/>
              <a:t>Security and Confidentiality – Organizations must implement strong cybersecurity measures to protect personal data from breaches and unauthorized access..</a:t>
            </a:r>
            <a:endParaRPr lang="en-US" sz="1300" b="1" dirty="0"/>
          </a:p>
          <a:p>
            <a:endParaRPr lang="x-none" sz="1600" dirty="0"/>
          </a:p>
        </p:txBody>
      </p:sp>
      <p:pic>
        <p:nvPicPr>
          <p:cNvPr id="8194" name="Picture 2" descr="Data protection, data security, data ...">
            <a:extLst>
              <a:ext uri="{FF2B5EF4-FFF2-40B4-BE49-F238E27FC236}">
                <a16:creationId xmlns:a16="http://schemas.microsoft.com/office/drawing/2014/main" xmlns="" id="{4ABD75A5-4F39-9C4B-9E84-22E29B23C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5825" y="2965877"/>
            <a:ext cx="3040924" cy="227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989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D75E71-4F37-2128-BE11-5B6DFFEB5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321F5AB-F13E-D30F-2BF7-51E9070D5985}"/>
              </a:ext>
            </a:extLst>
          </p:cNvPr>
          <p:cNvSpPr>
            <a:spLocks noGrp="1"/>
          </p:cNvSpPr>
          <p:nvPr>
            <p:ph type="title"/>
          </p:nvPr>
        </p:nvSpPr>
        <p:spPr/>
        <p:txBody>
          <a:bodyPr/>
          <a:lstStyle/>
          <a:p>
            <a:pPr algn="l"/>
            <a:r>
              <a:rPr lang="en-US" dirty="0"/>
              <a:t>Ethical Principles in Privacy and Data Protection</a:t>
            </a:r>
          </a:p>
        </p:txBody>
      </p:sp>
      <p:sp>
        <p:nvSpPr>
          <p:cNvPr id="3" name="Content Placeholder 2">
            <a:extLst>
              <a:ext uri="{FF2B5EF4-FFF2-40B4-BE49-F238E27FC236}">
                <a16:creationId xmlns:a16="http://schemas.microsoft.com/office/drawing/2014/main" xmlns="" id="{EC1F4715-9663-972A-F5A3-B2B0742B2549}"/>
              </a:ext>
            </a:extLst>
          </p:cNvPr>
          <p:cNvSpPr>
            <a:spLocks noGrp="1"/>
          </p:cNvSpPr>
          <p:nvPr>
            <p:ph idx="1"/>
          </p:nvPr>
        </p:nvSpPr>
        <p:spPr>
          <a:xfrm>
            <a:off x="581192" y="2601444"/>
            <a:ext cx="6056499" cy="3634486"/>
          </a:xfrm>
        </p:spPr>
        <p:txBody>
          <a:bodyPr>
            <a:noAutofit/>
          </a:bodyPr>
          <a:lstStyle/>
          <a:p>
            <a:r>
              <a:rPr lang="en-US" sz="1600" dirty="0"/>
              <a:t>A. Informed Consent - Individuals must be given clear, understandable choices about data collection. They should be able to opt in or out without coercion. Example: Websites should not use pre-checked consent boxes that force users to share data.</a:t>
            </a:r>
          </a:p>
          <a:p>
            <a:r>
              <a:rPr lang="en-US" sz="1600" dirty="0"/>
              <a:t>B. Right to Access and Control - People should be able to access their personal data, correct inaccuracies, or request its deletion. Example: GDPR’s Right to Be Forgotten allows individuals to request the removal of their data from online platforms.</a:t>
            </a:r>
          </a:p>
        </p:txBody>
      </p:sp>
      <p:pic>
        <p:nvPicPr>
          <p:cNvPr id="10242" name="Picture 2" descr="Privacy: EU celebrates Data Protection ...">
            <a:extLst>
              <a:ext uri="{FF2B5EF4-FFF2-40B4-BE49-F238E27FC236}">
                <a16:creationId xmlns:a16="http://schemas.microsoft.com/office/drawing/2014/main" xmlns="" id="{1DEDF5DC-8E81-2E87-330D-14AACC035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5502" y="3117044"/>
            <a:ext cx="3708928" cy="1938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1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8B4EEC-6E2B-6A89-9F25-2CCFA4127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B776C47-882D-1D93-644D-FAEC010CD916}"/>
              </a:ext>
            </a:extLst>
          </p:cNvPr>
          <p:cNvSpPr>
            <a:spLocks noGrp="1"/>
          </p:cNvSpPr>
          <p:nvPr>
            <p:ph type="title"/>
          </p:nvPr>
        </p:nvSpPr>
        <p:spPr/>
        <p:txBody>
          <a:bodyPr/>
          <a:lstStyle/>
          <a:p>
            <a:pPr algn="l"/>
            <a:r>
              <a:rPr lang="en-US" dirty="0"/>
              <a:t>Ethical Principles in Privacy and Data Protection</a:t>
            </a:r>
          </a:p>
        </p:txBody>
      </p:sp>
      <p:sp>
        <p:nvSpPr>
          <p:cNvPr id="3" name="Content Placeholder 2">
            <a:extLst>
              <a:ext uri="{FF2B5EF4-FFF2-40B4-BE49-F238E27FC236}">
                <a16:creationId xmlns:a16="http://schemas.microsoft.com/office/drawing/2014/main" xmlns="" id="{CD7B5847-0DBB-6D07-6B12-26E0EF1FFE18}"/>
              </a:ext>
            </a:extLst>
          </p:cNvPr>
          <p:cNvSpPr>
            <a:spLocks noGrp="1"/>
          </p:cNvSpPr>
          <p:nvPr>
            <p:ph idx="1"/>
          </p:nvPr>
        </p:nvSpPr>
        <p:spPr>
          <a:xfrm>
            <a:off x="581192" y="2601444"/>
            <a:ext cx="6056499" cy="3634486"/>
          </a:xfrm>
        </p:spPr>
        <p:txBody>
          <a:bodyPr>
            <a:noAutofit/>
          </a:bodyPr>
          <a:lstStyle/>
          <a:p>
            <a:r>
              <a:rPr lang="en-US" sz="1600" dirty="0"/>
              <a:t>C. Accountability and Responsibility - Organizations must take responsibility for ethical data handling and be prepared to justify their data practices. Example: Companies should conduct Data Protection Impact Assessments (DPIAs) before launching new data-driven services.</a:t>
            </a:r>
          </a:p>
          <a:p>
            <a:r>
              <a:rPr lang="en-US" sz="1600" dirty="0"/>
              <a:t>D. Fairness and Non-Discrimination - AI-driven systems and data analytics should not be used to unfairly discriminate against individuals based on race, gender, or other sensitive attributes. Example: Hiring algorithms should be audited to ensure they do not unfairly reject job applicants based on biased training data.</a:t>
            </a:r>
            <a:endParaRPr lang="x-none" sz="1600" dirty="0"/>
          </a:p>
        </p:txBody>
      </p:sp>
      <p:pic>
        <p:nvPicPr>
          <p:cNvPr id="11266" name="Picture 2" descr="Privacy: EU celebrates Data Protection ...">
            <a:extLst>
              <a:ext uri="{FF2B5EF4-FFF2-40B4-BE49-F238E27FC236}">
                <a16:creationId xmlns:a16="http://schemas.microsoft.com/office/drawing/2014/main" xmlns="" id="{F40EA815-0DB1-8FE2-E120-42B67E251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7582" y="3202325"/>
            <a:ext cx="3908384" cy="2042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81072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5C5170-D7A3-77A6-765F-E8751EEB5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2D3B1AF-D448-51F5-C0DE-06FC9232DAE3}"/>
              </a:ext>
            </a:extLst>
          </p:cNvPr>
          <p:cNvSpPr>
            <a:spLocks noGrp="1"/>
          </p:cNvSpPr>
          <p:nvPr>
            <p:ph type="title"/>
          </p:nvPr>
        </p:nvSpPr>
        <p:spPr/>
        <p:txBody>
          <a:bodyPr/>
          <a:lstStyle/>
          <a:p>
            <a:pPr algn="l"/>
            <a:r>
              <a:rPr lang="en-US" dirty="0"/>
              <a:t>Ethical Challenges in Privacy and Data Protection</a:t>
            </a:r>
          </a:p>
        </p:txBody>
      </p:sp>
      <p:sp>
        <p:nvSpPr>
          <p:cNvPr id="3" name="Content Placeholder 2">
            <a:extLst>
              <a:ext uri="{FF2B5EF4-FFF2-40B4-BE49-F238E27FC236}">
                <a16:creationId xmlns:a16="http://schemas.microsoft.com/office/drawing/2014/main" xmlns="" id="{D0DE4FA8-432B-8028-92A9-664B92255955}"/>
              </a:ext>
            </a:extLst>
          </p:cNvPr>
          <p:cNvSpPr>
            <a:spLocks noGrp="1"/>
          </p:cNvSpPr>
          <p:nvPr>
            <p:ph idx="1"/>
          </p:nvPr>
        </p:nvSpPr>
        <p:spPr>
          <a:xfrm>
            <a:off x="581192" y="2601444"/>
            <a:ext cx="6056499" cy="3634486"/>
          </a:xfrm>
        </p:spPr>
        <p:txBody>
          <a:bodyPr>
            <a:noAutofit/>
          </a:bodyPr>
          <a:lstStyle/>
          <a:p>
            <a:pPr marL="0" indent="0">
              <a:buNone/>
            </a:pPr>
            <a:r>
              <a:rPr lang="en-US" sz="1600" b="1" dirty="0"/>
              <a:t>Surveillance and Tracking </a:t>
            </a:r>
          </a:p>
          <a:p>
            <a:r>
              <a:rPr lang="en-US" sz="1600" dirty="0"/>
              <a:t>Ethical dilemma: Governments and businesses use data tracking technologies for security and marketing, but this can invade personal privacy.</a:t>
            </a:r>
          </a:p>
          <a:p>
            <a:pPr lvl="1"/>
            <a:r>
              <a:rPr lang="en-US" sz="1300" dirty="0"/>
              <a:t>Solution: Organizations should implement privacy-by-design strategies and limit data collection to what is essential.</a:t>
            </a:r>
          </a:p>
          <a:p>
            <a:pPr lvl="1"/>
            <a:endParaRPr lang="en-US" sz="1300" dirty="0"/>
          </a:p>
          <a:p>
            <a:pPr>
              <a:buNone/>
            </a:pPr>
            <a:r>
              <a:rPr lang="en-US" sz="1600" b="1" dirty="0"/>
              <a:t>AI and Data Ethics</a:t>
            </a:r>
          </a:p>
          <a:p>
            <a:pPr>
              <a:buFont typeface="Arial" panose="020B0604020202020204" pitchFamily="34" charset="0"/>
              <a:buChar char="•"/>
            </a:pPr>
            <a:r>
              <a:rPr lang="en-US" sz="1600" dirty="0"/>
              <a:t>Ethical dilemma: AI systems process massive amounts of personal data, raising concerns about bias, fairness, and informed consent.</a:t>
            </a:r>
          </a:p>
          <a:p>
            <a:pPr lvl="1">
              <a:buFont typeface="Arial" panose="020B0604020202020204" pitchFamily="34" charset="0"/>
              <a:buChar char="•"/>
            </a:pPr>
            <a:r>
              <a:rPr lang="en-US" sz="1300" dirty="0"/>
              <a:t>Solution: AI developers should apply </a:t>
            </a:r>
            <a:r>
              <a:rPr lang="en-US" sz="1300" b="1" dirty="0"/>
              <a:t>fairness and transparency principles</a:t>
            </a:r>
            <a:r>
              <a:rPr lang="en-US" sz="1300" dirty="0"/>
              <a:t> in training models and avoid excessive data retention.</a:t>
            </a:r>
          </a:p>
          <a:p>
            <a:pPr lvl="1"/>
            <a:endParaRPr lang="en-US" sz="1300" dirty="0"/>
          </a:p>
        </p:txBody>
      </p:sp>
      <p:pic>
        <p:nvPicPr>
          <p:cNvPr id="12290" name="Picture 2" descr="Expert harps on data privacy rights">
            <a:extLst>
              <a:ext uri="{FF2B5EF4-FFF2-40B4-BE49-F238E27FC236}">
                <a16:creationId xmlns:a16="http://schemas.microsoft.com/office/drawing/2014/main" xmlns="" id="{690D849A-CF90-B180-40E1-C3ABA2583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875" y="3186410"/>
            <a:ext cx="3137056" cy="200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735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7CB22A-429F-DB94-3DFC-5E118EE39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1CE7A01-BD31-DB95-7271-8626F9079EE8}"/>
              </a:ext>
            </a:extLst>
          </p:cNvPr>
          <p:cNvSpPr>
            <a:spLocks noGrp="1"/>
          </p:cNvSpPr>
          <p:nvPr>
            <p:ph type="title"/>
          </p:nvPr>
        </p:nvSpPr>
        <p:spPr/>
        <p:txBody>
          <a:bodyPr/>
          <a:lstStyle/>
          <a:p>
            <a:pPr algn="l"/>
            <a:r>
              <a:rPr lang="en-US" dirty="0"/>
              <a:t>Ethical Challenges in Privacy and Data Protection</a:t>
            </a:r>
          </a:p>
        </p:txBody>
      </p:sp>
      <p:sp>
        <p:nvSpPr>
          <p:cNvPr id="3" name="Content Placeholder 2">
            <a:extLst>
              <a:ext uri="{FF2B5EF4-FFF2-40B4-BE49-F238E27FC236}">
                <a16:creationId xmlns:a16="http://schemas.microsoft.com/office/drawing/2014/main" xmlns="" id="{0FFB4DA1-8081-1D19-9BB9-96C800C65A71}"/>
              </a:ext>
            </a:extLst>
          </p:cNvPr>
          <p:cNvSpPr>
            <a:spLocks noGrp="1"/>
          </p:cNvSpPr>
          <p:nvPr>
            <p:ph idx="1"/>
          </p:nvPr>
        </p:nvSpPr>
        <p:spPr>
          <a:xfrm>
            <a:off x="581192" y="2601444"/>
            <a:ext cx="6056499" cy="3634486"/>
          </a:xfrm>
        </p:spPr>
        <p:txBody>
          <a:bodyPr>
            <a:noAutofit/>
          </a:bodyPr>
          <a:lstStyle/>
          <a:p>
            <a:pPr>
              <a:buNone/>
            </a:pPr>
            <a:r>
              <a:rPr lang="en-US" sz="1600" b="1" dirty="0"/>
              <a:t>Cybersecurity and Data Breaches</a:t>
            </a:r>
          </a:p>
          <a:p>
            <a:pPr>
              <a:buFont typeface="Arial" panose="020B0604020202020204" pitchFamily="34" charset="0"/>
              <a:buChar char="•"/>
            </a:pPr>
            <a:r>
              <a:rPr lang="en-US" sz="1600" dirty="0"/>
              <a:t>Ethical dilemma: Organizations collecting vast data are responsible for securing it against hackers, but many fail to prioritize security.</a:t>
            </a:r>
          </a:p>
          <a:p>
            <a:pPr lvl="1">
              <a:buFont typeface="Arial" panose="020B0604020202020204" pitchFamily="34" charset="0"/>
              <a:buChar char="•"/>
            </a:pPr>
            <a:r>
              <a:rPr lang="en-US" sz="1300" dirty="0"/>
              <a:t>Solution: Strong encryption, regular security audits, and </a:t>
            </a:r>
            <a:r>
              <a:rPr lang="en-US" sz="1300" b="1" dirty="0"/>
              <a:t>zero-trust security models</a:t>
            </a:r>
            <a:r>
              <a:rPr lang="en-US" sz="1300" dirty="0"/>
              <a:t> should be implemented.</a:t>
            </a:r>
          </a:p>
          <a:p>
            <a:pPr lvl="1"/>
            <a:endParaRPr lang="en-US" sz="1300" dirty="0"/>
          </a:p>
          <a:p>
            <a:pPr lvl="1"/>
            <a:endParaRPr lang="en-US" sz="1300" dirty="0"/>
          </a:p>
        </p:txBody>
      </p:sp>
      <p:pic>
        <p:nvPicPr>
          <p:cNvPr id="12290" name="Picture 2" descr="Expert harps on data privacy rights">
            <a:extLst>
              <a:ext uri="{FF2B5EF4-FFF2-40B4-BE49-F238E27FC236}">
                <a16:creationId xmlns:a16="http://schemas.microsoft.com/office/drawing/2014/main" xmlns="" id="{C994B6F2-7F44-69CA-8698-AC83BAA15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875" y="3186410"/>
            <a:ext cx="3137056" cy="200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007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9B4AEFA-6AE7-9F6A-49D9-94787561F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7B414B2-9951-3E91-5AE9-E4257ECFBCCE}"/>
              </a:ext>
            </a:extLst>
          </p:cNvPr>
          <p:cNvSpPr>
            <a:spLocks noGrp="1"/>
          </p:cNvSpPr>
          <p:nvPr>
            <p:ph type="title"/>
          </p:nvPr>
        </p:nvSpPr>
        <p:spPr/>
        <p:txBody>
          <a:bodyPr>
            <a:normAutofit/>
          </a:bodyPr>
          <a:lstStyle/>
          <a:p>
            <a:r>
              <a:rPr lang="en-US" dirty="0"/>
              <a:t>Cybersecurity Policy Development</a:t>
            </a:r>
            <a:endParaRPr lang="x-none" dirty="0"/>
          </a:p>
        </p:txBody>
      </p:sp>
    </p:spTree>
    <p:extLst>
      <p:ext uri="{BB962C8B-B14F-4D97-AF65-F5344CB8AC3E}">
        <p14:creationId xmlns:p14="http://schemas.microsoft.com/office/powerpoint/2010/main" val="4033666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0D0C03-6AC2-0871-96F3-A00F6827B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EAA71BF-EC36-2156-69C1-5F21BF878C48}"/>
              </a:ext>
            </a:extLst>
          </p:cNvPr>
          <p:cNvSpPr>
            <a:spLocks noGrp="1"/>
          </p:cNvSpPr>
          <p:nvPr>
            <p:ph type="title"/>
          </p:nvPr>
        </p:nvSpPr>
        <p:spPr/>
        <p:txBody>
          <a:bodyPr/>
          <a:lstStyle/>
          <a:p>
            <a:pPr algn="l"/>
            <a:r>
              <a:rPr lang="en-US" dirty="0"/>
              <a:t>CYBERSECURITY POLICY</a:t>
            </a:r>
          </a:p>
        </p:txBody>
      </p:sp>
      <p:sp>
        <p:nvSpPr>
          <p:cNvPr id="3" name="Content Placeholder 2">
            <a:extLst>
              <a:ext uri="{FF2B5EF4-FFF2-40B4-BE49-F238E27FC236}">
                <a16:creationId xmlns:a16="http://schemas.microsoft.com/office/drawing/2014/main" xmlns="" id="{41662DFC-2F8E-5FD5-0F80-8123DBD0220F}"/>
              </a:ext>
            </a:extLst>
          </p:cNvPr>
          <p:cNvSpPr>
            <a:spLocks noGrp="1"/>
          </p:cNvSpPr>
          <p:nvPr>
            <p:ph idx="1"/>
          </p:nvPr>
        </p:nvSpPr>
        <p:spPr>
          <a:xfrm>
            <a:off x="581192" y="2601444"/>
            <a:ext cx="6056499" cy="3634486"/>
          </a:xfrm>
        </p:spPr>
        <p:txBody>
          <a:bodyPr>
            <a:noAutofit/>
          </a:bodyPr>
          <a:lstStyle/>
          <a:p>
            <a:r>
              <a:rPr lang="en-US" sz="1600" dirty="0"/>
              <a:t>A </a:t>
            </a:r>
            <a:r>
              <a:rPr lang="en-US" sz="1600" b="1" dirty="0"/>
              <a:t>Cybersecurity Policy</a:t>
            </a:r>
            <a:r>
              <a:rPr lang="en-US" sz="1600" dirty="0"/>
              <a:t> is a structured set of guidelines that define how an organization protects its information systems, networks, and data from cyber threats. It provides employees, partners, and stakeholders with clear rules and procedures to ensure the </a:t>
            </a:r>
            <a:r>
              <a:rPr lang="en-US" sz="1600" b="1" dirty="0"/>
              <a:t>confidentiality, integrity, and availability</a:t>
            </a:r>
            <a:r>
              <a:rPr lang="en-US" sz="1600" dirty="0"/>
              <a:t> of information assets.</a:t>
            </a:r>
          </a:p>
          <a:p>
            <a:r>
              <a:rPr lang="en-US" sz="1600" dirty="0"/>
              <a:t>Developing a </a:t>
            </a:r>
            <a:r>
              <a:rPr lang="en-US" sz="1600" b="1" dirty="0"/>
              <a:t>comprehensive cybersecurity policy</a:t>
            </a:r>
            <a:r>
              <a:rPr lang="en-US" sz="1600" dirty="0"/>
              <a:t> is essential to protect against data breaches, cyberattacks, and compliance violations.</a:t>
            </a:r>
          </a:p>
          <a:p>
            <a:pPr lvl="1"/>
            <a:endParaRPr lang="en-US" sz="13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DF500246-1C98-C641-DDDE-A17E4AE0A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8792" y="3195475"/>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9497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5C2ECF-3B57-14EF-5129-C1BEA123B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3EF6771-7F52-3EB3-49E4-8552CCBC3509}"/>
              </a:ext>
            </a:extLst>
          </p:cNvPr>
          <p:cNvSpPr>
            <a:spLocks noGrp="1"/>
          </p:cNvSpPr>
          <p:nvPr>
            <p:ph type="title"/>
          </p:nvPr>
        </p:nvSpPr>
        <p:spPr/>
        <p:txBody>
          <a:bodyPr/>
          <a:lstStyle/>
          <a:p>
            <a:pPr algn="l"/>
            <a:r>
              <a:rPr lang="en-US" dirty="0"/>
              <a:t>Importance of Cybersecurity Policy</a:t>
            </a:r>
          </a:p>
        </p:txBody>
      </p:sp>
      <p:sp>
        <p:nvSpPr>
          <p:cNvPr id="3" name="Content Placeholder 2">
            <a:extLst>
              <a:ext uri="{FF2B5EF4-FFF2-40B4-BE49-F238E27FC236}">
                <a16:creationId xmlns:a16="http://schemas.microsoft.com/office/drawing/2014/main" xmlns="" id="{1AD65FBE-FA58-1240-AC84-E3661BC94502}"/>
              </a:ext>
            </a:extLst>
          </p:cNvPr>
          <p:cNvSpPr>
            <a:spLocks noGrp="1"/>
          </p:cNvSpPr>
          <p:nvPr>
            <p:ph idx="1"/>
          </p:nvPr>
        </p:nvSpPr>
        <p:spPr>
          <a:xfrm>
            <a:off x="581192" y="2601444"/>
            <a:ext cx="6056499" cy="3634486"/>
          </a:xfrm>
        </p:spPr>
        <p:txBody>
          <a:bodyPr>
            <a:noAutofit/>
          </a:bodyPr>
          <a:lstStyle/>
          <a:p>
            <a:r>
              <a:rPr lang="en-US" sz="1600" dirty="0"/>
              <a:t>A well-defined cybersecurity policy:</a:t>
            </a:r>
            <a:br>
              <a:rPr lang="en-US" sz="1600" dirty="0"/>
            </a:br>
            <a:endParaRPr lang="en-US" sz="1600" dirty="0"/>
          </a:p>
          <a:p>
            <a:pPr lvl="1"/>
            <a:r>
              <a:rPr lang="en-US" sz="1300" dirty="0"/>
              <a:t>Sets clear security expectations for employees and third parties.</a:t>
            </a:r>
          </a:p>
          <a:p>
            <a:pPr lvl="1"/>
            <a:r>
              <a:rPr lang="en-US" sz="1300" dirty="0"/>
              <a:t>Mitigates risks by defining preventive and response measures.</a:t>
            </a:r>
          </a:p>
          <a:p>
            <a:pPr lvl="1"/>
            <a:r>
              <a:rPr lang="en-US" sz="1300" dirty="0"/>
              <a:t>Ensures regulatory compliance with laws like GDPR, NDPA, HIPAA, and ISO 27001.	</a:t>
            </a:r>
          </a:p>
          <a:p>
            <a:pPr lvl="1"/>
            <a:r>
              <a:rPr lang="en-US" sz="1300" dirty="0"/>
              <a:t>Enhances incident response readiness by outlining breach handling procedures.</a:t>
            </a:r>
          </a:p>
          <a:p>
            <a:pPr lvl="1"/>
            <a:r>
              <a:rPr lang="en-US" sz="1300" dirty="0"/>
              <a:t>Builds cybersecurity culture within an organization.</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18B38B17-5AE6-3A2C-A111-C7C1506C7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8792" y="3195475"/>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7912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F5C048-C01F-943E-ED12-9887D3C25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50171FF-13DD-D8C0-04E3-40310D8A9109}"/>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xmlns="" id="{8DF72297-C140-E60D-FEE7-B779C8945D0F}"/>
              </a:ext>
            </a:extLst>
          </p:cNvPr>
          <p:cNvSpPr>
            <a:spLocks noGrp="1"/>
          </p:cNvSpPr>
          <p:nvPr>
            <p:ph idx="1"/>
          </p:nvPr>
        </p:nvSpPr>
        <p:spPr>
          <a:xfrm>
            <a:off x="581192" y="2601444"/>
            <a:ext cx="5573241" cy="3634486"/>
          </a:xfrm>
        </p:spPr>
        <p:txBody>
          <a:bodyPr>
            <a:noAutofit/>
          </a:bodyPr>
          <a:lstStyle/>
          <a:p>
            <a:pPr>
              <a:buNone/>
            </a:pPr>
            <a:r>
              <a:rPr lang="en-US" sz="1600" b="1" dirty="0"/>
              <a:t>Purpose and Scope</a:t>
            </a:r>
          </a:p>
          <a:p>
            <a:pPr>
              <a:buFont typeface="Arial" panose="020B0604020202020204" pitchFamily="34" charset="0"/>
              <a:buChar char="•"/>
            </a:pPr>
            <a:r>
              <a:rPr lang="en-US" sz="1600" dirty="0"/>
              <a:t>Defines the </a:t>
            </a:r>
            <a:r>
              <a:rPr lang="en-US" sz="1600" b="1" dirty="0"/>
              <a:t>objectives</a:t>
            </a:r>
            <a:r>
              <a:rPr lang="en-US" sz="1600" dirty="0"/>
              <a:t> of the policy.</a:t>
            </a:r>
          </a:p>
          <a:p>
            <a:pPr>
              <a:buFont typeface="Arial" panose="020B0604020202020204" pitchFamily="34" charset="0"/>
              <a:buChar char="•"/>
            </a:pPr>
            <a:r>
              <a:rPr lang="en-US" sz="1600" dirty="0"/>
              <a:t>Specifies which </a:t>
            </a:r>
            <a:r>
              <a:rPr lang="en-US" sz="1600" b="1" dirty="0"/>
              <a:t>departments, employees, and systems</a:t>
            </a:r>
            <a:r>
              <a:rPr lang="en-US" sz="1600" dirty="0"/>
              <a:t> it applies to.</a:t>
            </a:r>
          </a:p>
          <a:p>
            <a:pPr>
              <a:buFont typeface="Arial" panose="020B0604020202020204" pitchFamily="34" charset="0"/>
              <a:buChar char="•"/>
            </a:pPr>
            <a:r>
              <a:rPr lang="en-US" sz="1600" dirty="0"/>
              <a:t>Identifies </a:t>
            </a:r>
            <a:r>
              <a:rPr lang="en-US" sz="1600" b="1" dirty="0"/>
              <a:t>legal and regulatory frameworks</a:t>
            </a:r>
            <a:r>
              <a:rPr lang="en-US" sz="1600" dirty="0"/>
              <a:t> governing security.</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C85F91FF-4ABA-4D76-DB27-BD98F3DF9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8629" y="2989619"/>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5151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CBE28D2-6B3B-EE44-6E83-D4918AEC8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0B43733-CCDC-99B3-2794-6FB526094A39}"/>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xmlns="" id="{4E72EC33-9E99-2E05-5721-49EAB7372299}"/>
              </a:ext>
            </a:extLst>
          </p:cNvPr>
          <p:cNvSpPr>
            <a:spLocks noGrp="1"/>
          </p:cNvSpPr>
          <p:nvPr>
            <p:ph idx="1"/>
          </p:nvPr>
        </p:nvSpPr>
        <p:spPr>
          <a:xfrm>
            <a:off x="581192" y="2601444"/>
            <a:ext cx="5573241" cy="3634486"/>
          </a:xfrm>
        </p:spPr>
        <p:txBody>
          <a:bodyPr>
            <a:noAutofit/>
          </a:bodyPr>
          <a:lstStyle/>
          <a:p>
            <a:pPr>
              <a:buNone/>
            </a:pPr>
            <a:r>
              <a:rPr lang="en-US" sz="1600" b="1" dirty="0"/>
              <a:t>Roles and Responsibilities</a:t>
            </a:r>
          </a:p>
          <a:p>
            <a:pPr>
              <a:buFont typeface="Arial" panose="020B0604020202020204" pitchFamily="34" charset="0"/>
              <a:buChar char="•"/>
            </a:pPr>
            <a:r>
              <a:rPr lang="en-US" sz="1600" dirty="0"/>
              <a:t>Assigns cybersecurity duties to different teams, such as:</a:t>
            </a:r>
            <a:br>
              <a:rPr lang="en-US" sz="1600" dirty="0"/>
            </a:br>
            <a:r>
              <a:rPr lang="en-US" sz="1600" b="1" dirty="0"/>
              <a:t>IT Security Team</a:t>
            </a:r>
            <a:r>
              <a:rPr lang="en-US" sz="1600" dirty="0"/>
              <a:t> – Responsible for monitoring threats and implementing controls.</a:t>
            </a:r>
            <a:br>
              <a:rPr lang="en-US" sz="1600" dirty="0"/>
            </a:br>
            <a:r>
              <a:rPr lang="en-US" sz="1600" b="1" dirty="0"/>
              <a:t>Employees</a:t>
            </a:r>
            <a:r>
              <a:rPr lang="en-US" sz="1600" dirty="0"/>
              <a:t> – Must follow security best practices (e.g., strong passwords, phishing awareness).</a:t>
            </a:r>
            <a:br>
              <a:rPr lang="en-US" sz="1600" dirty="0"/>
            </a:br>
            <a:r>
              <a:rPr lang="en-US" sz="1600" b="1" dirty="0"/>
              <a:t>Management</a:t>
            </a:r>
            <a:r>
              <a:rPr lang="en-US" sz="1600" dirty="0"/>
              <a:t> – Ensures compliance and resource allocation.</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D830D9C0-F2F9-C572-350F-34A510C48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0214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396DCB9-F003-C6F6-3032-612403DFB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A36A282-6AEC-9645-B982-BCEDE2874FD4}"/>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xmlns="" id="{101E739C-C30F-0339-60C4-0D4B04D3D47A}"/>
              </a:ext>
            </a:extLst>
          </p:cNvPr>
          <p:cNvSpPr>
            <a:spLocks noGrp="1"/>
          </p:cNvSpPr>
          <p:nvPr>
            <p:ph idx="1"/>
          </p:nvPr>
        </p:nvSpPr>
        <p:spPr>
          <a:xfrm>
            <a:off x="581192" y="2601444"/>
            <a:ext cx="5573241" cy="3634486"/>
          </a:xfrm>
        </p:spPr>
        <p:txBody>
          <a:bodyPr>
            <a:noAutofit/>
          </a:bodyPr>
          <a:lstStyle/>
          <a:p>
            <a:pPr>
              <a:buNone/>
            </a:pPr>
            <a:r>
              <a:rPr lang="en-US" sz="1600" b="1" dirty="0"/>
              <a:t>Compliance and Legal Considerations</a:t>
            </a:r>
          </a:p>
          <a:p>
            <a:pPr>
              <a:buFont typeface="Arial" panose="020B0604020202020204" pitchFamily="34" charset="0"/>
              <a:buChar char="•"/>
            </a:pPr>
            <a:r>
              <a:rPr lang="en-US" sz="1600" dirty="0"/>
              <a:t>Aligns with global and local cybersecurity laws (GDPR, NDPA, ISO 27001, CCPA).</a:t>
            </a:r>
          </a:p>
          <a:p>
            <a:pPr>
              <a:buFont typeface="Arial" panose="020B0604020202020204" pitchFamily="34" charset="0"/>
              <a:buChar char="•"/>
            </a:pPr>
            <a:r>
              <a:rPr lang="en-US" sz="1600" dirty="0"/>
              <a:t>Specifies penalties for </a:t>
            </a:r>
            <a:r>
              <a:rPr lang="en-US" sz="1600" b="1" dirty="0"/>
              <a:t>violating security policies</a:t>
            </a:r>
            <a:r>
              <a:rPr lang="en-US" sz="1600" dirty="0"/>
              <a:t>.</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6DE921B6-7238-CB16-A990-FE52D1D67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999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2938CD-B427-AB58-3A5F-09EDAC698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F21DD35-D0AE-C6AC-9CB9-C0D95A02D027}"/>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xmlns="" id="{D502119C-A4F2-2698-2441-803239204513}"/>
              </a:ext>
            </a:extLst>
          </p:cNvPr>
          <p:cNvSpPr>
            <a:spLocks noGrp="1"/>
          </p:cNvSpPr>
          <p:nvPr>
            <p:ph idx="1"/>
          </p:nvPr>
        </p:nvSpPr>
        <p:spPr>
          <a:xfrm>
            <a:off x="581192" y="2601444"/>
            <a:ext cx="5573241" cy="3634486"/>
          </a:xfrm>
        </p:spPr>
        <p:txBody>
          <a:bodyPr>
            <a:noAutofit/>
          </a:bodyPr>
          <a:lstStyle/>
          <a:p>
            <a:pPr>
              <a:buNone/>
            </a:pPr>
            <a:r>
              <a:rPr lang="en-US" sz="1600" b="1" dirty="0"/>
              <a:t>Security Awareness and Training</a:t>
            </a:r>
          </a:p>
          <a:p>
            <a:pPr>
              <a:buFont typeface="Arial" panose="020B0604020202020204" pitchFamily="34" charset="0"/>
              <a:buChar char="•"/>
            </a:pPr>
            <a:r>
              <a:rPr lang="en-US" sz="1600" dirty="0"/>
              <a:t>Employees must undergo regular cybersecurity training.</a:t>
            </a:r>
          </a:p>
          <a:p>
            <a:pPr>
              <a:buFont typeface="Arial" panose="020B0604020202020204" pitchFamily="34" charset="0"/>
              <a:buChar char="•"/>
            </a:pPr>
            <a:r>
              <a:rPr lang="en-US" sz="1600" dirty="0"/>
              <a:t>Conduct phishing simulation tests to improve awareness.</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5B80BBF3-FD1E-20C3-7964-42161F88C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403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9787CF5-3A3D-F68E-C0C4-9D7439B9E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186C554-3A0A-A88B-2B09-A634A7CF709B}"/>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xmlns="" id="{7AC45C99-5BC8-AE03-C408-66B092164786}"/>
              </a:ext>
            </a:extLst>
          </p:cNvPr>
          <p:cNvSpPr>
            <a:spLocks noGrp="1"/>
          </p:cNvSpPr>
          <p:nvPr>
            <p:ph idx="1"/>
          </p:nvPr>
        </p:nvSpPr>
        <p:spPr>
          <a:xfrm>
            <a:off x="581192" y="2601444"/>
            <a:ext cx="5573241" cy="3634486"/>
          </a:xfrm>
        </p:spPr>
        <p:txBody>
          <a:bodyPr>
            <a:noAutofit/>
          </a:bodyPr>
          <a:lstStyle/>
          <a:p>
            <a:pPr>
              <a:buNone/>
            </a:pPr>
            <a:r>
              <a:rPr lang="en-US" sz="1600" b="1" dirty="0"/>
              <a:t>Access Control and Authentication</a:t>
            </a:r>
          </a:p>
          <a:p>
            <a:pPr>
              <a:buFont typeface="Arial" panose="020B0604020202020204" pitchFamily="34" charset="0"/>
              <a:buChar char="•"/>
            </a:pPr>
            <a:r>
              <a:rPr lang="en-US" sz="1600" dirty="0"/>
              <a:t>Defines </a:t>
            </a:r>
            <a:r>
              <a:rPr lang="en-US" sz="1600" b="1" dirty="0"/>
              <a:t>who can access what data</a:t>
            </a:r>
            <a:r>
              <a:rPr lang="en-US" sz="1600" dirty="0"/>
              <a:t> and under what conditions.</a:t>
            </a:r>
          </a:p>
          <a:p>
            <a:pPr>
              <a:buFont typeface="Arial" panose="020B0604020202020204" pitchFamily="34" charset="0"/>
              <a:buChar char="•"/>
            </a:pPr>
            <a:r>
              <a:rPr lang="en-US" sz="1600" dirty="0"/>
              <a:t>Enforces </a:t>
            </a:r>
            <a:r>
              <a:rPr lang="en-US" sz="1600" b="1" dirty="0"/>
              <a:t>Multi-Factor Authentication (MFA)</a:t>
            </a:r>
            <a:r>
              <a:rPr lang="en-US" sz="1600" dirty="0"/>
              <a:t> for sensitive systems.</a:t>
            </a:r>
          </a:p>
          <a:p>
            <a:pPr>
              <a:buFont typeface="Arial" panose="020B0604020202020204" pitchFamily="34" charset="0"/>
              <a:buChar char="•"/>
            </a:pPr>
            <a:r>
              <a:rPr lang="en-US" sz="1600" dirty="0"/>
              <a:t>Implements </a:t>
            </a:r>
            <a:r>
              <a:rPr lang="en-US" sz="1600" b="1" dirty="0"/>
              <a:t>role-based access control (RBAC)</a:t>
            </a:r>
            <a:r>
              <a:rPr lang="en-US" sz="1600" dirty="0"/>
              <a:t> to limit unnecessary access.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3B8AE54E-59CF-E714-66BC-9B3D173ED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4924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F074EEF-7F01-3CD2-3F18-1442A09B9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61D9F59-A4FE-75D5-6133-E93BB838F3E0}"/>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xmlns="" id="{8A92D14F-4228-628E-F2C5-2BB3982CDD80}"/>
              </a:ext>
            </a:extLst>
          </p:cNvPr>
          <p:cNvSpPr>
            <a:spLocks noGrp="1"/>
          </p:cNvSpPr>
          <p:nvPr>
            <p:ph idx="1"/>
          </p:nvPr>
        </p:nvSpPr>
        <p:spPr>
          <a:xfrm>
            <a:off x="581192" y="2601444"/>
            <a:ext cx="5573241" cy="3634486"/>
          </a:xfrm>
        </p:spPr>
        <p:txBody>
          <a:bodyPr>
            <a:noAutofit/>
          </a:bodyPr>
          <a:lstStyle/>
          <a:p>
            <a:pPr>
              <a:buNone/>
            </a:pPr>
            <a:r>
              <a:rPr lang="en-US" sz="1600" b="1" dirty="0"/>
              <a:t>Data Protection and Encryption</a:t>
            </a:r>
          </a:p>
          <a:p>
            <a:pPr>
              <a:buFont typeface="Arial" panose="020B0604020202020204" pitchFamily="34" charset="0"/>
              <a:buChar char="•"/>
            </a:pPr>
            <a:r>
              <a:rPr lang="en-US" sz="1600" dirty="0"/>
              <a:t>Requires encryption of sensitive data (e.g., AES-256, TLS).</a:t>
            </a:r>
          </a:p>
          <a:p>
            <a:pPr>
              <a:buFont typeface="Arial" panose="020B0604020202020204" pitchFamily="34" charset="0"/>
              <a:buChar char="•"/>
            </a:pPr>
            <a:r>
              <a:rPr lang="en-US" sz="1600" dirty="0"/>
              <a:t>Specifies data retention and disposal policies.</a:t>
            </a:r>
          </a:p>
          <a:p>
            <a:pPr>
              <a:buFont typeface="Arial" panose="020B0604020202020204" pitchFamily="34" charset="0"/>
              <a:buChar char="•"/>
            </a:pPr>
            <a:r>
              <a:rPr lang="en-US" sz="1600" dirty="0"/>
              <a:t>Implements backup procedures to prevent data loss.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EA9F914D-E57A-8790-5517-8A580FE7B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105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0D15B5-4C4F-FCBD-E95A-8B76FC5ED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7BD656A-E5BE-0FFE-BF2D-41E0C8A7646F}"/>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xmlns="" id="{39BB5554-0663-B03E-476C-E28754815F2B}"/>
              </a:ext>
            </a:extLst>
          </p:cNvPr>
          <p:cNvSpPr>
            <a:spLocks noGrp="1"/>
          </p:cNvSpPr>
          <p:nvPr>
            <p:ph idx="1"/>
          </p:nvPr>
        </p:nvSpPr>
        <p:spPr>
          <a:xfrm>
            <a:off x="581192" y="2601444"/>
            <a:ext cx="5573241" cy="3634486"/>
          </a:xfrm>
        </p:spPr>
        <p:txBody>
          <a:bodyPr>
            <a:noAutofit/>
          </a:bodyPr>
          <a:lstStyle/>
          <a:p>
            <a:pPr>
              <a:buNone/>
            </a:pPr>
            <a:r>
              <a:rPr lang="en-US" sz="1600" b="1" dirty="0"/>
              <a:t>Network and Endpoint Security</a:t>
            </a:r>
          </a:p>
          <a:p>
            <a:pPr>
              <a:buFont typeface="Arial" panose="020B0604020202020204" pitchFamily="34" charset="0"/>
              <a:buChar char="•"/>
            </a:pPr>
            <a:r>
              <a:rPr lang="en-US" sz="1600" dirty="0"/>
              <a:t>Mandates use of firewalls, intrusion detection systems (IDS), and VPNs.</a:t>
            </a:r>
          </a:p>
          <a:p>
            <a:pPr>
              <a:buFont typeface="Arial" panose="020B0604020202020204" pitchFamily="34" charset="0"/>
              <a:buChar char="•"/>
            </a:pPr>
            <a:r>
              <a:rPr lang="en-US" sz="1600" dirty="0"/>
              <a:t>Ensures patch management for operating systems and applications.</a:t>
            </a:r>
          </a:p>
          <a:p>
            <a:pPr>
              <a:buFont typeface="Arial" panose="020B0604020202020204" pitchFamily="34" charset="0"/>
              <a:buChar char="•"/>
            </a:pPr>
            <a:r>
              <a:rPr lang="en-US" sz="1600" dirty="0"/>
              <a:t>Establishes guidelines for securing remote work and BYOD (Bring Your Own Device) policies.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CFE788B9-83D7-4878-004E-2645E1562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9899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63C193-53D7-3A8B-3D4D-76642E718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2B81A25-E7FF-8171-24F2-7EF6C22ADDE0}"/>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xmlns="" id="{F5035524-326D-0DBF-5CB1-32DF0FB40568}"/>
              </a:ext>
            </a:extLst>
          </p:cNvPr>
          <p:cNvSpPr>
            <a:spLocks noGrp="1"/>
          </p:cNvSpPr>
          <p:nvPr>
            <p:ph idx="1"/>
          </p:nvPr>
        </p:nvSpPr>
        <p:spPr>
          <a:xfrm>
            <a:off x="581192" y="2601444"/>
            <a:ext cx="5573241" cy="3634486"/>
          </a:xfrm>
        </p:spPr>
        <p:txBody>
          <a:bodyPr>
            <a:noAutofit/>
          </a:bodyPr>
          <a:lstStyle/>
          <a:p>
            <a:pPr>
              <a:buNone/>
            </a:pPr>
            <a:r>
              <a:rPr lang="en-US" sz="1600" b="1" dirty="0"/>
              <a:t>Incident Response and Reporting</a:t>
            </a:r>
          </a:p>
          <a:p>
            <a:pPr>
              <a:buFont typeface="Arial" panose="020B0604020202020204" pitchFamily="34" charset="0"/>
              <a:buChar char="•"/>
            </a:pPr>
            <a:r>
              <a:rPr lang="en-US" sz="1600" dirty="0"/>
              <a:t>Defines steps for detecting, responding, and recovering from cyber incidents.</a:t>
            </a:r>
          </a:p>
          <a:p>
            <a:pPr>
              <a:buFont typeface="Arial" panose="020B0604020202020204" pitchFamily="34" charset="0"/>
              <a:buChar char="•"/>
            </a:pPr>
            <a:r>
              <a:rPr lang="en-US" sz="1600" dirty="0"/>
              <a:t>Requires employees to report suspicious activities immediately.</a:t>
            </a:r>
          </a:p>
          <a:p>
            <a:pPr>
              <a:buFont typeface="Arial" panose="020B0604020202020204" pitchFamily="34" charset="0"/>
              <a:buChar char="•"/>
            </a:pPr>
            <a:r>
              <a:rPr lang="en-US" sz="1600" dirty="0"/>
              <a:t>Includes business continuity and disaster recovery (BCDR) plans.</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64409107-B41E-25E0-FF22-E93A326D0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5378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AB98AB-2C4A-7176-853E-FF7332FCC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1D62F6D-4A0A-1E96-670C-BC205C1EB092}"/>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xmlns="" id="{E4FBCF12-B544-5384-6BC3-607FE7C5DF81}"/>
              </a:ext>
            </a:extLst>
          </p:cNvPr>
          <p:cNvSpPr>
            <a:spLocks noGrp="1"/>
          </p:cNvSpPr>
          <p:nvPr>
            <p:ph idx="1"/>
          </p:nvPr>
        </p:nvSpPr>
        <p:spPr>
          <a:xfrm>
            <a:off x="581192" y="2601444"/>
            <a:ext cx="5573241" cy="3634486"/>
          </a:xfrm>
        </p:spPr>
        <p:txBody>
          <a:bodyPr>
            <a:noAutofit/>
          </a:bodyPr>
          <a:lstStyle/>
          <a:p>
            <a:pPr>
              <a:buNone/>
            </a:pPr>
            <a:r>
              <a:rPr lang="en-US" sz="1600" b="1" dirty="0"/>
              <a:t>Acceptable Use Policy (AUP)</a:t>
            </a:r>
          </a:p>
          <a:p>
            <a:pPr>
              <a:buFont typeface="Arial" panose="020B0604020202020204" pitchFamily="34" charset="0"/>
              <a:buChar char="•"/>
            </a:pPr>
            <a:r>
              <a:rPr lang="en-US" sz="1600" dirty="0"/>
              <a:t>Defines what employees can and cannot do with corporate systems and data.</a:t>
            </a:r>
          </a:p>
          <a:p>
            <a:pPr>
              <a:buFont typeface="Arial" panose="020B0604020202020204" pitchFamily="34" charset="0"/>
              <a:buChar char="•"/>
            </a:pPr>
            <a:r>
              <a:rPr lang="en-US" sz="1600" dirty="0"/>
              <a:t>Covers rules for social media, personal device usage, and email security.</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17EF2C24-45D8-6694-3AA0-679F9FA2C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453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0DE318-700E-FE95-DBE4-A01C25917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1ECE524-2627-91DA-FAB3-7B848EB4AB06}"/>
              </a:ext>
            </a:extLst>
          </p:cNvPr>
          <p:cNvSpPr>
            <a:spLocks noGrp="1"/>
          </p:cNvSpPr>
          <p:nvPr>
            <p:ph type="title"/>
          </p:nvPr>
        </p:nvSpPr>
        <p:spPr/>
        <p:txBody>
          <a:bodyPr/>
          <a:lstStyle/>
          <a:p>
            <a:pPr algn="l"/>
            <a:r>
              <a:rPr lang="en-US" dirty="0"/>
              <a:t>Cybersecurity Policy Development Process</a:t>
            </a:r>
          </a:p>
        </p:txBody>
      </p:sp>
      <p:sp>
        <p:nvSpPr>
          <p:cNvPr id="3" name="Content Placeholder 2">
            <a:extLst>
              <a:ext uri="{FF2B5EF4-FFF2-40B4-BE49-F238E27FC236}">
                <a16:creationId xmlns:a16="http://schemas.microsoft.com/office/drawing/2014/main" xmlns="" id="{ED135457-AB2C-9FE2-18FB-B2D6A8E47B63}"/>
              </a:ext>
            </a:extLst>
          </p:cNvPr>
          <p:cNvSpPr>
            <a:spLocks noGrp="1"/>
          </p:cNvSpPr>
          <p:nvPr>
            <p:ph idx="1"/>
          </p:nvPr>
        </p:nvSpPr>
        <p:spPr>
          <a:xfrm>
            <a:off x="581192" y="2601444"/>
            <a:ext cx="5573241" cy="3634486"/>
          </a:xfrm>
        </p:spPr>
        <p:txBody>
          <a:bodyPr>
            <a:noAutofit/>
          </a:bodyPr>
          <a:lstStyle/>
          <a:p>
            <a:r>
              <a:rPr lang="en-US" sz="1600" dirty="0"/>
              <a:t>Assess Risks and Requirements</a:t>
            </a:r>
          </a:p>
          <a:p>
            <a:r>
              <a:rPr lang="en-US" sz="1600" dirty="0"/>
              <a:t>Define Policy Objectives</a:t>
            </a:r>
          </a:p>
          <a:p>
            <a:r>
              <a:rPr lang="en-US" sz="1600" dirty="0"/>
              <a:t>Draft the Policy</a:t>
            </a:r>
          </a:p>
          <a:p>
            <a:r>
              <a:rPr lang="en-US" sz="1600" dirty="0"/>
              <a:t>Review and Approve</a:t>
            </a:r>
          </a:p>
          <a:p>
            <a:r>
              <a:rPr lang="en-US" sz="1600" dirty="0"/>
              <a:t>Implement and Train Employees</a:t>
            </a:r>
          </a:p>
          <a:p>
            <a:r>
              <a:rPr lang="en-US" sz="1600" dirty="0"/>
              <a:t>Monitor and Update</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xmlns="" id="{08E47B4A-FB0B-E04E-2921-3B1552C8E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0659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EFAABF-AF87-B0AD-A85B-6AA2EDA55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51EB946-97E1-589C-2DD8-94B7E4AC09CD}"/>
              </a:ext>
            </a:extLst>
          </p:cNvPr>
          <p:cNvSpPr>
            <a:spLocks noGrp="1"/>
          </p:cNvSpPr>
          <p:nvPr>
            <p:ph type="title"/>
          </p:nvPr>
        </p:nvSpPr>
        <p:spPr/>
        <p:txBody>
          <a:bodyPr>
            <a:normAutofit/>
          </a:bodyPr>
          <a:lstStyle/>
          <a:p>
            <a:r>
              <a:rPr lang="en-US" dirty="0"/>
              <a:t>Roles of Professional Organizations in Cybersecurity</a:t>
            </a:r>
            <a:endParaRPr lang="x-none" dirty="0"/>
          </a:p>
        </p:txBody>
      </p:sp>
    </p:spTree>
    <p:extLst>
      <p:ext uri="{BB962C8B-B14F-4D97-AF65-F5344CB8AC3E}">
        <p14:creationId xmlns:p14="http://schemas.microsoft.com/office/powerpoint/2010/main" val="7124147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DEACF7-7912-50A0-F639-DD1AD2BE5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C965EA4-DCFF-EF75-F572-EA1A5431525F}"/>
              </a:ext>
            </a:extLst>
          </p:cNvPr>
          <p:cNvSpPr>
            <a:spLocks noGrp="1"/>
          </p:cNvSpPr>
          <p:nvPr>
            <p:ph type="title"/>
          </p:nvPr>
        </p:nvSpPr>
        <p:spPr/>
        <p:txBody>
          <a:bodyPr/>
          <a:lstStyle/>
          <a:p>
            <a:pPr algn="l"/>
            <a:r>
              <a:rPr lang="en-US" dirty="0"/>
              <a:t>ROLES OF PROFESSIONAL BODIES</a:t>
            </a:r>
          </a:p>
        </p:txBody>
      </p:sp>
      <p:sp>
        <p:nvSpPr>
          <p:cNvPr id="3" name="Content Placeholder 2">
            <a:extLst>
              <a:ext uri="{FF2B5EF4-FFF2-40B4-BE49-F238E27FC236}">
                <a16:creationId xmlns:a16="http://schemas.microsoft.com/office/drawing/2014/main" xmlns="" id="{3CF2F598-F14E-2195-3D0F-91DD0A64AD03}"/>
              </a:ext>
            </a:extLst>
          </p:cNvPr>
          <p:cNvSpPr>
            <a:spLocks noGrp="1"/>
          </p:cNvSpPr>
          <p:nvPr>
            <p:ph idx="1"/>
          </p:nvPr>
        </p:nvSpPr>
        <p:spPr>
          <a:xfrm>
            <a:off x="581192" y="2601444"/>
            <a:ext cx="5573241" cy="3634486"/>
          </a:xfrm>
        </p:spPr>
        <p:txBody>
          <a:bodyPr>
            <a:noAutofit/>
          </a:bodyPr>
          <a:lstStyle/>
          <a:p>
            <a:r>
              <a:rPr lang="en-US" sz="1600" dirty="0"/>
              <a:t>Professional organizations like SANS Institute (</a:t>
            </a:r>
            <a:r>
              <a:rPr lang="en-US" sz="1600" b="1" dirty="0"/>
              <a:t>SANS</a:t>
            </a:r>
            <a:r>
              <a:rPr lang="en-US" sz="1600" dirty="0"/>
              <a:t>), Information Systems Audit and Control Association (</a:t>
            </a:r>
            <a:r>
              <a:rPr lang="en-US" sz="1600" b="1" dirty="0"/>
              <a:t>ISACA</a:t>
            </a:r>
            <a:r>
              <a:rPr lang="en-US" sz="1600" dirty="0"/>
              <a:t>), and International Information System Security Certification Consortium (</a:t>
            </a:r>
            <a:r>
              <a:rPr lang="en-US" sz="1600" b="1" dirty="0"/>
              <a:t>ISC²</a:t>
            </a:r>
            <a:r>
              <a:rPr lang="en-US" sz="1600" dirty="0"/>
              <a:t>) play a critical role in shaping cybersecurity standards, advancing industry knowledge, and supporting professionals through certifications, training, and best practices.</a:t>
            </a:r>
            <a:endParaRPr lang="en-US" sz="1000" dirty="0"/>
          </a:p>
          <a:p>
            <a:pPr lvl="1"/>
            <a:endParaRPr lang="en-US" sz="1300" dirty="0"/>
          </a:p>
        </p:txBody>
      </p:sp>
      <p:pic>
        <p:nvPicPr>
          <p:cNvPr id="14338" name="Picture 2" descr="Collaborative CCOE, (ISC)2, ISACA, ISSA ...">
            <a:extLst>
              <a:ext uri="{FF2B5EF4-FFF2-40B4-BE49-F238E27FC236}">
                <a16:creationId xmlns:a16="http://schemas.microsoft.com/office/drawing/2014/main" xmlns="" id="{ABD7AC08-8E21-81D7-4A30-407D7BCB8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2264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20842FC-D0F9-18C8-1639-5C251244C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F273B1-738D-6063-0037-20DA5BA8296B}"/>
              </a:ext>
            </a:extLst>
          </p:cNvPr>
          <p:cNvSpPr>
            <a:spLocks noGrp="1"/>
          </p:cNvSpPr>
          <p:nvPr>
            <p:ph type="title"/>
          </p:nvPr>
        </p:nvSpPr>
        <p:spPr/>
        <p:txBody>
          <a:bodyPr/>
          <a:lstStyle/>
          <a:p>
            <a:pPr algn="l"/>
            <a:r>
              <a:rPr lang="en-US" dirty="0"/>
              <a:t>ISACA</a:t>
            </a:r>
          </a:p>
        </p:txBody>
      </p:sp>
      <p:sp>
        <p:nvSpPr>
          <p:cNvPr id="3" name="Content Placeholder 2">
            <a:extLst>
              <a:ext uri="{FF2B5EF4-FFF2-40B4-BE49-F238E27FC236}">
                <a16:creationId xmlns:a16="http://schemas.microsoft.com/office/drawing/2014/main" xmlns="" id="{8D197F22-D9DF-246B-B790-769E30AB2EDC}"/>
              </a:ext>
            </a:extLst>
          </p:cNvPr>
          <p:cNvSpPr>
            <a:spLocks noGrp="1"/>
          </p:cNvSpPr>
          <p:nvPr>
            <p:ph idx="1"/>
          </p:nvPr>
        </p:nvSpPr>
        <p:spPr>
          <a:xfrm>
            <a:off x="581192" y="2084609"/>
            <a:ext cx="5573241" cy="3634486"/>
          </a:xfrm>
        </p:spPr>
        <p:txBody>
          <a:bodyPr>
            <a:noAutofit/>
          </a:bodyPr>
          <a:lstStyle/>
          <a:p>
            <a:r>
              <a:rPr lang="en-US" sz="1600" dirty="0"/>
              <a:t>Information Systems Audit and Control Association (</a:t>
            </a:r>
            <a:r>
              <a:rPr lang="en-US" sz="1600" b="1" dirty="0"/>
              <a:t>ISACA</a:t>
            </a:r>
            <a:r>
              <a:rPr lang="en-US" sz="1600" dirty="0"/>
              <a:t>), is a globally recognized professional organization that focuses on </a:t>
            </a:r>
            <a:r>
              <a:rPr lang="en-US" sz="1600" b="1" dirty="0"/>
              <a:t>IT governance, risk management, cybersecurity, and auditing</a:t>
            </a:r>
            <a:r>
              <a:rPr lang="en-US" sz="1600" dirty="0"/>
              <a:t>. It supports professionals in managing and securing information systems through certifications, frameworks, and networking opportunities.</a:t>
            </a:r>
            <a:endParaRPr lang="en-US" sz="1300" dirty="0"/>
          </a:p>
        </p:txBody>
      </p:sp>
      <p:pic>
        <p:nvPicPr>
          <p:cNvPr id="14338" name="Picture 2" descr="Collaborative CCOE, (ISC)2, ISACA, ISSA ...">
            <a:extLst>
              <a:ext uri="{FF2B5EF4-FFF2-40B4-BE49-F238E27FC236}">
                <a16:creationId xmlns:a16="http://schemas.microsoft.com/office/drawing/2014/main" xmlns="" id="{6DF7A672-6321-042D-182A-26A703D69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8015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87F94E-568F-9893-A17B-9455DD4AB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F046F31-6A39-EF79-1AD3-2D01F6A5CCA8}"/>
              </a:ext>
            </a:extLst>
          </p:cNvPr>
          <p:cNvSpPr>
            <a:spLocks noGrp="1"/>
          </p:cNvSpPr>
          <p:nvPr>
            <p:ph type="title"/>
          </p:nvPr>
        </p:nvSpPr>
        <p:spPr/>
        <p:txBody>
          <a:bodyPr/>
          <a:lstStyle/>
          <a:p>
            <a:pPr algn="l"/>
            <a:r>
              <a:rPr lang="en-US" dirty="0"/>
              <a:t>KEY ROLES</a:t>
            </a:r>
          </a:p>
        </p:txBody>
      </p:sp>
      <p:sp>
        <p:nvSpPr>
          <p:cNvPr id="3" name="Content Placeholder 2">
            <a:extLst>
              <a:ext uri="{FF2B5EF4-FFF2-40B4-BE49-F238E27FC236}">
                <a16:creationId xmlns:a16="http://schemas.microsoft.com/office/drawing/2014/main" xmlns="" id="{422F9E9A-14BC-694D-15E8-A4384FD0528B}"/>
              </a:ext>
            </a:extLst>
          </p:cNvPr>
          <p:cNvSpPr>
            <a:spLocks noGrp="1"/>
          </p:cNvSpPr>
          <p:nvPr>
            <p:ph idx="1"/>
          </p:nvPr>
        </p:nvSpPr>
        <p:spPr>
          <a:xfrm>
            <a:off x="892618" y="2521358"/>
            <a:ext cx="5573241" cy="3634486"/>
          </a:xfrm>
        </p:spPr>
        <p:txBody>
          <a:bodyPr>
            <a:noAutofit/>
          </a:bodyPr>
          <a:lstStyle/>
          <a:p>
            <a:r>
              <a:rPr lang="en-US" sz="1600" b="1" dirty="0"/>
              <a:t>IT Governance and Risk Management</a:t>
            </a:r>
            <a:r>
              <a:rPr lang="en-US" sz="1600" dirty="0"/>
              <a:t> – Develops frameworks like </a:t>
            </a:r>
            <a:r>
              <a:rPr lang="en-US" sz="1600" b="1" dirty="0"/>
              <a:t>COBIT (Control Objectives for Information and Related Technologies)</a:t>
            </a:r>
            <a:r>
              <a:rPr lang="en-US" sz="1600" dirty="0"/>
              <a:t> for IT governance.</a:t>
            </a:r>
          </a:p>
          <a:p>
            <a:r>
              <a:rPr lang="en-US" sz="1600" b="1" dirty="0"/>
              <a:t>Cybersecurity and Audit Standards</a:t>
            </a:r>
            <a:r>
              <a:rPr lang="en-US" sz="1600" dirty="0"/>
              <a:t> – Establishes security and compliance standards for IT audit, cybersecurity, and risk assessment.</a:t>
            </a:r>
          </a:p>
          <a:p>
            <a:r>
              <a:rPr lang="en-US" sz="1600" b="1" dirty="0"/>
              <a:t>Certifications and Career Development</a:t>
            </a:r>
            <a:r>
              <a:rPr lang="en-US" sz="1600" dirty="0"/>
              <a:t> – Offers industry-leading credentials to validate expertise in information security, risk management, and governance.</a:t>
            </a:r>
          </a:p>
          <a:p>
            <a:r>
              <a:rPr lang="en-US" sz="1600" b="1" dirty="0"/>
              <a:t>Research and Publications</a:t>
            </a:r>
            <a:r>
              <a:rPr lang="en-US" sz="1600" dirty="0"/>
              <a:t> – Publishes reports on emerging cyber threats, IT governance trends, and audit best practices.</a:t>
            </a:r>
          </a:p>
          <a:p>
            <a:r>
              <a:rPr lang="en-US" sz="1600" b="1" dirty="0"/>
              <a:t>Conferences and Workshops</a:t>
            </a:r>
            <a:r>
              <a:rPr lang="en-US" sz="1600" dirty="0"/>
              <a:t> – Organizes global events like </a:t>
            </a:r>
            <a:r>
              <a:rPr lang="en-US" sz="1600" b="1" dirty="0"/>
              <a:t>ISACA Cybersecurity Nexus (CSX)</a:t>
            </a:r>
            <a:r>
              <a:rPr lang="en-US" sz="1600" dirty="0"/>
              <a:t> for professional networking and skill development.</a:t>
            </a:r>
            <a:endParaRPr lang="en-US" sz="1300" dirty="0"/>
          </a:p>
        </p:txBody>
      </p:sp>
      <p:pic>
        <p:nvPicPr>
          <p:cNvPr id="14338" name="Picture 2" descr="Collaborative CCOE, (ISC)2, ISACA, ISSA ...">
            <a:extLst>
              <a:ext uri="{FF2B5EF4-FFF2-40B4-BE49-F238E27FC236}">
                <a16:creationId xmlns:a16="http://schemas.microsoft.com/office/drawing/2014/main" xmlns="" id="{73E26590-B126-B291-4C7D-B6B64837B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7173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3730</TotalTime>
  <Words>3280</Words>
  <Application>Microsoft Office PowerPoint</Application>
  <PresentationFormat>Custom</PresentationFormat>
  <Paragraphs>362</Paragraphs>
  <Slides>66</Slides>
  <Notes>9</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DividendVTI</vt:lpstr>
      <vt:lpstr>ALTSCHOOL OF Cybersecurity (BARAKA 2025)</vt:lpstr>
      <vt:lpstr>REFRESHER – WK 3 DAY2</vt:lpstr>
      <vt:lpstr>Week 4 – DAY 1</vt:lpstr>
      <vt:lpstr>Introduction to key Legislation and Regulations</vt:lpstr>
      <vt:lpstr>Introduction to key Legislation and Regulations </vt:lpstr>
      <vt:lpstr>Introduction to key Legislation and Regulations </vt:lpstr>
      <vt:lpstr>Introduction to key Legislation and Regulations </vt:lpstr>
      <vt:lpstr>Data Protection lAWS </vt:lpstr>
      <vt:lpstr>DATA PRIVACY LAWS </vt:lpstr>
      <vt:lpstr>Why Regulations Exist?</vt:lpstr>
      <vt:lpstr>Why Regulations Exist?</vt:lpstr>
      <vt:lpstr>Overview of Key Regulations and PENALTIES</vt:lpstr>
      <vt:lpstr>Overview of Key Regulations and PENALTIES</vt:lpstr>
      <vt:lpstr>Compliance Requirements and Standards </vt:lpstr>
      <vt:lpstr>Legal and Regulatory Compliance</vt:lpstr>
      <vt:lpstr>Security and Technical Controls</vt:lpstr>
      <vt:lpstr>Organizational and Governance Policies</vt:lpstr>
      <vt:lpstr>Organizational and Governance Policies</vt:lpstr>
      <vt:lpstr>International Compliance Standards</vt:lpstr>
      <vt:lpstr>International Compliance Standards</vt:lpstr>
      <vt:lpstr>International Compliance Standards</vt:lpstr>
      <vt:lpstr>Intellectual Property and Copyright Laws </vt:lpstr>
      <vt:lpstr>Understanding Intellectual Property (IP)</vt:lpstr>
      <vt:lpstr>Types of Intellectual Property</vt:lpstr>
      <vt:lpstr>Class work</vt:lpstr>
      <vt:lpstr>REFRESHER - Wk DAY1</vt:lpstr>
      <vt:lpstr>Week 4 – DAY 2</vt:lpstr>
      <vt:lpstr>INTRODUCTION TO ETHICAL HACKING</vt:lpstr>
      <vt:lpstr>Fundamental security concepts</vt:lpstr>
      <vt:lpstr>Security, Functionality and Usability balance</vt:lpstr>
      <vt:lpstr>Types of Hackers </vt:lpstr>
      <vt:lpstr>Types of ATTACKERs </vt:lpstr>
      <vt:lpstr>HACKING VOCABULARY</vt:lpstr>
      <vt:lpstr>Threat Categories</vt:lpstr>
      <vt:lpstr>Some Attack Vectors</vt:lpstr>
      <vt:lpstr>Vulnerability Categories</vt:lpstr>
      <vt:lpstr>Pen Test Phases</vt:lpstr>
      <vt:lpstr>STAGES IN ETHICAL HACKING</vt:lpstr>
      <vt:lpstr>STAGES IN ETHICAL HACKING</vt:lpstr>
      <vt:lpstr>STAGES IN ETHICAL HACKING</vt:lpstr>
      <vt:lpstr>STAGES IN ETHICAL HACKING</vt:lpstr>
      <vt:lpstr>STAGES IN ETHICAL HACKING</vt:lpstr>
      <vt:lpstr>Privacy and Data Protection Ethics</vt:lpstr>
      <vt:lpstr>Privacy and Data Protection Ethics</vt:lpstr>
      <vt:lpstr>Understanding Privacy and Data Protection Ethics</vt:lpstr>
      <vt:lpstr>Ethical Principles in Privacy and Data Protection</vt:lpstr>
      <vt:lpstr>Ethical Principles in Privacy and Data Protection</vt:lpstr>
      <vt:lpstr>Ethical Challenges in Privacy and Data Protection</vt:lpstr>
      <vt:lpstr>Ethical Challenges in Privacy and Data Protection</vt:lpstr>
      <vt:lpstr>Cybersecurity Policy Development</vt:lpstr>
      <vt:lpstr>CYBERSECURITY POLICY</vt:lpstr>
      <vt:lpstr>Importance of Cybersecurity Policy</vt:lpstr>
      <vt:lpstr>Key Components of a Cybersecurity Policy</vt:lpstr>
      <vt:lpstr>Key Components of a Cybersecurity Policy</vt:lpstr>
      <vt:lpstr>Key Components of a Cybersecurity Policy</vt:lpstr>
      <vt:lpstr>Key Components of a Cybersecurity Policy</vt:lpstr>
      <vt:lpstr>Types of a Cybersecurity Policy</vt:lpstr>
      <vt:lpstr>Types of a Cybersecurity Policy</vt:lpstr>
      <vt:lpstr>Types of a Cybersecurity Policy</vt:lpstr>
      <vt:lpstr>Types of a Cybersecurity Policy</vt:lpstr>
      <vt:lpstr>Types of a Cybersecurity Policy</vt:lpstr>
      <vt:lpstr>Cybersecurity Policy Development Process</vt:lpstr>
      <vt:lpstr>Roles of Professional Organizations in Cybersecurity</vt:lpstr>
      <vt:lpstr>ROLES OF PROFESSIONAL BODIES</vt:lpstr>
      <vt:lpstr>ISACA</vt:lpstr>
      <vt:lpstr>KEY ROLES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ALTSCHOOL OF Cybersecurity (BARAKA 2025)</dc:title>
  <dc:creator>Oluwafemi Adebiyi</dc:creator>
  <cp:lastModifiedBy>CS50</cp:lastModifiedBy>
  <cp:revision>5</cp:revision>
  <dcterms:created xsi:type="dcterms:W3CDTF">2025-03-19T13:29:09Z</dcterms:created>
  <dcterms:modified xsi:type="dcterms:W3CDTF">2025-07-11T04:15:23Z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